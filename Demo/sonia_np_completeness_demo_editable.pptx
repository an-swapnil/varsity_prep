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1" r:id="rId26"/>
    <p:sldId id="299" r:id="rId27"/>
    <p:sldId id="282" r:id="rId28"/>
    <p:sldId id="300"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3" autoAdjust="0"/>
    <p:restoredTop sz="94694" autoAdjust="0"/>
  </p:normalViewPr>
  <p:slideViewPr>
    <p:cSldViewPr snapToGrid="0" snapToObjects="1">
      <p:cViewPr varScale="1">
        <p:scale>
          <a:sx n="68" d="100"/>
          <a:sy n="68" d="100"/>
        </p:scale>
        <p:origin x="870" y="60"/>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9/8/2026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lvl="0" indent="0">
              <a:buNone/>
            </a:pPr>
            <a:r>
              <a:t>Frame 1/17. Introduce yourself and the learning objective. This is a rehearsed overview for students familiar with basic graphs, Boolean logic and polynomial time. The main text, tables and equations in this version are editable PowerPoint objects. Text inside the original TikZ figures is part of those images.</a:t>
            </a:r>
          </a:p>
        </p:txBody>
      </p:sp>
      <p:sp>
        <p:nvSpPr>
          <p:cNvPr id="4" name="Slide Number Placeholder 3"/>
          <p:cNvSpPr>
            <a:spLocks noGrp="1"/>
          </p:cNvSpPr>
          <p:nvPr>
            <p:ph type="sldNum" sz="quarter" idx="10"/>
          </p:nvPr>
        </p:nvSpPr>
        <p:spPr/>
        <p:txBody>
          <a:bodyPr/>
          <a:lstStyle/>
          <a:p>
            <a:fld id="{18BDFEC3-8487-43E8-A154-7C12CBC1FFF2}"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Frame 2/17. Distinguish solving, verifying and comparing. Preview the direction: a known hard problem reduces to the new target.</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Frame 2/17. Distinguish solving, verifying and comparing. Preview the direction: a known hard problem reduces to the new target.</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Frame 2/17. Distinguish solving, verifying and comparing. Preview the direction: a known hard problem reduces to the new target.</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Frame 3/17. Explain the formula verbally: a YES instance has a short accepting certificate, and a NO instance has none. A verifier checks the color domain as well as the edges. The solver can ignore a certificate, proving P is contained in NP.</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Frame 3/17. Explain the formula verbally: a YES instance has a short accepting certificate, and a NO instance has none. A verifier checks the color domain as well as the edges. The solver can ignore a certificate, proving P is contained in NP.</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lvl="0" indent="0">
              <a:buNone/>
            </a:pPr>
            <a:r>
              <a:t>Frame 3/17. Explain the formula verbally: a YES instance has a short accepting certificate, and a NO instance has none. A verifier checks the color domain as well as the edges. The solver can ignore a certificate, proving P is contained in NP.</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lvl="0" indent="0">
              <a:buNone/>
            </a:pPr>
            <a:r>
              <a:t>Frame 4/17. Point at the intersection. NP-hardness does not imply membership in NP. NP-completeness does not prove that a polynomial algorithm is impossible; P versus NP remains open.</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lvl="0" indent="0">
              <a:buNone/>
            </a:pPr>
            <a:r>
              <a:t>Frame 4/17. Point at the intersection. NP-hardness does not imply membership in NP. NP-completeness does not prove that a polynomial algorithm is impossible; P versus NP remains open.</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lvl="0" indent="0">
              <a:buNone/>
            </a:pPr>
            <a:r>
              <a:t>Frame 5/17. Demonstrate both a YES and a NO instance. Doubling a binary integer is linear in its bit length. The reduction transforms instances without solving the hard source instance.</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lvl="0" indent="0">
              <a:buNone/>
            </a:pPr>
            <a:r>
              <a:t>Frame 5/17. Demonstrate both a YES and a NO instance. Doubling a binary integer is linear in its bit length. The reduction transforms instances without solving the hard source instance.</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lvl="0" indent="0">
              <a:buNone/>
            </a:pPr>
            <a:r>
              <a:t>Frame 5/17. Demonstrate both a YES and a NO instance. Doubling a binary integer is linear in its bit length. The reduction transforms instances without solving the hard source instance.</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Frame 6/17. Both obligations are necessary. Reducing an easy problem to B alone does not establish NP-hardness. The displayed implication requires A to be NP-hard.</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Frame 6/17. Both obligations are necessary. Reducing an easy problem to B alone does not establish NP-hardness. The displayed implication requires A to be NP-hard.</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lvl="0" indent="0">
              <a:buNone/>
            </a:pPr>
            <a:r>
              <a:t>Frame 6/17. Both obligations are necessary. Reducing an easy problem to B alone does not establish NP-hardness. The displayed implication requires A to be NP-hard.</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Frame 7/17. State the two decision questions before showing the construction. The translator builds the graph without knowing a satisfying assignment.</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lvl="0" indent="0">
              <a:buNone/>
            </a:pPr>
            <a:r>
              <a:t>Frame 7/17. State the two decision questions before showing the construction. The translator builds the graph without knowing a satisfying assignment.</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lvl="0" indent="0">
              <a:buNone/>
            </a:pPr>
            <a:r>
              <a:t>Frame 7/17. State the two decision questions before showing the construction. The translator builds the graph without knowing a satisfying assignment.</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lvl="0" indent="0">
              <a:buNone/>
            </a:pPr>
            <a:r>
              <a:t>Frame 8/17. Ask which color the negated variable must take once xi=T. The names T/F/B are relative to the palette; the physical paint colors can be permuted.</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lvl="0" indent="0">
              <a:buNone/>
            </a:pPr>
            <a:r>
              <a:t>Frame 8/17. Ask which color the negated variable must take once xi=T. The names T/F/B are relative to the palette; the physical paint colors can be permuted.</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lvl="0" indent="0">
              <a:buNone/>
            </a:pPr>
            <a:r>
              <a:t>Frame 9/17. Show the vertices, literal arms, T links, and forcing path in order. Literal vertices already connect to B, so their fixed colors are T/F. Line crossings without a vertex circle are not junctions. The fixed palette edges still exist even when omitted here. The gadget’s result is extendability, not an output vertex color.</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lvl="0" indent="0">
              <a:buNone/>
            </a:pPr>
            <a:r>
              <a:t>Frame 9/17. Show the vertices, literal arms, T links, and forcing path in order. Literal vertices already connect to B, so their fixed colors are T/F. Line crossings without a vertex circle are not junctions. The fixed palette edges still exist even when omitted here. The gadget’s result is extendability, not an output vertex color.</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lvl="0" indent="0">
              <a:buNone/>
            </a:pPr>
            <a:r>
              <a:t>Frame 9/17. Show the vertices, literal arms, T links, and forcing path in order. Literal vertices already connect to B, so their fixed colors are T/F. Line crossings without a vertex circle are not junctions. The fixed palette edges still exist even when omitted here. The gadget’s result is extendability, not an output vertex color.</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lvl="0" indent="0">
              <a:buNone/>
            </a:pPr>
            <a:r>
              <a:t>Frame 9/17. Show the vertices, literal arms, T links, and forcing path in order. Literal vertices already connect to B, so their fixed colors are T/F. Line crossings without a vertex circle are not junctions. The fixed palette edges still exist even when omitted here. The gadget’s result is extendability, not an output vertex color.</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lvl="0" indent="0">
              <a:buNone/>
            </a:pPr>
            <a:r>
              <a:t>Frame 10/17. The crossed white b3 means no legal color remains: its neighbors a3, b2, and F already use B, T, and F. White is unassigned, not a fourth color. Equivalently the forced path would demand b3=F and clash with the palette F. The drawing shows a failed partial coloring, not a valid coloring. Line crossings without vertex circles are not junctions.</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BECA8-105B-D45B-151B-5C985AEC93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7C3A3F-19C3-F1BA-1275-68F3439194FA}"/>
              </a:ext>
            </a:extLst>
          </p:cNvPr>
          <p:cNvSpPr>
            <a:spLocks noGrp="1" noRot="1" noChangeAspect="1"/>
          </p:cNvSpPr>
          <p:nvPr>
            <p:ph type="sldImg"/>
          </p:nvPr>
        </p:nvSpPr>
        <p:spPr>
          <a:xfrm>
            <a:off x="1371600" y="1143000"/>
            <a:ext cx="4114800" cy="3086100"/>
          </a:xfrm>
        </p:spPr>
      </p:sp>
      <p:sp>
        <p:nvSpPr>
          <p:cNvPr id="3" name="Notes Placeholder 2">
            <a:extLst>
              <a:ext uri="{FF2B5EF4-FFF2-40B4-BE49-F238E27FC236}">
                <a16:creationId xmlns:a16="http://schemas.microsoft.com/office/drawing/2014/main" id="{032C2AEC-788E-3C66-3E3E-9F43D6AAD87A}"/>
              </a:ext>
            </a:extLst>
          </p:cNvPr>
          <p:cNvSpPr>
            <a:spLocks noGrp="1"/>
          </p:cNvSpPr>
          <p:nvPr>
            <p:ph type="body" idx="1"/>
          </p:nvPr>
        </p:nvSpPr>
        <p:spPr/>
        <p:txBody>
          <a:bodyPr/>
          <a:lstStyle/>
          <a:p>
            <a:pPr marL="0" lvl="0" indent="0">
              <a:buNone/>
            </a:pPr>
            <a:r>
              <a:t>Frame 10/17. The crossed white b3 means no legal color remains: its neighbors a3, b2, and F already use B, T, and F. White is unassigned, not a fourth color. Equivalently the forced path would demand b3=F and clash with the palette F. The drawing shows a failed partial coloring, not a valid coloring. Line crossings without vertex circles are not junctions.</a:t>
            </a:r>
          </a:p>
        </p:txBody>
      </p:sp>
      <p:sp>
        <p:nvSpPr>
          <p:cNvPr id="4" name="Slide Number Placeholder 3">
            <a:extLst>
              <a:ext uri="{FF2B5EF4-FFF2-40B4-BE49-F238E27FC236}">
                <a16:creationId xmlns:a16="http://schemas.microsoft.com/office/drawing/2014/main" id="{D6304EF1-7A19-E8AF-0F47-88B095E74DF2}"/>
              </a:ext>
            </a:extLst>
          </p:cNvPr>
          <p:cNvSpPr>
            <a:spLocks noGrp="1"/>
          </p:cNvSpPr>
          <p:nvPr>
            <p:ph type="sldNum" sz="quarter" idx="10"/>
          </p:nvPr>
        </p:nvSpPr>
        <p:spPr/>
        <p:txBody>
          <a:bodyPr/>
          <a:lstStyle/>
          <a:p>
            <a:fld id="{18BDFEC3-8487-43E8-A154-7C12CBC1FFF2}" type="slidenum">
              <a:rPr lang="en-US"/>
              <a:t>26</a:t>
            </a:fld>
            <a:endParaRPr lang="en-US"/>
          </a:p>
        </p:txBody>
      </p:sp>
    </p:spTree>
    <p:extLst>
      <p:ext uri="{BB962C8B-B14F-4D97-AF65-F5344CB8AC3E}">
        <p14:creationId xmlns:p14="http://schemas.microsoft.com/office/powerpoint/2010/main" val="18057083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lvl="0" indent="0">
              <a:buNone/>
            </a:pPr>
            <a:r>
              <a:t>Frame 11/17. The picture is the FFT example. To justify all satisfying patterns, choose any true input i, set ai=F and bi=B, and every other aj=B (legal even when another literal is true). Complete (b1,b2,b3) as (B,F,T) for i=1, (F,B,T) for i=2, or (F,T,B) for i=3. Verify the literal arms, T-links and path edges. Thus the example supports a general construction, not merely an assertion based on one truth pattern.</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1DDAE-B040-02DE-984E-19D7BC7C54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BF62A0-D8E0-9C83-C8CC-28AD709F4554}"/>
              </a:ext>
            </a:extLst>
          </p:cNvPr>
          <p:cNvSpPr>
            <a:spLocks noGrp="1" noRot="1" noChangeAspect="1"/>
          </p:cNvSpPr>
          <p:nvPr>
            <p:ph type="sldImg"/>
          </p:nvPr>
        </p:nvSpPr>
        <p:spPr>
          <a:xfrm>
            <a:off x="1371600" y="1143000"/>
            <a:ext cx="4114800" cy="3086100"/>
          </a:xfrm>
        </p:spPr>
      </p:sp>
      <p:sp>
        <p:nvSpPr>
          <p:cNvPr id="3" name="Notes Placeholder 2">
            <a:extLst>
              <a:ext uri="{FF2B5EF4-FFF2-40B4-BE49-F238E27FC236}">
                <a16:creationId xmlns:a16="http://schemas.microsoft.com/office/drawing/2014/main" id="{26985FCE-99EF-2BC2-1FCC-E849CF7C5370}"/>
              </a:ext>
            </a:extLst>
          </p:cNvPr>
          <p:cNvSpPr>
            <a:spLocks noGrp="1"/>
          </p:cNvSpPr>
          <p:nvPr>
            <p:ph type="body" idx="1"/>
          </p:nvPr>
        </p:nvSpPr>
        <p:spPr/>
        <p:txBody>
          <a:bodyPr/>
          <a:lstStyle/>
          <a:p>
            <a:pPr marL="0" lvl="0" indent="0">
              <a:buNone/>
            </a:pPr>
            <a:r>
              <a:t>Frame 11/17. The picture is the FFT example. To justify all satisfying patterns, choose any true input i, set ai=F and bi=B, and every other aj=B (legal even when another literal is true). Complete (b1,b2,b3) as (B,F,T) for i=1, (F,B,T) for i=2, or (F,T,B) for i=3. Verify the literal arms, T-links and path edges. Thus the example supports a general construction, not merely an assertion based on one truth pattern.</a:t>
            </a:r>
          </a:p>
        </p:txBody>
      </p:sp>
      <p:sp>
        <p:nvSpPr>
          <p:cNvPr id="4" name="Slide Number Placeholder 3">
            <a:extLst>
              <a:ext uri="{FF2B5EF4-FFF2-40B4-BE49-F238E27FC236}">
                <a16:creationId xmlns:a16="http://schemas.microsoft.com/office/drawing/2014/main" id="{431F8045-C769-A512-13A0-6EFC0DD22A18}"/>
              </a:ext>
            </a:extLst>
          </p:cNvPr>
          <p:cNvSpPr>
            <a:spLocks noGrp="1"/>
          </p:cNvSpPr>
          <p:nvPr>
            <p:ph type="sldNum" sz="quarter" idx="10"/>
          </p:nvPr>
        </p:nvSpPr>
        <p:spPr/>
        <p:txBody>
          <a:bodyPr/>
          <a:lstStyle/>
          <a:p>
            <a:fld id="{18BDFEC3-8487-43E8-A154-7C12CBC1FFF2}" type="slidenum">
              <a:rPr lang="en-US"/>
              <a:t>28</a:t>
            </a:fld>
            <a:endParaRPr lang="en-US"/>
          </a:p>
        </p:txBody>
      </p:sp>
    </p:spTree>
    <p:extLst>
      <p:ext uri="{BB962C8B-B14F-4D97-AF65-F5344CB8AC3E}">
        <p14:creationId xmlns:p14="http://schemas.microsoft.com/office/powerpoint/2010/main" val="365078695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lvl="0" indent="0">
              <a:buNone/>
            </a:pPr>
            <a:r>
              <a:t>Frame 12/17. Evaluate both clauses under the displayed assignment. This assignment illustrates satisfiability after construction; the reduction need not discover it to build the graph.</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lvl="0" indent="0">
              <a:buNone/>
            </a:pPr>
            <a:r>
              <a:t>Frame 12/17. Evaluate both clauses under the displayed assignment. This assignment illustrates satisfiability after construction; the reduction need not discover it to build the graph.</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Frame 13/17. This is an assembly schematic: the boxes represent copies of the exact gadget already proved. Shared literals enforce a consistent assignment across clauses. Each copy also uses palette T and F. No edges between distinct clauses’ internal vertices are needed.</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Frame 13/17. This is an assembly schematic: the boxes represent copies of the exact gadget already proved. Shared literals enforce a consistent assignment across clauses. Each copy also uses palette T and F. No edges between distinct clauses’ internal vertices are needed.</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lvl="0" indent="0">
              <a:buNone/>
            </a:pPr>
            <a:r>
              <a:t>Frame 13/17. This is an assembly schematic: the boxes represent copies of the exact gadget already proved. Shared literals enforce a consistent assignment across clauses. Each copy also uses palette T and F. No edges between distinct clauses’ internal vertices are needed.</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lvl="0" indent="0">
              <a:buNone/>
            </a:pPr>
            <a:r>
              <a:t>Frame 14/17. Trace C1 ports x1, not-x2, x3 and C2 ports not-x1, x2, not-x3. Palette and variable vertices are shared, while each clause has six private internal vertices. There are 21 vertices and 38 edges for n=3,m=2. Crossings without circles are not vertices; repeated a/b labels are local to each dashed clause box. This full graph is uncolored at its variable/internal vertices, not a claim that gray is a fourth color.</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lvl="0" indent="0">
              <a:buNone/>
            </a:pPr>
            <a:r>
              <a:t>Frame 15/17. State both directions, then the counts. Palette: three vertices/edges. Each variable: two vertices and three edges. Each clause: six vertices and thirteen edges. Verification is O(V+E); with NP-hardness this proves 3-COLOR NP-complete. Linear many graph records can require logarithmic-size vertex indices in a bit encoding.</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lvl="0" indent="0">
              <a:buNone/>
            </a:pPr>
            <a:r>
              <a:t>Frame 15/17. State both directions, then the counts. Palette: three vertices/edges. Each variable: two vertices and three edges. Each clause: six vertices and thirteen edges. Verification is O(V+E); with NP-hardness this proves 3-COLOR NP-complete. Linear many graph records can require logarithmic-size vertex indices in a bit encoding.</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lvl="0" indent="0">
              <a:buNone/>
            </a:pPr>
            <a:r>
              <a:t>Frame 15/17. State both directions, then the counts. Palette: three vertices/edges. Each variable: two vertices and three edges. Each clause: six vertices and thirteen edges. Verification is O(V+E); with NP-hardness this proves 3-COLOR NP-complete. Linear many graph records can require logarithmic-size vertex indices in a bit encoding.</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Frame 16/17. End with the proof recipe. If time permits, ask students which reduction direction proves B hard: A to B or B to A? Answer: known-hard A to target B.</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Frame 16/17. End with the proof recipe. If time permits, ask students which reduction direction proves B hard: A to B or B to A? Answer: known-hard A to target B.</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Frame 16/17. End with the proof recipe. If time permits, ask students which reduction direction proves B hard: A to B or B to A? Answer: known-hard A to target B.</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lvl="0" indent="0">
              <a:buNone/>
            </a:pPr>
            <a:r>
              <a:t>Frame 16/17. End with the proof recipe. If time permits, ask students which reduction direction proves B hard: A to B or B to A? Answer: known-hard A to target B.</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Frame 17/17. Acknowledge the sources; do not read the bibliography aloud. Timing is across all reveals within each frame and leaves no discussion time. Allow substantially longer for a full first lesson.</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 y="109728"/>
            <a:ext cx="8686800" cy="640080"/>
          </a:xfrm>
        </p:spPr>
        <p:txBody>
          <a:bodyPr lIns="0" tIns="0" rIns="0" bIns="0" anchor="t"/>
          <a:lstStyle>
            <a:lvl1pPr algn="l">
              <a:defRPr sz="2350" b="1">
                <a:solidFill>
                  <a:srgbClr val="3333B2"/>
                </a:solidFill>
                <a:latin typeface="Times New Roman"/>
              </a:defRPr>
            </a:lvl1pPr>
            <a:lvl2pPr algn="l">
              <a:defRPr sz="2350" b="1">
                <a:solidFill>
                  <a:srgbClr val="3333B2"/>
                </a:solidFill>
                <a:latin typeface="Times New Roman"/>
              </a:defRPr>
            </a:lvl2pPr>
            <a:lvl3pPr algn="l">
              <a:defRPr sz="2350" b="1">
                <a:solidFill>
                  <a:srgbClr val="3333B2"/>
                </a:solidFill>
                <a:latin typeface="Times New Roman"/>
              </a:defRPr>
            </a:lvl3pPr>
            <a:lvl4pPr algn="l">
              <a:defRPr sz="2350" b="1">
                <a:solidFill>
                  <a:srgbClr val="3333B2"/>
                </a:solidFill>
                <a:latin typeface="Times New Roman"/>
              </a:defRPr>
            </a:lvl4pPr>
            <a:lvl5pPr algn="l">
              <a:defRPr sz="2350" b="1">
                <a:solidFill>
                  <a:srgbClr val="3333B2"/>
                </a:solidFill>
                <a:latin typeface="Times New Roman"/>
              </a:defRPr>
            </a:lvl5pPr>
            <a:lvl6pPr algn="l">
              <a:defRPr sz="2350" b="1">
                <a:solidFill>
                  <a:srgbClr val="3333B2"/>
                </a:solidFill>
                <a:latin typeface="Times New Roman"/>
              </a:defRPr>
            </a:lvl6pPr>
            <a:lvl7pPr algn="l">
              <a:defRPr sz="2350" b="1">
                <a:solidFill>
                  <a:srgbClr val="3333B2"/>
                </a:solidFill>
                <a:latin typeface="Times New Roman"/>
              </a:defRPr>
            </a:lvl7pPr>
            <a:lvl8pPr algn="l">
              <a:defRPr sz="2350" b="1">
                <a:solidFill>
                  <a:srgbClr val="3333B2"/>
                </a:solidFill>
                <a:latin typeface="Times New Roman"/>
              </a:defRPr>
            </a:lvl8pPr>
            <a:lvl9pPr algn="l">
              <a:defRPr sz="2350" b="1">
                <a:solidFill>
                  <a:srgbClr val="3333B2"/>
                </a:solidFill>
                <a:latin typeface="Times New Roman"/>
              </a:defRPr>
            </a:lvl9pPr>
          </a:lstStyle>
          <a:p>
            <a:r>
              <a:rPr lang="en-US"/>
              <a:t>Click to edit Master title style</a:t>
            </a:r>
          </a:p>
        </p:txBody>
      </p:sp>
      <p:sp>
        <p:nvSpPr>
          <p:cNvPr id="3" name="Subtitle 2"/>
          <p:cNvSpPr>
            <a:spLocks noGrp="1"/>
          </p:cNvSpPr>
          <p:nvPr>
            <p:ph type="subTitle" idx="1"/>
          </p:nvPr>
        </p:nvSpPr>
        <p:spPr>
          <a:xfrm>
            <a:off x="347472" y="950976"/>
            <a:ext cx="8449056" cy="5440680"/>
          </a:xfrm>
        </p:spPr>
        <p:txBody>
          <a:bodyPr lIns="0" tIns="0" rIns="0" bIns="0" anchor="t"/>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r>
              <a:rPr lang="en-US"/>
              <a:t>Click to edit Master subtitle style</a:t>
            </a:r>
          </a:p>
        </p:txBody>
      </p:sp>
      <p:sp>
        <p:nvSpPr>
          <p:cNvPr id="4" name="Date Placeholder 3"/>
          <p:cNvSpPr>
            <a:spLocks noGrp="1"/>
          </p:cNvSpPr>
          <p:nvPr>
            <p:ph type="dt" sz="half" idx="10"/>
          </p:nvPr>
        </p:nvSpPr>
        <p:spPr>
          <a:xfrm>
            <a:off x="365760" y="6519672"/>
            <a:ext cx="6858000" cy="182880"/>
          </a:xfrm>
        </p:spPr>
        <p:txBody>
          <a:bodyPr lIns="0" tIns="0" rIns="0" bIns="0" anchor="t"/>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fld id="{241EB5C9-1307-BA42-ABA2-0BC069CD8E7F}" type="datetimeFigureOut">
              <a:rPr lang="en-US" smtClean="0"/>
              <a:t>9/8/2026</a:t>
            </a:fld>
            <a:endParaRPr lang="en-US"/>
          </a:p>
        </p:txBody>
      </p:sp>
      <p:sp>
        <p:nvSpPr>
          <p:cNvPr id="5" name="Footer Placeholder 4"/>
          <p:cNvSpPr>
            <a:spLocks noGrp="1"/>
          </p:cNvSpPr>
          <p:nvPr>
            <p:ph type="ftr" sz="quarter" idx="11"/>
          </p:nvPr>
        </p:nvSpPr>
        <p:spPr>
          <a:xfrm>
            <a:off x="365760" y="6519672"/>
            <a:ext cx="6858000" cy="182880"/>
          </a:xfrm>
        </p:spPr>
        <p:txBody>
          <a:bodyPr lIns="0" tIns="0" rIns="0" bIns="0" anchor="t"/>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endParaRPr lang="en-US"/>
          </a:p>
        </p:txBody>
      </p:sp>
      <p:sp>
        <p:nvSpPr>
          <p:cNvPr id="6" name="Slide Number Placeholder 5"/>
          <p:cNvSpPr>
            <a:spLocks noGrp="1"/>
          </p:cNvSpPr>
          <p:nvPr>
            <p:ph type="sldNum" sz="quarter" idx="12"/>
          </p:nvPr>
        </p:nvSpPr>
        <p:spPr>
          <a:xfrm>
            <a:off x="8046720" y="6519672"/>
            <a:ext cx="914400" cy="182880"/>
          </a:xfrm>
        </p:spPr>
        <p:txBody>
          <a:bodyPr lIns="0" tIns="0" rIns="0" bIns="0" anchor="t"/>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lIns="0" tIns="0" rIns="0" bIns="0" anchor="t"/>
          <a:lstStyle>
            <a:lvl1pPr algn="l">
              <a:defRPr sz="2350" b="1">
                <a:solidFill>
                  <a:srgbClr val="3333B2"/>
                </a:solidFill>
                <a:latin typeface="Times New Roman"/>
              </a:defRPr>
            </a:lvl1pPr>
            <a:lvl2pPr algn="l">
              <a:defRPr sz="2350" b="1">
                <a:solidFill>
                  <a:srgbClr val="3333B2"/>
                </a:solidFill>
                <a:latin typeface="Times New Roman"/>
              </a:defRPr>
            </a:lvl2pPr>
            <a:lvl3pPr algn="l">
              <a:defRPr sz="2350" b="1">
                <a:solidFill>
                  <a:srgbClr val="3333B2"/>
                </a:solidFill>
                <a:latin typeface="Times New Roman"/>
              </a:defRPr>
            </a:lvl3pPr>
            <a:lvl4pPr algn="l">
              <a:defRPr sz="2350" b="1">
                <a:solidFill>
                  <a:srgbClr val="3333B2"/>
                </a:solidFill>
                <a:latin typeface="Times New Roman"/>
              </a:defRPr>
            </a:lvl4pPr>
            <a:lvl5pPr algn="l">
              <a:defRPr sz="2350" b="1">
                <a:solidFill>
                  <a:srgbClr val="3333B2"/>
                </a:solidFill>
                <a:latin typeface="Times New Roman"/>
              </a:defRPr>
            </a:lvl5pPr>
            <a:lvl6pPr algn="l">
              <a:defRPr sz="2350" b="1">
                <a:solidFill>
                  <a:srgbClr val="3333B2"/>
                </a:solidFill>
                <a:latin typeface="Times New Roman"/>
              </a:defRPr>
            </a:lvl6pPr>
            <a:lvl7pPr algn="l">
              <a:defRPr sz="2350" b="1">
                <a:solidFill>
                  <a:srgbClr val="3333B2"/>
                </a:solidFill>
                <a:latin typeface="Times New Roman"/>
              </a:defRPr>
            </a:lvl7pPr>
            <a:lvl8pPr algn="l">
              <a:defRPr sz="2350" b="1">
                <a:solidFill>
                  <a:srgbClr val="3333B2"/>
                </a:solidFill>
                <a:latin typeface="Times New Roman"/>
              </a:defRPr>
            </a:lvl8pPr>
            <a:lvl9pPr algn="l">
              <a:defRPr sz="2350" b="1">
                <a:solidFill>
                  <a:srgbClr val="3333B2"/>
                </a:solidFill>
                <a:latin typeface="Times New Roman"/>
              </a:defRPr>
            </a:lvl9pPr>
          </a:lstStyle>
          <a:p>
            <a:r>
              <a:rPr lang="en-US"/>
              <a:t>Click to edit Master title style</a:t>
            </a:r>
          </a:p>
        </p:txBody>
      </p:sp>
      <p:sp>
        <p:nvSpPr>
          <p:cNvPr id="3" name="Content Placeholder 2"/>
          <p:cNvSpPr>
            <a:spLocks noGrp="1"/>
          </p:cNvSpPr>
          <p:nvPr>
            <p:ph idx="1"/>
          </p:nvPr>
        </p:nvSpPr>
        <p:spPr>
          <a:xfrm>
            <a:off x="347472" y="950976"/>
            <a:ext cx="8449056" cy="5440680"/>
          </a:xfrm>
        </p:spPr>
        <p:txBody>
          <a:bodyPr lIns="0" tIns="0" rIns="0" bIns="0" anchor="t"/>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365760" y="6519672"/>
            <a:ext cx="6858000" cy="182880"/>
          </a:xfrm>
        </p:spPr>
        <p:txBody>
          <a:bodyPr lIns="0" tIns="0" rIns="0" bIns="0" anchor="t"/>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fld id="{241EB5C9-1307-BA42-ABA2-0BC069CD8E7F}" type="datetimeFigureOut">
              <a:rPr lang="en-US" smtClean="0"/>
              <a:t>9/8/2026</a:t>
            </a:fld>
            <a:endParaRPr lang="en-US"/>
          </a:p>
        </p:txBody>
      </p:sp>
      <p:sp>
        <p:nvSpPr>
          <p:cNvPr id="5" name="Footer Placeholder 4"/>
          <p:cNvSpPr>
            <a:spLocks noGrp="1"/>
          </p:cNvSpPr>
          <p:nvPr>
            <p:ph type="ftr" sz="quarter" idx="11"/>
          </p:nvPr>
        </p:nvSpPr>
        <p:spPr>
          <a:xfrm>
            <a:off x="365760" y="6519672"/>
            <a:ext cx="6858000" cy="182880"/>
          </a:xfrm>
        </p:spPr>
        <p:txBody>
          <a:bodyPr lIns="0" tIns="0" rIns="0" bIns="0" anchor="t"/>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endParaRPr lang="en-US"/>
          </a:p>
        </p:txBody>
      </p:sp>
      <p:sp>
        <p:nvSpPr>
          <p:cNvPr id="6" name="Slide Number Placeholder 5"/>
          <p:cNvSpPr>
            <a:spLocks noGrp="1"/>
          </p:cNvSpPr>
          <p:nvPr>
            <p:ph type="sldNum" sz="quarter" idx="12"/>
          </p:nvPr>
        </p:nvSpPr>
        <p:spPr>
          <a:xfrm>
            <a:off x="8046720" y="6519672"/>
            <a:ext cx="914400" cy="182880"/>
          </a:xfrm>
        </p:spPr>
        <p:txBody>
          <a:bodyPr lIns="0" tIns="0" rIns="0" bIns="0" anchor="t"/>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lIns="0" tIns="0" rIns="0" bIns="0" anchor="t"/>
          <a:lstStyle>
            <a:lvl1pPr algn="l">
              <a:defRPr sz="2350" b="1">
                <a:solidFill>
                  <a:srgbClr val="3333B2"/>
                </a:solidFill>
                <a:latin typeface="Times New Roman"/>
              </a:defRPr>
            </a:lvl1pPr>
            <a:lvl2pPr algn="l">
              <a:defRPr sz="2350" b="1">
                <a:solidFill>
                  <a:srgbClr val="3333B2"/>
                </a:solidFill>
                <a:latin typeface="Times New Roman"/>
              </a:defRPr>
            </a:lvl2pPr>
            <a:lvl3pPr algn="l">
              <a:defRPr sz="2350" b="1">
                <a:solidFill>
                  <a:srgbClr val="3333B2"/>
                </a:solidFill>
                <a:latin typeface="Times New Roman"/>
              </a:defRPr>
            </a:lvl3pPr>
            <a:lvl4pPr algn="l">
              <a:defRPr sz="2350" b="1">
                <a:solidFill>
                  <a:srgbClr val="3333B2"/>
                </a:solidFill>
                <a:latin typeface="Times New Roman"/>
              </a:defRPr>
            </a:lvl4pPr>
            <a:lvl5pPr algn="l">
              <a:defRPr sz="2350" b="1">
                <a:solidFill>
                  <a:srgbClr val="3333B2"/>
                </a:solidFill>
                <a:latin typeface="Times New Roman"/>
              </a:defRPr>
            </a:lvl5pPr>
            <a:lvl6pPr algn="l">
              <a:defRPr sz="2350" b="1">
                <a:solidFill>
                  <a:srgbClr val="3333B2"/>
                </a:solidFill>
                <a:latin typeface="Times New Roman"/>
              </a:defRPr>
            </a:lvl6pPr>
            <a:lvl7pPr algn="l">
              <a:defRPr sz="2350" b="1">
                <a:solidFill>
                  <a:srgbClr val="3333B2"/>
                </a:solidFill>
                <a:latin typeface="Times New Roman"/>
              </a:defRPr>
            </a:lvl7pPr>
            <a:lvl8pPr algn="l">
              <a:defRPr sz="2350" b="1">
                <a:solidFill>
                  <a:srgbClr val="3333B2"/>
                </a:solidFill>
                <a:latin typeface="Times New Roman"/>
              </a:defRPr>
            </a:lvl8pPr>
            <a:lvl9pPr algn="l">
              <a:defRPr sz="2350" b="1">
                <a:solidFill>
                  <a:srgbClr val="3333B2"/>
                </a:solidFill>
                <a:latin typeface="Times New Roman"/>
              </a:defRPr>
            </a:lvl9pPr>
          </a:lstStyle>
          <a:p>
            <a:r>
              <a:rPr lang="en-US"/>
              <a:t>Click to edit Master title style</a:t>
            </a:r>
          </a:p>
        </p:txBody>
      </p:sp>
      <p:sp>
        <p:nvSpPr>
          <p:cNvPr id="3" name="Text Placeholder 2"/>
          <p:cNvSpPr>
            <a:spLocks noGrp="1"/>
          </p:cNvSpPr>
          <p:nvPr>
            <p:ph type="body" idx="1"/>
          </p:nvPr>
        </p:nvSpPr>
        <p:spPr>
          <a:xfrm>
            <a:off x="347472" y="950976"/>
            <a:ext cx="8449056" cy="5440680"/>
          </a:xfrm>
        </p:spPr>
        <p:txBody>
          <a:bodyPr lIns="0" tIns="0" rIns="0" bIns="0" anchor="t"/>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pPr lvl="0"/>
            <a:r>
              <a:rPr lang="en-US"/>
              <a:t>Click to edit Master text styles</a:t>
            </a:r>
          </a:p>
        </p:txBody>
      </p:sp>
      <p:sp>
        <p:nvSpPr>
          <p:cNvPr id="4" name="Date Placeholder 3"/>
          <p:cNvSpPr>
            <a:spLocks noGrp="1"/>
          </p:cNvSpPr>
          <p:nvPr>
            <p:ph type="dt" sz="half" idx="10"/>
          </p:nvPr>
        </p:nvSpPr>
        <p:spPr>
          <a:xfrm>
            <a:off x="365760" y="6519672"/>
            <a:ext cx="6858000" cy="182880"/>
          </a:xfrm>
        </p:spPr>
        <p:txBody>
          <a:bodyPr lIns="0" tIns="0" rIns="0" bIns="0" anchor="t"/>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fld id="{241EB5C9-1307-BA42-ABA2-0BC069CD8E7F}" type="datetimeFigureOut">
              <a:rPr lang="en-US" smtClean="0"/>
              <a:t>9/8/2026</a:t>
            </a:fld>
            <a:endParaRPr lang="en-US"/>
          </a:p>
        </p:txBody>
      </p:sp>
      <p:sp>
        <p:nvSpPr>
          <p:cNvPr id="5" name="Footer Placeholder 4"/>
          <p:cNvSpPr>
            <a:spLocks noGrp="1"/>
          </p:cNvSpPr>
          <p:nvPr>
            <p:ph type="ftr" sz="quarter" idx="11"/>
          </p:nvPr>
        </p:nvSpPr>
        <p:spPr>
          <a:xfrm>
            <a:off x="365760" y="6519672"/>
            <a:ext cx="6858000" cy="182880"/>
          </a:xfrm>
        </p:spPr>
        <p:txBody>
          <a:bodyPr lIns="0" tIns="0" rIns="0" bIns="0" anchor="t"/>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endParaRPr lang="en-US"/>
          </a:p>
        </p:txBody>
      </p:sp>
      <p:sp>
        <p:nvSpPr>
          <p:cNvPr id="6" name="Slide Number Placeholder 5"/>
          <p:cNvSpPr>
            <a:spLocks noGrp="1"/>
          </p:cNvSpPr>
          <p:nvPr>
            <p:ph type="sldNum" sz="quarter" idx="12"/>
          </p:nvPr>
        </p:nvSpPr>
        <p:spPr>
          <a:xfrm>
            <a:off x="8046720" y="6519672"/>
            <a:ext cx="914400" cy="182880"/>
          </a:xfrm>
        </p:spPr>
        <p:txBody>
          <a:bodyPr lIns="0" tIns="0" rIns="0" bIns="0" anchor="t"/>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lIns="0" tIns="0" rIns="0" bIns="0" anchor="t"/>
          <a:lstStyle>
            <a:lvl1pPr algn="l">
              <a:defRPr sz="2350" b="1">
                <a:solidFill>
                  <a:srgbClr val="3333B2"/>
                </a:solidFill>
                <a:latin typeface="Times New Roman"/>
              </a:defRPr>
            </a:lvl1pPr>
            <a:lvl2pPr algn="l">
              <a:defRPr sz="2350" b="1">
                <a:solidFill>
                  <a:srgbClr val="3333B2"/>
                </a:solidFill>
                <a:latin typeface="Times New Roman"/>
              </a:defRPr>
            </a:lvl2pPr>
            <a:lvl3pPr algn="l">
              <a:defRPr sz="2350" b="1">
                <a:solidFill>
                  <a:srgbClr val="3333B2"/>
                </a:solidFill>
                <a:latin typeface="Times New Roman"/>
              </a:defRPr>
            </a:lvl3pPr>
            <a:lvl4pPr algn="l">
              <a:defRPr sz="2350" b="1">
                <a:solidFill>
                  <a:srgbClr val="3333B2"/>
                </a:solidFill>
                <a:latin typeface="Times New Roman"/>
              </a:defRPr>
            </a:lvl4pPr>
            <a:lvl5pPr algn="l">
              <a:defRPr sz="2350" b="1">
                <a:solidFill>
                  <a:srgbClr val="3333B2"/>
                </a:solidFill>
                <a:latin typeface="Times New Roman"/>
              </a:defRPr>
            </a:lvl5pPr>
            <a:lvl6pPr algn="l">
              <a:defRPr sz="2350" b="1">
                <a:solidFill>
                  <a:srgbClr val="3333B2"/>
                </a:solidFill>
                <a:latin typeface="Times New Roman"/>
              </a:defRPr>
            </a:lvl6pPr>
            <a:lvl7pPr algn="l">
              <a:defRPr sz="2350" b="1">
                <a:solidFill>
                  <a:srgbClr val="3333B2"/>
                </a:solidFill>
                <a:latin typeface="Times New Roman"/>
              </a:defRPr>
            </a:lvl7pPr>
            <a:lvl8pPr algn="l">
              <a:defRPr sz="2350" b="1">
                <a:solidFill>
                  <a:srgbClr val="3333B2"/>
                </a:solidFill>
                <a:latin typeface="Times New Roman"/>
              </a:defRPr>
            </a:lvl8pPr>
            <a:lvl9pPr algn="l">
              <a:defRPr sz="2350" b="1">
                <a:solidFill>
                  <a:srgbClr val="3333B2"/>
                </a:solidFill>
                <a:latin typeface="Times New Roman"/>
              </a:defRPr>
            </a:lvl9pPr>
          </a:lstStyle>
          <a:p>
            <a:r>
              <a:rPr lang="en-US"/>
              <a:t>Click to edit Master title style</a:t>
            </a:r>
          </a:p>
        </p:txBody>
      </p:sp>
      <p:sp>
        <p:nvSpPr>
          <p:cNvPr id="3" name="Content Placeholder 2"/>
          <p:cNvSpPr>
            <a:spLocks noGrp="1"/>
          </p:cNvSpPr>
          <p:nvPr>
            <p:ph sz="half" idx="1"/>
          </p:nvPr>
        </p:nvSpPr>
        <p:spPr>
          <a:xfrm>
            <a:off x="347472" y="950976"/>
            <a:ext cx="4105656" cy="5440680"/>
          </a:xfrm>
        </p:spPr>
        <p:txBody>
          <a:bodyPr lIns="0" tIns="0" rIns="0" bIns="0" anchor="t"/>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90872" y="950976"/>
            <a:ext cx="4105656" cy="5440680"/>
          </a:xfrm>
        </p:spPr>
        <p:txBody>
          <a:bodyPr lIns="0" tIns="0" rIns="0" bIns="0" anchor="t"/>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365760" y="6519672"/>
            <a:ext cx="6858000" cy="182880"/>
          </a:xfrm>
        </p:spPr>
        <p:txBody>
          <a:bodyPr lIns="0" tIns="0" rIns="0" bIns="0" anchor="t"/>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fld id="{241EB5C9-1307-BA42-ABA2-0BC069CD8E7F}" type="datetimeFigureOut">
              <a:rPr lang="en-US" smtClean="0"/>
              <a:t>9/8/2026</a:t>
            </a:fld>
            <a:endParaRPr lang="en-US"/>
          </a:p>
        </p:txBody>
      </p:sp>
      <p:sp>
        <p:nvSpPr>
          <p:cNvPr id="6" name="Footer Placeholder 5"/>
          <p:cNvSpPr>
            <a:spLocks noGrp="1"/>
          </p:cNvSpPr>
          <p:nvPr>
            <p:ph type="ftr" sz="quarter" idx="11"/>
          </p:nvPr>
        </p:nvSpPr>
        <p:spPr>
          <a:xfrm>
            <a:off x="365760" y="6519672"/>
            <a:ext cx="6858000" cy="182880"/>
          </a:xfrm>
        </p:spPr>
        <p:txBody>
          <a:bodyPr lIns="0" tIns="0" rIns="0" bIns="0" anchor="t"/>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endParaRPr lang="en-US"/>
          </a:p>
        </p:txBody>
      </p:sp>
      <p:sp>
        <p:nvSpPr>
          <p:cNvPr id="7" name="Slide Number Placeholder 6"/>
          <p:cNvSpPr>
            <a:spLocks noGrp="1"/>
          </p:cNvSpPr>
          <p:nvPr>
            <p:ph type="sldNum" sz="quarter" idx="12"/>
          </p:nvPr>
        </p:nvSpPr>
        <p:spPr>
          <a:xfrm>
            <a:off x="8046720" y="6519672"/>
            <a:ext cx="914400" cy="182880"/>
          </a:xfrm>
        </p:spPr>
        <p:txBody>
          <a:bodyPr lIns="0" tIns="0" rIns="0" bIns="0" anchor="t"/>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lIns="0" tIns="0" rIns="0" bIns="0" anchor="t"/>
          <a:lstStyle>
            <a:lvl1pPr algn="l">
              <a:defRPr sz="2350" b="1">
                <a:solidFill>
                  <a:srgbClr val="3333B2"/>
                </a:solidFill>
                <a:latin typeface="Times New Roman"/>
              </a:defRPr>
            </a:lvl1pPr>
            <a:lvl2pPr algn="l">
              <a:defRPr sz="2350" b="1">
                <a:solidFill>
                  <a:srgbClr val="3333B2"/>
                </a:solidFill>
                <a:latin typeface="Times New Roman"/>
              </a:defRPr>
            </a:lvl2pPr>
            <a:lvl3pPr algn="l">
              <a:defRPr sz="2350" b="1">
                <a:solidFill>
                  <a:srgbClr val="3333B2"/>
                </a:solidFill>
                <a:latin typeface="Times New Roman"/>
              </a:defRPr>
            </a:lvl3pPr>
            <a:lvl4pPr algn="l">
              <a:defRPr sz="2350" b="1">
                <a:solidFill>
                  <a:srgbClr val="3333B2"/>
                </a:solidFill>
                <a:latin typeface="Times New Roman"/>
              </a:defRPr>
            </a:lvl4pPr>
            <a:lvl5pPr algn="l">
              <a:defRPr sz="2350" b="1">
                <a:solidFill>
                  <a:srgbClr val="3333B2"/>
                </a:solidFill>
                <a:latin typeface="Times New Roman"/>
              </a:defRPr>
            </a:lvl5pPr>
            <a:lvl6pPr algn="l">
              <a:defRPr sz="2350" b="1">
                <a:solidFill>
                  <a:srgbClr val="3333B2"/>
                </a:solidFill>
                <a:latin typeface="Times New Roman"/>
              </a:defRPr>
            </a:lvl6pPr>
            <a:lvl7pPr algn="l">
              <a:defRPr sz="2350" b="1">
                <a:solidFill>
                  <a:srgbClr val="3333B2"/>
                </a:solidFill>
                <a:latin typeface="Times New Roman"/>
              </a:defRPr>
            </a:lvl7pPr>
            <a:lvl8pPr algn="l">
              <a:defRPr sz="2350" b="1">
                <a:solidFill>
                  <a:srgbClr val="3333B2"/>
                </a:solidFill>
                <a:latin typeface="Times New Roman"/>
              </a:defRPr>
            </a:lvl8pPr>
            <a:lvl9pPr algn="l">
              <a:defRPr sz="2350" b="1">
                <a:solidFill>
                  <a:srgbClr val="3333B2"/>
                </a:solidFill>
                <a:latin typeface="Times New Roman"/>
              </a:defRPr>
            </a:lvl9pPr>
          </a:lstStyle>
          <a:p>
            <a:r>
              <a:rPr lang="en-US"/>
              <a:t>Click to edit Master title style</a:t>
            </a:r>
          </a:p>
        </p:txBody>
      </p:sp>
      <p:sp>
        <p:nvSpPr>
          <p:cNvPr id="3" name="Text Placeholder 2"/>
          <p:cNvSpPr>
            <a:spLocks noGrp="1"/>
          </p:cNvSpPr>
          <p:nvPr>
            <p:ph type="body" idx="1"/>
          </p:nvPr>
        </p:nvSpPr>
        <p:spPr>
          <a:xfrm>
            <a:off x="347472" y="950976"/>
            <a:ext cx="4105656" cy="5440680"/>
          </a:xfrm>
        </p:spPr>
        <p:txBody>
          <a:bodyPr lIns="0" tIns="0" rIns="0" bIns="0" anchor="t"/>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pPr lvl="0"/>
            <a:r>
              <a:rPr lang="en-US"/>
              <a:t>Click to edit Master text styles</a:t>
            </a:r>
          </a:p>
        </p:txBody>
      </p:sp>
      <p:sp>
        <p:nvSpPr>
          <p:cNvPr id="4" name="Content Placeholder 3"/>
          <p:cNvSpPr>
            <a:spLocks noGrp="1"/>
          </p:cNvSpPr>
          <p:nvPr>
            <p:ph sz="half" idx="2"/>
          </p:nvPr>
        </p:nvSpPr>
        <p:spPr>
          <a:xfrm>
            <a:off x="4690872" y="950976"/>
            <a:ext cx="4105656" cy="5440680"/>
          </a:xfrm>
        </p:spPr>
        <p:txBody>
          <a:bodyPr lIns="0" tIns="0" rIns="0" bIns="0" anchor="t"/>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7472" y="950976"/>
            <a:ext cx="4105656" cy="5440680"/>
          </a:xfrm>
        </p:spPr>
        <p:txBody>
          <a:bodyPr lIns="0" tIns="0" rIns="0" bIns="0" anchor="t"/>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pPr lvl="0"/>
            <a:r>
              <a:rPr lang="en-US"/>
              <a:t>Click to edit Master text styles</a:t>
            </a:r>
          </a:p>
        </p:txBody>
      </p:sp>
      <p:sp>
        <p:nvSpPr>
          <p:cNvPr id="6" name="Content Placeholder 5"/>
          <p:cNvSpPr>
            <a:spLocks noGrp="1"/>
          </p:cNvSpPr>
          <p:nvPr>
            <p:ph sz="quarter" idx="4"/>
          </p:nvPr>
        </p:nvSpPr>
        <p:spPr>
          <a:xfrm>
            <a:off x="4690872" y="950976"/>
            <a:ext cx="4105656" cy="5440680"/>
          </a:xfrm>
        </p:spPr>
        <p:txBody>
          <a:bodyPr lIns="0" tIns="0" rIns="0" bIns="0" anchor="t"/>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365760" y="6519672"/>
            <a:ext cx="6858000" cy="182880"/>
          </a:xfrm>
        </p:spPr>
        <p:txBody>
          <a:bodyPr lIns="0" tIns="0" rIns="0" bIns="0" anchor="t"/>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fld id="{241EB5C9-1307-BA42-ABA2-0BC069CD8E7F}" type="datetimeFigureOut">
              <a:rPr lang="en-US" smtClean="0"/>
              <a:t>9/8/2026</a:t>
            </a:fld>
            <a:endParaRPr lang="en-US"/>
          </a:p>
        </p:txBody>
      </p:sp>
      <p:sp>
        <p:nvSpPr>
          <p:cNvPr id="8" name="Footer Placeholder 7"/>
          <p:cNvSpPr>
            <a:spLocks noGrp="1"/>
          </p:cNvSpPr>
          <p:nvPr>
            <p:ph type="ftr" sz="quarter" idx="11"/>
          </p:nvPr>
        </p:nvSpPr>
        <p:spPr>
          <a:xfrm>
            <a:off x="365760" y="6519672"/>
            <a:ext cx="6858000" cy="182880"/>
          </a:xfrm>
        </p:spPr>
        <p:txBody>
          <a:bodyPr lIns="0" tIns="0" rIns="0" bIns="0" anchor="t"/>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endParaRPr lang="en-US"/>
          </a:p>
        </p:txBody>
      </p:sp>
      <p:sp>
        <p:nvSpPr>
          <p:cNvPr id="9" name="Slide Number Placeholder 8"/>
          <p:cNvSpPr>
            <a:spLocks noGrp="1"/>
          </p:cNvSpPr>
          <p:nvPr>
            <p:ph type="sldNum" sz="quarter" idx="12"/>
          </p:nvPr>
        </p:nvSpPr>
        <p:spPr>
          <a:xfrm>
            <a:off x="8046720" y="6519672"/>
            <a:ext cx="914400" cy="182880"/>
          </a:xfrm>
        </p:spPr>
        <p:txBody>
          <a:bodyPr lIns="0" tIns="0" rIns="0" bIns="0" anchor="t"/>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lIns="0" tIns="0" rIns="0" bIns="0" anchor="t"/>
          <a:lstStyle>
            <a:lvl1pPr algn="l">
              <a:defRPr sz="2350" b="1">
                <a:solidFill>
                  <a:srgbClr val="3333B2"/>
                </a:solidFill>
                <a:latin typeface="Times New Roman"/>
              </a:defRPr>
            </a:lvl1pPr>
            <a:lvl2pPr algn="l">
              <a:defRPr sz="2350" b="1">
                <a:solidFill>
                  <a:srgbClr val="3333B2"/>
                </a:solidFill>
                <a:latin typeface="Times New Roman"/>
              </a:defRPr>
            </a:lvl2pPr>
            <a:lvl3pPr algn="l">
              <a:defRPr sz="2350" b="1">
                <a:solidFill>
                  <a:srgbClr val="3333B2"/>
                </a:solidFill>
                <a:latin typeface="Times New Roman"/>
              </a:defRPr>
            </a:lvl3pPr>
            <a:lvl4pPr algn="l">
              <a:defRPr sz="2350" b="1">
                <a:solidFill>
                  <a:srgbClr val="3333B2"/>
                </a:solidFill>
                <a:latin typeface="Times New Roman"/>
              </a:defRPr>
            </a:lvl4pPr>
            <a:lvl5pPr algn="l">
              <a:defRPr sz="2350" b="1">
                <a:solidFill>
                  <a:srgbClr val="3333B2"/>
                </a:solidFill>
                <a:latin typeface="Times New Roman"/>
              </a:defRPr>
            </a:lvl5pPr>
            <a:lvl6pPr algn="l">
              <a:defRPr sz="2350" b="1">
                <a:solidFill>
                  <a:srgbClr val="3333B2"/>
                </a:solidFill>
                <a:latin typeface="Times New Roman"/>
              </a:defRPr>
            </a:lvl6pPr>
            <a:lvl7pPr algn="l">
              <a:defRPr sz="2350" b="1">
                <a:solidFill>
                  <a:srgbClr val="3333B2"/>
                </a:solidFill>
                <a:latin typeface="Times New Roman"/>
              </a:defRPr>
            </a:lvl7pPr>
            <a:lvl8pPr algn="l">
              <a:defRPr sz="2350" b="1">
                <a:solidFill>
                  <a:srgbClr val="3333B2"/>
                </a:solidFill>
                <a:latin typeface="Times New Roman"/>
              </a:defRPr>
            </a:lvl8pPr>
            <a:lvl9pPr algn="l">
              <a:defRPr sz="2350" b="1">
                <a:solidFill>
                  <a:srgbClr val="3333B2"/>
                </a:solidFill>
                <a:latin typeface="Times New Roman"/>
              </a:defRPr>
            </a:lvl9pPr>
          </a:lstStyle>
          <a:p>
            <a:r>
              <a:rPr lang="en-US"/>
              <a:t>Click to edit Master title style</a:t>
            </a:r>
          </a:p>
        </p:txBody>
      </p:sp>
      <p:sp>
        <p:nvSpPr>
          <p:cNvPr id="3" name="Date Placeholder 2"/>
          <p:cNvSpPr>
            <a:spLocks noGrp="1"/>
          </p:cNvSpPr>
          <p:nvPr>
            <p:ph type="dt" sz="half" idx="10"/>
          </p:nvPr>
        </p:nvSpPr>
        <p:spPr>
          <a:xfrm>
            <a:off x="365760" y="6519672"/>
            <a:ext cx="6858000" cy="182880"/>
          </a:xfrm>
        </p:spPr>
        <p:txBody>
          <a:bodyPr lIns="0" tIns="0" rIns="0" bIns="0" anchor="t"/>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fld id="{241EB5C9-1307-BA42-ABA2-0BC069CD8E7F}" type="datetimeFigureOut">
              <a:rPr lang="en-US" smtClean="0"/>
              <a:t>9/8/2026</a:t>
            </a:fld>
            <a:endParaRPr lang="en-US"/>
          </a:p>
        </p:txBody>
      </p:sp>
      <p:sp>
        <p:nvSpPr>
          <p:cNvPr id="4" name="Footer Placeholder 3"/>
          <p:cNvSpPr>
            <a:spLocks noGrp="1"/>
          </p:cNvSpPr>
          <p:nvPr>
            <p:ph type="ftr" sz="quarter" idx="11"/>
          </p:nvPr>
        </p:nvSpPr>
        <p:spPr>
          <a:xfrm>
            <a:off x="365760" y="6519672"/>
            <a:ext cx="6858000" cy="182880"/>
          </a:xfrm>
        </p:spPr>
        <p:txBody>
          <a:bodyPr lIns="0" tIns="0" rIns="0" bIns="0" anchor="t"/>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endParaRPr lang="en-US"/>
          </a:p>
        </p:txBody>
      </p:sp>
      <p:sp>
        <p:nvSpPr>
          <p:cNvPr id="5" name="Slide Number Placeholder 4"/>
          <p:cNvSpPr>
            <a:spLocks noGrp="1"/>
          </p:cNvSpPr>
          <p:nvPr>
            <p:ph type="sldNum" sz="quarter" idx="12"/>
          </p:nvPr>
        </p:nvSpPr>
        <p:spPr>
          <a:xfrm>
            <a:off x="8046720" y="6519672"/>
            <a:ext cx="914400" cy="182880"/>
          </a:xfrm>
        </p:spPr>
        <p:txBody>
          <a:bodyPr lIns="0" tIns="0" rIns="0" bIns="0" anchor="t"/>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365760" y="6519672"/>
            <a:ext cx="6858000" cy="182880"/>
          </a:xfrm>
        </p:spPr>
        <p:txBody>
          <a:bodyPr lIns="0" tIns="0" rIns="0" bIns="0" anchor="t"/>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fld id="{241EB5C9-1307-BA42-ABA2-0BC069CD8E7F}" type="datetimeFigureOut">
              <a:rPr lang="en-US" smtClean="0"/>
              <a:t>9/8/2026</a:t>
            </a:fld>
            <a:endParaRPr lang="en-US"/>
          </a:p>
        </p:txBody>
      </p:sp>
      <p:sp>
        <p:nvSpPr>
          <p:cNvPr id="3" name="Footer Placeholder 2"/>
          <p:cNvSpPr>
            <a:spLocks noGrp="1"/>
          </p:cNvSpPr>
          <p:nvPr>
            <p:ph type="ftr" sz="quarter" idx="11"/>
          </p:nvPr>
        </p:nvSpPr>
        <p:spPr>
          <a:xfrm>
            <a:off x="365760" y="6519672"/>
            <a:ext cx="6858000" cy="182880"/>
          </a:xfrm>
        </p:spPr>
        <p:txBody>
          <a:bodyPr lIns="0" tIns="0" rIns="0" bIns="0" anchor="t"/>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endParaRPr lang="en-US"/>
          </a:p>
        </p:txBody>
      </p:sp>
      <p:sp>
        <p:nvSpPr>
          <p:cNvPr id="4" name="Slide Number Placeholder 3"/>
          <p:cNvSpPr>
            <a:spLocks noGrp="1"/>
          </p:cNvSpPr>
          <p:nvPr>
            <p:ph type="sldNum" sz="quarter" idx="12"/>
          </p:nvPr>
        </p:nvSpPr>
        <p:spPr>
          <a:xfrm>
            <a:off x="8046720" y="6519672"/>
            <a:ext cx="914400" cy="182880"/>
          </a:xfrm>
        </p:spPr>
        <p:txBody>
          <a:bodyPr lIns="0" tIns="0" rIns="0" bIns="0" anchor="t"/>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lIns="0" tIns="0" rIns="0" bIns="0" anchor="t"/>
          <a:lstStyle>
            <a:lvl1pPr algn="l">
              <a:defRPr sz="2350" b="1">
                <a:solidFill>
                  <a:srgbClr val="3333B2"/>
                </a:solidFill>
                <a:latin typeface="Times New Roman"/>
              </a:defRPr>
            </a:lvl1pPr>
            <a:lvl2pPr algn="l">
              <a:defRPr sz="2350" b="1">
                <a:solidFill>
                  <a:srgbClr val="3333B2"/>
                </a:solidFill>
                <a:latin typeface="Times New Roman"/>
              </a:defRPr>
            </a:lvl2pPr>
            <a:lvl3pPr algn="l">
              <a:defRPr sz="2350" b="1">
                <a:solidFill>
                  <a:srgbClr val="3333B2"/>
                </a:solidFill>
                <a:latin typeface="Times New Roman"/>
              </a:defRPr>
            </a:lvl3pPr>
            <a:lvl4pPr algn="l">
              <a:defRPr sz="2350" b="1">
                <a:solidFill>
                  <a:srgbClr val="3333B2"/>
                </a:solidFill>
                <a:latin typeface="Times New Roman"/>
              </a:defRPr>
            </a:lvl4pPr>
            <a:lvl5pPr algn="l">
              <a:defRPr sz="2350" b="1">
                <a:solidFill>
                  <a:srgbClr val="3333B2"/>
                </a:solidFill>
                <a:latin typeface="Times New Roman"/>
              </a:defRPr>
            </a:lvl5pPr>
            <a:lvl6pPr algn="l">
              <a:defRPr sz="2350" b="1">
                <a:solidFill>
                  <a:srgbClr val="3333B2"/>
                </a:solidFill>
                <a:latin typeface="Times New Roman"/>
              </a:defRPr>
            </a:lvl6pPr>
            <a:lvl7pPr algn="l">
              <a:defRPr sz="2350" b="1">
                <a:solidFill>
                  <a:srgbClr val="3333B2"/>
                </a:solidFill>
                <a:latin typeface="Times New Roman"/>
              </a:defRPr>
            </a:lvl7pPr>
            <a:lvl8pPr algn="l">
              <a:defRPr sz="2350" b="1">
                <a:solidFill>
                  <a:srgbClr val="3333B2"/>
                </a:solidFill>
                <a:latin typeface="Times New Roman"/>
              </a:defRPr>
            </a:lvl8pPr>
            <a:lvl9pPr algn="l">
              <a:defRPr sz="2350" b="1">
                <a:solidFill>
                  <a:srgbClr val="3333B2"/>
                </a:solidFill>
                <a:latin typeface="Times New Roman"/>
              </a:defRPr>
            </a:lvl9pPr>
          </a:lstStyle>
          <a:p>
            <a:r>
              <a:rPr lang="en-US"/>
              <a:t>Click to edit Master title style</a:t>
            </a:r>
          </a:p>
        </p:txBody>
      </p:sp>
      <p:sp>
        <p:nvSpPr>
          <p:cNvPr id="3" name="Content Placeholder 2"/>
          <p:cNvSpPr>
            <a:spLocks noGrp="1"/>
          </p:cNvSpPr>
          <p:nvPr>
            <p:ph idx="1"/>
          </p:nvPr>
        </p:nvSpPr>
        <p:spPr>
          <a:xfrm>
            <a:off x="347472" y="950976"/>
            <a:ext cx="8449056" cy="5440680"/>
          </a:xfrm>
        </p:spPr>
        <p:txBody>
          <a:bodyPr lIns="0" tIns="0" rIns="0" bIns="0" anchor="t"/>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7472" y="950976"/>
            <a:ext cx="8449056" cy="5440680"/>
          </a:xfrm>
        </p:spPr>
        <p:txBody>
          <a:bodyPr lIns="0" tIns="0" rIns="0" bIns="0" anchor="t"/>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pPr lvl="0"/>
            <a:r>
              <a:rPr lang="en-US"/>
              <a:t>Click to edit Master text styles</a:t>
            </a:r>
          </a:p>
        </p:txBody>
      </p:sp>
      <p:sp>
        <p:nvSpPr>
          <p:cNvPr id="5" name="Date Placeholder 4"/>
          <p:cNvSpPr>
            <a:spLocks noGrp="1"/>
          </p:cNvSpPr>
          <p:nvPr>
            <p:ph type="dt" sz="half" idx="10"/>
          </p:nvPr>
        </p:nvSpPr>
        <p:spPr>
          <a:xfrm>
            <a:off x="365760" y="6519672"/>
            <a:ext cx="6858000" cy="182880"/>
          </a:xfrm>
        </p:spPr>
        <p:txBody>
          <a:bodyPr lIns="0" tIns="0" rIns="0" bIns="0" anchor="t"/>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fld id="{241EB5C9-1307-BA42-ABA2-0BC069CD8E7F}" type="datetimeFigureOut">
              <a:rPr lang="en-US" smtClean="0"/>
              <a:t>9/8/2026</a:t>
            </a:fld>
            <a:endParaRPr lang="en-US"/>
          </a:p>
        </p:txBody>
      </p:sp>
      <p:sp>
        <p:nvSpPr>
          <p:cNvPr id="6" name="Footer Placeholder 5"/>
          <p:cNvSpPr>
            <a:spLocks noGrp="1"/>
          </p:cNvSpPr>
          <p:nvPr>
            <p:ph type="ftr" sz="quarter" idx="11"/>
          </p:nvPr>
        </p:nvSpPr>
        <p:spPr>
          <a:xfrm>
            <a:off x="365760" y="6519672"/>
            <a:ext cx="6858000" cy="182880"/>
          </a:xfrm>
        </p:spPr>
        <p:txBody>
          <a:bodyPr lIns="0" tIns="0" rIns="0" bIns="0" anchor="t"/>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endParaRPr lang="en-US"/>
          </a:p>
        </p:txBody>
      </p:sp>
      <p:sp>
        <p:nvSpPr>
          <p:cNvPr id="7" name="Slide Number Placeholder 6"/>
          <p:cNvSpPr>
            <a:spLocks noGrp="1"/>
          </p:cNvSpPr>
          <p:nvPr>
            <p:ph type="sldNum" sz="quarter" idx="12"/>
          </p:nvPr>
        </p:nvSpPr>
        <p:spPr>
          <a:xfrm>
            <a:off x="8046720" y="6519672"/>
            <a:ext cx="914400" cy="182880"/>
          </a:xfrm>
        </p:spPr>
        <p:txBody>
          <a:bodyPr lIns="0" tIns="0" rIns="0" bIns="0" anchor="t"/>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lIns="0" tIns="0" rIns="0" bIns="0" anchor="t"/>
          <a:lstStyle>
            <a:lvl1pPr algn="l">
              <a:defRPr sz="2350" b="1">
                <a:solidFill>
                  <a:srgbClr val="3333B2"/>
                </a:solidFill>
                <a:latin typeface="Times New Roman"/>
              </a:defRPr>
            </a:lvl1pPr>
            <a:lvl2pPr algn="l">
              <a:defRPr sz="2350" b="1">
                <a:solidFill>
                  <a:srgbClr val="3333B2"/>
                </a:solidFill>
                <a:latin typeface="Times New Roman"/>
              </a:defRPr>
            </a:lvl2pPr>
            <a:lvl3pPr algn="l">
              <a:defRPr sz="2350" b="1">
                <a:solidFill>
                  <a:srgbClr val="3333B2"/>
                </a:solidFill>
                <a:latin typeface="Times New Roman"/>
              </a:defRPr>
            </a:lvl3pPr>
            <a:lvl4pPr algn="l">
              <a:defRPr sz="2350" b="1">
                <a:solidFill>
                  <a:srgbClr val="3333B2"/>
                </a:solidFill>
                <a:latin typeface="Times New Roman"/>
              </a:defRPr>
            </a:lvl4pPr>
            <a:lvl5pPr algn="l">
              <a:defRPr sz="2350" b="1">
                <a:solidFill>
                  <a:srgbClr val="3333B2"/>
                </a:solidFill>
                <a:latin typeface="Times New Roman"/>
              </a:defRPr>
            </a:lvl5pPr>
            <a:lvl6pPr algn="l">
              <a:defRPr sz="2350" b="1">
                <a:solidFill>
                  <a:srgbClr val="3333B2"/>
                </a:solidFill>
                <a:latin typeface="Times New Roman"/>
              </a:defRPr>
            </a:lvl6pPr>
            <a:lvl7pPr algn="l">
              <a:defRPr sz="2350" b="1">
                <a:solidFill>
                  <a:srgbClr val="3333B2"/>
                </a:solidFill>
                <a:latin typeface="Times New Roman"/>
              </a:defRPr>
            </a:lvl7pPr>
            <a:lvl8pPr algn="l">
              <a:defRPr sz="2350" b="1">
                <a:solidFill>
                  <a:srgbClr val="3333B2"/>
                </a:solidFill>
                <a:latin typeface="Times New Roman"/>
              </a:defRPr>
            </a:lvl8pPr>
            <a:lvl9pPr algn="l">
              <a:defRPr sz="2350" b="1">
                <a:solidFill>
                  <a:srgbClr val="3333B2"/>
                </a:solidFill>
                <a:latin typeface="Times New Roman"/>
              </a:defRPr>
            </a:lvl9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lIns="0" tIns="0" rIns="0" bIns="0" anchor="t"/>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endParaRPr lang="en-US"/>
          </a:p>
        </p:txBody>
      </p:sp>
      <p:sp>
        <p:nvSpPr>
          <p:cNvPr id="4" name="Text Placeholder 3"/>
          <p:cNvSpPr>
            <a:spLocks noGrp="1"/>
          </p:cNvSpPr>
          <p:nvPr>
            <p:ph type="body" sz="half" idx="2"/>
          </p:nvPr>
        </p:nvSpPr>
        <p:spPr>
          <a:xfrm>
            <a:off x="347472" y="950976"/>
            <a:ext cx="8449056" cy="5440680"/>
          </a:xfrm>
        </p:spPr>
        <p:txBody>
          <a:bodyPr lIns="0" tIns="0" rIns="0" bIns="0" anchor="t"/>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pPr lvl="0"/>
            <a:r>
              <a:rPr lang="en-US"/>
              <a:t>Click to edit Master text styles</a:t>
            </a:r>
          </a:p>
        </p:txBody>
      </p:sp>
      <p:sp>
        <p:nvSpPr>
          <p:cNvPr id="5" name="Date Placeholder 4"/>
          <p:cNvSpPr>
            <a:spLocks noGrp="1"/>
          </p:cNvSpPr>
          <p:nvPr>
            <p:ph type="dt" sz="half" idx="10"/>
          </p:nvPr>
        </p:nvSpPr>
        <p:spPr>
          <a:xfrm>
            <a:off x="365760" y="6519672"/>
            <a:ext cx="6858000" cy="182880"/>
          </a:xfrm>
        </p:spPr>
        <p:txBody>
          <a:bodyPr lIns="0" tIns="0" rIns="0" bIns="0" anchor="t"/>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fld id="{241EB5C9-1307-BA42-ABA2-0BC069CD8E7F}" type="datetimeFigureOut">
              <a:rPr lang="en-US" smtClean="0"/>
              <a:t>9/8/2026</a:t>
            </a:fld>
            <a:endParaRPr lang="en-US"/>
          </a:p>
        </p:txBody>
      </p:sp>
      <p:sp>
        <p:nvSpPr>
          <p:cNvPr id="6" name="Footer Placeholder 5"/>
          <p:cNvSpPr>
            <a:spLocks noGrp="1"/>
          </p:cNvSpPr>
          <p:nvPr>
            <p:ph type="ftr" sz="quarter" idx="11"/>
          </p:nvPr>
        </p:nvSpPr>
        <p:spPr>
          <a:xfrm>
            <a:off x="365760" y="6519672"/>
            <a:ext cx="6858000" cy="182880"/>
          </a:xfrm>
        </p:spPr>
        <p:txBody>
          <a:bodyPr lIns="0" tIns="0" rIns="0" bIns="0" anchor="t"/>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endParaRPr lang="en-US"/>
          </a:p>
        </p:txBody>
      </p:sp>
      <p:sp>
        <p:nvSpPr>
          <p:cNvPr id="7" name="Slide Number Placeholder 6"/>
          <p:cNvSpPr>
            <a:spLocks noGrp="1"/>
          </p:cNvSpPr>
          <p:nvPr>
            <p:ph type="sldNum" sz="quarter" idx="12"/>
          </p:nvPr>
        </p:nvSpPr>
        <p:spPr>
          <a:xfrm>
            <a:off x="8046720" y="6519672"/>
            <a:ext cx="914400" cy="182880"/>
          </a:xfrm>
        </p:spPr>
        <p:txBody>
          <a:bodyPr lIns="0" tIns="0" rIns="0" bIns="0" anchor="t"/>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lIns="0" tIns="0" rIns="0" bIns="0" anchor="t"/>
          <a:lstStyle>
            <a:lvl1pPr algn="l">
              <a:defRPr sz="2350" b="1">
                <a:solidFill>
                  <a:srgbClr val="3333B2"/>
                </a:solidFill>
                <a:latin typeface="Times New Roman"/>
              </a:defRPr>
            </a:lvl1pPr>
            <a:lvl2pPr algn="l">
              <a:defRPr sz="2350" b="1">
                <a:solidFill>
                  <a:srgbClr val="3333B2"/>
                </a:solidFill>
                <a:latin typeface="Times New Roman"/>
              </a:defRPr>
            </a:lvl2pPr>
            <a:lvl3pPr algn="l">
              <a:defRPr sz="2350" b="1">
                <a:solidFill>
                  <a:srgbClr val="3333B2"/>
                </a:solidFill>
                <a:latin typeface="Times New Roman"/>
              </a:defRPr>
            </a:lvl3pPr>
            <a:lvl4pPr algn="l">
              <a:defRPr sz="2350" b="1">
                <a:solidFill>
                  <a:srgbClr val="3333B2"/>
                </a:solidFill>
                <a:latin typeface="Times New Roman"/>
              </a:defRPr>
            </a:lvl4pPr>
            <a:lvl5pPr algn="l">
              <a:defRPr sz="2350" b="1">
                <a:solidFill>
                  <a:srgbClr val="3333B2"/>
                </a:solidFill>
                <a:latin typeface="Times New Roman"/>
              </a:defRPr>
            </a:lvl5pPr>
            <a:lvl6pPr algn="l">
              <a:defRPr sz="2350" b="1">
                <a:solidFill>
                  <a:srgbClr val="3333B2"/>
                </a:solidFill>
                <a:latin typeface="Times New Roman"/>
              </a:defRPr>
            </a:lvl6pPr>
            <a:lvl7pPr algn="l">
              <a:defRPr sz="2350" b="1">
                <a:solidFill>
                  <a:srgbClr val="3333B2"/>
                </a:solidFill>
                <a:latin typeface="Times New Roman"/>
              </a:defRPr>
            </a:lvl7pPr>
            <a:lvl8pPr algn="l">
              <a:defRPr sz="2350" b="1">
                <a:solidFill>
                  <a:srgbClr val="3333B2"/>
                </a:solidFill>
                <a:latin typeface="Times New Roman"/>
              </a:defRPr>
            </a:lvl8pPr>
            <a:lvl9pPr algn="l">
              <a:defRPr sz="2350" b="1">
                <a:solidFill>
                  <a:srgbClr val="3333B2"/>
                </a:solidFill>
                <a:latin typeface="Times New Roman"/>
              </a:defRPr>
            </a:lvl9pPr>
          </a:lstStyle>
          <a:p>
            <a:r>
              <a:rPr lang="en-US"/>
              <a:t>Click to edit Master title style</a:t>
            </a:r>
          </a:p>
        </p:txBody>
      </p:sp>
      <p:sp>
        <p:nvSpPr>
          <p:cNvPr id="3" name="Vertical Text Placeholder 2"/>
          <p:cNvSpPr>
            <a:spLocks noGrp="1"/>
          </p:cNvSpPr>
          <p:nvPr>
            <p:ph type="body" orient="vert" idx="1"/>
          </p:nvPr>
        </p:nvSpPr>
        <p:spPr>
          <a:xfrm>
            <a:off x="347472" y="950976"/>
            <a:ext cx="8449056" cy="5440680"/>
          </a:xfrm>
        </p:spPr>
        <p:txBody>
          <a:bodyPr vert="eaVert" lIns="0" tIns="0" rIns="0" bIns="0" anchor="t"/>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365760" y="6519672"/>
            <a:ext cx="6858000" cy="182880"/>
          </a:xfrm>
        </p:spPr>
        <p:txBody>
          <a:bodyPr lIns="0" tIns="0" rIns="0" bIns="0" anchor="t"/>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fld id="{241EB5C9-1307-BA42-ABA2-0BC069CD8E7F}" type="datetimeFigureOut">
              <a:rPr lang="en-US" smtClean="0"/>
              <a:t>9/8/2026</a:t>
            </a:fld>
            <a:endParaRPr lang="en-US"/>
          </a:p>
        </p:txBody>
      </p:sp>
      <p:sp>
        <p:nvSpPr>
          <p:cNvPr id="5" name="Footer Placeholder 4"/>
          <p:cNvSpPr>
            <a:spLocks noGrp="1"/>
          </p:cNvSpPr>
          <p:nvPr>
            <p:ph type="ftr" sz="quarter" idx="11"/>
          </p:nvPr>
        </p:nvSpPr>
        <p:spPr>
          <a:xfrm>
            <a:off x="365760" y="6519672"/>
            <a:ext cx="6858000" cy="182880"/>
          </a:xfrm>
        </p:spPr>
        <p:txBody>
          <a:bodyPr lIns="0" tIns="0" rIns="0" bIns="0" anchor="t"/>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endParaRPr lang="en-US"/>
          </a:p>
        </p:txBody>
      </p:sp>
      <p:sp>
        <p:nvSpPr>
          <p:cNvPr id="6" name="Slide Number Placeholder 5"/>
          <p:cNvSpPr>
            <a:spLocks noGrp="1"/>
          </p:cNvSpPr>
          <p:nvPr>
            <p:ph type="sldNum" sz="quarter" idx="12"/>
          </p:nvPr>
        </p:nvSpPr>
        <p:spPr>
          <a:xfrm>
            <a:off x="8046720" y="6519672"/>
            <a:ext cx="914400" cy="182880"/>
          </a:xfrm>
        </p:spPr>
        <p:txBody>
          <a:bodyPr lIns="0" tIns="0" rIns="0" bIns="0" anchor="t"/>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28600" y="109728"/>
            <a:ext cx="8686800" cy="640080"/>
          </a:xfrm>
        </p:spPr>
        <p:txBody>
          <a:bodyPr vert="eaVert" lIns="0" tIns="0" rIns="0" bIns="0" anchor="t"/>
          <a:lstStyle>
            <a:lvl1pPr algn="l">
              <a:defRPr sz="2350" b="1">
                <a:solidFill>
                  <a:srgbClr val="3333B2"/>
                </a:solidFill>
                <a:latin typeface="Times New Roman"/>
              </a:defRPr>
            </a:lvl1pPr>
            <a:lvl2pPr algn="l">
              <a:defRPr sz="2350" b="1">
                <a:solidFill>
                  <a:srgbClr val="3333B2"/>
                </a:solidFill>
                <a:latin typeface="Times New Roman"/>
              </a:defRPr>
            </a:lvl2pPr>
            <a:lvl3pPr algn="l">
              <a:defRPr sz="2350" b="1">
                <a:solidFill>
                  <a:srgbClr val="3333B2"/>
                </a:solidFill>
                <a:latin typeface="Times New Roman"/>
              </a:defRPr>
            </a:lvl3pPr>
            <a:lvl4pPr algn="l">
              <a:defRPr sz="2350" b="1">
                <a:solidFill>
                  <a:srgbClr val="3333B2"/>
                </a:solidFill>
                <a:latin typeface="Times New Roman"/>
              </a:defRPr>
            </a:lvl4pPr>
            <a:lvl5pPr algn="l">
              <a:defRPr sz="2350" b="1">
                <a:solidFill>
                  <a:srgbClr val="3333B2"/>
                </a:solidFill>
                <a:latin typeface="Times New Roman"/>
              </a:defRPr>
            </a:lvl5pPr>
            <a:lvl6pPr algn="l">
              <a:defRPr sz="2350" b="1">
                <a:solidFill>
                  <a:srgbClr val="3333B2"/>
                </a:solidFill>
                <a:latin typeface="Times New Roman"/>
              </a:defRPr>
            </a:lvl6pPr>
            <a:lvl7pPr algn="l">
              <a:defRPr sz="2350" b="1">
                <a:solidFill>
                  <a:srgbClr val="3333B2"/>
                </a:solidFill>
                <a:latin typeface="Times New Roman"/>
              </a:defRPr>
            </a:lvl7pPr>
            <a:lvl8pPr algn="l">
              <a:defRPr sz="2350" b="1">
                <a:solidFill>
                  <a:srgbClr val="3333B2"/>
                </a:solidFill>
                <a:latin typeface="Times New Roman"/>
              </a:defRPr>
            </a:lvl8pPr>
            <a:lvl9pPr algn="l">
              <a:defRPr sz="2350" b="1">
                <a:solidFill>
                  <a:srgbClr val="3333B2"/>
                </a:solidFill>
                <a:latin typeface="Times New Roman"/>
              </a:defRPr>
            </a:lvl9pPr>
          </a:lstStyle>
          <a:p>
            <a:r>
              <a:rPr lang="en-US"/>
              <a:t>Click to edit Master title style</a:t>
            </a:r>
          </a:p>
        </p:txBody>
      </p:sp>
      <p:sp>
        <p:nvSpPr>
          <p:cNvPr id="3" name="Vertical Text Placeholder 2"/>
          <p:cNvSpPr>
            <a:spLocks noGrp="1"/>
          </p:cNvSpPr>
          <p:nvPr>
            <p:ph type="body" orient="vert" idx="1"/>
          </p:nvPr>
        </p:nvSpPr>
        <p:spPr>
          <a:xfrm>
            <a:off x="347472" y="950976"/>
            <a:ext cx="8449056" cy="5440680"/>
          </a:xfrm>
        </p:spPr>
        <p:txBody>
          <a:bodyPr vert="eaVert" lIns="0" tIns="0" rIns="0" bIns="0" anchor="t"/>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365760" y="6519672"/>
            <a:ext cx="6858000" cy="182880"/>
          </a:xfrm>
        </p:spPr>
        <p:txBody>
          <a:bodyPr lIns="0" tIns="0" rIns="0" bIns="0" anchor="t"/>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fld id="{241EB5C9-1307-BA42-ABA2-0BC069CD8E7F}" type="datetimeFigureOut">
              <a:rPr lang="en-US" smtClean="0"/>
              <a:t>9/8/2026</a:t>
            </a:fld>
            <a:endParaRPr lang="en-US"/>
          </a:p>
        </p:txBody>
      </p:sp>
      <p:sp>
        <p:nvSpPr>
          <p:cNvPr id="5" name="Footer Placeholder 4"/>
          <p:cNvSpPr>
            <a:spLocks noGrp="1"/>
          </p:cNvSpPr>
          <p:nvPr>
            <p:ph type="ftr" sz="quarter" idx="11"/>
          </p:nvPr>
        </p:nvSpPr>
        <p:spPr>
          <a:xfrm>
            <a:off x="365760" y="6519672"/>
            <a:ext cx="6858000" cy="182880"/>
          </a:xfrm>
        </p:spPr>
        <p:txBody>
          <a:bodyPr lIns="0" tIns="0" rIns="0" bIns="0" anchor="t"/>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endParaRPr lang="en-US"/>
          </a:p>
        </p:txBody>
      </p:sp>
      <p:sp>
        <p:nvSpPr>
          <p:cNvPr id="6" name="Slide Number Placeholder 5"/>
          <p:cNvSpPr>
            <a:spLocks noGrp="1"/>
          </p:cNvSpPr>
          <p:nvPr>
            <p:ph type="sldNum" sz="quarter" idx="12"/>
          </p:nvPr>
        </p:nvSpPr>
        <p:spPr>
          <a:xfrm>
            <a:off x="8046720" y="6519672"/>
            <a:ext cx="914400" cy="182880"/>
          </a:xfrm>
        </p:spPr>
        <p:txBody>
          <a:bodyPr lIns="0" tIns="0" rIns="0" bIns="0" anchor="t"/>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8600" y="109728"/>
            <a:ext cx="8686800" cy="640080"/>
          </a:xfrm>
          <a:prstGeom prst="rect">
            <a:avLst/>
          </a:prstGeom>
        </p:spPr>
        <p:txBody>
          <a:bodyPr vert="horz" lIns="0" tIns="0" rIns="0" bIns="0" rtlCol="0" anchor="t">
            <a:normAutofit/>
          </a:bodyPr>
          <a:lstStyle>
            <a:lvl1pPr algn="l">
              <a:defRPr sz="2350" b="1">
                <a:solidFill>
                  <a:srgbClr val="3333B2"/>
                </a:solidFill>
                <a:latin typeface="Times New Roman"/>
              </a:defRPr>
            </a:lvl1pPr>
            <a:lvl2pPr algn="l">
              <a:defRPr sz="2350" b="1">
                <a:solidFill>
                  <a:srgbClr val="3333B2"/>
                </a:solidFill>
                <a:latin typeface="Times New Roman"/>
              </a:defRPr>
            </a:lvl2pPr>
            <a:lvl3pPr algn="l">
              <a:defRPr sz="2350" b="1">
                <a:solidFill>
                  <a:srgbClr val="3333B2"/>
                </a:solidFill>
                <a:latin typeface="Times New Roman"/>
              </a:defRPr>
            </a:lvl3pPr>
            <a:lvl4pPr algn="l">
              <a:defRPr sz="2350" b="1">
                <a:solidFill>
                  <a:srgbClr val="3333B2"/>
                </a:solidFill>
                <a:latin typeface="Times New Roman"/>
              </a:defRPr>
            </a:lvl4pPr>
            <a:lvl5pPr algn="l">
              <a:defRPr sz="2350" b="1">
                <a:solidFill>
                  <a:srgbClr val="3333B2"/>
                </a:solidFill>
                <a:latin typeface="Times New Roman"/>
              </a:defRPr>
            </a:lvl5pPr>
            <a:lvl6pPr algn="l">
              <a:defRPr sz="2350" b="1">
                <a:solidFill>
                  <a:srgbClr val="3333B2"/>
                </a:solidFill>
                <a:latin typeface="Times New Roman"/>
              </a:defRPr>
            </a:lvl6pPr>
            <a:lvl7pPr algn="l">
              <a:defRPr sz="2350" b="1">
                <a:solidFill>
                  <a:srgbClr val="3333B2"/>
                </a:solidFill>
                <a:latin typeface="Times New Roman"/>
              </a:defRPr>
            </a:lvl7pPr>
            <a:lvl8pPr algn="l">
              <a:defRPr sz="2350" b="1">
                <a:solidFill>
                  <a:srgbClr val="3333B2"/>
                </a:solidFill>
                <a:latin typeface="Times New Roman"/>
              </a:defRPr>
            </a:lvl8pPr>
            <a:lvl9pPr algn="l">
              <a:defRPr sz="2350" b="1">
                <a:solidFill>
                  <a:srgbClr val="3333B2"/>
                </a:solidFill>
                <a:latin typeface="Times New Roman"/>
              </a:defRPr>
            </a:lvl9pPr>
          </a:lstStyle>
          <a:p>
            <a:r>
              <a:rPr lang="en-US"/>
              <a:t>Click to edit Master title style</a:t>
            </a:r>
          </a:p>
        </p:txBody>
      </p:sp>
      <p:sp>
        <p:nvSpPr>
          <p:cNvPr id="3" name="Text Placeholder 2"/>
          <p:cNvSpPr>
            <a:spLocks noGrp="1"/>
          </p:cNvSpPr>
          <p:nvPr>
            <p:ph type="body" idx="1"/>
          </p:nvPr>
        </p:nvSpPr>
        <p:spPr>
          <a:xfrm>
            <a:off x="347472" y="950976"/>
            <a:ext cx="8449056" cy="5440680"/>
          </a:xfrm>
          <a:prstGeom prst="rect">
            <a:avLst/>
          </a:prstGeom>
        </p:spPr>
        <p:txBody>
          <a:bodyPr vert="horz" lIns="0" tIns="0" rIns="0" bIns="0" rtlCol="0" anchor="t">
            <a:normAutofit/>
          </a:bodyPr>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65760" y="6519672"/>
            <a:ext cx="6858000" cy="182880"/>
          </a:xfrm>
          <a:prstGeom prst="rect">
            <a:avLst/>
          </a:prstGeom>
        </p:spPr>
        <p:txBody>
          <a:bodyPr vert="horz" lIns="0" tIns="0" rIns="0" bIns="0" rtlCol="0" anchor="t"/>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fld id="{241EB5C9-1307-BA42-ABA2-0BC069CD8E7F}" type="datetimeFigureOut">
              <a:rPr lang="en-US" smtClean="0"/>
              <a:t>9/8/2026</a:t>
            </a:fld>
            <a:endParaRPr lang="en-US"/>
          </a:p>
        </p:txBody>
      </p:sp>
      <p:sp>
        <p:nvSpPr>
          <p:cNvPr id="5" name="Footer Placeholder 4"/>
          <p:cNvSpPr>
            <a:spLocks noGrp="1"/>
          </p:cNvSpPr>
          <p:nvPr>
            <p:ph type="ftr" sz="quarter" idx="3"/>
          </p:nvPr>
        </p:nvSpPr>
        <p:spPr>
          <a:xfrm>
            <a:off x="365760" y="6519672"/>
            <a:ext cx="6858000" cy="182880"/>
          </a:xfrm>
          <a:prstGeom prst="rect">
            <a:avLst/>
          </a:prstGeom>
        </p:spPr>
        <p:txBody>
          <a:bodyPr vert="horz" lIns="0" tIns="0" rIns="0" bIns="0" rtlCol="0" anchor="t"/>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endParaRPr lang="en-US"/>
          </a:p>
        </p:txBody>
      </p:sp>
      <p:sp>
        <p:nvSpPr>
          <p:cNvPr id="6" name="Slide Number Placeholder 5"/>
          <p:cNvSpPr>
            <a:spLocks noGrp="1"/>
          </p:cNvSpPr>
          <p:nvPr>
            <p:ph type="sldNum" sz="quarter" idx="4"/>
          </p:nvPr>
        </p:nvSpPr>
        <p:spPr>
          <a:xfrm>
            <a:off x="8046720" y="6519672"/>
            <a:ext cx="914400" cy="182880"/>
          </a:xfrm>
          <a:prstGeom prst="rect">
            <a:avLst/>
          </a:prstGeom>
        </p:spPr>
        <p:txBody>
          <a:bodyPr vert="horz" lIns="0" tIns="0" rIns="0" bIns="0" rtlCol="0" anchor="t"/>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rtl="0" eaLnBrk="1" latinLnBrk="0" hangingPunct="1">
        <a:buNone/>
        <a:defRPr sz="2350" kern="1200">
          <a:solidFill>
            <a:schemeClr val="tx1"/>
          </a:solidFill>
          <a:latin typeface="+mj-lt"/>
          <a:ea typeface="+mj-ea"/>
          <a:cs typeface="+mj-cs"/>
        </a:defRPr>
      </a:lvl1pPr>
    </p:titleStyle>
    <p:bodyStyle>
      <a:lvl1pPr marL="342900" indent="-342900" algn="l" defTabSz="342900" rtl="0" eaLnBrk="1" latinLnBrk="0" hangingPunct="1">
        <a:buFont typeface="Arial"/>
        <a:buChar char="•"/>
        <a:defRPr sz="1800" kern="1200">
          <a:solidFill>
            <a:schemeClr val="tx1"/>
          </a:solidFill>
          <a:latin typeface="+mn-lt"/>
          <a:ea typeface="+mn-ea"/>
          <a:cs typeface="+mn-cs"/>
        </a:defRPr>
      </a:lvl1pPr>
      <a:lvl2pPr marL="685800" indent="-342900" algn="l" defTabSz="342900" rtl="0" eaLnBrk="1" latinLnBrk="0" hangingPunct="1">
        <a:buFont typeface="Arial"/>
        <a:buChar char="–"/>
        <a:defRPr sz="1800" kern="1200">
          <a:solidFill>
            <a:schemeClr val="tx1"/>
          </a:solidFill>
          <a:latin typeface="+mn-lt"/>
          <a:ea typeface="+mn-ea"/>
          <a:cs typeface="+mn-cs"/>
        </a:defRPr>
      </a:lvl2pPr>
      <a:lvl3pPr marL="1028700" indent="-342900" algn="l" defTabSz="342900" rtl="0" eaLnBrk="1" latinLnBrk="0" hangingPunct="1">
        <a:buFont typeface="Arial"/>
        <a:buChar char="•"/>
        <a:defRPr sz="1800" kern="1200">
          <a:solidFill>
            <a:schemeClr val="tx1"/>
          </a:solidFill>
          <a:latin typeface="+mn-lt"/>
          <a:ea typeface="+mn-ea"/>
          <a:cs typeface="+mn-cs"/>
        </a:defRPr>
      </a:lvl3pPr>
      <a:lvl4pPr marL="1371600" indent="-342900" algn="l" defTabSz="342900" rtl="0" eaLnBrk="1" latinLnBrk="0" hangingPunct="1">
        <a:buFont typeface="Arial"/>
        <a:buChar char="–"/>
        <a:defRPr sz="1800" kern="1200">
          <a:solidFill>
            <a:schemeClr val="tx1"/>
          </a:solidFill>
          <a:latin typeface="+mn-lt"/>
          <a:ea typeface="+mn-ea"/>
          <a:cs typeface="+mn-cs"/>
        </a:defRPr>
      </a:lvl4pPr>
      <a:lvl5pPr marL="1714500" indent="-342900" algn="l" defTabSz="342900" rtl="0" eaLnBrk="1" latinLnBrk="0" hangingPunct="1">
        <a:buFont typeface="Arial"/>
        <a:buChar char="»"/>
        <a:defRPr sz="1800" kern="1200">
          <a:solidFill>
            <a:schemeClr val="tx1"/>
          </a:solidFill>
          <a:latin typeface="+mn-lt"/>
          <a:ea typeface="+mn-ea"/>
          <a:cs typeface="+mn-cs"/>
        </a:defRPr>
      </a:lvl5pPr>
      <a:lvl6pPr marL="2057400" indent="-342900" algn="l" defTabSz="342900" rtl="0" eaLnBrk="1" latinLnBrk="0" hangingPunct="1">
        <a:buFont typeface="Arial"/>
        <a:buChar char="•"/>
        <a:defRPr sz="1800" kern="1200">
          <a:solidFill>
            <a:schemeClr val="tx1"/>
          </a:solidFill>
          <a:latin typeface="+mn-lt"/>
          <a:ea typeface="+mn-ea"/>
          <a:cs typeface="+mn-cs"/>
        </a:defRPr>
      </a:lvl6pPr>
      <a:lvl7pPr marL="2400300" indent="-342900" algn="l" defTabSz="342900" rtl="0" eaLnBrk="1" latinLnBrk="0" hangingPunct="1">
        <a:buFont typeface="Arial"/>
        <a:buChar char="•"/>
        <a:defRPr sz="1800" kern="1200">
          <a:solidFill>
            <a:schemeClr val="tx1"/>
          </a:solidFill>
          <a:latin typeface="+mn-lt"/>
          <a:ea typeface="+mn-ea"/>
          <a:cs typeface="+mn-cs"/>
        </a:defRPr>
      </a:lvl7pPr>
      <a:lvl8pPr marL="2743200" indent="-342900" algn="l" defTabSz="342900" rtl="0" eaLnBrk="1" latinLnBrk="0" hangingPunct="1">
        <a:buFont typeface="Arial"/>
        <a:buChar char="•"/>
        <a:defRPr sz="1800" kern="1200">
          <a:solidFill>
            <a:schemeClr val="tx1"/>
          </a:solidFill>
          <a:latin typeface="+mn-lt"/>
          <a:ea typeface="+mn-ea"/>
          <a:cs typeface="+mn-cs"/>
        </a:defRPr>
      </a:lvl8pPr>
      <a:lvl9pPr marL="3086100" indent="-342900" algn="l" defTabSz="342900" rtl="0" eaLnBrk="1" latinLnBrk="0" hangingPunct="1">
        <a:buFont typeface="Arial"/>
        <a:buChar char="•"/>
        <a:defRPr sz="1800" kern="1200">
          <a:solidFill>
            <a:schemeClr val="tx1"/>
          </a:solidFill>
          <a:latin typeface="+mn-lt"/>
          <a:ea typeface="+mn-ea"/>
          <a:cs typeface="+mn-cs"/>
        </a:defRPr>
      </a:lvl9pPr>
    </p:bodyStyle>
    <p:otherStyle>
      <a:defPPr>
        <a:defRPr lang="en-US" sz="1800"/>
      </a:defPPr>
      <a:lvl1pPr marL="0" algn="l" defTabSz="342900" rtl="0" eaLnBrk="1" latinLnBrk="0" hangingPunct="1">
        <a:defRPr sz="1800" kern="1200">
          <a:solidFill>
            <a:schemeClr val="tx1"/>
          </a:solidFill>
          <a:latin typeface="+mn-lt"/>
          <a:ea typeface="+mn-ea"/>
          <a:cs typeface="+mn-cs"/>
        </a:defRPr>
      </a:lvl1pPr>
      <a:lvl2pPr marL="342900" algn="l" defTabSz="342900" rtl="0" eaLnBrk="1" latinLnBrk="0" hangingPunct="1">
        <a:defRPr sz="1800" kern="1200">
          <a:solidFill>
            <a:schemeClr val="tx1"/>
          </a:solidFill>
          <a:latin typeface="+mn-lt"/>
          <a:ea typeface="+mn-ea"/>
          <a:cs typeface="+mn-cs"/>
        </a:defRPr>
      </a:lvl2pPr>
      <a:lvl3pPr marL="685800" algn="l" defTabSz="342900" rtl="0" eaLnBrk="1" latinLnBrk="0" hangingPunct="1">
        <a:defRPr sz="1800" kern="1200">
          <a:solidFill>
            <a:schemeClr val="tx1"/>
          </a:solidFill>
          <a:latin typeface="+mn-lt"/>
          <a:ea typeface="+mn-ea"/>
          <a:cs typeface="+mn-cs"/>
        </a:defRPr>
      </a:lvl3pPr>
      <a:lvl4pPr marL="1028700" algn="l" defTabSz="342900" rtl="0" eaLnBrk="1" latinLnBrk="0" hangingPunct="1">
        <a:defRPr sz="1800" kern="1200">
          <a:solidFill>
            <a:schemeClr val="tx1"/>
          </a:solidFill>
          <a:latin typeface="+mn-lt"/>
          <a:ea typeface="+mn-ea"/>
          <a:cs typeface="+mn-cs"/>
        </a:defRPr>
      </a:lvl4pPr>
      <a:lvl5pPr marL="1371600" algn="l" defTabSz="342900" rtl="0" eaLnBrk="1" latinLnBrk="0" hangingPunct="1">
        <a:defRPr sz="1800" kern="1200">
          <a:solidFill>
            <a:schemeClr val="tx1"/>
          </a:solidFill>
          <a:latin typeface="+mn-lt"/>
          <a:ea typeface="+mn-ea"/>
          <a:cs typeface="+mn-cs"/>
        </a:defRPr>
      </a:lvl5pPr>
      <a:lvl6pPr marL="1714500" algn="l" defTabSz="342900" rtl="0" eaLnBrk="1" latinLnBrk="0" hangingPunct="1">
        <a:defRPr sz="1800" kern="1200">
          <a:solidFill>
            <a:schemeClr val="tx1"/>
          </a:solidFill>
          <a:latin typeface="+mn-lt"/>
          <a:ea typeface="+mn-ea"/>
          <a:cs typeface="+mn-cs"/>
        </a:defRPr>
      </a:lvl6pPr>
      <a:lvl7pPr marL="2057400" algn="l" defTabSz="342900" rtl="0" eaLnBrk="1" latinLnBrk="0" hangingPunct="1">
        <a:defRPr sz="1800" kern="1200">
          <a:solidFill>
            <a:schemeClr val="tx1"/>
          </a:solidFill>
          <a:latin typeface="+mn-lt"/>
          <a:ea typeface="+mn-ea"/>
          <a:cs typeface="+mn-cs"/>
        </a:defRPr>
      </a:lvl7pPr>
      <a:lvl8pPr marL="2400300" algn="l" defTabSz="342900" rtl="0" eaLnBrk="1" latinLnBrk="0" hangingPunct="1">
        <a:defRPr sz="1800" kern="1200">
          <a:solidFill>
            <a:schemeClr val="tx1"/>
          </a:solidFill>
          <a:latin typeface="+mn-lt"/>
          <a:ea typeface="+mn-ea"/>
          <a:cs typeface="+mn-cs"/>
        </a:defRPr>
      </a:lvl8pPr>
      <a:lvl9pPr marL="2743200" algn="l" defTabSz="3429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4.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3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42.xml.rels><?xml version="1.0" encoding="UTF-8" standalone="yes"?>
<Relationships xmlns="http://schemas.openxmlformats.org/package/2006/relationships"><Relationship Id="rId3" Type="http://schemas.openxmlformats.org/officeDocument/2006/relationships/hyperlink" Target="https://www.cs.princeton.edu/~wayne/cs423/lectures/reductions-poly-4up.pdf" TargetMode="External"/><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228600" y="914400"/>
            <a:ext cx="8686800" cy="822960"/>
          </a:xfrm>
        </p:spPr>
        <p:txBody>
          <a:bodyPr wrap="square" lIns="0" tIns="0" rIns="0" bIns="0" anchor="t">
            <a:noAutofit/>
          </a:bodyPr>
          <a:lstStyle>
            <a:lvl1pPr>
              <a:defRPr sz="2500" b="1">
                <a:solidFill>
                  <a:srgbClr val="3333B2"/>
                </a:solidFill>
                <a:latin typeface="Times New Roman"/>
              </a:defRPr>
            </a:lvl1pPr>
            <a:lvl2pPr>
              <a:defRPr sz="2500" b="1">
                <a:solidFill>
                  <a:srgbClr val="3333B2"/>
                </a:solidFill>
                <a:latin typeface="Times New Roman"/>
              </a:defRPr>
            </a:lvl2pPr>
            <a:lvl3pPr>
              <a:defRPr sz="2500" b="1">
                <a:solidFill>
                  <a:srgbClr val="3333B2"/>
                </a:solidFill>
                <a:latin typeface="Times New Roman"/>
              </a:defRPr>
            </a:lvl3pPr>
            <a:lvl4pPr>
              <a:defRPr sz="2500" b="1">
                <a:solidFill>
                  <a:srgbClr val="3333B2"/>
                </a:solidFill>
                <a:latin typeface="Times New Roman"/>
              </a:defRPr>
            </a:lvl4pPr>
            <a:lvl5pPr>
              <a:defRPr sz="2500" b="1">
                <a:solidFill>
                  <a:srgbClr val="3333B2"/>
                </a:solidFill>
                <a:latin typeface="Times New Roman"/>
              </a:defRPr>
            </a:lvl5pPr>
            <a:lvl6pPr>
              <a:defRPr sz="2500" b="1">
                <a:solidFill>
                  <a:srgbClr val="3333B2"/>
                </a:solidFill>
                <a:latin typeface="Times New Roman"/>
              </a:defRPr>
            </a:lvl6pPr>
            <a:lvl7pPr>
              <a:defRPr sz="2500" b="1">
                <a:solidFill>
                  <a:srgbClr val="3333B2"/>
                </a:solidFill>
                <a:latin typeface="Times New Roman"/>
              </a:defRPr>
            </a:lvl7pPr>
            <a:lvl8pPr>
              <a:defRPr sz="2500" b="1">
                <a:solidFill>
                  <a:srgbClr val="3333B2"/>
                </a:solidFill>
                <a:latin typeface="Times New Roman"/>
              </a:defRPr>
            </a:lvl8pPr>
            <a:lvl9pPr>
              <a:defRPr sz="2500" b="1">
                <a:solidFill>
                  <a:srgbClr val="3333B2"/>
                </a:solidFill>
                <a:latin typeface="Times New Roman"/>
              </a:defRPr>
            </a:lvl9pPr>
          </a:lstStyle>
          <a:p>
            <a:pPr marL="0" lvl="0" indent="0" algn="ctr">
              <a:spcAft>
                <a:spcPts val="650"/>
              </a:spcAft>
              <a:buNone/>
            </a:pPr>
            <a:r>
              <a:rPr b="1" dirty="0">
                <a:solidFill>
                  <a:srgbClr val="3333B2"/>
                </a:solidFill>
                <a:latin typeface="Times New Roman"/>
              </a:rPr>
              <a:t>NP-Completeness and Reduction Techniques</a:t>
            </a:r>
          </a:p>
        </p:txBody>
      </p:sp>
      <p:sp>
        <p:nvSpPr>
          <p:cNvPr id="3" name="Content Placeholder 2"/>
          <p:cNvSpPr>
            <a:spLocks noGrp="1"/>
          </p:cNvSpPr>
          <p:nvPr/>
        </p:nvSpPr>
        <p:spPr>
          <a:xfrm>
            <a:off x="502920" y="1420837"/>
            <a:ext cx="8138160" cy="4385603"/>
          </a:xfrm>
        </p:spPr>
        <p:txBody>
          <a:bodyPr wrap="square" lIns="0" tIns="0" rIns="0" bIns="0" anchor="t">
            <a:noAutofit/>
          </a:bodyPr>
          <a:lstStyle>
            <a:lvl1pPr>
              <a:defRPr sz="2000">
                <a:latin typeface="Times New Roman"/>
              </a:defRPr>
            </a:lvl1pPr>
            <a:lvl2pPr>
              <a:defRPr sz="2000">
                <a:latin typeface="Times New Roman"/>
              </a:defRPr>
            </a:lvl2pPr>
            <a:lvl3pPr>
              <a:defRPr sz="2000">
                <a:latin typeface="Times New Roman"/>
              </a:defRPr>
            </a:lvl3pPr>
            <a:lvl4pPr>
              <a:defRPr sz="2000">
                <a:latin typeface="Times New Roman"/>
              </a:defRPr>
            </a:lvl4pPr>
            <a:lvl5pPr>
              <a:defRPr sz="2000">
                <a:latin typeface="Times New Roman"/>
              </a:defRPr>
            </a:lvl5pPr>
            <a:lvl6pPr>
              <a:defRPr sz="2000">
                <a:latin typeface="Times New Roman"/>
              </a:defRPr>
            </a:lvl6pPr>
            <a:lvl7pPr>
              <a:defRPr sz="2000">
                <a:latin typeface="Times New Roman"/>
              </a:defRPr>
            </a:lvl7pPr>
            <a:lvl8pPr>
              <a:defRPr sz="2000">
                <a:latin typeface="Times New Roman"/>
              </a:defRPr>
            </a:lvl8pPr>
            <a:lvl9pPr>
              <a:defRPr sz="2000">
                <a:latin typeface="Times New Roman"/>
              </a:defRPr>
            </a:lvl9pPr>
          </a:lstStyle>
          <a:p>
            <a:pPr marL="0" lvl="0" indent="0" algn="ctr">
              <a:spcAft>
                <a:spcPts val="650"/>
              </a:spcAft>
              <a:buNone/>
            </a:pPr>
            <a:r>
              <a:rPr lang="en-US" sz="2000" b="1" dirty="0">
                <a:latin typeface="Times New Roman"/>
              </a:rPr>
              <a:t>How Efficient Transformations Prove Computational Hardness</a:t>
            </a:r>
          </a:p>
          <a:p>
            <a:pPr marL="0" lvl="0" indent="0" algn="ctr">
              <a:spcAft>
                <a:spcPts val="650"/>
              </a:spcAft>
              <a:buNone/>
            </a:pPr>
            <a:endParaRPr lang="en-US" sz="2000" b="1" dirty="0">
              <a:latin typeface="Times New Roman"/>
            </a:endParaRPr>
          </a:p>
          <a:p>
            <a:pPr marL="0" lvl="0" indent="0" algn="ctr">
              <a:spcAft>
                <a:spcPts val="650"/>
              </a:spcAft>
              <a:buNone/>
            </a:pPr>
            <a:endParaRPr sz="2000" b="1" dirty="0">
              <a:latin typeface="Times New Roman"/>
            </a:endParaRPr>
          </a:p>
          <a:p>
            <a:pPr marL="0" lvl="0" indent="0" algn="ctr">
              <a:spcAft>
                <a:spcPts val="650"/>
              </a:spcAft>
              <a:buNone/>
            </a:pPr>
            <a:r>
              <a:rPr sz="2000" dirty="0">
                <a:latin typeface="Times New Roman"/>
              </a:rPr>
              <a:t>Most. Sonia Khatun</a:t>
            </a:r>
          </a:p>
          <a:p>
            <a:pPr marL="0" lvl="0" indent="0" algn="ctr">
              <a:spcAft>
                <a:spcPts val="650"/>
              </a:spcAft>
              <a:buNone/>
            </a:pPr>
            <a:r>
              <a:rPr sz="2000" dirty="0">
                <a:latin typeface="Times New Roman"/>
              </a:rPr>
              <a:t>BSc in Department of Computer Science and Engineering</a:t>
            </a:r>
            <a:br>
              <a:rPr dirty="0"/>
            </a:br>
            <a:r>
              <a:rPr sz="2000" dirty="0">
                <a:latin typeface="Times New Roman"/>
              </a:rPr>
              <a:t>Bangladesh University of Engineering and Technology (BUET)</a:t>
            </a:r>
            <a:endParaRPr lang="en-US" sz="2000" dirty="0">
              <a:latin typeface="Times New Roman"/>
            </a:endParaRPr>
          </a:p>
          <a:p>
            <a:pPr marL="0" lvl="0" indent="0" algn="ctr">
              <a:spcAft>
                <a:spcPts val="650"/>
              </a:spcAft>
              <a:buNone/>
            </a:pPr>
            <a:endParaRPr lang="en-US" dirty="0"/>
          </a:p>
          <a:p>
            <a:pPr marL="0" lvl="0" indent="0" algn="ctr">
              <a:spcAft>
                <a:spcPts val="650"/>
              </a:spcAft>
              <a:buNone/>
            </a:pPr>
            <a:endParaRPr sz="2000" dirty="0">
              <a:latin typeface="Times New Roman"/>
            </a:endParaRPr>
          </a:p>
          <a:p>
            <a:pPr marL="0" lvl="0" indent="0" algn="ctr">
              <a:spcAft>
                <a:spcPts val="650"/>
              </a:spcAft>
              <a:buNone/>
            </a:pPr>
            <a:r>
              <a:rPr sz="2000" b="1" dirty="0">
                <a:latin typeface="Times New Roman"/>
              </a:rPr>
              <a:t>Demo </a:t>
            </a:r>
            <a:r>
              <a:rPr lang="en-US" sz="2000" b="1" dirty="0">
                <a:latin typeface="Times New Roman"/>
              </a:rPr>
              <a:t>Presentation</a:t>
            </a:r>
            <a:r>
              <a:rPr sz="2000" b="1" dirty="0">
                <a:latin typeface="Times New Roman"/>
              </a:rPr>
              <a:t> for the Position of Lecturer</a:t>
            </a:r>
            <a:br>
              <a:rPr dirty="0"/>
            </a:br>
            <a:r>
              <a:rPr sz="2000" dirty="0">
                <a:latin typeface="Times New Roman"/>
              </a:rPr>
              <a:t>Department of Computer Science and Engineering</a:t>
            </a:r>
            <a:br>
              <a:rPr dirty="0"/>
            </a:br>
            <a:r>
              <a:rPr sz="2000" dirty="0">
                <a:latin typeface="Times New Roman"/>
              </a:rPr>
              <a:t>Green University of Bangladesh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228600" y="128016"/>
            <a:ext cx="8686800" cy="713232"/>
          </a:xfrm>
        </p:spPr>
        <p:txBody>
          <a:bodyPr wrap="square" lIns="0" tIns="0" rIns="0" bIns="0" anchor="t">
            <a:noAutofit/>
          </a:bodyPr>
          <a:lstStyle>
            <a:lvl1pPr>
              <a:defRPr sz="2350" b="1">
                <a:solidFill>
                  <a:srgbClr val="3333B2"/>
                </a:solidFill>
                <a:latin typeface="Times New Roman"/>
              </a:defRPr>
            </a:lvl1pPr>
            <a:lvl2pPr>
              <a:defRPr sz="2350" b="1">
                <a:solidFill>
                  <a:srgbClr val="3333B2"/>
                </a:solidFill>
                <a:latin typeface="Times New Roman"/>
              </a:defRPr>
            </a:lvl2pPr>
            <a:lvl3pPr>
              <a:defRPr sz="2350" b="1">
                <a:solidFill>
                  <a:srgbClr val="3333B2"/>
                </a:solidFill>
                <a:latin typeface="Times New Roman"/>
              </a:defRPr>
            </a:lvl3pPr>
            <a:lvl4pPr>
              <a:defRPr sz="2350" b="1">
                <a:solidFill>
                  <a:srgbClr val="3333B2"/>
                </a:solidFill>
                <a:latin typeface="Times New Roman"/>
              </a:defRPr>
            </a:lvl4pPr>
            <a:lvl5pPr>
              <a:defRPr sz="2350" b="1">
                <a:solidFill>
                  <a:srgbClr val="3333B2"/>
                </a:solidFill>
                <a:latin typeface="Times New Roman"/>
              </a:defRPr>
            </a:lvl5pPr>
            <a:lvl6pPr>
              <a:defRPr sz="2350" b="1">
                <a:solidFill>
                  <a:srgbClr val="3333B2"/>
                </a:solidFill>
                <a:latin typeface="Times New Roman"/>
              </a:defRPr>
            </a:lvl6pPr>
            <a:lvl7pPr>
              <a:defRPr sz="2350" b="1">
                <a:solidFill>
                  <a:srgbClr val="3333B2"/>
                </a:solidFill>
                <a:latin typeface="Times New Roman"/>
              </a:defRPr>
            </a:lvl7pPr>
            <a:lvl8pPr>
              <a:defRPr sz="2350" b="1">
                <a:solidFill>
                  <a:srgbClr val="3333B2"/>
                </a:solidFill>
                <a:latin typeface="Times New Roman"/>
              </a:defRPr>
            </a:lvl8pPr>
            <a:lvl9pPr>
              <a:defRPr sz="2350" b="1">
                <a:solidFill>
                  <a:srgbClr val="3333B2"/>
                </a:solidFill>
                <a:latin typeface="Times New Roman"/>
              </a:defRPr>
            </a:lvl9pPr>
          </a:lstStyle>
          <a:p>
            <a:pPr marL="0" lvl="0" indent="0">
              <a:spcAft>
                <a:spcPts val="650"/>
              </a:spcAft>
              <a:buNone/>
            </a:pPr>
            <a:r>
              <a:rPr sz="2350" b="1">
                <a:solidFill>
                  <a:srgbClr val="3333B2"/>
                </a:solidFill>
                <a:latin typeface="Times New Roman"/>
              </a:rPr>
              <a:t>Why Do We Need NP-Completeness?</a:t>
            </a:r>
          </a:p>
        </p:txBody>
      </p:sp>
      <p:pic>
        <p:nvPicPr>
          <p:cNvPr id="3" name="Picture 1" descr="editable_assets/diagram-01-1.png"/>
          <p:cNvPicPr>
            <a:picLocks noGrp="1" noChangeAspect="1"/>
          </p:cNvPicPr>
          <p:nvPr/>
        </p:nvPicPr>
        <p:blipFill>
          <a:blip r:embed="rId3"/>
          <a:srcRect l="2397" t="13814" r="2397" b="13514"/>
          <a:stretch>
            <a:fillRect/>
          </a:stretch>
        </p:blipFill>
        <p:spPr bwMode="auto">
          <a:xfrm>
            <a:off x="411480" y="1323428"/>
            <a:ext cx="8321040" cy="1102185"/>
          </a:xfrm>
          <a:prstGeom prst="rect">
            <a:avLst/>
          </a:prstGeom>
          <a:noFill/>
          <a:ln w="9525">
            <a:noFill/>
            <a:headEnd/>
            <a:tailEn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228600" y="128016"/>
            <a:ext cx="8686800" cy="713232"/>
          </a:xfrm>
        </p:spPr>
        <p:txBody>
          <a:bodyPr wrap="square" lIns="0" tIns="0" rIns="0" bIns="0" anchor="t">
            <a:noAutofit/>
          </a:bodyPr>
          <a:lstStyle>
            <a:lvl1pPr>
              <a:defRPr sz="2350" b="1">
                <a:solidFill>
                  <a:srgbClr val="3333B2"/>
                </a:solidFill>
                <a:latin typeface="Times New Roman"/>
              </a:defRPr>
            </a:lvl1pPr>
            <a:lvl2pPr>
              <a:defRPr sz="2350" b="1">
                <a:solidFill>
                  <a:srgbClr val="3333B2"/>
                </a:solidFill>
                <a:latin typeface="Times New Roman"/>
              </a:defRPr>
            </a:lvl2pPr>
            <a:lvl3pPr>
              <a:defRPr sz="2350" b="1">
                <a:solidFill>
                  <a:srgbClr val="3333B2"/>
                </a:solidFill>
                <a:latin typeface="Times New Roman"/>
              </a:defRPr>
            </a:lvl3pPr>
            <a:lvl4pPr>
              <a:defRPr sz="2350" b="1">
                <a:solidFill>
                  <a:srgbClr val="3333B2"/>
                </a:solidFill>
                <a:latin typeface="Times New Roman"/>
              </a:defRPr>
            </a:lvl4pPr>
            <a:lvl5pPr>
              <a:defRPr sz="2350" b="1">
                <a:solidFill>
                  <a:srgbClr val="3333B2"/>
                </a:solidFill>
                <a:latin typeface="Times New Roman"/>
              </a:defRPr>
            </a:lvl5pPr>
            <a:lvl6pPr>
              <a:defRPr sz="2350" b="1">
                <a:solidFill>
                  <a:srgbClr val="3333B2"/>
                </a:solidFill>
                <a:latin typeface="Times New Roman"/>
              </a:defRPr>
            </a:lvl6pPr>
            <a:lvl7pPr>
              <a:defRPr sz="2350" b="1">
                <a:solidFill>
                  <a:srgbClr val="3333B2"/>
                </a:solidFill>
                <a:latin typeface="Times New Roman"/>
              </a:defRPr>
            </a:lvl7pPr>
            <a:lvl8pPr>
              <a:defRPr sz="2350" b="1">
                <a:solidFill>
                  <a:srgbClr val="3333B2"/>
                </a:solidFill>
                <a:latin typeface="Times New Roman"/>
              </a:defRPr>
            </a:lvl8pPr>
            <a:lvl9pPr>
              <a:defRPr sz="2350" b="1">
                <a:solidFill>
                  <a:srgbClr val="3333B2"/>
                </a:solidFill>
                <a:latin typeface="Times New Roman"/>
              </a:defRPr>
            </a:lvl9pPr>
          </a:lstStyle>
          <a:p>
            <a:pPr marL="0" lvl="0" indent="0">
              <a:spcAft>
                <a:spcPts val="650"/>
              </a:spcAft>
              <a:buNone/>
            </a:pPr>
            <a:r>
              <a:rPr sz="2350" b="1">
                <a:solidFill>
                  <a:srgbClr val="3333B2"/>
                </a:solidFill>
                <a:latin typeface="Times New Roman"/>
              </a:rPr>
              <a:t>Why Do We Need NP-Completeness?</a:t>
            </a:r>
          </a:p>
        </p:txBody>
      </p:sp>
      <p:pic>
        <p:nvPicPr>
          <p:cNvPr id="3" name="Picture 1" descr="editable_assets/diagram-01-1.png"/>
          <p:cNvPicPr>
            <a:picLocks noGrp="1" noChangeAspect="1"/>
          </p:cNvPicPr>
          <p:nvPr/>
        </p:nvPicPr>
        <p:blipFill>
          <a:blip r:embed="rId3"/>
          <a:srcRect l="2397" t="13814" r="2397" b="13514"/>
          <a:stretch>
            <a:fillRect/>
          </a:stretch>
        </p:blipFill>
        <p:spPr bwMode="auto">
          <a:xfrm>
            <a:off x="411480" y="1323428"/>
            <a:ext cx="8321040" cy="1102185"/>
          </a:xfrm>
          <a:prstGeom prst="rect">
            <a:avLst/>
          </a:prstGeom>
          <a:noFill/>
          <a:ln w="9525">
            <a:noFill/>
            <a:headEnd/>
            <a:tailEnd/>
          </a:ln>
        </p:spPr>
      </p:pic>
      <p:sp>
        <p:nvSpPr>
          <p:cNvPr id="4" name="Content Placeholder 2"/>
          <p:cNvSpPr>
            <a:spLocks noGrp="1"/>
          </p:cNvSpPr>
          <p:nvPr/>
        </p:nvSpPr>
        <p:spPr>
          <a:xfrm>
            <a:off x="548640" y="2788920"/>
            <a:ext cx="8046720" cy="1143000"/>
          </a:xfrm>
        </p:spPr>
        <p:txBody>
          <a:bodyPr wrap="square" lIns="0" tIns="0" rIns="0" bIns="0" anchor="t">
            <a:noAutofit/>
          </a:bodyPr>
          <a:lstStyle>
            <a:lvl1pPr>
              <a:defRPr sz="2100">
                <a:latin typeface="Times New Roman"/>
              </a:defRPr>
            </a:lvl1pPr>
            <a:lvl2pPr>
              <a:defRPr sz="2100">
                <a:latin typeface="Times New Roman"/>
              </a:defRPr>
            </a:lvl2pPr>
            <a:lvl3pPr>
              <a:defRPr sz="2100">
                <a:latin typeface="Times New Roman"/>
              </a:defRPr>
            </a:lvl3pPr>
            <a:lvl4pPr>
              <a:defRPr sz="2100">
                <a:latin typeface="Times New Roman"/>
              </a:defRPr>
            </a:lvl4pPr>
            <a:lvl5pPr>
              <a:defRPr sz="2100">
                <a:latin typeface="Times New Roman"/>
              </a:defRPr>
            </a:lvl5pPr>
            <a:lvl6pPr>
              <a:defRPr sz="2100">
                <a:latin typeface="Times New Roman"/>
              </a:defRPr>
            </a:lvl6pPr>
            <a:lvl7pPr>
              <a:defRPr sz="2100">
                <a:latin typeface="Times New Roman"/>
              </a:defRPr>
            </a:lvl7pPr>
            <a:lvl8pPr>
              <a:defRPr sz="2100">
                <a:latin typeface="Times New Roman"/>
              </a:defRPr>
            </a:lvl8pPr>
            <a:lvl9pPr>
              <a:defRPr sz="2100">
                <a:latin typeface="Times New Roman"/>
              </a:defRPr>
            </a:lvl9pPr>
          </a:lstStyle>
          <a:p>
            <a:pPr marL="0" lvl="0" indent="0">
              <a:spcAft>
                <a:spcPts val="650"/>
              </a:spcAft>
              <a:buNone/>
            </a:pPr>
            <a:r>
              <a:rPr sz="2100" b="1">
                <a:latin typeface="Times New Roman"/>
              </a:rPr>
              <a:t>The central proof question</a:t>
            </a:r>
          </a:p>
          <a:p>
            <a:pPr marL="0" lvl="0" indent="0">
              <a:spcAft>
                <a:spcPts val="650"/>
              </a:spcAft>
              <a:buNone/>
            </a:pPr>
            <a:r>
              <a:rPr sz="2100">
                <a:latin typeface="Times New Roman"/>
              </a:rPr>
              <a:t>How can we transfer the known hardness of one problem to a new problem?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228600" y="128016"/>
            <a:ext cx="8686800" cy="713232"/>
          </a:xfrm>
        </p:spPr>
        <p:txBody>
          <a:bodyPr wrap="square" lIns="0" tIns="0" rIns="0" bIns="0" anchor="t">
            <a:noAutofit/>
          </a:bodyPr>
          <a:lstStyle>
            <a:lvl1pPr>
              <a:defRPr sz="2350" b="1">
                <a:solidFill>
                  <a:srgbClr val="3333B2"/>
                </a:solidFill>
                <a:latin typeface="Times New Roman"/>
              </a:defRPr>
            </a:lvl1pPr>
            <a:lvl2pPr>
              <a:defRPr sz="2350" b="1">
                <a:solidFill>
                  <a:srgbClr val="3333B2"/>
                </a:solidFill>
                <a:latin typeface="Times New Roman"/>
              </a:defRPr>
            </a:lvl2pPr>
            <a:lvl3pPr>
              <a:defRPr sz="2350" b="1">
                <a:solidFill>
                  <a:srgbClr val="3333B2"/>
                </a:solidFill>
                <a:latin typeface="Times New Roman"/>
              </a:defRPr>
            </a:lvl3pPr>
            <a:lvl4pPr>
              <a:defRPr sz="2350" b="1">
                <a:solidFill>
                  <a:srgbClr val="3333B2"/>
                </a:solidFill>
                <a:latin typeface="Times New Roman"/>
              </a:defRPr>
            </a:lvl4pPr>
            <a:lvl5pPr>
              <a:defRPr sz="2350" b="1">
                <a:solidFill>
                  <a:srgbClr val="3333B2"/>
                </a:solidFill>
                <a:latin typeface="Times New Roman"/>
              </a:defRPr>
            </a:lvl5pPr>
            <a:lvl6pPr>
              <a:defRPr sz="2350" b="1">
                <a:solidFill>
                  <a:srgbClr val="3333B2"/>
                </a:solidFill>
                <a:latin typeface="Times New Roman"/>
              </a:defRPr>
            </a:lvl6pPr>
            <a:lvl7pPr>
              <a:defRPr sz="2350" b="1">
                <a:solidFill>
                  <a:srgbClr val="3333B2"/>
                </a:solidFill>
                <a:latin typeface="Times New Roman"/>
              </a:defRPr>
            </a:lvl7pPr>
            <a:lvl8pPr>
              <a:defRPr sz="2350" b="1">
                <a:solidFill>
                  <a:srgbClr val="3333B2"/>
                </a:solidFill>
                <a:latin typeface="Times New Roman"/>
              </a:defRPr>
            </a:lvl8pPr>
            <a:lvl9pPr>
              <a:defRPr sz="2350" b="1">
                <a:solidFill>
                  <a:srgbClr val="3333B2"/>
                </a:solidFill>
                <a:latin typeface="Times New Roman"/>
              </a:defRPr>
            </a:lvl9pPr>
          </a:lstStyle>
          <a:p>
            <a:pPr marL="0" lvl="0" indent="0">
              <a:spcAft>
                <a:spcPts val="650"/>
              </a:spcAft>
              <a:buNone/>
            </a:pPr>
            <a:r>
              <a:rPr sz="2350" b="1">
                <a:solidFill>
                  <a:srgbClr val="3333B2"/>
                </a:solidFill>
                <a:latin typeface="Times New Roman"/>
              </a:rPr>
              <a:t>Why Do We Need NP-Completeness?</a:t>
            </a:r>
          </a:p>
        </p:txBody>
      </p:sp>
      <p:pic>
        <p:nvPicPr>
          <p:cNvPr id="3" name="Picture 1" descr="editable_assets/diagram-01-1.png"/>
          <p:cNvPicPr>
            <a:picLocks noGrp="1" noChangeAspect="1"/>
          </p:cNvPicPr>
          <p:nvPr/>
        </p:nvPicPr>
        <p:blipFill>
          <a:blip r:embed="rId3"/>
          <a:srcRect l="2397" t="13814" r="2397" b="13514"/>
          <a:stretch>
            <a:fillRect/>
          </a:stretch>
        </p:blipFill>
        <p:spPr bwMode="auto">
          <a:xfrm>
            <a:off x="411480" y="1323428"/>
            <a:ext cx="8321040" cy="1102185"/>
          </a:xfrm>
          <a:prstGeom prst="rect">
            <a:avLst/>
          </a:prstGeom>
          <a:noFill/>
          <a:ln w="9525">
            <a:noFill/>
            <a:headEnd/>
            <a:tailEnd/>
          </a:ln>
        </p:spPr>
      </p:pic>
      <p:sp>
        <p:nvSpPr>
          <p:cNvPr id="4" name="Content Placeholder 2"/>
          <p:cNvSpPr>
            <a:spLocks noGrp="1"/>
          </p:cNvSpPr>
          <p:nvPr/>
        </p:nvSpPr>
        <p:spPr>
          <a:xfrm>
            <a:off x="548640" y="2788920"/>
            <a:ext cx="8046720" cy="1143000"/>
          </a:xfrm>
        </p:spPr>
        <p:txBody>
          <a:bodyPr wrap="square" lIns="0" tIns="0" rIns="0" bIns="0" anchor="t">
            <a:noAutofit/>
          </a:bodyPr>
          <a:lstStyle>
            <a:lvl1pPr>
              <a:defRPr sz="2100">
                <a:latin typeface="Times New Roman"/>
              </a:defRPr>
            </a:lvl1pPr>
            <a:lvl2pPr>
              <a:defRPr sz="2100">
                <a:latin typeface="Times New Roman"/>
              </a:defRPr>
            </a:lvl2pPr>
            <a:lvl3pPr>
              <a:defRPr sz="2100">
                <a:latin typeface="Times New Roman"/>
              </a:defRPr>
            </a:lvl3pPr>
            <a:lvl4pPr>
              <a:defRPr sz="2100">
                <a:latin typeface="Times New Roman"/>
              </a:defRPr>
            </a:lvl4pPr>
            <a:lvl5pPr>
              <a:defRPr sz="2100">
                <a:latin typeface="Times New Roman"/>
              </a:defRPr>
            </a:lvl5pPr>
            <a:lvl6pPr>
              <a:defRPr sz="2100">
                <a:latin typeface="Times New Roman"/>
              </a:defRPr>
            </a:lvl6pPr>
            <a:lvl7pPr>
              <a:defRPr sz="2100">
                <a:latin typeface="Times New Roman"/>
              </a:defRPr>
            </a:lvl7pPr>
            <a:lvl8pPr>
              <a:defRPr sz="2100">
                <a:latin typeface="Times New Roman"/>
              </a:defRPr>
            </a:lvl8pPr>
            <a:lvl9pPr>
              <a:defRPr sz="2100">
                <a:latin typeface="Times New Roman"/>
              </a:defRPr>
            </a:lvl9pPr>
          </a:lstStyle>
          <a:p>
            <a:pPr marL="0" lvl="0" indent="0">
              <a:spcAft>
                <a:spcPts val="650"/>
              </a:spcAft>
              <a:buNone/>
            </a:pPr>
            <a:r>
              <a:rPr sz="2100" b="1">
                <a:latin typeface="Times New Roman"/>
              </a:rPr>
              <a:t>The central proof question</a:t>
            </a:r>
          </a:p>
          <a:p>
            <a:pPr marL="0" lvl="0" indent="0">
              <a:spcAft>
                <a:spcPts val="650"/>
              </a:spcAft>
              <a:buNone/>
            </a:pPr>
            <a:r>
              <a:rPr sz="2100">
                <a:latin typeface="Times New Roman"/>
              </a:rPr>
              <a:t>How can we transfer the known hardness of one problem to a new problem?</a:t>
            </a:r>
          </a:p>
        </p:txBody>
      </p:sp>
      <p:pic>
        <p:nvPicPr>
          <p:cNvPr id="5" name="Picture 1" descr="editable_assets/diagram-02-1.png"/>
          <p:cNvPicPr>
            <a:picLocks noGrp="1" noChangeAspect="1"/>
          </p:cNvPicPr>
          <p:nvPr/>
        </p:nvPicPr>
        <p:blipFill>
          <a:blip r:embed="rId4"/>
          <a:srcRect l="3660" t="2620" r="3660" b="19651"/>
          <a:stretch>
            <a:fillRect/>
          </a:stretch>
        </p:blipFill>
        <p:spPr bwMode="auto">
          <a:xfrm>
            <a:off x="1430034" y="4160520"/>
            <a:ext cx="6283931" cy="960120"/>
          </a:xfrm>
          <a:prstGeom prst="rect">
            <a:avLst/>
          </a:prstGeom>
          <a:noFill/>
          <a:ln w="9525">
            <a:noFill/>
            <a:headEnd/>
            <a:tailEnd/>
          </a:ln>
        </p:spPr>
      </p:pic>
      <p:sp>
        <p:nvSpPr>
          <p:cNvPr id="6" name="Content Placeholder 2"/>
          <p:cNvSpPr>
            <a:spLocks noGrp="1"/>
          </p:cNvSpPr>
          <p:nvPr/>
        </p:nvSpPr>
        <p:spPr>
          <a:xfrm>
            <a:off x="548640" y="5486400"/>
            <a:ext cx="8046720" cy="502920"/>
          </a:xfrm>
        </p:spPr>
        <p:txBody>
          <a:bodyPr wrap="square" lIns="0" tIns="0" rIns="0" bIns="0" anchor="t">
            <a:noAutofit/>
          </a:bodyPr>
          <a:lstStyle>
            <a:lvl1pPr>
              <a:defRPr sz="1500">
                <a:latin typeface="Times New Roman"/>
              </a:defRPr>
            </a:lvl1pPr>
            <a:lvl2pPr>
              <a:defRPr sz="1500">
                <a:latin typeface="Times New Roman"/>
              </a:defRPr>
            </a:lvl2pPr>
            <a:lvl3pPr>
              <a:defRPr sz="1500">
                <a:latin typeface="Times New Roman"/>
              </a:defRPr>
            </a:lvl3pPr>
            <a:lvl4pPr>
              <a:defRPr sz="1500">
                <a:latin typeface="Times New Roman"/>
              </a:defRPr>
            </a:lvl4pPr>
            <a:lvl5pPr>
              <a:defRPr sz="1500">
                <a:latin typeface="Times New Roman"/>
              </a:defRPr>
            </a:lvl5pPr>
            <a:lvl6pPr>
              <a:defRPr sz="1500">
                <a:latin typeface="Times New Roman"/>
              </a:defRPr>
            </a:lvl6pPr>
            <a:lvl7pPr>
              <a:defRPr sz="1500">
                <a:latin typeface="Times New Roman"/>
              </a:defRPr>
            </a:lvl7pPr>
            <a:lvl8pPr>
              <a:defRPr sz="1500">
                <a:latin typeface="Times New Roman"/>
              </a:defRPr>
            </a:lvl8pPr>
            <a:lvl9pPr>
              <a:defRPr sz="1500">
                <a:latin typeface="Times New Roman"/>
              </a:defRPr>
            </a:lvl9pPr>
          </a:lstStyle>
          <a:p>
            <a:pPr marL="0" lvl="0" indent="0">
              <a:spcAft>
                <a:spcPts val="400"/>
              </a:spcAft>
              <a:buNone/>
            </a:pPr>
            <a:r>
              <a:rPr sz="1500">
                <a:latin typeface="Times New Roman"/>
              </a:rPr>
              <a:t>The dotted arrows show the learning sequence, not set containment.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228600" y="128016"/>
            <a:ext cx="8686800" cy="713232"/>
          </a:xfrm>
        </p:spPr>
        <p:txBody>
          <a:bodyPr wrap="square" lIns="0" tIns="0" rIns="0" bIns="0" anchor="t">
            <a:noAutofit/>
          </a:bodyPr>
          <a:lstStyle>
            <a:lvl1pPr>
              <a:defRPr sz="2350" b="1">
                <a:solidFill>
                  <a:srgbClr val="3333B2"/>
                </a:solidFill>
                <a:latin typeface="Times New Roman"/>
              </a:defRPr>
            </a:lvl1pPr>
            <a:lvl2pPr>
              <a:defRPr sz="2350" b="1">
                <a:solidFill>
                  <a:srgbClr val="3333B2"/>
                </a:solidFill>
                <a:latin typeface="Times New Roman"/>
              </a:defRPr>
            </a:lvl2pPr>
            <a:lvl3pPr>
              <a:defRPr sz="2350" b="1">
                <a:solidFill>
                  <a:srgbClr val="3333B2"/>
                </a:solidFill>
                <a:latin typeface="Times New Roman"/>
              </a:defRPr>
            </a:lvl3pPr>
            <a:lvl4pPr>
              <a:defRPr sz="2350" b="1">
                <a:solidFill>
                  <a:srgbClr val="3333B2"/>
                </a:solidFill>
                <a:latin typeface="Times New Roman"/>
              </a:defRPr>
            </a:lvl4pPr>
            <a:lvl5pPr>
              <a:defRPr sz="2350" b="1">
                <a:solidFill>
                  <a:srgbClr val="3333B2"/>
                </a:solidFill>
                <a:latin typeface="Times New Roman"/>
              </a:defRPr>
            </a:lvl5pPr>
            <a:lvl6pPr>
              <a:defRPr sz="2350" b="1">
                <a:solidFill>
                  <a:srgbClr val="3333B2"/>
                </a:solidFill>
                <a:latin typeface="Times New Roman"/>
              </a:defRPr>
            </a:lvl6pPr>
            <a:lvl7pPr>
              <a:defRPr sz="2350" b="1">
                <a:solidFill>
                  <a:srgbClr val="3333B2"/>
                </a:solidFill>
                <a:latin typeface="Times New Roman"/>
              </a:defRPr>
            </a:lvl7pPr>
            <a:lvl8pPr>
              <a:defRPr sz="2350" b="1">
                <a:solidFill>
                  <a:srgbClr val="3333B2"/>
                </a:solidFill>
                <a:latin typeface="Times New Roman"/>
              </a:defRPr>
            </a:lvl8pPr>
            <a:lvl9pPr>
              <a:defRPr sz="2350" b="1">
                <a:solidFill>
                  <a:srgbClr val="3333B2"/>
                </a:solidFill>
                <a:latin typeface="Times New Roman"/>
              </a:defRPr>
            </a:lvl9pPr>
          </a:lstStyle>
          <a:p>
            <a:pPr marL="0" lvl="0" indent="0">
              <a:spcAft>
                <a:spcPts val="650"/>
              </a:spcAft>
              <a:buNone/>
            </a:pPr>
            <a:r>
              <a:rPr sz="2350" b="1">
                <a:solidFill>
                  <a:srgbClr val="3333B2"/>
                </a:solidFill>
                <a:latin typeface="Times New Roman"/>
              </a:rPr>
              <a:t>Start with P and NP</a:t>
            </a:r>
          </a:p>
        </p:txBody>
      </p:sp>
      <p:sp>
        <p:nvSpPr>
          <p:cNvPr id="3" name="Content Placeholder 2"/>
          <p:cNvSpPr>
            <a:spLocks noGrp="1"/>
          </p:cNvSpPr>
          <p:nvPr/>
        </p:nvSpPr>
        <p:spPr>
          <a:xfrm>
            <a:off x="365760" y="960120"/>
            <a:ext cx="4069080" cy="1188720"/>
          </a:xfrm>
        </p:spPr>
        <p:txBody>
          <a:bodyPr wrap="square" lIns="0" tIns="0" rIns="0" bIns="0" anchor="t">
            <a:noAutofit/>
          </a:bodyPr>
          <a:lstStyle>
            <a:lvl1pPr>
              <a:defRPr sz="1800">
                <a:latin typeface="Times New Roman"/>
              </a:defRPr>
            </a:lvl1pPr>
            <a:lvl2pPr>
              <a:defRPr sz="1800">
                <a:latin typeface="Times New Roman"/>
              </a:defRPr>
            </a:lvl2pPr>
            <a:lvl3pPr>
              <a:defRPr sz="1800">
                <a:latin typeface="Times New Roman"/>
              </a:defRPr>
            </a:lvl3pPr>
            <a:lvl4pPr>
              <a:defRPr sz="1800">
                <a:latin typeface="Times New Roman"/>
              </a:defRPr>
            </a:lvl4pPr>
            <a:lvl5pPr>
              <a:defRPr sz="1800">
                <a:latin typeface="Times New Roman"/>
              </a:defRPr>
            </a:lvl5pPr>
            <a:lvl6pPr>
              <a:defRPr sz="1800">
                <a:latin typeface="Times New Roman"/>
              </a:defRPr>
            </a:lvl6pPr>
            <a:lvl7pPr>
              <a:defRPr sz="1800">
                <a:latin typeface="Times New Roman"/>
              </a:defRPr>
            </a:lvl7pPr>
            <a:lvl8pPr>
              <a:defRPr sz="1800">
                <a:latin typeface="Times New Roman"/>
              </a:defRPr>
            </a:lvl8pPr>
            <a:lvl9pPr>
              <a:defRPr sz="1800">
                <a:latin typeface="Times New Roman"/>
              </a:defRPr>
            </a:lvl9pPr>
          </a:lstStyle>
          <a:p>
            <a:pPr marL="0" lvl="0" indent="0">
              <a:spcAft>
                <a:spcPts val="650"/>
              </a:spcAft>
              <a:buNone/>
            </a:pPr>
            <a:r>
              <a:rPr sz="1800" b="1">
                <a:latin typeface="Times New Roman"/>
              </a:rPr>
              <a:t>P: solve efficiently</a:t>
            </a:r>
          </a:p>
          <a:p>
            <a:pPr marL="0" lvl="0" indent="0">
              <a:spcAft>
                <a:spcPts val="650"/>
              </a:spcAft>
              <a:buNone/>
            </a:pPr>
            <a:r>
              <a:rPr sz="1800">
                <a:latin typeface="Times New Roman"/>
              </a:rPr>
              <a:t>Decision problems solvable by a deterministic algorithm in polynomial time.</a:t>
            </a:r>
          </a:p>
        </p:txBody>
      </p:sp>
      <p:pic>
        <p:nvPicPr>
          <p:cNvPr id="4" name="Picture 1" descr="editable_assets/diagram-03-1.png"/>
          <p:cNvPicPr>
            <a:picLocks noGrp="1" noChangeAspect="1"/>
          </p:cNvPicPr>
          <p:nvPr/>
        </p:nvPicPr>
        <p:blipFill>
          <a:blip r:embed="rId3"/>
          <a:srcRect l="9434" t="8614" r="9434" b="8614"/>
          <a:stretch>
            <a:fillRect/>
          </a:stretch>
        </p:blipFill>
        <p:spPr bwMode="auto">
          <a:xfrm>
            <a:off x="1651195" y="2286000"/>
            <a:ext cx="1361049" cy="1554480"/>
          </a:xfrm>
          <a:prstGeom prst="rect">
            <a:avLst/>
          </a:prstGeom>
          <a:noFill/>
          <a:ln w="9525">
            <a:noFill/>
            <a:headEnd/>
            <a:tailEnd/>
          </a:ln>
        </p:spPr>
      </p:pic>
      <p:sp>
        <p:nvSpPr>
          <p:cNvPr id="5" name="Content Placeholder 2"/>
          <p:cNvSpPr>
            <a:spLocks noGrp="1"/>
          </p:cNvSpPr>
          <p:nvPr/>
        </p:nvSpPr>
        <p:spPr>
          <a:xfrm>
            <a:off x="365760" y="4160520"/>
            <a:ext cx="4069080" cy="2057400"/>
          </a:xfrm>
        </p:spPr>
        <p:txBody>
          <a:bodyPr wrap="square" lIns="0" tIns="0" rIns="0" bIns="0" anchor="t">
            <a:noAutofit/>
          </a:bodyPr>
          <a:lstStyle>
            <a:lvl1pPr>
              <a:defRPr sz="1700">
                <a:latin typeface="Times New Roman"/>
              </a:defRPr>
            </a:lvl1pPr>
            <a:lvl2pPr>
              <a:defRPr sz="1700">
                <a:latin typeface="Times New Roman"/>
              </a:defRPr>
            </a:lvl2pPr>
            <a:lvl3pPr>
              <a:defRPr sz="1700">
                <a:latin typeface="Times New Roman"/>
              </a:defRPr>
            </a:lvl3pPr>
            <a:lvl4pPr>
              <a:defRPr sz="1700">
                <a:latin typeface="Times New Roman"/>
              </a:defRPr>
            </a:lvl4pPr>
            <a:lvl5pPr>
              <a:defRPr sz="1700">
                <a:latin typeface="Times New Roman"/>
              </a:defRPr>
            </a:lvl5pPr>
            <a:lvl6pPr>
              <a:defRPr sz="1700">
                <a:latin typeface="Times New Roman"/>
              </a:defRPr>
            </a:lvl6pPr>
            <a:lvl7pPr>
              <a:defRPr sz="1700">
                <a:latin typeface="Times New Roman"/>
              </a:defRPr>
            </a:lvl7pPr>
            <a:lvl8pPr>
              <a:defRPr sz="1700">
                <a:latin typeface="Times New Roman"/>
              </a:defRPr>
            </a:lvl8pPr>
            <a:lvl9pPr>
              <a:defRPr sz="1700">
                <a:latin typeface="Times New Roman"/>
              </a:defRPr>
            </a:lvl9pPr>
          </a:lstStyle>
          <a:p>
            <a:pPr marL="0" lvl="0" indent="0">
              <a:spcAft>
                <a:spcPts val="400"/>
              </a:spcAft>
              <a:buNone/>
            </a:pPr>
            <a:r>
              <a:rPr sz="1700">
                <a:latin typeface="Times New Roman"/>
              </a:rPr>
              <a:t>Example: reachability can be solved by BFS or DFS.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228600" y="128016"/>
            <a:ext cx="8686800" cy="713232"/>
          </a:xfrm>
        </p:spPr>
        <p:txBody>
          <a:bodyPr wrap="square" lIns="0" tIns="0" rIns="0" bIns="0" anchor="t">
            <a:noAutofit/>
          </a:bodyPr>
          <a:lstStyle>
            <a:lvl1pPr>
              <a:defRPr sz="2350" b="1">
                <a:solidFill>
                  <a:srgbClr val="3333B2"/>
                </a:solidFill>
                <a:latin typeface="Times New Roman"/>
              </a:defRPr>
            </a:lvl1pPr>
            <a:lvl2pPr>
              <a:defRPr sz="2350" b="1">
                <a:solidFill>
                  <a:srgbClr val="3333B2"/>
                </a:solidFill>
                <a:latin typeface="Times New Roman"/>
              </a:defRPr>
            </a:lvl2pPr>
            <a:lvl3pPr>
              <a:defRPr sz="2350" b="1">
                <a:solidFill>
                  <a:srgbClr val="3333B2"/>
                </a:solidFill>
                <a:latin typeface="Times New Roman"/>
              </a:defRPr>
            </a:lvl3pPr>
            <a:lvl4pPr>
              <a:defRPr sz="2350" b="1">
                <a:solidFill>
                  <a:srgbClr val="3333B2"/>
                </a:solidFill>
                <a:latin typeface="Times New Roman"/>
              </a:defRPr>
            </a:lvl4pPr>
            <a:lvl5pPr>
              <a:defRPr sz="2350" b="1">
                <a:solidFill>
                  <a:srgbClr val="3333B2"/>
                </a:solidFill>
                <a:latin typeface="Times New Roman"/>
              </a:defRPr>
            </a:lvl5pPr>
            <a:lvl6pPr>
              <a:defRPr sz="2350" b="1">
                <a:solidFill>
                  <a:srgbClr val="3333B2"/>
                </a:solidFill>
                <a:latin typeface="Times New Roman"/>
              </a:defRPr>
            </a:lvl6pPr>
            <a:lvl7pPr>
              <a:defRPr sz="2350" b="1">
                <a:solidFill>
                  <a:srgbClr val="3333B2"/>
                </a:solidFill>
                <a:latin typeface="Times New Roman"/>
              </a:defRPr>
            </a:lvl7pPr>
            <a:lvl8pPr>
              <a:defRPr sz="2350" b="1">
                <a:solidFill>
                  <a:srgbClr val="3333B2"/>
                </a:solidFill>
                <a:latin typeface="Times New Roman"/>
              </a:defRPr>
            </a:lvl8pPr>
            <a:lvl9pPr>
              <a:defRPr sz="2350" b="1">
                <a:solidFill>
                  <a:srgbClr val="3333B2"/>
                </a:solidFill>
                <a:latin typeface="Times New Roman"/>
              </a:defRPr>
            </a:lvl9pPr>
          </a:lstStyle>
          <a:p>
            <a:pPr marL="0" lvl="0" indent="0">
              <a:spcAft>
                <a:spcPts val="650"/>
              </a:spcAft>
              <a:buNone/>
            </a:pPr>
            <a:r>
              <a:rPr sz="2350" b="1">
                <a:solidFill>
                  <a:srgbClr val="3333B2"/>
                </a:solidFill>
                <a:latin typeface="Times New Roman"/>
              </a:rPr>
              <a:t>Start with P and NP</a:t>
            </a:r>
          </a:p>
        </p:txBody>
      </p:sp>
      <p:sp>
        <p:nvSpPr>
          <p:cNvPr id="3" name="Content Placeholder 2"/>
          <p:cNvSpPr>
            <a:spLocks noGrp="1"/>
          </p:cNvSpPr>
          <p:nvPr/>
        </p:nvSpPr>
        <p:spPr>
          <a:xfrm>
            <a:off x="365760" y="960120"/>
            <a:ext cx="4069080" cy="1188720"/>
          </a:xfrm>
        </p:spPr>
        <p:txBody>
          <a:bodyPr wrap="square" lIns="0" tIns="0" rIns="0" bIns="0" anchor="t">
            <a:noAutofit/>
          </a:bodyPr>
          <a:lstStyle>
            <a:lvl1pPr>
              <a:defRPr sz="1800">
                <a:latin typeface="Times New Roman"/>
              </a:defRPr>
            </a:lvl1pPr>
            <a:lvl2pPr>
              <a:defRPr sz="1800">
                <a:latin typeface="Times New Roman"/>
              </a:defRPr>
            </a:lvl2pPr>
            <a:lvl3pPr>
              <a:defRPr sz="1800">
                <a:latin typeface="Times New Roman"/>
              </a:defRPr>
            </a:lvl3pPr>
            <a:lvl4pPr>
              <a:defRPr sz="1800">
                <a:latin typeface="Times New Roman"/>
              </a:defRPr>
            </a:lvl4pPr>
            <a:lvl5pPr>
              <a:defRPr sz="1800">
                <a:latin typeface="Times New Roman"/>
              </a:defRPr>
            </a:lvl5pPr>
            <a:lvl6pPr>
              <a:defRPr sz="1800">
                <a:latin typeface="Times New Roman"/>
              </a:defRPr>
            </a:lvl6pPr>
            <a:lvl7pPr>
              <a:defRPr sz="1800">
                <a:latin typeface="Times New Roman"/>
              </a:defRPr>
            </a:lvl7pPr>
            <a:lvl8pPr>
              <a:defRPr sz="1800">
                <a:latin typeface="Times New Roman"/>
              </a:defRPr>
            </a:lvl8pPr>
            <a:lvl9pPr>
              <a:defRPr sz="1800">
                <a:latin typeface="Times New Roman"/>
              </a:defRPr>
            </a:lvl9pPr>
          </a:lstStyle>
          <a:p>
            <a:pPr marL="0" lvl="0" indent="0">
              <a:spcAft>
                <a:spcPts val="650"/>
              </a:spcAft>
              <a:buNone/>
            </a:pPr>
            <a:r>
              <a:rPr sz="1800" b="1">
                <a:latin typeface="Times New Roman"/>
              </a:rPr>
              <a:t>P: solve efficiently</a:t>
            </a:r>
          </a:p>
          <a:p>
            <a:pPr marL="0" lvl="0" indent="0">
              <a:spcAft>
                <a:spcPts val="650"/>
              </a:spcAft>
              <a:buNone/>
            </a:pPr>
            <a:r>
              <a:rPr sz="1800">
                <a:latin typeface="Times New Roman"/>
              </a:rPr>
              <a:t>Decision problems solvable by a deterministic algorithm in polynomial time.</a:t>
            </a:r>
          </a:p>
        </p:txBody>
      </p:sp>
      <p:pic>
        <p:nvPicPr>
          <p:cNvPr id="4" name="Picture 1" descr="editable_assets/diagram-03-1.png"/>
          <p:cNvPicPr>
            <a:picLocks noGrp="1" noChangeAspect="1"/>
          </p:cNvPicPr>
          <p:nvPr/>
        </p:nvPicPr>
        <p:blipFill>
          <a:blip r:embed="rId3"/>
          <a:srcRect l="9434" t="8614" r="9434" b="8614"/>
          <a:stretch>
            <a:fillRect/>
          </a:stretch>
        </p:blipFill>
        <p:spPr bwMode="auto">
          <a:xfrm>
            <a:off x="1651195" y="2286000"/>
            <a:ext cx="1361049" cy="1554480"/>
          </a:xfrm>
          <a:prstGeom prst="rect">
            <a:avLst/>
          </a:prstGeom>
          <a:noFill/>
          <a:ln w="9525">
            <a:noFill/>
            <a:headEnd/>
            <a:tailEnd/>
          </a:ln>
        </p:spPr>
      </p:pic>
      <p:sp>
        <p:nvSpPr>
          <p:cNvPr id="5" name="Content Placeholder 2"/>
          <p:cNvSpPr>
            <a:spLocks noGrp="1"/>
          </p:cNvSpPr>
          <p:nvPr/>
        </p:nvSpPr>
        <p:spPr>
          <a:xfrm>
            <a:off x="365760" y="4160520"/>
            <a:ext cx="4069080" cy="2057400"/>
          </a:xfrm>
        </p:spPr>
        <p:txBody>
          <a:bodyPr wrap="square" lIns="0" tIns="0" rIns="0" bIns="0" anchor="t">
            <a:noAutofit/>
          </a:bodyPr>
          <a:lstStyle>
            <a:lvl1pPr>
              <a:defRPr sz="1700">
                <a:latin typeface="Times New Roman"/>
              </a:defRPr>
            </a:lvl1pPr>
            <a:lvl2pPr>
              <a:defRPr sz="1700">
                <a:latin typeface="Times New Roman"/>
              </a:defRPr>
            </a:lvl2pPr>
            <a:lvl3pPr>
              <a:defRPr sz="1700">
                <a:latin typeface="Times New Roman"/>
              </a:defRPr>
            </a:lvl3pPr>
            <a:lvl4pPr>
              <a:defRPr sz="1700">
                <a:latin typeface="Times New Roman"/>
              </a:defRPr>
            </a:lvl4pPr>
            <a:lvl5pPr>
              <a:defRPr sz="1700">
                <a:latin typeface="Times New Roman"/>
              </a:defRPr>
            </a:lvl5pPr>
            <a:lvl6pPr>
              <a:defRPr sz="1700">
                <a:latin typeface="Times New Roman"/>
              </a:defRPr>
            </a:lvl6pPr>
            <a:lvl7pPr>
              <a:defRPr sz="1700">
                <a:latin typeface="Times New Roman"/>
              </a:defRPr>
            </a:lvl7pPr>
            <a:lvl8pPr>
              <a:defRPr sz="1700">
                <a:latin typeface="Times New Roman"/>
              </a:defRPr>
            </a:lvl8pPr>
            <a:lvl9pPr>
              <a:defRPr sz="1700">
                <a:latin typeface="Times New Roman"/>
              </a:defRPr>
            </a:lvl9pPr>
          </a:lstStyle>
          <a:p>
            <a:pPr marL="0" lvl="0" indent="0">
              <a:spcAft>
                <a:spcPts val="400"/>
              </a:spcAft>
              <a:buNone/>
            </a:pPr>
            <a:r>
              <a:rPr sz="1700">
                <a:latin typeface="Times New Roman"/>
              </a:rPr>
              <a:t>Example: reachability can be solved by BFS or DFS.</a:t>
            </a:r>
          </a:p>
        </p:txBody>
      </p:sp>
      <p:sp>
        <p:nvSpPr>
          <p:cNvPr id="6" name="Content Placeholder 2"/>
          <p:cNvSpPr>
            <a:spLocks noGrp="1"/>
          </p:cNvSpPr>
          <p:nvPr/>
        </p:nvSpPr>
        <p:spPr>
          <a:xfrm>
            <a:off x="4709160" y="960120"/>
            <a:ext cx="4069080" cy="1783080"/>
          </a:xfrm>
        </p:spPr>
        <p:txBody>
          <a:bodyPr wrap="square" lIns="0" tIns="0" rIns="0" bIns="0" anchor="t">
            <a:noAutofit/>
          </a:bodyPr>
          <a:lstStyle>
            <a:lvl1pPr>
              <a:defRPr sz="1800">
                <a:latin typeface="Times New Roman"/>
              </a:defRPr>
            </a:lvl1pPr>
            <a:lvl2pPr>
              <a:defRPr sz="1800">
                <a:latin typeface="Times New Roman"/>
              </a:defRPr>
            </a:lvl2pPr>
            <a:lvl3pPr>
              <a:defRPr sz="1800">
                <a:latin typeface="Times New Roman"/>
              </a:defRPr>
            </a:lvl3pPr>
            <a:lvl4pPr>
              <a:defRPr sz="1800">
                <a:latin typeface="Times New Roman"/>
              </a:defRPr>
            </a:lvl4pPr>
            <a:lvl5pPr>
              <a:defRPr sz="1800">
                <a:latin typeface="Times New Roman"/>
              </a:defRPr>
            </a:lvl5pPr>
            <a:lvl6pPr>
              <a:defRPr sz="1800">
                <a:latin typeface="Times New Roman"/>
              </a:defRPr>
            </a:lvl6pPr>
            <a:lvl7pPr>
              <a:defRPr sz="1800">
                <a:latin typeface="Times New Roman"/>
              </a:defRPr>
            </a:lvl7pPr>
            <a:lvl8pPr>
              <a:defRPr sz="1800">
                <a:latin typeface="Times New Roman"/>
              </a:defRPr>
            </a:lvl8pPr>
            <a:lvl9pPr>
              <a:defRPr sz="1800">
                <a:latin typeface="Times New Roman"/>
              </a:defRPr>
            </a:lvl9pPr>
          </a:lstStyle>
          <a:p>
            <a:pPr marL="0" lvl="0" indent="0">
              <a:spcAft>
                <a:spcPts val="650"/>
              </a:spcAft>
              <a:buNone/>
            </a:pPr>
            <a:r>
              <a:rPr sz="1800" b="1">
                <a:latin typeface="Times New Roman"/>
              </a:rPr>
              <a:t>NP: verify efficiently</a:t>
            </a:r>
          </a:p>
          <a:p>
            <a:pPr marL="0" lvl="0" indent="0">
              <a:spcAft>
                <a:spcPts val="650"/>
              </a:spcAft>
              <a:buNone/>
            </a:pPr>
            <a:r>
              <a:rPr sz="1800">
                <a:latin typeface="Times New Roman"/>
              </a:rPr>
              <a:t>There are a polynomial-time verifier </a:t>
            </a:r>
            <a14:m xmlns:a14="http://schemas.microsoft.com/office/drawing/2010/main">
              <m:oMath xmlns:m="http://schemas.openxmlformats.org/officeDocument/2006/math">
                <m:r>
                  <a:rPr>
                    <a:latin typeface="Cambria Math" panose="02040503050406030204" pitchFamily="18" charset="0"/>
                  </a:rPr>
                  <m:t>𝑉</m:t>
                </m:r>
              </m:oMath>
            </a14:m>
            <a:r>
              <a:rPr sz="1800">
                <a:latin typeface="Times New Roman"/>
              </a:rPr>
              <a:t> and polynomial </a:t>
            </a:r>
            <a14:m xmlns:a14="http://schemas.microsoft.com/office/drawing/2010/main">
              <m:oMath xmlns:m="http://schemas.openxmlformats.org/officeDocument/2006/math">
                <m:r>
                  <a:rPr>
                    <a:latin typeface="Cambria Math" panose="02040503050406030204" pitchFamily="18" charset="0"/>
                  </a:rPr>
                  <m:t>𝑝</m:t>
                </m:r>
              </m:oMath>
            </a14:m>
            <a:r>
              <a:rPr sz="1800">
                <a:latin typeface="Times New Roman"/>
              </a:rPr>
              <a:t> such that</a:t>
            </a:r>
          </a:p>
          <a:p>
            <a:pPr marL="0" lvl="0" indent="0">
              <a:spcAft>
                <a:spcPts val="650"/>
              </a:spcAft>
              <a:buNone/>
            </a:pPr>
            <a14:m xmlns:a14="http://schemas.microsoft.com/office/drawing/2010/main">
              <m:oMathPara xmlns:m="http://schemas.openxmlformats.org/officeDocument/2006/math">
                <m:oMathParaPr>
                  <m:jc m:val="center"/>
                </m:oMathParaPr>
                <m:oMath>
                  <m:r>
                    <a:rPr>
                      <a:latin typeface="Cambria Math" panose="02040503050406030204" pitchFamily="18" charset="0"/>
                    </a:rPr>
                    <m:t>𝑥</m:t>
                  </m:r>
                  <m:r>
                    <a:rPr>
                      <a:latin typeface="Cambria Math" panose="02040503050406030204" pitchFamily="18" charset="0"/>
                    </a:rPr>
                    <m:t>∈</m:t>
                  </m:r>
                  <m:r>
                    <a:rPr>
                      <a:latin typeface="Cambria Math" panose="02040503050406030204" pitchFamily="18" charset="0"/>
                    </a:rPr>
                    <m:t>𝐿</m:t>
                  </m:r>
                  <m:r>
                    <a:rPr>
                      <a:latin typeface="Cambria Math" panose="02040503050406030204" pitchFamily="18" charset="0"/>
                    </a:rPr>
                    <m:t>⇔∃</m:t>
                  </m:r>
                  <m:r>
                    <a:rPr>
                      <a:latin typeface="Cambria Math" panose="02040503050406030204" pitchFamily="18" charset="0"/>
                    </a:rPr>
                    <m:t>𝑐</m:t>
                  </m:r>
                  <m:r>
                    <a:rPr>
                      <a:latin typeface="Cambria Math" panose="02040503050406030204" pitchFamily="18" charset="0"/>
                    </a:rPr>
                    <m:t>: </m:t>
                  </m:r>
                  <m:m>
                    <m:mPr>
                      <m:plcHide m:val="on"/>
                      <m:mcs>
                        <m:mc>
                          <m:mcPr>
                            <m:count m:val="1"/>
                            <m:mcJc m:val="center"/>
                          </m:mcPr>
                        </m:mc>
                      </m:mcs>
                      <m:ctrlPr>
                        <a:rPr i="1">
                          <a:latin typeface="Cambria Math" panose="02040503050406030204" pitchFamily="18" charset="0"/>
                        </a:rPr>
                      </m:ctrlPr>
                    </m:mPr>
                    <m:mr>
                      <m:e>
                        <m:r>
                          <a:rPr>
                            <a:latin typeface="Cambria Math" panose="02040503050406030204" pitchFamily="18" charset="0"/>
                          </a:rPr>
                          <m:t>|</m:t>
                        </m:r>
                        <m:r>
                          <a:rPr>
                            <a:latin typeface="Cambria Math" panose="02040503050406030204" pitchFamily="18" charset="0"/>
                          </a:rPr>
                          <m:t>𝑐</m:t>
                        </m:r>
                        <m:r>
                          <a:rPr>
                            <a:latin typeface="Cambria Math" panose="02040503050406030204" pitchFamily="18" charset="0"/>
                          </a:rPr>
                          <m:t>|≤</m:t>
                        </m:r>
                        <m:r>
                          <a:rPr>
                            <a:latin typeface="Cambria Math" panose="02040503050406030204" pitchFamily="18" charset="0"/>
                          </a:rPr>
                          <m:t>𝑝</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e>
                    </m:mr>
                    <m:mr>
                      <m:e>
                        <m:r>
                          <a:rPr>
                            <a:latin typeface="Cambria Math" panose="02040503050406030204" pitchFamily="18" charset="0"/>
                          </a:rPr>
                          <m:t>𝑉</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r>
                          <a:rPr>
                            <a:latin typeface="Cambria Math" panose="02040503050406030204" pitchFamily="18" charset="0"/>
                          </a:rPr>
                          <m:t>𝑐</m:t>
                        </m:r>
                        <m:r>
                          <a:rPr>
                            <a:latin typeface="Cambria Math" panose="02040503050406030204" pitchFamily="18" charset="0"/>
                          </a:rPr>
                          <m:t>)=1.</m:t>
                        </m:r>
                      </m:e>
                    </m:mr>
                  </m:m>
                </m:oMath>
              </m:oMathPara>
            </a14:m>
            <a:endParaRPr sz="1800">
              <a:latin typeface="Times New Roman"/>
            </a:endParaRPr>
          </a:p>
        </p:txBody>
      </p:sp>
      <p:pic>
        <p:nvPicPr>
          <p:cNvPr id="7" name="Picture 1" descr="editable_assets/diagram-04-1.png"/>
          <p:cNvPicPr>
            <a:picLocks noGrp="1" noChangeAspect="1"/>
          </p:cNvPicPr>
          <p:nvPr/>
        </p:nvPicPr>
        <p:blipFill>
          <a:blip r:embed="rId4"/>
          <a:srcRect l="8380" t="8427" r="8380" b="8614"/>
          <a:stretch>
            <a:fillRect/>
          </a:stretch>
        </p:blipFill>
        <p:spPr bwMode="auto">
          <a:xfrm>
            <a:off x="5982508" y="2834640"/>
            <a:ext cx="1522383" cy="1508760"/>
          </a:xfrm>
          <a:prstGeom prst="rect">
            <a:avLst/>
          </a:prstGeom>
          <a:noFill/>
          <a:ln w="9525">
            <a:noFill/>
            <a:headEnd/>
            <a:tailEnd/>
          </a:ln>
        </p:spPr>
      </p:pic>
      <p:sp>
        <p:nvSpPr>
          <p:cNvPr id="8" name="Content Placeholder 2"/>
          <p:cNvSpPr>
            <a:spLocks noGrp="1"/>
          </p:cNvSpPr>
          <p:nvPr/>
        </p:nvSpPr>
        <p:spPr>
          <a:xfrm>
            <a:off x="4709160" y="4526280"/>
            <a:ext cx="4069080" cy="1874520"/>
          </a:xfrm>
        </p:spPr>
        <p:txBody>
          <a:bodyPr wrap="square" lIns="0" tIns="0" rIns="0" bIns="0" anchor="t">
            <a:noAutofit/>
          </a:bodyPr>
          <a:lstStyle>
            <a:lvl1pPr>
              <a:defRPr sz="1600">
                <a:latin typeface="Times New Roman"/>
              </a:defRPr>
            </a:lvl1pPr>
            <a:lvl2pPr>
              <a:defRPr sz="1600">
                <a:latin typeface="Times New Roman"/>
              </a:defRPr>
            </a:lvl2pPr>
            <a:lvl3pPr>
              <a:defRPr sz="1600">
                <a:latin typeface="Times New Roman"/>
              </a:defRPr>
            </a:lvl3pPr>
            <a:lvl4pPr>
              <a:defRPr sz="1600">
                <a:latin typeface="Times New Roman"/>
              </a:defRPr>
            </a:lvl4pPr>
            <a:lvl5pPr>
              <a:defRPr sz="1600">
                <a:latin typeface="Times New Roman"/>
              </a:defRPr>
            </a:lvl5pPr>
            <a:lvl6pPr>
              <a:defRPr sz="1600">
                <a:latin typeface="Times New Roman"/>
              </a:defRPr>
            </a:lvl6pPr>
            <a:lvl7pPr>
              <a:defRPr sz="1600">
                <a:latin typeface="Times New Roman"/>
              </a:defRPr>
            </a:lvl7pPr>
            <a:lvl8pPr>
              <a:defRPr sz="1600">
                <a:latin typeface="Times New Roman"/>
              </a:defRPr>
            </a:lvl8pPr>
            <a:lvl9pPr>
              <a:defRPr sz="1600">
                <a:latin typeface="Times New Roman"/>
              </a:defRPr>
            </a:lvl9pPr>
          </a:lstStyle>
          <a:p>
            <a:pPr marL="0" lvl="0" indent="0">
              <a:spcAft>
                <a:spcPts val="400"/>
              </a:spcAft>
              <a:buNone/>
            </a:pPr>
            <a:r>
              <a:rPr sz="1600">
                <a:latin typeface="Times New Roman"/>
              </a:rPr>
              <a:t>For 3-COLOR, </a:t>
            </a:r>
            <a14:m xmlns:a14="http://schemas.microsoft.com/office/drawing/2010/main">
              <m:oMath xmlns:m="http://schemas.openxmlformats.org/officeDocument/2006/math">
                <m:r>
                  <a:rPr>
                    <a:latin typeface="Cambria Math" panose="02040503050406030204" pitchFamily="18" charset="0"/>
                  </a:rPr>
                  <m:t>𝑐</m:t>
                </m:r>
              </m:oMath>
            </a14:m>
            <a:r>
              <a:rPr sz="1600">
                <a:latin typeface="Times New Roman"/>
              </a:rPr>
              <a:t> assigns one of three colors to every vertex; check every edge.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228600" y="128016"/>
            <a:ext cx="8686800" cy="713232"/>
          </a:xfrm>
        </p:spPr>
        <p:txBody>
          <a:bodyPr wrap="square" lIns="0" tIns="0" rIns="0" bIns="0" anchor="t">
            <a:noAutofit/>
          </a:bodyPr>
          <a:lstStyle>
            <a:lvl1pPr>
              <a:defRPr sz="2350" b="1">
                <a:solidFill>
                  <a:srgbClr val="3333B2"/>
                </a:solidFill>
                <a:latin typeface="Times New Roman"/>
              </a:defRPr>
            </a:lvl1pPr>
            <a:lvl2pPr>
              <a:defRPr sz="2350" b="1">
                <a:solidFill>
                  <a:srgbClr val="3333B2"/>
                </a:solidFill>
                <a:latin typeface="Times New Roman"/>
              </a:defRPr>
            </a:lvl2pPr>
            <a:lvl3pPr>
              <a:defRPr sz="2350" b="1">
                <a:solidFill>
                  <a:srgbClr val="3333B2"/>
                </a:solidFill>
                <a:latin typeface="Times New Roman"/>
              </a:defRPr>
            </a:lvl3pPr>
            <a:lvl4pPr>
              <a:defRPr sz="2350" b="1">
                <a:solidFill>
                  <a:srgbClr val="3333B2"/>
                </a:solidFill>
                <a:latin typeface="Times New Roman"/>
              </a:defRPr>
            </a:lvl4pPr>
            <a:lvl5pPr>
              <a:defRPr sz="2350" b="1">
                <a:solidFill>
                  <a:srgbClr val="3333B2"/>
                </a:solidFill>
                <a:latin typeface="Times New Roman"/>
              </a:defRPr>
            </a:lvl5pPr>
            <a:lvl6pPr>
              <a:defRPr sz="2350" b="1">
                <a:solidFill>
                  <a:srgbClr val="3333B2"/>
                </a:solidFill>
                <a:latin typeface="Times New Roman"/>
              </a:defRPr>
            </a:lvl6pPr>
            <a:lvl7pPr>
              <a:defRPr sz="2350" b="1">
                <a:solidFill>
                  <a:srgbClr val="3333B2"/>
                </a:solidFill>
                <a:latin typeface="Times New Roman"/>
              </a:defRPr>
            </a:lvl7pPr>
            <a:lvl8pPr>
              <a:defRPr sz="2350" b="1">
                <a:solidFill>
                  <a:srgbClr val="3333B2"/>
                </a:solidFill>
                <a:latin typeface="Times New Roman"/>
              </a:defRPr>
            </a:lvl8pPr>
            <a:lvl9pPr>
              <a:defRPr sz="2350" b="1">
                <a:solidFill>
                  <a:srgbClr val="3333B2"/>
                </a:solidFill>
                <a:latin typeface="Times New Roman"/>
              </a:defRPr>
            </a:lvl9pPr>
          </a:lstStyle>
          <a:p>
            <a:pPr marL="0" lvl="0" indent="0">
              <a:spcAft>
                <a:spcPts val="650"/>
              </a:spcAft>
              <a:buNone/>
            </a:pPr>
            <a:r>
              <a:rPr sz="2350" b="1">
                <a:solidFill>
                  <a:srgbClr val="3333B2"/>
                </a:solidFill>
                <a:latin typeface="Times New Roman"/>
              </a:rPr>
              <a:t>Start with P and NP</a:t>
            </a:r>
          </a:p>
        </p:txBody>
      </p:sp>
      <p:sp>
        <p:nvSpPr>
          <p:cNvPr id="3" name="Content Placeholder 2"/>
          <p:cNvSpPr>
            <a:spLocks noGrp="1"/>
          </p:cNvSpPr>
          <p:nvPr/>
        </p:nvSpPr>
        <p:spPr>
          <a:xfrm>
            <a:off x="365760" y="960120"/>
            <a:ext cx="4069080" cy="1188720"/>
          </a:xfrm>
        </p:spPr>
        <p:txBody>
          <a:bodyPr wrap="square" lIns="0" tIns="0" rIns="0" bIns="0" anchor="t">
            <a:noAutofit/>
          </a:bodyPr>
          <a:lstStyle>
            <a:lvl1pPr>
              <a:defRPr sz="1800">
                <a:latin typeface="Times New Roman"/>
              </a:defRPr>
            </a:lvl1pPr>
            <a:lvl2pPr>
              <a:defRPr sz="1800">
                <a:latin typeface="Times New Roman"/>
              </a:defRPr>
            </a:lvl2pPr>
            <a:lvl3pPr>
              <a:defRPr sz="1800">
                <a:latin typeface="Times New Roman"/>
              </a:defRPr>
            </a:lvl3pPr>
            <a:lvl4pPr>
              <a:defRPr sz="1800">
                <a:latin typeface="Times New Roman"/>
              </a:defRPr>
            </a:lvl4pPr>
            <a:lvl5pPr>
              <a:defRPr sz="1800">
                <a:latin typeface="Times New Roman"/>
              </a:defRPr>
            </a:lvl5pPr>
            <a:lvl6pPr>
              <a:defRPr sz="1800">
                <a:latin typeface="Times New Roman"/>
              </a:defRPr>
            </a:lvl6pPr>
            <a:lvl7pPr>
              <a:defRPr sz="1800">
                <a:latin typeface="Times New Roman"/>
              </a:defRPr>
            </a:lvl7pPr>
            <a:lvl8pPr>
              <a:defRPr sz="1800">
                <a:latin typeface="Times New Roman"/>
              </a:defRPr>
            </a:lvl8pPr>
            <a:lvl9pPr>
              <a:defRPr sz="1800">
                <a:latin typeface="Times New Roman"/>
              </a:defRPr>
            </a:lvl9pPr>
          </a:lstStyle>
          <a:p>
            <a:pPr marL="0" lvl="0" indent="0">
              <a:spcAft>
                <a:spcPts val="650"/>
              </a:spcAft>
              <a:buNone/>
            </a:pPr>
            <a:r>
              <a:rPr sz="1800" b="1">
                <a:latin typeface="Times New Roman"/>
              </a:rPr>
              <a:t>P: solve efficiently</a:t>
            </a:r>
          </a:p>
          <a:p>
            <a:pPr marL="0" lvl="0" indent="0">
              <a:spcAft>
                <a:spcPts val="650"/>
              </a:spcAft>
              <a:buNone/>
            </a:pPr>
            <a:r>
              <a:rPr sz="1800">
                <a:latin typeface="Times New Roman"/>
              </a:rPr>
              <a:t>Decision problems solvable by a deterministic algorithm in polynomial time.</a:t>
            </a:r>
          </a:p>
        </p:txBody>
      </p:sp>
      <p:pic>
        <p:nvPicPr>
          <p:cNvPr id="4" name="Picture 1" descr="editable_assets/diagram-03-1.png"/>
          <p:cNvPicPr>
            <a:picLocks noGrp="1" noChangeAspect="1"/>
          </p:cNvPicPr>
          <p:nvPr/>
        </p:nvPicPr>
        <p:blipFill>
          <a:blip r:embed="rId3"/>
          <a:srcRect l="9434" t="8614" r="9434" b="8614"/>
          <a:stretch>
            <a:fillRect/>
          </a:stretch>
        </p:blipFill>
        <p:spPr bwMode="auto">
          <a:xfrm>
            <a:off x="1651195" y="2286000"/>
            <a:ext cx="1361049" cy="1554480"/>
          </a:xfrm>
          <a:prstGeom prst="rect">
            <a:avLst/>
          </a:prstGeom>
          <a:noFill/>
          <a:ln w="9525">
            <a:noFill/>
            <a:headEnd/>
            <a:tailEnd/>
          </a:ln>
        </p:spPr>
      </p:pic>
      <mc:AlternateContent xmlns:mc="http://schemas.openxmlformats.org/markup-compatibility/2006">
        <mc:Choice xmlns:a14="http://schemas.microsoft.com/office/drawing/2010/main" Requires="a14">
          <p:sp>
            <p:nvSpPr>
              <p:cNvPr id="5" name="Content Placeholder 2"/>
              <p:cNvSpPr>
                <a:spLocks noGrp="1"/>
              </p:cNvSpPr>
              <p:nvPr/>
            </p:nvSpPr>
            <p:spPr>
              <a:xfrm>
                <a:off x="365760" y="4160520"/>
                <a:ext cx="4069080" cy="2057400"/>
              </a:xfrm>
            </p:spPr>
            <p:txBody>
              <a:bodyPr wrap="square" lIns="0" tIns="0" rIns="0" bIns="0" anchor="t">
                <a:noAutofit/>
              </a:bodyPr>
              <a:lstStyle>
                <a:lvl1pPr>
                  <a:defRPr sz="1700">
                    <a:latin typeface="Times New Roman"/>
                  </a:defRPr>
                </a:lvl1pPr>
                <a:lvl2pPr>
                  <a:defRPr sz="1700">
                    <a:latin typeface="Times New Roman"/>
                  </a:defRPr>
                </a:lvl2pPr>
                <a:lvl3pPr>
                  <a:defRPr sz="1700">
                    <a:latin typeface="Times New Roman"/>
                  </a:defRPr>
                </a:lvl3pPr>
                <a:lvl4pPr>
                  <a:defRPr sz="1700">
                    <a:latin typeface="Times New Roman"/>
                  </a:defRPr>
                </a:lvl4pPr>
                <a:lvl5pPr>
                  <a:defRPr sz="1700">
                    <a:latin typeface="Times New Roman"/>
                  </a:defRPr>
                </a:lvl5pPr>
                <a:lvl6pPr>
                  <a:defRPr sz="1700">
                    <a:latin typeface="Times New Roman"/>
                  </a:defRPr>
                </a:lvl6pPr>
                <a:lvl7pPr>
                  <a:defRPr sz="1700">
                    <a:latin typeface="Times New Roman"/>
                  </a:defRPr>
                </a:lvl7pPr>
                <a:lvl8pPr>
                  <a:defRPr sz="1700">
                    <a:latin typeface="Times New Roman"/>
                  </a:defRPr>
                </a:lvl8pPr>
                <a:lvl9pPr>
                  <a:defRPr sz="1700">
                    <a:latin typeface="Times New Roman"/>
                  </a:defRPr>
                </a:lvl9pPr>
              </a:lstStyle>
              <a:p>
                <a:pPr marL="0" lvl="0" indent="0">
                  <a:spcAft>
                    <a:spcPts val="400"/>
                  </a:spcAft>
                  <a:buNone/>
                </a:pPr>
                <a:r>
                  <a:rPr sz="1700" dirty="0">
                    <a:latin typeface="Times New Roman"/>
                  </a:rPr>
                  <a:t>Example: reachability can be solved by BFS or DFS.</a:t>
                </a:r>
                <a:endParaRPr lang="en-US" sz="1700" dirty="0">
                  <a:latin typeface="Times New Roman"/>
                </a:endParaRPr>
              </a:p>
              <a:p>
                <a:pPr marL="0" lvl="0" indent="0">
                  <a:spcAft>
                    <a:spcPts val="400"/>
                  </a:spcAft>
                  <a:buNone/>
                </a:pPr>
                <a:endParaRPr sz="1700" dirty="0">
                  <a:latin typeface="Times New Roman"/>
                </a:endParaRPr>
              </a:p>
              <a:p>
                <a:pPr marL="0" lvl="0" indent="0">
                  <a:spcAft>
                    <a:spcPts val="400"/>
                  </a:spcAft>
                  <a:buNone/>
                </a:pPr>
                <a14:m>
                  <m:oMath xmlns:m="http://schemas.openxmlformats.org/officeDocument/2006/math">
                    <m:r>
                      <a:rPr>
                        <a:latin typeface="Cambria Math" panose="02040503050406030204" pitchFamily="18" charset="0"/>
                      </a:rPr>
                      <m:t>𝑃</m:t>
                    </m:r>
                    <m:r>
                      <a:rPr>
                        <a:latin typeface="Cambria Math" panose="02040503050406030204" pitchFamily="18" charset="0"/>
                      </a:rPr>
                      <m:t>⊆</m:t>
                    </m:r>
                    <m:r>
                      <a:rPr>
                        <a:latin typeface="Cambria Math" panose="02040503050406030204" pitchFamily="18" charset="0"/>
                      </a:rPr>
                      <m:t>𝑁𝑃</m:t>
                    </m:r>
                  </m:oMath>
                </a14:m>
                <a:r>
                  <a:rPr sz="1700" dirty="0">
                    <a:latin typeface="Times New Roman"/>
                  </a:rPr>
                  <a:t>: a polynomial-time solver can serve as a verifier and ignore the certificate.</a:t>
                </a:r>
              </a:p>
            </p:txBody>
          </p:sp>
        </mc:Choice>
        <mc:Fallback>
          <p:sp>
            <p:nvSpPr>
              <p:cNvPr id="5" name="Content Placeholder 2"/>
              <p:cNvSpPr>
                <a:spLocks noGrp="1" noRot="1" noChangeAspect="1" noMove="1" noResize="1" noEditPoints="1" noAdjustHandles="1" noChangeArrowheads="1" noChangeShapeType="1" noTextEdit="1"/>
              </p:cNvSpPr>
              <p:nvPr/>
            </p:nvSpPr>
            <p:spPr>
              <a:xfrm>
                <a:off x="365760" y="4160520"/>
                <a:ext cx="4069080" cy="2057400"/>
              </a:xfrm>
              <a:blipFill>
                <a:blip r:embed="rId4"/>
                <a:stretch>
                  <a:fillRect/>
                </a:stretch>
              </a:blipFill>
            </p:spPr>
            <p:txBody>
              <a:bodyPr/>
              <a:lstStyle/>
              <a:p>
                <a:r>
                  <a:rPr lang="en-US">
                    <a:noFill/>
                  </a:rPr>
                  <a:t> </a:t>
                </a:r>
              </a:p>
            </p:txBody>
          </p:sp>
        </mc:Fallback>
      </mc:AlternateContent>
      <p:sp>
        <p:nvSpPr>
          <p:cNvPr id="6" name="Content Placeholder 2"/>
          <p:cNvSpPr>
            <a:spLocks noGrp="1"/>
          </p:cNvSpPr>
          <p:nvPr/>
        </p:nvSpPr>
        <p:spPr>
          <a:xfrm>
            <a:off x="4709160" y="960120"/>
            <a:ext cx="4069080" cy="1783080"/>
          </a:xfrm>
        </p:spPr>
        <p:txBody>
          <a:bodyPr wrap="square" lIns="0" tIns="0" rIns="0" bIns="0" anchor="t">
            <a:noAutofit/>
          </a:bodyPr>
          <a:lstStyle>
            <a:lvl1pPr>
              <a:defRPr sz="1800">
                <a:latin typeface="Times New Roman"/>
              </a:defRPr>
            </a:lvl1pPr>
            <a:lvl2pPr>
              <a:defRPr sz="1800">
                <a:latin typeface="Times New Roman"/>
              </a:defRPr>
            </a:lvl2pPr>
            <a:lvl3pPr>
              <a:defRPr sz="1800">
                <a:latin typeface="Times New Roman"/>
              </a:defRPr>
            </a:lvl3pPr>
            <a:lvl4pPr>
              <a:defRPr sz="1800">
                <a:latin typeface="Times New Roman"/>
              </a:defRPr>
            </a:lvl4pPr>
            <a:lvl5pPr>
              <a:defRPr sz="1800">
                <a:latin typeface="Times New Roman"/>
              </a:defRPr>
            </a:lvl5pPr>
            <a:lvl6pPr>
              <a:defRPr sz="1800">
                <a:latin typeface="Times New Roman"/>
              </a:defRPr>
            </a:lvl6pPr>
            <a:lvl7pPr>
              <a:defRPr sz="1800">
                <a:latin typeface="Times New Roman"/>
              </a:defRPr>
            </a:lvl7pPr>
            <a:lvl8pPr>
              <a:defRPr sz="1800">
                <a:latin typeface="Times New Roman"/>
              </a:defRPr>
            </a:lvl8pPr>
            <a:lvl9pPr>
              <a:defRPr sz="1800">
                <a:latin typeface="Times New Roman"/>
              </a:defRPr>
            </a:lvl9pPr>
          </a:lstStyle>
          <a:p>
            <a:pPr marL="0" lvl="0" indent="0">
              <a:spcAft>
                <a:spcPts val="650"/>
              </a:spcAft>
              <a:buNone/>
            </a:pPr>
            <a:r>
              <a:rPr sz="1800" b="1">
                <a:latin typeface="Times New Roman"/>
              </a:rPr>
              <a:t>NP: verify efficiently</a:t>
            </a:r>
          </a:p>
          <a:p>
            <a:pPr marL="0" lvl="0" indent="0">
              <a:spcAft>
                <a:spcPts val="650"/>
              </a:spcAft>
              <a:buNone/>
            </a:pPr>
            <a:r>
              <a:rPr sz="1800">
                <a:latin typeface="Times New Roman"/>
              </a:rPr>
              <a:t>There are a polynomial-time verifier </a:t>
            </a:r>
            <a14:m xmlns:a14="http://schemas.microsoft.com/office/drawing/2010/main">
              <m:oMath xmlns:m="http://schemas.openxmlformats.org/officeDocument/2006/math">
                <m:r>
                  <a:rPr>
                    <a:latin typeface="Cambria Math" panose="02040503050406030204" pitchFamily="18" charset="0"/>
                  </a:rPr>
                  <m:t>𝑉</m:t>
                </m:r>
              </m:oMath>
            </a14:m>
            <a:r>
              <a:rPr sz="1800">
                <a:latin typeface="Times New Roman"/>
              </a:rPr>
              <a:t> and polynomial </a:t>
            </a:r>
            <a14:m xmlns:a14="http://schemas.microsoft.com/office/drawing/2010/main">
              <m:oMath xmlns:m="http://schemas.openxmlformats.org/officeDocument/2006/math">
                <m:r>
                  <a:rPr>
                    <a:latin typeface="Cambria Math" panose="02040503050406030204" pitchFamily="18" charset="0"/>
                  </a:rPr>
                  <m:t>𝑝</m:t>
                </m:r>
              </m:oMath>
            </a14:m>
            <a:r>
              <a:rPr sz="1800">
                <a:latin typeface="Times New Roman"/>
              </a:rPr>
              <a:t> such that</a:t>
            </a:r>
          </a:p>
          <a:p>
            <a:pPr marL="0" lvl="0" indent="0">
              <a:spcAft>
                <a:spcPts val="650"/>
              </a:spcAft>
              <a:buNone/>
            </a:pPr>
            <a14:m xmlns:a14="http://schemas.microsoft.com/office/drawing/2010/main">
              <m:oMathPara xmlns:m="http://schemas.openxmlformats.org/officeDocument/2006/math">
                <m:oMathParaPr>
                  <m:jc m:val="center"/>
                </m:oMathParaPr>
                <m:oMath>
                  <m:r>
                    <a:rPr>
                      <a:latin typeface="Cambria Math" panose="02040503050406030204" pitchFamily="18" charset="0"/>
                    </a:rPr>
                    <m:t>𝑥</m:t>
                  </m:r>
                  <m:r>
                    <a:rPr>
                      <a:latin typeface="Cambria Math" panose="02040503050406030204" pitchFamily="18" charset="0"/>
                    </a:rPr>
                    <m:t>∈</m:t>
                  </m:r>
                  <m:r>
                    <a:rPr>
                      <a:latin typeface="Cambria Math" panose="02040503050406030204" pitchFamily="18" charset="0"/>
                    </a:rPr>
                    <m:t>𝐿</m:t>
                  </m:r>
                  <m:r>
                    <a:rPr>
                      <a:latin typeface="Cambria Math" panose="02040503050406030204" pitchFamily="18" charset="0"/>
                    </a:rPr>
                    <m:t>⇔∃</m:t>
                  </m:r>
                  <m:r>
                    <a:rPr>
                      <a:latin typeface="Cambria Math" panose="02040503050406030204" pitchFamily="18" charset="0"/>
                    </a:rPr>
                    <m:t>𝑐</m:t>
                  </m:r>
                  <m:r>
                    <a:rPr>
                      <a:latin typeface="Cambria Math" panose="02040503050406030204" pitchFamily="18" charset="0"/>
                    </a:rPr>
                    <m:t>: </m:t>
                  </m:r>
                  <m:m>
                    <m:mPr>
                      <m:plcHide m:val="on"/>
                      <m:mcs>
                        <m:mc>
                          <m:mcPr>
                            <m:count m:val="1"/>
                            <m:mcJc m:val="center"/>
                          </m:mcPr>
                        </m:mc>
                      </m:mcs>
                      <m:ctrlPr>
                        <a:rPr i="1">
                          <a:latin typeface="Cambria Math" panose="02040503050406030204" pitchFamily="18" charset="0"/>
                        </a:rPr>
                      </m:ctrlPr>
                    </m:mPr>
                    <m:mr>
                      <m:e>
                        <m:r>
                          <a:rPr>
                            <a:latin typeface="Cambria Math" panose="02040503050406030204" pitchFamily="18" charset="0"/>
                          </a:rPr>
                          <m:t>|</m:t>
                        </m:r>
                        <m:r>
                          <a:rPr>
                            <a:latin typeface="Cambria Math" panose="02040503050406030204" pitchFamily="18" charset="0"/>
                          </a:rPr>
                          <m:t>𝑐</m:t>
                        </m:r>
                        <m:r>
                          <a:rPr>
                            <a:latin typeface="Cambria Math" panose="02040503050406030204" pitchFamily="18" charset="0"/>
                          </a:rPr>
                          <m:t>|≤</m:t>
                        </m:r>
                        <m:r>
                          <a:rPr>
                            <a:latin typeface="Cambria Math" panose="02040503050406030204" pitchFamily="18" charset="0"/>
                          </a:rPr>
                          <m:t>𝑝</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e>
                    </m:mr>
                    <m:mr>
                      <m:e>
                        <m:r>
                          <a:rPr>
                            <a:latin typeface="Cambria Math" panose="02040503050406030204" pitchFamily="18" charset="0"/>
                          </a:rPr>
                          <m:t>𝑉</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r>
                          <a:rPr>
                            <a:latin typeface="Cambria Math" panose="02040503050406030204" pitchFamily="18" charset="0"/>
                          </a:rPr>
                          <m:t>𝑐</m:t>
                        </m:r>
                        <m:r>
                          <a:rPr>
                            <a:latin typeface="Cambria Math" panose="02040503050406030204" pitchFamily="18" charset="0"/>
                          </a:rPr>
                          <m:t>)=1.</m:t>
                        </m:r>
                      </m:e>
                    </m:mr>
                  </m:m>
                </m:oMath>
              </m:oMathPara>
            </a14:m>
            <a:endParaRPr sz="1800">
              <a:latin typeface="Times New Roman"/>
            </a:endParaRPr>
          </a:p>
        </p:txBody>
      </p:sp>
      <p:pic>
        <p:nvPicPr>
          <p:cNvPr id="7" name="Picture 1" descr="editable_assets/diagram-04-1.png"/>
          <p:cNvPicPr>
            <a:picLocks noGrp="1" noChangeAspect="1"/>
          </p:cNvPicPr>
          <p:nvPr/>
        </p:nvPicPr>
        <p:blipFill>
          <a:blip r:embed="rId5"/>
          <a:srcRect l="8380" t="8427" r="8380" b="8614"/>
          <a:stretch>
            <a:fillRect/>
          </a:stretch>
        </p:blipFill>
        <p:spPr bwMode="auto">
          <a:xfrm>
            <a:off x="5982508" y="2834640"/>
            <a:ext cx="1522383" cy="1508760"/>
          </a:xfrm>
          <a:prstGeom prst="rect">
            <a:avLst/>
          </a:prstGeom>
          <a:noFill/>
          <a:ln w="9525">
            <a:noFill/>
            <a:headEnd/>
            <a:tailEnd/>
          </a:ln>
        </p:spPr>
      </p:pic>
      <mc:AlternateContent xmlns:mc="http://schemas.openxmlformats.org/markup-compatibility/2006">
        <mc:Choice xmlns:a14="http://schemas.microsoft.com/office/drawing/2010/main" Requires="a14">
          <p:sp>
            <p:nvSpPr>
              <p:cNvPr id="8" name="Content Placeholder 2"/>
              <p:cNvSpPr>
                <a:spLocks noGrp="1"/>
              </p:cNvSpPr>
              <p:nvPr/>
            </p:nvSpPr>
            <p:spPr>
              <a:xfrm>
                <a:off x="4709160" y="4526280"/>
                <a:ext cx="4069080" cy="1874520"/>
              </a:xfrm>
            </p:spPr>
            <p:txBody>
              <a:bodyPr wrap="square" lIns="0" tIns="0" rIns="0" bIns="0" anchor="t">
                <a:noAutofit/>
              </a:bodyPr>
              <a:lstStyle>
                <a:lvl1pPr>
                  <a:defRPr sz="1600">
                    <a:latin typeface="Times New Roman"/>
                  </a:defRPr>
                </a:lvl1pPr>
                <a:lvl2pPr>
                  <a:defRPr sz="1600">
                    <a:latin typeface="Times New Roman"/>
                  </a:defRPr>
                </a:lvl2pPr>
                <a:lvl3pPr>
                  <a:defRPr sz="1600">
                    <a:latin typeface="Times New Roman"/>
                  </a:defRPr>
                </a:lvl3pPr>
                <a:lvl4pPr>
                  <a:defRPr sz="1600">
                    <a:latin typeface="Times New Roman"/>
                  </a:defRPr>
                </a:lvl4pPr>
                <a:lvl5pPr>
                  <a:defRPr sz="1600">
                    <a:latin typeface="Times New Roman"/>
                  </a:defRPr>
                </a:lvl5pPr>
                <a:lvl6pPr>
                  <a:defRPr sz="1600">
                    <a:latin typeface="Times New Roman"/>
                  </a:defRPr>
                </a:lvl6pPr>
                <a:lvl7pPr>
                  <a:defRPr sz="1600">
                    <a:latin typeface="Times New Roman"/>
                  </a:defRPr>
                </a:lvl7pPr>
                <a:lvl8pPr>
                  <a:defRPr sz="1600">
                    <a:latin typeface="Times New Roman"/>
                  </a:defRPr>
                </a:lvl8pPr>
                <a:lvl9pPr>
                  <a:defRPr sz="1600">
                    <a:latin typeface="Times New Roman"/>
                  </a:defRPr>
                </a:lvl9pPr>
              </a:lstStyle>
              <a:p>
                <a:pPr marL="0" lvl="0" indent="0">
                  <a:spcAft>
                    <a:spcPts val="400"/>
                  </a:spcAft>
                  <a:buNone/>
                </a:pPr>
                <a:r>
                  <a:rPr sz="1600" dirty="0">
                    <a:latin typeface="Times New Roman"/>
                  </a:rPr>
                  <a:t>For 3-COLOR, </a:t>
                </a:r>
                <a14:m>
                  <m:oMath xmlns:m="http://schemas.openxmlformats.org/officeDocument/2006/math">
                    <m:r>
                      <a:rPr>
                        <a:latin typeface="Cambria Math" panose="02040503050406030204" pitchFamily="18" charset="0"/>
                      </a:rPr>
                      <m:t>𝑐</m:t>
                    </m:r>
                  </m:oMath>
                </a14:m>
                <a:r>
                  <a:rPr sz="1600" dirty="0">
                    <a:latin typeface="Times New Roman"/>
                  </a:rPr>
                  <a:t> assigns one of three colors to every vertex; check every edge.</a:t>
                </a:r>
                <a:endParaRPr lang="en-US" sz="1600" dirty="0">
                  <a:latin typeface="Times New Roman"/>
                </a:endParaRPr>
              </a:p>
              <a:p>
                <a:pPr marL="0" lvl="0" indent="0">
                  <a:spcAft>
                    <a:spcPts val="400"/>
                  </a:spcAft>
                  <a:buNone/>
                </a:pPr>
                <a:endParaRPr sz="1600" dirty="0">
                  <a:latin typeface="Times New Roman"/>
                </a:endParaRPr>
              </a:p>
              <a:p>
                <a:pPr marL="0" lvl="0" indent="0">
                  <a:spcAft>
                    <a:spcPts val="400"/>
                  </a:spcAft>
                  <a:buNone/>
                </a:pPr>
                <a:r>
                  <a:rPr sz="1600" dirty="0">
                    <a:latin typeface="Times New Roman"/>
                  </a:rPr>
                  <a:t>NP means </a:t>
                </a:r>
                <a:r>
                  <a:rPr sz="1600" b="1" dirty="0">
                    <a:latin typeface="Times New Roman"/>
                  </a:rPr>
                  <a:t>nondeterministic polynomial time</a:t>
                </a:r>
                <a:r>
                  <a:rPr sz="1600" dirty="0">
                    <a:latin typeface="Times New Roman"/>
                  </a:rPr>
                  <a:t>, not “non-polynomial.” Whether </a:t>
                </a:r>
                <a14:m>
                  <m:oMath xmlns:m="http://schemas.openxmlformats.org/officeDocument/2006/math">
                    <m:r>
                      <a:rPr>
                        <a:latin typeface="Cambria Math" panose="02040503050406030204" pitchFamily="18" charset="0"/>
                      </a:rPr>
                      <m:t>𝑃</m:t>
                    </m:r>
                    <m:r>
                      <a:rPr>
                        <a:latin typeface="Cambria Math" panose="02040503050406030204" pitchFamily="18" charset="0"/>
                      </a:rPr>
                      <m:t>=</m:t>
                    </m:r>
                    <m:r>
                      <a:rPr>
                        <a:latin typeface="Cambria Math" panose="02040503050406030204" pitchFamily="18" charset="0"/>
                      </a:rPr>
                      <m:t>𝑁𝑃</m:t>
                    </m:r>
                  </m:oMath>
                </a14:m>
                <a:r>
                  <a:rPr sz="1600" dirty="0">
                    <a:latin typeface="Times New Roman"/>
                  </a:rPr>
                  <a:t> is open.</a:t>
                </a:r>
              </a:p>
            </p:txBody>
          </p:sp>
        </mc:Choice>
        <mc:Fallback>
          <p:sp>
            <p:nvSpPr>
              <p:cNvPr id="8" name="Content Placeholder 2"/>
              <p:cNvSpPr>
                <a:spLocks noGrp="1" noRot="1" noChangeAspect="1" noMove="1" noResize="1" noEditPoints="1" noAdjustHandles="1" noChangeArrowheads="1" noChangeShapeType="1" noTextEdit="1"/>
              </p:cNvSpPr>
              <p:nvPr/>
            </p:nvSpPr>
            <p:spPr>
              <a:xfrm>
                <a:off x="4709160" y="4526280"/>
                <a:ext cx="4069080" cy="1874520"/>
              </a:xfrm>
              <a:blipFill>
                <a:blip r:embed="rId6"/>
                <a:stretch>
                  <a:fillRect/>
                </a:stretch>
              </a:blipFill>
            </p:spPr>
            <p:txBody>
              <a:bodyPr/>
              <a:lstStyle/>
              <a:p>
                <a:r>
                  <a:rPr lang="en-US">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228600" y="128016"/>
            <a:ext cx="8686800" cy="713232"/>
          </a:xfrm>
        </p:spPr>
        <p:txBody>
          <a:bodyPr wrap="square" lIns="0" tIns="0" rIns="0" bIns="0" anchor="t">
            <a:noAutofit/>
          </a:bodyPr>
          <a:lstStyle>
            <a:lvl1pPr>
              <a:defRPr sz="2350" b="1">
                <a:solidFill>
                  <a:srgbClr val="3333B2"/>
                </a:solidFill>
                <a:latin typeface="Times New Roman"/>
              </a:defRPr>
            </a:lvl1pPr>
            <a:lvl2pPr>
              <a:defRPr sz="2350" b="1">
                <a:solidFill>
                  <a:srgbClr val="3333B2"/>
                </a:solidFill>
                <a:latin typeface="Times New Roman"/>
              </a:defRPr>
            </a:lvl2pPr>
            <a:lvl3pPr>
              <a:defRPr sz="2350" b="1">
                <a:solidFill>
                  <a:srgbClr val="3333B2"/>
                </a:solidFill>
                <a:latin typeface="Times New Roman"/>
              </a:defRPr>
            </a:lvl3pPr>
            <a:lvl4pPr>
              <a:defRPr sz="2350" b="1">
                <a:solidFill>
                  <a:srgbClr val="3333B2"/>
                </a:solidFill>
                <a:latin typeface="Times New Roman"/>
              </a:defRPr>
            </a:lvl4pPr>
            <a:lvl5pPr>
              <a:defRPr sz="2350" b="1">
                <a:solidFill>
                  <a:srgbClr val="3333B2"/>
                </a:solidFill>
                <a:latin typeface="Times New Roman"/>
              </a:defRPr>
            </a:lvl5pPr>
            <a:lvl6pPr>
              <a:defRPr sz="2350" b="1">
                <a:solidFill>
                  <a:srgbClr val="3333B2"/>
                </a:solidFill>
                <a:latin typeface="Times New Roman"/>
              </a:defRPr>
            </a:lvl6pPr>
            <a:lvl7pPr>
              <a:defRPr sz="2350" b="1">
                <a:solidFill>
                  <a:srgbClr val="3333B2"/>
                </a:solidFill>
                <a:latin typeface="Times New Roman"/>
              </a:defRPr>
            </a:lvl7pPr>
            <a:lvl8pPr>
              <a:defRPr sz="2350" b="1">
                <a:solidFill>
                  <a:srgbClr val="3333B2"/>
                </a:solidFill>
                <a:latin typeface="Times New Roman"/>
              </a:defRPr>
            </a:lvl8pPr>
            <a:lvl9pPr>
              <a:defRPr sz="2350" b="1">
                <a:solidFill>
                  <a:srgbClr val="3333B2"/>
                </a:solidFill>
                <a:latin typeface="Times New Roman"/>
              </a:defRPr>
            </a:lvl9pPr>
          </a:lstStyle>
          <a:p>
            <a:pPr marL="0" lvl="0" indent="0">
              <a:spcAft>
                <a:spcPts val="650"/>
              </a:spcAft>
              <a:buNone/>
            </a:pPr>
            <a:r>
              <a:rPr sz="2350" b="1">
                <a:solidFill>
                  <a:srgbClr val="3333B2"/>
                </a:solidFill>
                <a:latin typeface="Times New Roman"/>
              </a:rPr>
              <a:t>From NP-Hard to NP-Complete</a:t>
            </a:r>
          </a:p>
        </p:txBody>
      </p:sp>
      <mc:AlternateContent xmlns:mc="http://schemas.openxmlformats.org/markup-compatibility/2006">
        <mc:Choice xmlns:a14="http://schemas.microsoft.com/office/drawing/2010/main" Requires="a14">
          <p:sp>
            <p:nvSpPr>
              <p:cNvPr id="3" name="Content Placeholder 2"/>
              <p:cNvSpPr>
                <a:spLocks noGrp="1"/>
              </p:cNvSpPr>
              <p:nvPr/>
            </p:nvSpPr>
            <p:spPr>
              <a:xfrm>
                <a:off x="365760" y="1051560"/>
                <a:ext cx="4114800" cy="5303520"/>
              </a:xfrm>
            </p:spPr>
            <p:txBody>
              <a:bodyPr wrap="square" lIns="0" tIns="0" rIns="0" bIns="0" anchor="t">
                <a:noAutofit/>
              </a:bodyPr>
              <a:lstStyle>
                <a:lvl1pPr>
                  <a:defRPr sz="1800">
                    <a:latin typeface="Times New Roman"/>
                  </a:defRPr>
                </a:lvl1pPr>
                <a:lvl2pPr>
                  <a:defRPr sz="1800">
                    <a:latin typeface="Times New Roman"/>
                  </a:defRPr>
                </a:lvl2pPr>
                <a:lvl3pPr>
                  <a:defRPr sz="1800">
                    <a:latin typeface="Times New Roman"/>
                  </a:defRPr>
                </a:lvl3pPr>
                <a:lvl4pPr>
                  <a:defRPr sz="1800">
                    <a:latin typeface="Times New Roman"/>
                  </a:defRPr>
                </a:lvl4pPr>
                <a:lvl5pPr>
                  <a:defRPr sz="1800">
                    <a:latin typeface="Times New Roman"/>
                  </a:defRPr>
                </a:lvl5pPr>
                <a:lvl6pPr>
                  <a:defRPr sz="1800">
                    <a:latin typeface="Times New Roman"/>
                  </a:defRPr>
                </a:lvl6pPr>
                <a:lvl7pPr>
                  <a:defRPr sz="1800">
                    <a:latin typeface="Times New Roman"/>
                  </a:defRPr>
                </a:lvl7pPr>
                <a:lvl8pPr>
                  <a:defRPr sz="1800">
                    <a:latin typeface="Times New Roman"/>
                  </a:defRPr>
                </a:lvl8pPr>
                <a:lvl9pPr>
                  <a:defRPr sz="1800">
                    <a:latin typeface="Times New Roman"/>
                  </a:defRPr>
                </a:lvl9pPr>
              </a:lstStyle>
              <a:p>
                <a:pPr marL="0" lvl="0" indent="0">
                  <a:spcAft>
                    <a:spcPts val="650"/>
                  </a:spcAft>
                  <a:buNone/>
                </a:pPr>
                <a:r>
                  <a:rPr sz="1800" b="1" dirty="0">
                    <a:latin typeface="Times New Roman"/>
                  </a:rPr>
                  <a:t>NP-hard: hard for all of NP</a:t>
                </a:r>
              </a:p>
              <a:p>
                <a:pPr marL="0" lvl="0" indent="0">
                  <a:spcAft>
                    <a:spcPts val="650"/>
                  </a:spcAft>
                  <a:buNone/>
                </a:pPr>
                <a:r>
                  <a:rPr sz="1800" dirty="0">
                    <a:latin typeface="Times New Roman"/>
                  </a:rPr>
                  <a:t>A problem </a:t>
                </a:r>
                <a14:m>
                  <m:oMath xmlns:m="http://schemas.openxmlformats.org/officeDocument/2006/math">
                    <m:r>
                      <a:rPr>
                        <a:latin typeface="Cambria Math" panose="02040503050406030204" pitchFamily="18" charset="0"/>
                      </a:rPr>
                      <m:t>𝐻</m:t>
                    </m:r>
                  </m:oMath>
                </a14:m>
                <a:r>
                  <a:rPr sz="1800" dirty="0">
                    <a:latin typeface="Times New Roman"/>
                  </a:rPr>
                  <a:t> is NP-hard if</a:t>
                </a:r>
              </a:p>
              <a:p>
                <a:pPr marL="0" lvl="0" indent="0">
                  <a:spcAft>
                    <a:spcPts val="650"/>
                  </a:spcAft>
                  <a:buNone/>
                </a:pPr>
                <a14:m>
                  <m:oMathPara xmlns:m="http://schemas.openxmlformats.org/officeDocument/2006/math">
                    <m:oMathParaPr>
                      <m:jc m:val="center"/>
                    </m:oMathParaPr>
                    <m:oMath>
                      <m:r>
                        <a:rPr>
                          <a:latin typeface="Cambria Math" panose="02040503050406030204" pitchFamily="18" charset="0"/>
                        </a:rPr>
                        <m:t>∀</m:t>
                      </m:r>
                      <m:r>
                        <a:rPr>
                          <a:latin typeface="Cambria Math" panose="02040503050406030204" pitchFamily="18" charset="0"/>
                        </a:rPr>
                        <m:t>𝐿</m:t>
                      </m:r>
                      <m:r>
                        <a:rPr>
                          <a:latin typeface="Cambria Math" panose="02040503050406030204" pitchFamily="18" charset="0"/>
                        </a:rPr>
                        <m:t>∈</m:t>
                      </m:r>
                      <m:r>
                        <a:rPr>
                          <a:latin typeface="Cambria Math" panose="02040503050406030204" pitchFamily="18" charset="0"/>
                        </a:rPr>
                        <m:t>𝑁𝑃</m:t>
                      </m:r>
                      <m:r>
                        <a:rPr>
                          <a:latin typeface="Cambria Math" panose="02040503050406030204" pitchFamily="18" charset="0"/>
                        </a:rPr>
                        <m:t>,  </m:t>
                      </m:r>
                      <m:r>
                        <a:rPr>
                          <a:latin typeface="Cambria Math" panose="02040503050406030204" pitchFamily="18" charset="0"/>
                        </a:rPr>
                        <m:t>𝐿</m:t>
                      </m:r>
                      <m:sSub>
                        <m:sSubPr>
                          <m:ctrlPr>
                            <a:rPr>
                              <a:latin typeface="Cambria Math" panose="02040503050406030204" pitchFamily="18" charset="0"/>
                            </a:rPr>
                          </m:ctrlPr>
                        </m:sSubPr>
                        <m:e>
                          <m:r>
                            <a:rPr>
                              <a:latin typeface="Cambria Math" panose="02040503050406030204" pitchFamily="18" charset="0"/>
                            </a:rPr>
                            <m:t>≤</m:t>
                          </m:r>
                        </m:e>
                        <m:sub>
                          <m:r>
                            <a:rPr>
                              <a:latin typeface="Cambria Math" panose="02040503050406030204" pitchFamily="18" charset="0"/>
                            </a:rPr>
                            <m:t>𝑝</m:t>
                          </m:r>
                        </m:sub>
                      </m:sSub>
                      <m:r>
                        <a:rPr>
                          <a:latin typeface="Cambria Math" panose="02040503050406030204" pitchFamily="18" charset="0"/>
                        </a:rPr>
                        <m:t>𝐻</m:t>
                      </m:r>
                      <m:r>
                        <a:rPr>
                          <a:latin typeface="Cambria Math" panose="02040503050406030204" pitchFamily="18" charset="0"/>
                        </a:rPr>
                        <m:t>.</m:t>
                      </m:r>
                    </m:oMath>
                  </m:oMathPara>
                </a14:m>
                <a:endParaRPr sz="1800" dirty="0">
                  <a:latin typeface="Times New Roman"/>
                </a:endParaRPr>
              </a:p>
              <a:p>
                <a:pPr marL="0" lvl="0" indent="0">
                  <a:spcAft>
                    <a:spcPts val="650"/>
                  </a:spcAft>
                  <a:buNone/>
                </a:pPr>
                <a14:m>
                  <m:oMath xmlns:m="http://schemas.openxmlformats.org/officeDocument/2006/math">
                    <m:r>
                      <a:rPr>
                        <a:latin typeface="Cambria Math" panose="02040503050406030204" pitchFamily="18" charset="0"/>
                      </a:rPr>
                      <m:t>𝐿</m:t>
                    </m:r>
                    <m:sSub>
                      <m:sSubPr>
                        <m:ctrlPr>
                          <a:rPr>
                            <a:latin typeface="Cambria Math" panose="02040503050406030204" pitchFamily="18" charset="0"/>
                          </a:rPr>
                        </m:ctrlPr>
                      </m:sSubPr>
                      <m:e>
                        <m:r>
                          <a:rPr>
                            <a:latin typeface="Cambria Math" panose="02040503050406030204" pitchFamily="18" charset="0"/>
                          </a:rPr>
                          <m:t>≤</m:t>
                        </m:r>
                      </m:e>
                      <m:sub>
                        <m:r>
                          <a:rPr>
                            <a:latin typeface="Cambria Math" panose="02040503050406030204" pitchFamily="18" charset="0"/>
                          </a:rPr>
                          <m:t>𝑝</m:t>
                        </m:r>
                      </m:sub>
                    </m:sSub>
                    <m:r>
                      <a:rPr>
                        <a:latin typeface="Cambria Math" panose="02040503050406030204" pitchFamily="18" charset="0"/>
                      </a:rPr>
                      <m:t>𝐻</m:t>
                    </m:r>
                  </m:oMath>
                </a14:m>
                <a:r>
                  <a:rPr sz="1800" dirty="0">
                    <a:latin typeface="Times New Roman"/>
                  </a:rPr>
                  <a:t> means an efficient, answer-preserving translation from </a:t>
                </a:r>
                <a14:m>
                  <m:oMath xmlns:m="http://schemas.openxmlformats.org/officeDocument/2006/math">
                    <m:r>
                      <a:rPr>
                        <a:latin typeface="Cambria Math" panose="02040503050406030204" pitchFamily="18" charset="0"/>
                      </a:rPr>
                      <m:t>𝐿</m:t>
                    </m:r>
                  </m:oMath>
                </a14:m>
                <a:r>
                  <a:rPr sz="1800" dirty="0">
                    <a:latin typeface="Times New Roman"/>
                  </a:rPr>
                  <a:t> to </a:t>
                </a:r>
                <a14:m>
                  <m:oMath xmlns:m="http://schemas.openxmlformats.org/officeDocument/2006/math">
                    <m:r>
                      <a:rPr>
                        <a:latin typeface="Cambria Math" panose="02040503050406030204" pitchFamily="18" charset="0"/>
                      </a:rPr>
                      <m:t>𝐻</m:t>
                    </m:r>
                  </m:oMath>
                </a14:m>
                <a:r>
                  <a:rPr sz="1800" dirty="0">
                    <a:latin typeface="Times New Roman"/>
                  </a:rPr>
                  <a:t>. An NP-hard problem need not itself belong to NP.</a:t>
                </a:r>
                <a:endParaRPr lang="en-US" sz="1800" dirty="0">
                  <a:latin typeface="Times New Roman"/>
                </a:endParaRPr>
              </a:p>
              <a:p>
                <a:pPr marL="0" lvl="0" indent="0">
                  <a:spcAft>
                    <a:spcPts val="650"/>
                  </a:spcAft>
                  <a:buNone/>
                </a:pPr>
                <a:endParaRPr sz="1800" dirty="0">
                  <a:latin typeface="Times New Roman"/>
                </a:endParaRPr>
              </a:p>
              <a:p>
                <a:pPr marL="0" lvl="0" indent="0">
                  <a:spcAft>
                    <a:spcPts val="650"/>
                  </a:spcAft>
                  <a:buNone/>
                </a:pPr>
                <a:r>
                  <a:rPr sz="1800" b="1" dirty="0">
                    <a:latin typeface="Times New Roman"/>
                  </a:rPr>
                  <a:t>NP-complete: both properties</a:t>
                </a:r>
              </a:p>
              <a:p>
                <a:pPr marL="0" lvl="0" indent="0">
                  <a:spcAft>
                    <a:spcPts val="650"/>
                  </a:spcAft>
                  <a:buNone/>
                </a:pPr>
                <a14:m>
                  <m:oMathPara xmlns:m="http://schemas.openxmlformats.org/officeDocument/2006/math">
                    <m:oMathParaPr>
                      <m:jc m:val="center"/>
                    </m:oMathParaPr>
                    <m:oMath>
                      <m:r>
                        <a:rPr>
                          <a:latin typeface="Cambria Math" panose="02040503050406030204" pitchFamily="18" charset="0"/>
                        </a:rPr>
                        <m:t>𝐻</m:t>
                      </m:r>
                      <m:r>
                        <a:rPr>
                          <a:latin typeface="Cambria Math" panose="02040503050406030204" pitchFamily="18" charset="0"/>
                        </a:rPr>
                        <m:t>∈</m:t>
                      </m:r>
                      <m:r>
                        <a:rPr>
                          <a:latin typeface="Cambria Math" panose="02040503050406030204" pitchFamily="18" charset="0"/>
                        </a:rPr>
                        <m:t>𝑁𝑃</m:t>
                      </m:r>
                      <m:r>
                        <a:rPr>
                          <a:latin typeface="Cambria Math" panose="02040503050406030204" pitchFamily="18" charset="0"/>
                        </a:rPr>
                        <m:t> </m:t>
                      </m:r>
                      <m:r>
                        <m:rPr>
                          <m:nor/>
                        </m:rPr>
                        <a:rPr i="0"/>
                        <m:t>and</m:t>
                      </m:r>
                      <m:r>
                        <a:rPr>
                          <a:latin typeface="Cambria Math" panose="02040503050406030204" pitchFamily="18" charset="0"/>
                        </a:rPr>
                        <m:t> </m:t>
                      </m:r>
                      <m:r>
                        <a:rPr>
                          <a:latin typeface="Cambria Math" panose="02040503050406030204" pitchFamily="18" charset="0"/>
                        </a:rPr>
                        <m:t>𝐻</m:t>
                      </m:r>
                      <m:r>
                        <m:rPr>
                          <m:nor/>
                        </m:rPr>
                        <a:rPr i="0"/>
                        <m:t> is NP−hard</m:t>
                      </m:r>
                      <m:r>
                        <a:rPr>
                          <a:latin typeface="Cambria Math" panose="02040503050406030204" pitchFamily="18" charset="0"/>
                        </a:rPr>
                        <m:t>.</m:t>
                      </m:r>
                    </m:oMath>
                  </m:oMathPara>
                </a14:m>
                <a:endParaRPr sz="1800" b="1" dirty="0">
                  <a:latin typeface="Times New Roman"/>
                </a:endParaRPr>
              </a:p>
              <a:p>
                <a:pPr marL="0" lvl="0" indent="0">
                  <a:spcAft>
                    <a:spcPts val="650"/>
                  </a:spcAft>
                  <a:buNone/>
                </a:pPr>
                <a:r>
                  <a:rPr sz="1800" dirty="0">
                    <a:latin typeface="Times New Roman"/>
                  </a:rPr>
                  <a:t>These are the hardest efficiently verifiable decision problems.</a:t>
                </a:r>
              </a:p>
            </p:txBody>
          </p:sp>
        </mc:Choice>
        <mc:Fallback>
          <p:sp>
            <p:nvSpPr>
              <p:cNvPr id="3" name="Content Placeholder 2"/>
              <p:cNvSpPr>
                <a:spLocks noGrp="1" noRot="1" noChangeAspect="1" noMove="1" noResize="1" noEditPoints="1" noAdjustHandles="1" noChangeArrowheads="1" noChangeShapeType="1" noTextEdit="1"/>
              </p:cNvSpPr>
              <p:nvPr/>
            </p:nvSpPr>
            <p:spPr>
              <a:xfrm>
                <a:off x="365760" y="1051560"/>
                <a:ext cx="4114800" cy="5303520"/>
              </a:xfrm>
              <a:blipFill>
                <a:blip r:embed="rId3"/>
                <a:stretch>
                  <a:fillRect/>
                </a:stretch>
              </a:blipFill>
            </p:spPr>
            <p:txBody>
              <a:bodyPr/>
              <a:lstStyle/>
              <a:p>
                <a:r>
                  <a:rPr lang="en-US">
                    <a:noFill/>
                  </a:rPr>
                  <a:t> </a:t>
                </a:r>
              </a:p>
            </p:txBody>
          </p:sp>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228600" y="128016"/>
            <a:ext cx="8686800" cy="713232"/>
          </a:xfrm>
        </p:spPr>
        <p:txBody>
          <a:bodyPr wrap="square" lIns="0" tIns="0" rIns="0" bIns="0" anchor="t">
            <a:noAutofit/>
          </a:bodyPr>
          <a:lstStyle>
            <a:lvl1pPr>
              <a:defRPr sz="2350" b="1">
                <a:solidFill>
                  <a:srgbClr val="3333B2"/>
                </a:solidFill>
                <a:latin typeface="Times New Roman"/>
              </a:defRPr>
            </a:lvl1pPr>
            <a:lvl2pPr>
              <a:defRPr sz="2350" b="1">
                <a:solidFill>
                  <a:srgbClr val="3333B2"/>
                </a:solidFill>
                <a:latin typeface="Times New Roman"/>
              </a:defRPr>
            </a:lvl2pPr>
            <a:lvl3pPr>
              <a:defRPr sz="2350" b="1">
                <a:solidFill>
                  <a:srgbClr val="3333B2"/>
                </a:solidFill>
                <a:latin typeface="Times New Roman"/>
              </a:defRPr>
            </a:lvl3pPr>
            <a:lvl4pPr>
              <a:defRPr sz="2350" b="1">
                <a:solidFill>
                  <a:srgbClr val="3333B2"/>
                </a:solidFill>
                <a:latin typeface="Times New Roman"/>
              </a:defRPr>
            </a:lvl4pPr>
            <a:lvl5pPr>
              <a:defRPr sz="2350" b="1">
                <a:solidFill>
                  <a:srgbClr val="3333B2"/>
                </a:solidFill>
                <a:latin typeface="Times New Roman"/>
              </a:defRPr>
            </a:lvl5pPr>
            <a:lvl6pPr>
              <a:defRPr sz="2350" b="1">
                <a:solidFill>
                  <a:srgbClr val="3333B2"/>
                </a:solidFill>
                <a:latin typeface="Times New Roman"/>
              </a:defRPr>
            </a:lvl6pPr>
            <a:lvl7pPr>
              <a:defRPr sz="2350" b="1">
                <a:solidFill>
                  <a:srgbClr val="3333B2"/>
                </a:solidFill>
                <a:latin typeface="Times New Roman"/>
              </a:defRPr>
            </a:lvl7pPr>
            <a:lvl8pPr>
              <a:defRPr sz="2350" b="1">
                <a:solidFill>
                  <a:srgbClr val="3333B2"/>
                </a:solidFill>
                <a:latin typeface="Times New Roman"/>
              </a:defRPr>
            </a:lvl8pPr>
            <a:lvl9pPr>
              <a:defRPr sz="2350" b="1">
                <a:solidFill>
                  <a:srgbClr val="3333B2"/>
                </a:solidFill>
                <a:latin typeface="Times New Roman"/>
              </a:defRPr>
            </a:lvl9pPr>
          </a:lstStyle>
          <a:p>
            <a:pPr marL="0" lvl="0" indent="0">
              <a:spcAft>
                <a:spcPts val="650"/>
              </a:spcAft>
              <a:buNone/>
            </a:pPr>
            <a:r>
              <a:rPr sz="2350" b="1">
                <a:solidFill>
                  <a:srgbClr val="3333B2"/>
                </a:solidFill>
                <a:latin typeface="Times New Roman"/>
              </a:rPr>
              <a:t>From NP-Hard to NP-Complete</a:t>
            </a:r>
          </a:p>
        </p:txBody>
      </p:sp>
      <mc:AlternateContent xmlns:mc="http://schemas.openxmlformats.org/markup-compatibility/2006">
        <mc:Choice xmlns:a14="http://schemas.microsoft.com/office/drawing/2010/main" Requires="a14">
          <p:sp>
            <p:nvSpPr>
              <p:cNvPr id="3" name="Content Placeholder 2"/>
              <p:cNvSpPr>
                <a:spLocks noGrp="1"/>
              </p:cNvSpPr>
              <p:nvPr/>
            </p:nvSpPr>
            <p:spPr>
              <a:xfrm>
                <a:off x="365760" y="1051560"/>
                <a:ext cx="4114800" cy="5303520"/>
              </a:xfrm>
            </p:spPr>
            <p:txBody>
              <a:bodyPr wrap="square" lIns="0" tIns="0" rIns="0" bIns="0" anchor="t">
                <a:noAutofit/>
              </a:bodyPr>
              <a:lstStyle>
                <a:lvl1pPr>
                  <a:defRPr sz="1800">
                    <a:latin typeface="Times New Roman"/>
                  </a:defRPr>
                </a:lvl1pPr>
                <a:lvl2pPr>
                  <a:defRPr sz="1800">
                    <a:latin typeface="Times New Roman"/>
                  </a:defRPr>
                </a:lvl2pPr>
                <a:lvl3pPr>
                  <a:defRPr sz="1800">
                    <a:latin typeface="Times New Roman"/>
                  </a:defRPr>
                </a:lvl3pPr>
                <a:lvl4pPr>
                  <a:defRPr sz="1800">
                    <a:latin typeface="Times New Roman"/>
                  </a:defRPr>
                </a:lvl4pPr>
                <a:lvl5pPr>
                  <a:defRPr sz="1800">
                    <a:latin typeface="Times New Roman"/>
                  </a:defRPr>
                </a:lvl5pPr>
                <a:lvl6pPr>
                  <a:defRPr sz="1800">
                    <a:latin typeface="Times New Roman"/>
                  </a:defRPr>
                </a:lvl6pPr>
                <a:lvl7pPr>
                  <a:defRPr sz="1800">
                    <a:latin typeface="Times New Roman"/>
                  </a:defRPr>
                </a:lvl7pPr>
                <a:lvl8pPr>
                  <a:defRPr sz="1800">
                    <a:latin typeface="Times New Roman"/>
                  </a:defRPr>
                </a:lvl8pPr>
                <a:lvl9pPr>
                  <a:defRPr sz="1800">
                    <a:latin typeface="Times New Roman"/>
                  </a:defRPr>
                </a:lvl9pPr>
              </a:lstStyle>
              <a:p>
                <a:pPr marL="0" lvl="0" indent="0">
                  <a:spcAft>
                    <a:spcPts val="650"/>
                  </a:spcAft>
                  <a:buNone/>
                </a:pPr>
                <a:r>
                  <a:rPr sz="1800" b="1" dirty="0">
                    <a:latin typeface="Times New Roman"/>
                  </a:rPr>
                  <a:t>NP-hard: hard for all of NP</a:t>
                </a:r>
              </a:p>
              <a:p>
                <a:pPr marL="0" lvl="0" indent="0">
                  <a:spcAft>
                    <a:spcPts val="650"/>
                  </a:spcAft>
                  <a:buNone/>
                </a:pPr>
                <a:r>
                  <a:rPr sz="1800" dirty="0">
                    <a:latin typeface="Times New Roman"/>
                  </a:rPr>
                  <a:t>A problem </a:t>
                </a:r>
                <a14:m>
                  <m:oMath xmlns:m="http://schemas.openxmlformats.org/officeDocument/2006/math">
                    <m:r>
                      <a:rPr>
                        <a:latin typeface="Cambria Math" panose="02040503050406030204" pitchFamily="18" charset="0"/>
                      </a:rPr>
                      <m:t>𝐻</m:t>
                    </m:r>
                  </m:oMath>
                </a14:m>
                <a:r>
                  <a:rPr sz="1800" dirty="0">
                    <a:latin typeface="Times New Roman"/>
                  </a:rPr>
                  <a:t> is NP-hard if</a:t>
                </a:r>
              </a:p>
              <a:p>
                <a:pPr marL="0" lvl="0" indent="0">
                  <a:spcAft>
                    <a:spcPts val="650"/>
                  </a:spcAft>
                  <a:buNone/>
                </a:pPr>
                <a14:m>
                  <m:oMathPara xmlns:m="http://schemas.openxmlformats.org/officeDocument/2006/math">
                    <m:oMathParaPr>
                      <m:jc m:val="center"/>
                    </m:oMathParaPr>
                    <m:oMath>
                      <m:r>
                        <a:rPr>
                          <a:latin typeface="Cambria Math" panose="02040503050406030204" pitchFamily="18" charset="0"/>
                        </a:rPr>
                        <m:t>∀</m:t>
                      </m:r>
                      <m:r>
                        <a:rPr>
                          <a:latin typeface="Cambria Math" panose="02040503050406030204" pitchFamily="18" charset="0"/>
                        </a:rPr>
                        <m:t>𝐿</m:t>
                      </m:r>
                      <m:r>
                        <a:rPr>
                          <a:latin typeface="Cambria Math" panose="02040503050406030204" pitchFamily="18" charset="0"/>
                        </a:rPr>
                        <m:t>∈</m:t>
                      </m:r>
                      <m:r>
                        <a:rPr>
                          <a:latin typeface="Cambria Math" panose="02040503050406030204" pitchFamily="18" charset="0"/>
                        </a:rPr>
                        <m:t>𝑁𝑃</m:t>
                      </m:r>
                      <m:r>
                        <a:rPr>
                          <a:latin typeface="Cambria Math" panose="02040503050406030204" pitchFamily="18" charset="0"/>
                        </a:rPr>
                        <m:t>,  </m:t>
                      </m:r>
                      <m:r>
                        <a:rPr>
                          <a:latin typeface="Cambria Math" panose="02040503050406030204" pitchFamily="18" charset="0"/>
                        </a:rPr>
                        <m:t>𝐿</m:t>
                      </m:r>
                      <m:sSub>
                        <m:sSubPr>
                          <m:ctrlPr>
                            <a:rPr>
                              <a:latin typeface="Cambria Math" panose="02040503050406030204" pitchFamily="18" charset="0"/>
                            </a:rPr>
                          </m:ctrlPr>
                        </m:sSubPr>
                        <m:e>
                          <m:r>
                            <a:rPr>
                              <a:latin typeface="Cambria Math" panose="02040503050406030204" pitchFamily="18" charset="0"/>
                            </a:rPr>
                            <m:t>≤</m:t>
                          </m:r>
                        </m:e>
                        <m:sub>
                          <m:r>
                            <a:rPr>
                              <a:latin typeface="Cambria Math" panose="02040503050406030204" pitchFamily="18" charset="0"/>
                            </a:rPr>
                            <m:t>𝑝</m:t>
                          </m:r>
                        </m:sub>
                      </m:sSub>
                      <m:r>
                        <a:rPr>
                          <a:latin typeface="Cambria Math" panose="02040503050406030204" pitchFamily="18" charset="0"/>
                        </a:rPr>
                        <m:t>𝐻</m:t>
                      </m:r>
                      <m:r>
                        <a:rPr>
                          <a:latin typeface="Cambria Math" panose="02040503050406030204" pitchFamily="18" charset="0"/>
                        </a:rPr>
                        <m:t>.</m:t>
                      </m:r>
                    </m:oMath>
                  </m:oMathPara>
                </a14:m>
                <a:endParaRPr sz="1800" dirty="0">
                  <a:latin typeface="Times New Roman"/>
                </a:endParaRPr>
              </a:p>
              <a:p>
                <a:pPr marL="0" lvl="0" indent="0">
                  <a:spcAft>
                    <a:spcPts val="650"/>
                  </a:spcAft>
                  <a:buNone/>
                </a:pPr>
                <a14:m>
                  <m:oMath xmlns:m="http://schemas.openxmlformats.org/officeDocument/2006/math">
                    <m:r>
                      <a:rPr>
                        <a:latin typeface="Cambria Math" panose="02040503050406030204" pitchFamily="18" charset="0"/>
                      </a:rPr>
                      <m:t>𝐿</m:t>
                    </m:r>
                    <m:sSub>
                      <m:sSubPr>
                        <m:ctrlPr>
                          <a:rPr>
                            <a:latin typeface="Cambria Math" panose="02040503050406030204" pitchFamily="18" charset="0"/>
                          </a:rPr>
                        </m:ctrlPr>
                      </m:sSubPr>
                      <m:e>
                        <m:r>
                          <a:rPr>
                            <a:latin typeface="Cambria Math" panose="02040503050406030204" pitchFamily="18" charset="0"/>
                          </a:rPr>
                          <m:t>≤</m:t>
                        </m:r>
                      </m:e>
                      <m:sub>
                        <m:r>
                          <a:rPr>
                            <a:latin typeface="Cambria Math" panose="02040503050406030204" pitchFamily="18" charset="0"/>
                          </a:rPr>
                          <m:t>𝑝</m:t>
                        </m:r>
                      </m:sub>
                    </m:sSub>
                    <m:r>
                      <a:rPr>
                        <a:latin typeface="Cambria Math" panose="02040503050406030204" pitchFamily="18" charset="0"/>
                      </a:rPr>
                      <m:t>𝐻</m:t>
                    </m:r>
                  </m:oMath>
                </a14:m>
                <a:r>
                  <a:rPr sz="1800" dirty="0">
                    <a:latin typeface="Times New Roman"/>
                  </a:rPr>
                  <a:t> means an efficient, answer-preserving translation from </a:t>
                </a:r>
                <a14:m>
                  <m:oMath xmlns:m="http://schemas.openxmlformats.org/officeDocument/2006/math">
                    <m:r>
                      <a:rPr>
                        <a:latin typeface="Cambria Math" panose="02040503050406030204" pitchFamily="18" charset="0"/>
                      </a:rPr>
                      <m:t>𝐿</m:t>
                    </m:r>
                  </m:oMath>
                </a14:m>
                <a:r>
                  <a:rPr sz="1800" dirty="0">
                    <a:latin typeface="Times New Roman"/>
                  </a:rPr>
                  <a:t> to </a:t>
                </a:r>
                <a14:m>
                  <m:oMath xmlns:m="http://schemas.openxmlformats.org/officeDocument/2006/math">
                    <m:r>
                      <a:rPr>
                        <a:latin typeface="Cambria Math" panose="02040503050406030204" pitchFamily="18" charset="0"/>
                      </a:rPr>
                      <m:t>𝐻</m:t>
                    </m:r>
                  </m:oMath>
                </a14:m>
                <a:r>
                  <a:rPr sz="1800" dirty="0">
                    <a:latin typeface="Times New Roman"/>
                  </a:rPr>
                  <a:t>. An NP-hard problem need not itself belong to NP.</a:t>
                </a:r>
                <a:endParaRPr lang="en-US" sz="1800" dirty="0">
                  <a:latin typeface="Times New Roman"/>
                </a:endParaRPr>
              </a:p>
              <a:p>
                <a:pPr marL="0" lvl="0" indent="0">
                  <a:spcAft>
                    <a:spcPts val="650"/>
                  </a:spcAft>
                  <a:buNone/>
                </a:pPr>
                <a:endParaRPr sz="1800" dirty="0">
                  <a:latin typeface="Times New Roman"/>
                </a:endParaRPr>
              </a:p>
              <a:p>
                <a:pPr marL="0" lvl="0" indent="0">
                  <a:spcAft>
                    <a:spcPts val="650"/>
                  </a:spcAft>
                  <a:buNone/>
                </a:pPr>
                <a:r>
                  <a:rPr sz="1800" b="1" dirty="0">
                    <a:latin typeface="Times New Roman"/>
                  </a:rPr>
                  <a:t>NP-complete: both properties</a:t>
                </a:r>
              </a:p>
              <a:p>
                <a:pPr marL="0" lvl="0" indent="0">
                  <a:spcAft>
                    <a:spcPts val="650"/>
                  </a:spcAft>
                  <a:buNone/>
                </a:pPr>
                <a14:m>
                  <m:oMathPara xmlns:m="http://schemas.openxmlformats.org/officeDocument/2006/math">
                    <m:oMathParaPr>
                      <m:jc m:val="center"/>
                    </m:oMathParaPr>
                    <m:oMath>
                      <m:r>
                        <a:rPr>
                          <a:latin typeface="Cambria Math" panose="02040503050406030204" pitchFamily="18" charset="0"/>
                        </a:rPr>
                        <m:t>𝐻</m:t>
                      </m:r>
                      <m:r>
                        <a:rPr>
                          <a:latin typeface="Cambria Math" panose="02040503050406030204" pitchFamily="18" charset="0"/>
                        </a:rPr>
                        <m:t>∈</m:t>
                      </m:r>
                      <m:r>
                        <a:rPr>
                          <a:latin typeface="Cambria Math" panose="02040503050406030204" pitchFamily="18" charset="0"/>
                        </a:rPr>
                        <m:t>𝑁𝑃</m:t>
                      </m:r>
                      <m:r>
                        <a:rPr>
                          <a:latin typeface="Cambria Math" panose="02040503050406030204" pitchFamily="18" charset="0"/>
                        </a:rPr>
                        <m:t> </m:t>
                      </m:r>
                      <m:r>
                        <m:rPr>
                          <m:nor/>
                        </m:rPr>
                        <a:rPr i="0"/>
                        <m:t>and</m:t>
                      </m:r>
                      <m:r>
                        <a:rPr>
                          <a:latin typeface="Cambria Math" panose="02040503050406030204" pitchFamily="18" charset="0"/>
                        </a:rPr>
                        <m:t> </m:t>
                      </m:r>
                      <m:r>
                        <a:rPr>
                          <a:latin typeface="Cambria Math" panose="02040503050406030204" pitchFamily="18" charset="0"/>
                        </a:rPr>
                        <m:t>𝐻</m:t>
                      </m:r>
                      <m:r>
                        <m:rPr>
                          <m:nor/>
                        </m:rPr>
                        <a:rPr i="0"/>
                        <m:t> is NP−hard</m:t>
                      </m:r>
                      <m:r>
                        <a:rPr>
                          <a:latin typeface="Cambria Math" panose="02040503050406030204" pitchFamily="18" charset="0"/>
                        </a:rPr>
                        <m:t>.</m:t>
                      </m:r>
                    </m:oMath>
                  </m:oMathPara>
                </a14:m>
                <a:endParaRPr sz="1800" b="1" dirty="0">
                  <a:latin typeface="Times New Roman"/>
                </a:endParaRPr>
              </a:p>
              <a:p>
                <a:pPr marL="0" lvl="0" indent="0">
                  <a:spcAft>
                    <a:spcPts val="650"/>
                  </a:spcAft>
                  <a:buNone/>
                </a:pPr>
                <a:r>
                  <a:rPr sz="1800" dirty="0">
                    <a:latin typeface="Times New Roman"/>
                  </a:rPr>
                  <a:t>These are the hardest efficiently verifiable decision problems.</a:t>
                </a:r>
              </a:p>
            </p:txBody>
          </p:sp>
        </mc:Choice>
        <mc:Fallback>
          <p:sp>
            <p:nvSpPr>
              <p:cNvPr id="3" name="Content Placeholder 2"/>
              <p:cNvSpPr>
                <a:spLocks noGrp="1" noRot="1" noChangeAspect="1" noMove="1" noResize="1" noEditPoints="1" noAdjustHandles="1" noChangeArrowheads="1" noChangeShapeType="1" noTextEdit="1"/>
              </p:cNvSpPr>
              <p:nvPr/>
            </p:nvSpPr>
            <p:spPr>
              <a:xfrm>
                <a:off x="365760" y="1051560"/>
                <a:ext cx="4114800" cy="5303520"/>
              </a:xfrm>
              <a:blipFill>
                <a:blip r:embed="rId3"/>
                <a:stretch>
                  <a:fillRect/>
                </a:stretch>
              </a:blipFill>
            </p:spPr>
            <p:txBody>
              <a:bodyPr/>
              <a:lstStyle/>
              <a:p>
                <a:r>
                  <a:rPr lang="en-US">
                    <a:noFill/>
                  </a:rPr>
                  <a:t> </a:t>
                </a:r>
              </a:p>
            </p:txBody>
          </p:sp>
        </mc:Fallback>
      </mc:AlternateContent>
      <p:pic>
        <p:nvPicPr>
          <p:cNvPr id="4" name="Picture 1" descr="editable_assets/diagram-05-1.png"/>
          <p:cNvPicPr>
            <a:picLocks noGrp="1" noChangeAspect="1"/>
          </p:cNvPicPr>
          <p:nvPr/>
        </p:nvPicPr>
        <p:blipFill>
          <a:blip r:embed="rId4"/>
          <a:srcRect l="4601" t="12386" r="6953" b="8197"/>
          <a:stretch>
            <a:fillRect/>
          </a:stretch>
        </p:blipFill>
        <p:spPr bwMode="auto">
          <a:xfrm>
            <a:off x="4709160" y="1477756"/>
            <a:ext cx="4023360" cy="2027959"/>
          </a:xfrm>
          <a:prstGeom prst="rect">
            <a:avLst/>
          </a:prstGeom>
          <a:noFill/>
          <a:ln w="9525">
            <a:noFill/>
            <a:headEnd/>
            <a:tailEnd/>
          </a:ln>
        </p:spPr>
      </p:pic>
      <mc:AlternateContent xmlns:mc="http://schemas.openxmlformats.org/markup-compatibility/2006">
        <mc:Choice xmlns:a14="http://schemas.microsoft.com/office/drawing/2010/main" Requires="a14">
          <p:sp>
            <p:nvSpPr>
              <p:cNvPr id="5" name="Content Placeholder 2"/>
              <p:cNvSpPr>
                <a:spLocks noGrp="1"/>
              </p:cNvSpPr>
              <p:nvPr/>
            </p:nvSpPr>
            <p:spPr>
              <a:xfrm>
                <a:off x="4709160" y="3886203"/>
                <a:ext cx="4023360" cy="1554480"/>
              </a:xfrm>
            </p:spPr>
            <p:txBody>
              <a:bodyPr wrap="square" lIns="0" tIns="0" rIns="0" bIns="0" anchor="t">
                <a:noAutofit/>
              </a:bodyPr>
              <a:lstStyle>
                <a:lvl1pPr>
                  <a:defRPr sz="1700">
                    <a:latin typeface="Times New Roman"/>
                  </a:defRPr>
                </a:lvl1pPr>
                <a:lvl2pPr>
                  <a:defRPr sz="1700">
                    <a:latin typeface="Times New Roman"/>
                  </a:defRPr>
                </a:lvl2pPr>
                <a:lvl3pPr>
                  <a:defRPr sz="1700">
                    <a:latin typeface="Times New Roman"/>
                  </a:defRPr>
                </a:lvl3pPr>
                <a:lvl4pPr>
                  <a:defRPr sz="1700">
                    <a:latin typeface="Times New Roman"/>
                  </a:defRPr>
                </a:lvl4pPr>
                <a:lvl5pPr>
                  <a:defRPr sz="1700">
                    <a:latin typeface="Times New Roman"/>
                  </a:defRPr>
                </a:lvl5pPr>
                <a:lvl6pPr>
                  <a:defRPr sz="1700">
                    <a:latin typeface="Times New Roman"/>
                  </a:defRPr>
                </a:lvl6pPr>
                <a:lvl7pPr>
                  <a:defRPr sz="1700">
                    <a:latin typeface="Times New Roman"/>
                  </a:defRPr>
                </a:lvl7pPr>
                <a:lvl8pPr>
                  <a:defRPr sz="1700">
                    <a:latin typeface="Times New Roman"/>
                  </a:defRPr>
                </a:lvl8pPr>
                <a:lvl9pPr>
                  <a:defRPr sz="1700">
                    <a:latin typeface="Times New Roman"/>
                  </a:defRPr>
                </a:lvl9pPr>
              </a:lstStyle>
              <a:p>
                <a:pPr marL="0" lvl="0" indent="0">
                  <a:spcAft>
                    <a:spcPts val="400"/>
                  </a:spcAft>
                  <a:buNone/>
                </a:pPr>
                <a14:m>
                  <m:oMath xmlns:m="http://schemas.openxmlformats.org/officeDocument/2006/math">
                    <m:r>
                      <a:rPr>
                        <a:latin typeface="Cambria Math" panose="02040503050406030204" pitchFamily="18" charset="0"/>
                      </a:rPr>
                      <m:t>𝑃</m:t>
                    </m:r>
                    <m:r>
                      <a:rPr>
                        <a:latin typeface="Cambria Math" panose="02040503050406030204" pitchFamily="18" charset="0"/>
                      </a:rPr>
                      <m:t>⊆</m:t>
                    </m:r>
                    <m:r>
                      <a:rPr>
                        <a:latin typeface="Cambria Math" panose="02040503050406030204" pitchFamily="18" charset="0"/>
                      </a:rPr>
                      <m:t>𝑁𝑃</m:t>
                    </m:r>
                  </m:oMath>
                </a14:m>
                <a:r>
                  <a:rPr sz="1700" dirty="0">
                    <a:latin typeface="Times New Roman"/>
                  </a:rPr>
                  <a:t> is known. The exact boundary of </a:t>
                </a:r>
                <a14:m>
                  <m:oMath xmlns:m="http://schemas.openxmlformats.org/officeDocument/2006/math">
                    <m:r>
                      <a:rPr>
                        <a:latin typeface="Cambria Math" panose="02040503050406030204" pitchFamily="18" charset="0"/>
                      </a:rPr>
                      <m:t>𝑃</m:t>
                    </m:r>
                  </m:oMath>
                </a14:m>
                <a:r>
                  <a:rPr sz="1700" dirty="0">
                    <a:latin typeface="Times New Roman"/>
                  </a:rPr>
                  <a:t> is not drawn because whether </a:t>
                </a:r>
                <a14:m>
                  <m:oMath xmlns:m="http://schemas.openxmlformats.org/officeDocument/2006/math">
                    <m:r>
                      <a:rPr>
                        <a:latin typeface="Cambria Math" panose="02040503050406030204" pitchFamily="18" charset="0"/>
                      </a:rPr>
                      <m:t>𝑃</m:t>
                    </m:r>
                    <m:r>
                      <a:rPr>
                        <a:latin typeface="Cambria Math" panose="02040503050406030204" pitchFamily="18" charset="0"/>
                      </a:rPr>
                      <m:t>=</m:t>
                    </m:r>
                    <m:r>
                      <a:rPr>
                        <a:latin typeface="Cambria Math" panose="02040503050406030204" pitchFamily="18" charset="0"/>
                      </a:rPr>
                      <m:t>𝑁𝑃</m:t>
                    </m:r>
                  </m:oMath>
                </a14:m>
                <a:r>
                  <a:rPr sz="1700" dirty="0">
                    <a:latin typeface="Times New Roman"/>
                  </a:rPr>
                  <a:t> is open.</a:t>
                </a:r>
              </a:p>
              <a:p>
                <a:pPr marL="0" lvl="0" indent="0" algn="ctr">
                  <a:spcAft>
                    <a:spcPts val="400"/>
                  </a:spcAft>
                  <a:buNone/>
                </a:pPr>
                <a:endParaRPr lang="en-US" sz="1700" b="1" dirty="0">
                  <a:latin typeface="Times New Roman"/>
                </a:endParaRPr>
              </a:p>
              <a:p>
                <a:pPr marL="0" lvl="0" indent="0" algn="ctr">
                  <a:spcAft>
                    <a:spcPts val="400"/>
                  </a:spcAft>
                  <a:buNone/>
                </a:pPr>
                <a:r>
                  <a:rPr sz="1700" b="1" dirty="0">
                    <a:latin typeface="Times New Roman"/>
                  </a:rPr>
                  <a:t>If one NP-complete problem is in </a:t>
                </a:r>
                <a14:m>
                  <m:oMath xmlns:m="http://schemas.openxmlformats.org/officeDocument/2006/math">
                    <m:r>
                      <a:rPr>
                        <a:latin typeface="Cambria Math" panose="02040503050406030204" pitchFamily="18" charset="0"/>
                      </a:rPr>
                      <m:t>𝑃</m:t>
                    </m:r>
                  </m:oMath>
                </a14:m>
                <a:r>
                  <a:rPr sz="1700" b="1" dirty="0">
                    <a:latin typeface="Times New Roman"/>
                  </a:rPr>
                  <a:t>, </a:t>
                </a:r>
                <a:endParaRPr lang="en-US" sz="1700" b="1" dirty="0">
                  <a:latin typeface="Times New Roman"/>
                </a:endParaRPr>
              </a:p>
              <a:p>
                <a:pPr marL="0" lvl="0" indent="0" algn="ctr">
                  <a:spcAft>
                    <a:spcPts val="400"/>
                  </a:spcAft>
                  <a:buNone/>
                </a:pPr>
                <a:r>
                  <a:rPr sz="1700" b="1" dirty="0">
                    <a:latin typeface="Times New Roman"/>
                  </a:rPr>
                  <a:t>then </a:t>
                </a:r>
                <a14:m>
                  <m:oMath xmlns:m="http://schemas.openxmlformats.org/officeDocument/2006/math">
                    <m:r>
                      <a:rPr>
                        <a:latin typeface="Cambria Math" panose="02040503050406030204" pitchFamily="18" charset="0"/>
                      </a:rPr>
                      <m:t>𝑃</m:t>
                    </m:r>
                    <m:r>
                      <a:rPr>
                        <a:latin typeface="Cambria Math" panose="02040503050406030204" pitchFamily="18" charset="0"/>
                      </a:rPr>
                      <m:t>=</m:t>
                    </m:r>
                    <m:r>
                      <a:rPr>
                        <a:latin typeface="Cambria Math" panose="02040503050406030204" pitchFamily="18" charset="0"/>
                      </a:rPr>
                      <m:t>𝑁𝑃</m:t>
                    </m:r>
                  </m:oMath>
                </a14:m>
                <a:r>
                  <a:rPr sz="1700" b="1" dirty="0">
                    <a:latin typeface="Times New Roman"/>
                  </a:rPr>
                  <a:t>.</a:t>
                </a:r>
              </a:p>
            </p:txBody>
          </p:sp>
        </mc:Choice>
        <mc:Fallback>
          <p:sp>
            <p:nvSpPr>
              <p:cNvPr id="5" name="Content Placeholder 2"/>
              <p:cNvSpPr>
                <a:spLocks noGrp="1" noRot="1" noChangeAspect="1" noMove="1" noResize="1" noEditPoints="1" noAdjustHandles="1" noChangeArrowheads="1" noChangeShapeType="1" noTextEdit="1"/>
              </p:cNvSpPr>
              <p:nvPr/>
            </p:nvSpPr>
            <p:spPr>
              <a:xfrm>
                <a:off x="4709160" y="3886203"/>
                <a:ext cx="4023360" cy="1554480"/>
              </a:xfrm>
              <a:blipFill>
                <a:blip r:embed="rId5"/>
                <a:stretch>
                  <a:fillRect/>
                </a:stretch>
              </a:blipFill>
            </p:spPr>
            <p:txBody>
              <a:bodyPr/>
              <a:lstStyle/>
              <a:p>
                <a:r>
                  <a:rPr lang="en-US">
                    <a:noFill/>
                  </a:rPr>
                  <a:t> </a:t>
                </a:r>
              </a:p>
            </p:txBody>
          </p:sp>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228600" y="128016"/>
            <a:ext cx="8686800" cy="713232"/>
          </a:xfrm>
        </p:spPr>
        <p:txBody>
          <a:bodyPr wrap="square" lIns="0" tIns="0" rIns="0" bIns="0" anchor="t">
            <a:noAutofit/>
          </a:bodyPr>
          <a:lstStyle>
            <a:lvl1pPr>
              <a:defRPr sz="2350" b="1">
                <a:solidFill>
                  <a:srgbClr val="3333B2"/>
                </a:solidFill>
                <a:latin typeface="Times New Roman"/>
              </a:defRPr>
            </a:lvl1pPr>
            <a:lvl2pPr>
              <a:defRPr sz="2350" b="1">
                <a:solidFill>
                  <a:srgbClr val="3333B2"/>
                </a:solidFill>
                <a:latin typeface="Times New Roman"/>
              </a:defRPr>
            </a:lvl2pPr>
            <a:lvl3pPr>
              <a:defRPr sz="2350" b="1">
                <a:solidFill>
                  <a:srgbClr val="3333B2"/>
                </a:solidFill>
                <a:latin typeface="Times New Roman"/>
              </a:defRPr>
            </a:lvl3pPr>
            <a:lvl4pPr>
              <a:defRPr sz="2350" b="1">
                <a:solidFill>
                  <a:srgbClr val="3333B2"/>
                </a:solidFill>
                <a:latin typeface="Times New Roman"/>
              </a:defRPr>
            </a:lvl4pPr>
            <a:lvl5pPr>
              <a:defRPr sz="2350" b="1">
                <a:solidFill>
                  <a:srgbClr val="3333B2"/>
                </a:solidFill>
                <a:latin typeface="Times New Roman"/>
              </a:defRPr>
            </a:lvl5pPr>
            <a:lvl6pPr>
              <a:defRPr sz="2350" b="1">
                <a:solidFill>
                  <a:srgbClr val="3333B2"/>
                </a:solidFill>
                <a:latin typeface="Times New Roman"/>
              </a:defRPr>
            </a:lvl6pPr>
            <a:lvl7pPr>
              <a:defRPr sz="2350" b="1">
                <a:solidFill>
                  <a:srgbClr val="3333B2"/>
                </a:solidFill>
                <a:latin typeface="Times New Roman"/>
              </a:defRPr>
            </a:lvl7pPr>
            <a:lvl8pPr>
              <a:defRPr sz="2350" b="1">
                <a:solidFill>
                  <a:srgbClr val="3333B2"/>
                </a:solidFill>
                <a:latin typeface="Times New Roman"/>
              </a:defRPr>
            </a:lvl8pPr>
            <a:lvl9pPr>
              <a:defRPr sz="2350" b="1">
                <a:solidFill>
                  <a:srgbClr val="3333B2"/>
                </a:solidFill>
                <a:latin typeface="Times New Roman"/>
              </a:defRPr>
            </a:lvl9pPr>
          </a:lstStyle>
          <a:p>
            <a:pPr marL="0" lvl="0" indent="0">
              <a:spcAft>
                <a:spcPts val="650"/>
              </a:spcAft>
              <a:buNone/>
            </a:pPr>
            <a:r>
              <a:rPr sz="2350" b="1">
                <a:solidFill>
                  <a:srgbClr val="3333B2"/>
                </a:solidFill>
                <a:latin typeface="Times New Roman"/>
              </a:rPr>
              <a:t>Polynomial-Time Reduction: an Answer-Preserving Translator</a:t>
            </a:r>
          </a:p>
        </p:txBody>
      </p:sp>
      <p:pic>
        <p:nvPicPr>
          <p:cNvPr id="3" name="Picture 1" descr="editable_assets/diagram-06-1.png"/>
          <p:cNvPicPr>
            <a:picLocks noGrp="1" noChangeAspect="1"/>
          </p:cNvPicPr>
          <p:nvPr/>
        </p:nvPicPr>
        <p:blipFill>
          <a:blip r:embed="rId3"/>
          <a:srcRect l="2460" t="18443" r="2460" b="18852"/>
          <a:stretch>
            <a:fillRect/>
          </a:stretch>
        </p:blipFill>
        <p:spPr bwMode="auto">
          <a:xfrm>
            <a:off x="457200" y="1035949"/>
            <a:ext cx="8229600" cy="891324"/>
          </a:xfrm>
          <a:prstGeom prst="rect">
            <a:avLst/>
          </a:prstGeom>
          <a:noFill/>
          <a:ln w="9525">
            <a:noFill/>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228600" y="128016"/>
            <a:ext cx="8686800" cy="713232"/>
          </a:xfrm>
        </p:spPr>
        <p:txBody>
          <a:bodyPr wrap="square" lIns="0" tIns="0" rIns="0" bIns="0" anchor="t">
            <a:noAutofit/>
          </a:bodyPr>
          <a:lstStyle>
            <a:lvl1pPr>
              <a:defRPr sz="2350" b="1">
                <a:solidFill>
                  <a:srgbClr val="3333B2"/>
                </a:solidFill>
                <a:latin typeface="Times New Roman"/>
              </a:defRPr>
            </a:lvl1pPr>
            <a:lvl2pPr>
              <a:defRPr sz="2350" b="1">
                <a:solidFill>
                  <a:srgbClr val="3333B2"/>
                </a:solidFill>
                <a:latin typeface="Times New Roman"/>
              </a:defRPr>
            </a:lvl2pPr>
            <a:lvl3pPr>
              <a:defRPr sz="2350" b="1">
                <a:solidFill>
                  <a:srgbClr val="3333B2"/>
                </a:solidFill>
                <a:latin typeface="Times New Roman"/>
              </a:defRPr>
            </a:lvl3pPr>
            <a:lvl4pPr>
              <a:defRPr sz="2350" b="1">
                <a:solidFill>
                  <a:srgbClr val="3333B2"/>
                </a:solidFill>
                <a:latin typeface="Times New Roman"/>
              </a:defRPr>
            </a:lvl4pPr>
            <a:lvl5pPr>
              <a:defRPr sz="2350" b="1">
                <a:solidFill>
                  <a:srgbClr val="3333B2"/>
                </a:solidFill>
                <a:latin typeface="Times New Roman"/>
              </a:defRPr>
            </a:lvl5pPr>
            <a:lvl6pPr>
              <a:defRPr sz="2350" b="1">
                <a:solidFill>
                  <a:srgbClr val="3333B2"/>
                </a:solidFill>
                <a:latin typeface="Times New Roman"/>
              </a:defRPr>
            </a:lvl6pPr>
            <a:lvl7pPr>
              <a:defRPr sz="2350" b="1">
                <a:solidFill>
                  <a:srgbClr val="3333B2"/>
                </a:solidFill>
                <a:latin typeface="Times New Roman"/>
              </a:defRPr>
            </a:lvl7pPr>
            <a:lvl8pPr>
              <a:defRPr sz="2350" b="1">
                <a:solidFill>
                  <a:srgbClr val="3333B2"/>
                </a:solidFill>
                <a:latin typeface="Times New Roman"/>
              </a:defRPr>
            </a:lvl8pPr>
            <a:lvl9pPr>
              <a:defRPr sz="2350" b="1">
                <a:solidFill>
                  <a:srgbClr val="3333B2"/>
                </a:solidFill>
                <a:latin typeface="Times New Roman"/>
              </a:defRPr>
            </a:lvl9pPr>
          </a:lstStyle>
          <a:p>
            <a:pPr marL="0" lvl="0" indent="0">
              <a:spcAft>
                <a:spcPts val="650"/>
              </a:spcAft>
              <a:buNone/>
            </a:pPr>
            <a:r>
              <a:rPr sz="2350" b="1">
                <a:solidFill>
                  <a:srgbClr val="3333B2"/>
                </a:solidFill>
                <a:latin typeface="Times New Roman"/>
              </a:rPr>
              <a:t>Polynomial-Time Reduction: an Answer-Preserving Translator</a:t>
            </a:r>
          </a:p>
        </p:txBody>
      </p:sp>
      <mc:AlternateContent xmlns:mc="http://schemas.openxmlformats.org/markup-compatibility/2006">
        <mc:Choice xmlns:a14="http://schemas.microsoft.com/office/drawing/2010/main" Requires="a14">
          <p:sp>
            <p:nvSpPr>
              <p:cNvPr id="4" name="Content Placeholder 2"/>
              <p:cNvSpPr>
                <a:spLocks noGrp="1"/>
              </p:cNvSpPr>
              <p:nvPr/>
            </p:nvSpPr>
            <p:spPr>
              <a:xfrm>
                <a:off x="365760" y="2103120"/>
                <a:ext cx="4069080" cy="4206240"/>
              </a:xfrm>
            </p:spPr>
            <p:txBody>
              <a:bodyPr wrap="square" lIns="0" tIns="0" rIns="0" bIns="0" anchor="t">
                <a:noAutofit/>
              </a:bodyPr>
              <a:lstStyle>
                <a:lvl1pPr>
                  <a:defRPr sz="1800">
                    <a:latin typeface="Times New Roman"/>
                  </a:defRPr>
                </a:lvl1pPr>
                <a:lvl2pPr>
                  <a:defRPr sz="1800">
                    <a:latin typeface="Times New Roman"/>
                  </a:defRPr>
                </a:lvl2pPr>
                <a:lvl3pPr>
                  <a:defRPr sz="1800">
                    <a:latin typeface="Times New Roman"/>
                  </a:defRPr>
                </a:lvl3pPr>
                <a:lvl4pPr>
                  <a:defRPr sz="1800">
                    <a:latin typeface="Times New Roman"/>
                  </a:defRPr>
                </a:lvl4pPr>
                <a:lvl5pPr>
                  <a:defRPr sz="1800">
                    <a:latin typeface="Times New Roman"/>
                  </a:defRPr>
                </a:lvl5pPr>
                <a:lvl6pPr>
                  <a:defRPr sz="1800">
                    <a:latin typeface="Times New Roman"/>
                  </a:defRPr>
                </a:lvl6pPr>
                <a:lvl7pPr>
                  <a:defRPr sz="1800">
                    <a:latin typeface="Times New Roman"/>
                  </a:defRPr>
                </a:lvl7pPr>
                <a:lvl8pPr>
                  <a:defRPr sz="1800">
                    <a:latin typeface="Times New Roman"/>
                  </a:defRPr>
                </a:lvl8pPr>
                <a:lvl9pPr>
                  <a:defRPr sz="1800">
                    <a:latin typeface="Times New Roman"/>
                  </a:defRPr>
                </a:lvl9pPr>
              </a:lstStyle>
              <a:p>
                <a:pPr marL="0" lvl="0" indent="0">
                  <a:spcAft>
                    <a:spcPts val="650"/>
                  </a:spcAft>
                  <a:buNone/>
                </a:pPr>
                <a:r>
                  <a:rPr sz="1800" b="1" dirty="0">
                    <a:latin typeface="Times New Roman"/>
                  </a:rPr>
                  <a:t>Formal meaning</a:t>
                </a:r>
              </a:p>
              <a:p>
                <a:pPr marL="0" lvl="0" indent="0">
                  <a:spcAft>
                    <a:spcPts val="650"/>
                  </a:spcAft>
                  <a:buNone/>
                </a:pPr>
                <a14:m>
                  <m:oMath xmlns:m="http://schemas.openxmlformats.org/officeDocument/2006/math">
                    <m:r>
                      <a:rPr>
                        <a:latin typeface="Cambria Math" panose="02040503050406030204" pitchFamily="18" charset="0"/>
                      </a:rPr>
                      <m:t>𝐴</m:t>
                    </m:r>
                    <m:sSub>
                      <m:sSubPr>
                        <m:ctrlPr>
                          <a:rPr>
                            <a:latin typeface="Cambria Math" panose="02040503050406030204" pitchFamily="18" charset="0"/>
                          </a:rPr>
                        </m:ctrlPr>
                      </m:sSubPr>
                      <m:e>
                        <m:r>
                          <a:rPr>
                            <a:latin typeface="Cambria Math" panose="02040503050406030204" pitchFamily="18" charset="0"/>
                          </a:rPr>
                          <m:t>≤</m:t>
                        </m:r>
                      </m:e>
                      <m:sub>
                        <m:r>
                          <a:rPr>
                            <a:latin typeface="Cambria Math" panose="02040503050406030204" pitchFamily="18" charset="0"/>
                          </a:rPr>
                          <m:t>𝑝</m:t>
                        </m:r>
                      </m:sub>
                    </m:sSub>
                    <m:r>
                      <a:rPr>
                        <a:latin typeface="Cambria Math" panose="02040503050406030204" pitchFamily="18" charset="0"/>
                      </a:rPr>
                      <m:t>𝐵</m:t>
                    </m:r>
                  </m:oMath>
                </a14:m>
                <a:r>
                  <a:rPr sz="1800" dirty="0">
                    <a:latin typeface="Times New Roman"/>
                  </a:rPr>
                  <a:t>: there exists a polynomial-time computable function </a:t>
                </a:r>
                <a14:m>
                  <m:oMath xmlns:m="http://schemas.openxmlformats.org/officeDocument/2006/math">
                    <m:r>
                      <a:rPr>
                        <a:latin typeface="Cambria Math" panose="02040503050406030204" pitchFamily="18" charset="0"/>
                      </a:rPr>
                      <m:t>𝑓</m:t>
                    </m:r>
                  </m:oMath>
                </a14:m>
                <a:r>
                  <a:rPr sz="1800" dirty="0">
                    <a:latin typeface="Times New Roman"/>
                  </a:rPr>
                  <a:t> such that</a:t>
                </a:r>
              </a:p>
              <a:p>
                <a:pPr marL="0" lvl="0" indent="0">
                  <a:spcAft>
                    <a:spcPts val="650"/>
                  </a:spcAft>
                  <a:buNone/>
                </a:pPr>
                <a14:m>
                  <m:oMathPara xmlns:m="http://schemas.openxmlformats.org/officeDocument/2006/math">
                    <m:oMathParaPr>
                      <m:jc m:val="center"/>
                    </m:oMathParaPr>
                    <m:oMath>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,  </m:t>
                      </m:r>
                      <m:r>
                        <a:rPr>
                          <a:latin typeface="Cambria Math" panose="02040503050406030204" pitchFamily="18" charset="0"/>
                        </a:rPr>
                        <m:t>𝑥</m:t>
                      </m:r>
                      <m:r>
                        <a:rPr>
                          <a:latin typeface="Cambria Math" panose="02040503050406030204" pitchFamily="18" charset="0"/>
                        </a:rPr>
                        <m:t>∈</m:t>
                      </m:r>
                      <m:r>
                        <a:rPr>
                          <a:latin typeface="Cambria Math" panose="02040503050406030204" pitchFamily="18" charset="0"/>
                        </a:rPr>
                        <m:t>𝐴</m:t>
                      </m:r>
                      <m:r>
                        <a:rPr>
                          <a:latin typeface="Cambria Math" panose="02040503050406030204" pitchFamily="18" charset="0"/>
                        </a:rPr>
                        <m:t>⇔</m:t>
                      </m:r>
                      <m:r>
                        <a:rPr>
                          <a:latin typeface="Cambria Math" panose="02040503050406030204" pitchFamily="18" charset="0"/>
                        </a:rPr>
                        <m:t>𝑓</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r>
                        <a:rPr>
                          <a:latin typeface="Cambria Math" panose="02040503050406030204" pitchFamily="18" charset="0"/>
                        </a:rPr>
                        <m:t>𝐵</m:t>
                      </m:r>
                      <m:r>
                        <a:rPr>
                          <a:latin typeface="Cambria Math" panose="02040503050406030204" pitchFamily="18" charset="0"/>
                        </a:rPr>
                        <m:t>.</m:t>
                      </m:r>
                    </m:oMath>
                  </m:oMathPara>
                </a14:m>
                <a:endParaRPr sz="1800" dirty="0">
                  <a:latin typeface="Times New Roman"/>
                </a:endParaRPr>
              </a:p>
              <a:p>
                <a:pPr marL="0" lvl="0" indent="0">
                  <a:spcAft>
                    <a:spcPts val="650"/>
                  </a:spcAft>
                  <a:buNone/>
                </a:pPr>
                <a:r>
                  <a:rPr sz="1800" dirty="0">
                    <a:latin typeface="Times New Roman"/>
                  </a:rPr>
                  <a:t>A solver for </a:t>
                </a:r>
                <a14:m>
                  <m:oMath xmlns:m="http://schemas.openxmlformats.org/officeDocument/2006/math">
                    <m:r>
                      <a:rPr>
                        <a:latin typeface="Cambria Math" panose="02040503050406030204" pitchFamily="18" charset="0"/>
                      </a:rPr>
                      <m:t>𝐵</m:t>
                    </m:r>
                  </m:oMath>
                </a14:m>
                <a:r>
                  <a:rPr sz="1800" dirty="0">
                    <a:latin typeface="Times New Roman"/>
                  </a:rPr>
                  <a:t> would also solve </a:t>
                </a:r>
                <a14:m>
                  <m:oMath xmlns:m="http://schemas.openxmlformats.org/officeDocument/2006/math">
                    <m:r>
                      <a:rPr>
                        <a:latin typeface="Cambria Math" panose="02040503050406030204" pitchFamily="18" charset="0"/>
                      </a:rPr>
                      <m:t>𝐴</m:t>
                    </m:r>
                  </m:oMath>
                </a14:m>
                <a:r>
                  <a:rPr sz="1800" dirty="0">
                    <a:latin typeface="Times New Roman"/>
                  </a:rPr>
                  <a:t>: </a:t>
                </a:r>
                <a14:m>
                  <m:oMath xmlns:m="http://schemas.openxmlformats.org/officeDocument/2006/math">
                    <m:r>
                      <a:rPr>
                        <a:latin typeface="Cambria Math" panose="02040503050406030204" pitchFamily="18" charset="0"/>
                      </a:rPr>
                      <m:t>𝐵</m:t>
                    </m:r>
                  </m:oMath>
                </a14:m>
                <a:r>
                  <a:rPr sz="1800" dirty="0">
                    <a:latin typeface="Times New Roman"/>
                  </a:rPr>
                  <a:t> is at least as hard as </a:t>
                </a:r>
                <a14:m>
                  <m:oMath xmlns:m="http://schemas.openxmlformats.org/officeDocument/2006/math">
                    <m:r>
                      <a:rPr>
                        <a:latin typeface="Cambria Math" panose="02040503050406030204" pitchFamily="18" charset="0"/>
                      </a:rPr>
                      <m:t>𝐴</m:t>
                    </m:r>
                  </m:oMath>
                </a14:m>
                <a:r>
                  <a:rPr sz="1800" dirty="0">
                    <a:latin typeface="Times New Roman"/>
                  </a:rPr>
                  <a:t>.</a:t>
                </a:r>
                <a:endParaRPr lang="en-US" sz="1800" dirty="0">
                  <a:latin typeface="Times New Roman"/>
                </a:endParaRPr>
              </a:p>
              <a:p>
                <a:pPr marL="0" lvl="0" indent="0">
                  <a:spcAft>
                    <a:spcPts val="650"/>
                  </a:spcAft>
                  <a:buNone/>
                </a:pPr>
                <a:endParaRPr sz="1800" dirty="0">
                  <a:latin typeface="Times New Roman"/>
                </a:endParaRPr>
              </a:p>
              <a:p>
                <a:pPr marL="0" lvl="0" indent="0">
                  <a:spcAft>
                    <a:spcPts val="650"/>
                  </a:spcAft>
                  <a:buNone/>
                </a:pPr>
                <a:r>
                  <a:rPr sz="1800" b="1" dirty="0">
                    <a:latin typeface="Times New Roman"/>
                  </a:rPr>
                  <a:t>To prove </a:t>
                </a:r>
                <a14:m>
                  <m:oMath xmlns:m="http://schemas.openxmlformats.org/officeDocument/2006/math">
                    <m:r>
                      <a:rPr>
                        <a:latin typeface="Cambria Math" panose="02040503050406030204" pitchFamily="18" charset="0"/>
                      </a:rPr>
                      <m:t>𝐵</m:t>
                    </m:r>
                  </m:oMath>
                </a14:m>
                <a:r>
                  <a:rPr sz="1800" b="1" dirty="0">
                    <a:latin typeface="Times New Roman"/>
                  </a:rPr>
                  <a:t> hard:</a:t>
                </a:r>
                <a:r>
                  <a:rPr sz="1800" dirty="0">
                    <a:latin typeface="Times New Roman"/>
                  </a:rPr>
                  <a:t> </a:t>
                </a:r>
                <a:endParaRPr lang="en-US" sz="1800" dirty="0">
                  <a:latin typeface="Times New Roman"/>
                </a:endParaRPr>
              </a:p>
              <a:p>
                <a:pPr marL="0" lvl="0" indent="0">
                  <a:spcAft>
                    <a:spcPts val="650"/>
                  </a:spcAft>
                  <a:buNone/>
                </a:pPr>
                <a:r>
                  <a:rPr sz="1800" dirty="0">
                    <a:latin typeface="Times New Roman"/>
                  </a:rPr>
                  <a:t>known hard </a:t>
                </a:r>
                <a14:m>
                  <m:oMath xmlns:m="http://schemas.openxmlformats.org/officeDocument/2006/math">
                    <m:r>
                      <a:rPr>
                        <a:latin typeface="Cambria Math" panose="02040503050406030204" pitchFamily="18" charset="0"/>
                      </a:rPr>
                      <m:t>𝐴</m:t>
                    </m:r>
                    <m:r>
                      <a:rPr>
                        <a:latin typeface="Cambria Math" panose="02040503050406030204" pitchFamily="18" charset="0"/>
                      </a:rPr>
                      <m:t>→</m:t>
                    </m:r>
                  </m:oMath>
                </a14:m>
                <a:r>
                  <a:rPr sz="1800" dirty="0">
                    <a:latin typeface="Times New Roman"/>
                  </a:rPr>
                  <a:t> target </a:t>
                </a:r>
                <a14:m>
                  <m:oMath xmlns:m="http://schemas.openxmlformats.org/officeDocument/2006/math">
                    <m:r>
                      <a:rPr>
                        <a:latin typeface="Cambria Math" panose="02040503050406030204" pitchFamily="18" charset="0"/>
                      </a:rPr>
                      <m:t>𝐵</m:t>
                    </m:r>
                  </m:oMath>
                </a14:m>
                <a:r>
                  <a:rPr sz="1800" dirty="0">
                    <a:latin typeface="Times New Roman"/>
                  </a:rPr>
                  <a:t>.</a:t>
                </a:r>
              </a:p>
            </p:txBody>
          </p:sp>
        </mc:Choice>
        <mc:Fallback>
          <p:sp>
            <p:nvSpPr>
              <p:cNvPr id="4" name="Content Placeholder 2"/>
              <p:cNvSpPr>
                <a:spLocks noGrp="1" noRot="1" noChangeAspect="1" noMove="1" noResize="1" noEditPoints="1" noAdjustHandles="1" noChangeArrowheads="1" noChangeShapeType="1" noTextEdit="1"/>
              </p:cNvSpPr>
              <p:nvPr/>
            </p:nvSpPr>
            <p:spPr>
              <a:xfrm>
                <a:off x="365760" y="2103120"/>
                <a:ext cx="4069080" cy="4206240"/>
              </a:xfrm>
              <a:blipFill>
                <a:blip r:embed="rId3"/>
                <a:stretch>
                  <a:fillRect/>
                </a:stretch>
              </a:blipFill>
            </p:spPr>
            <p:txBody>
              <a:bodyPr/>
              <a:lstStyle/>
              <a:p>
                <a:r>
                  <a:rPr lang="en-US">
                    <a:noFill/>
                  </a:rPr>
                  <a:t> </a:t>
                </a:r>
              </a:p>
            </p:txBody>
          </p:sp>
        </mc:Fallback>
      </mc:AlternateContent>
      <p:pic>
        <p:nvPicPr>
          <p:cNvPr id="6" name="Picture 1" descr="editable_assets/diagram-06-1.png">
            <a:extLst>
              <a:ext uri="{FF2B5EF4-FFF2-40B4-BE49-F238E27FC236}">
                <a16:creationId xmlns:a16="http://schemas.microsoft.com/office/drawing/2014/main" id="{AFF75EAE-FD8A-F4D5-93BE-3C9C922BFBAF}"/>
              </a:ext>
            </a:extLst>
          </p:cNvPr>
          <p:cNvPicPr>
            <a:picLocks noGrp="1" noChangeAspect="1"/>
          </p:cNvPicPr>
          <p:nvPr/>
        </p:nvPicPr>
        <p:blipFill>
          <a:blip r:embed="rId4"/>
          <a:srcRect l="2460" t="18443" r="2460" b="18852"/>
          <a:stretch>
            <a:fillRect/>
          </a:stretch>
        </p:blipFill>
        <p:spPr bwMode="auto">
          <a:xfrm>
            <a:off x="457200" y="1035949"/>
            <a:ext cx="8229600" cy="891324"/>
          </a:xfrm>
          <a:prstGeom prst="rect">
            <a:avLst/>
          </a:prstGeom>
          <a:noFill/>
          <a:ln w="9525">
            <a:noFill/>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228600" y="128016"/>
            <a:ext cx="8686800" cy="713232"/>
          </a:xfrm>
        </p:spPr>
        <p:txBody>
          <a:bodyPr wrap="square" lIns="0" tIns="0" rIns="0" bIns="0" anchor="t">
            <a:noAutofit/>
          </a:bodyPr>
          <a:lstStyle>
            <a:lvl1pPr>
              <a:defRPr sz="2350" b="1">
                <a:solidFill>
                  <a:srgbClr val="3333B2"/>
                </a:solidFill>
                <a:latin typeface="Times New Roman"/>
              </a:defRPr>
            </a:lvl1pPr>
            <a:lvl2pPr>
              <a:defRPr sz="2350" b="1">
                <a:solidFill>
                  <a:srgbClr val="3333B2"/>
                </a:solidFill>
                <a:latin typeface="Times New Roman"/>
              </a:defRPr>
            </a:lvl2pPr>
            <a:lvl3pPr>
              <a:defRPr sz="2350" b="1">
                <a:solidFill>
                  <a:srgbClr val="3333B2"/>
                </a:solidFill>
                <a:latin typeface="Times New Roman"/>
              </a:defRPr>
            </a:lvl3pPr>
            <a:lvl4pPr>
              <a:defRPr sz="2350" b="1">
                <a:solidFill>
                  <a:srgbClr val="3333B2"/>
                </a:solidFill>
                <a:latin typeface="Times New Roman"/>
              </a:defRPr>
            </a:lvl4pPr>
            <a:lvl5pPr>
              <a:defRPr sz="2350" b="1">
                <a:solidFill>
                  <a:srgbClr val="3333B2"/>
                </a:solidFill>
                <a:latin typeface="Times New Roman"/>
              </a:defRPr>
            </a:lvl5pPr>
            <a:lvl6pPr>
              <a:defRPr sz="2350" b="1">
                <a:solidFill>
                  <a:srgbClr val="3333B2"/>
                </a:solidFill>
                <a:latin typeface="Times New Roman"/>
              </a:defRPr>
            </a:lvl6pPr>
            <a:lvl7pPr>
              <a:defRPr sz="2350" b="1">
                <a:solidFill>
                  <a:srgbClr val="3333B2"/>
                </a:solidFill>
                <a:latin typeface="Times New Roman"/>
              </a:defRPr>
            </a:lvl7pPr>
            <a:lvl8pPr>
              <a:defRPr sz="2350" b="1">
                <a:solidFill>
                  <a:srgbClr val="3333B2"/>
                </a:solidFill>
                <a:latin typeface="Times New Roman"/>
              </a:defRPr>
            </a:lvl8pPr>
            <a:lvl9pPr>
              <a:defRPr sz="2350" b="1">
                <a:solidFill>
                  <a:srgbClr val="3333B2"/>
                </a:solidFill>
                <a:latin typeface="Times New Roman"/>
              </a:defRPr>
            </a:lvl9pPr>
          </a:lstStyle>
          <a:p>
            <a:pPr marL="0" lvl="0" indent="0">
              <a:spcAft>
                <a:spcPts val="650"/>
              </a:spcAft>
              <a:buNone/>
            </a:pPr>
            <a:r>
              <a:rPr sz="2350" b="1">
                <a:solidFill>
                  <a:srgbClr val="3333B2"/>
                </a:solidFill>
                <a:latin typeface="Times New Roman"/>
              </a:rPr>
              <a:t>Polynomial-Time Reduction: an Answer-Preserving Translator</a:t>
            </a:r>
          </a:p>
        </p:txBody>
      </p:sp>
      <mc:AlternateContent xmlns:mc="http://schemas.openxmlformats.org/markup-compatibility/2006">
        <mc:Choice xmlns:a14="http://schemas.microsoft.com/office/drawing/2010/main" Requires="a14">
          <p:sp>
            <p:nvSpPr>
              <p:cNvPr id="4" name="Content Placeholder 2"/>
              <p:cNvSpPr>
                <a:spLocks noGrp="1"/>
              </p:cNvSpPr>
              <p:nvPr/>
            </p:nvSpPr>
            <p:spPr>
              <a:xfrm>
                <a:off x="365760" y="2103120"/>
                <a:ext cx="4069080" cy="4206240"/>
              </a:xfrm>
            </p:spPr>
            <p:txBody>
              <a:bodyPr wrap="square" lIns="0" tIns="0" rIns="0" bIns="0" anchor="t">
                <a:noAutofit/>
              </a:bodyPr>
              <a:lstStyle>
                <a:lvl1pPr>
                  <a:defRPr sz="1800">
                    <a:latin typeface="Times New Roman"/>
                  </a:defRPr>
                </a:lvl1pPr>
                <a:lvl2pPr>
                  <a:defRPr sz="1800">
                    <a:latin typeface="Times New Roman"/>
                  </a:defRPr>
                </a:lvl2pPr>
                <a:lvl3pPr>
                  <a:defRPr sz="1800">
                    <a:latin typeface="Times New Roman"/>
                  </a:defRPr>
                </a:lvl3pPr>
                <a:lvl4pPr>
                  <a:defRPr sz="1800">
                    <a:latin typeface="Times New Roman"/>
                  </a:defRPr>
                </a:lvl4pPr>
                <a:lvl5pPr>
                  <a:defRPr sz="1800">
                    <a:latin typeface="Times New Roman"/>
                  </a:defRPr>
                </a:lvl5pPr>
                <a:lvl6pPr>
                  <a:defRPr sz="1800">
                    <a:latin typeface="Times New Roman"/>
                  </a:defRPr>
                </a:lvl6pPr>
                <a:lvl7pPr>
                  <a:defRPr sz="1800">
                    <a:latin typeface="Times New Roman"/>
                  </a:defRPr>
                </a:lvl7pPr>
                <a:lvl8pPr>
                  <a:defRPr sz="1800">
                    <a:latin typeface="Times New Roman"/>
                  </a:defRPr>
                </a:lvl8pPr>
                <a:lvl9pPr>
                  <a:defRPr sz="1800">
                    <a:latin typeface="Times New Roman"/>
                  </a:defRPr>
                </a:lvl9pPr>
              </a:lstStyle>
              <a:p>
                <a:pPr marL="0" lvl="0" indent="0">
                  <a:spcAft>
                    <a:spcPts val="650"/>
                  </a:spcAft>
                  <a:buNone/>
                </a:pPr>
                <a:r>
                  <a:rPr sz="1800" b="1" dirty="0">
                    <a:latin typeface="Times New Roman"/>
                  </a:rPr>
                  <a:t>Formal meaning</a:t>
                </a:r>
              </a:p>
              <a:p>
                <a:pPr marL="0" lvl="0" indent="0">
                  <a:spcAft>
                    <a:spcPts val="650"/>
                  </a:spcAft>
                  <a:buNone/>
                </a:pPr>
                <a14:m>
                  <m:oMath xmlns:m="http://schemas.openxmlformats.org/officeDocument/2006/math">
                    <m:r>
                      <a:rPr>
                        <a:latin typeface="Cambria Math" panose="02040503050406030204" pitchFamily="18" charset="0"/>
                      </a:rPr>
                      <m:t>𝐴</m:t>
                    </m:r>
                    <m:sSub>
                      <m:sSubPr>
                        <m:ctrlPr>
                          <a:rPr>
                            <a:latin typeface="Cambria Math" panose="02040503050406030204" pitchFamily="18" charset="0"/>
                          </a:rPr>
                        </m:ctrlPr>
                      </m:sSubPr>
                      <m:e>
                        <m:r>
                          <a:rPr>
                            <a:latin typeface="Cambria Math" panose="02040503050406030204" pitchFamily="18" charset="0"/>
                          </a:rPr>
                          <m:t>≤</m:t>
                        </m:r>
                      </m:e>
                      <m:sub>
                        <m:r>
                          <a:rPr>
                            <a:latin typeface="Cambria Math" panose="02040503050406030204" pitchFamily="18" charset="0"/>
                          </a:rPr>
                          <m:t>𝑝</m:t>
                        </m:r>
                      </m:sub>
                    </m:sSub>
                    <m:r>
                      <a:rPr>
                        <a:latin typeface="Cambria Math" panose="02040503050406030204" pitchFamily="18" charset="0"/>
                      </a:rPr>
                      <m:t>𝐵</m:t>
                    </m:r>
                  </m:oMath>
                </a14:m>
                <a:r>
                  <a:rPr sz="1800" dirty="0">
                    <a:latin typeface="Times New Roman"/>
                  </a:rPr>
                  <a:t>: there exists a polynomial-time computable function </a:t>
                </a:r>
                <a14:m>
                  <m:oMath xmlns:m="http://schemas.openxmlformats.org/officeDocument/2006/math">
                    <m:r>
                      <a:rPr>
                        <a:latin typeface="Cambria Math" panose="02040503050406030204" pitchFamily="18" charset="0"/>
                      </a:rPr>
                      <m:t>𝑓</m:t>
                    </m:r>
                  </m:oMath>
                </a14:m>
                <a:r>
                  <a:rPr sz="1800" dirty="0">
                    <a:latin typeface="Times New Roman"/>
                  </a:rPr>
                  <a:t> such that</a:t>
                </a:r>
              </a:p>
              <a:p>
                <a:pPr marL="0" lvl="0" indent="0">
                  <a:spcAft>
                    <a:spcPts val="650"/>
                  </a:spcAft>
                  <a:buNone/>
                </a:pPr>
                <a14:m>
                  <m:oMathPara xmlns:m="http://schemas.openxmlformats.org/officeDocument/2006/math">
                    <m:oMathParaPr>
                      <m:jc m:val="center"/>
                    </m:oMathParaPr>
                    <m:oMath>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,  </m:t>
                      </m:r>
                      <m:r>
                        <a:rPr>
                          <a:latin typeface="Cambria Math" panose="02040503050406030204" pitchFamily="18" charset="0"/>
                        </a:rPr>
                        <m:t>𝑥</m:t>
                      </m:r>
                      <m:r>
                        <a:rPr>
                          <a:latin typeface="Cambria Math" panose="02040503050406030204" pitchFamily="18" charset="0"/>
                        </a:rPr>
                        <m:t>∈</m:t>
                      </m:r>
                      <m:r>
                        <a:rPr>
                          <a:latin typeface="Cambria Math" panose="02040503050406030204" pitchFamily="18" charset="0"/>
                        </a:rPr>
                        <m:t>𝐴</m:t>
                      </m:r>
                      <m:r>
                        <a:rPr>
                          <a:latin typeface="Cambria Math" panose="02040503050406030204" pitchFamily="18" charset="0"/>
                        </a:rPr>
                        <m:t>⇔</m:t>
                      </m:r>
                      <m:r>
                        <a:rPr>
                          <a:latin typeface="Cambria Math" panose="02040503050406030204" pitchFamily="18" charset="0"/>
                        </a:rPr>
                        <m:t>𝑓</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r>
                        <a:rPr>
                          <a:latin typeface="Cambria Math" panose="02040503050406030204" pitchFamily="18" charset="0"/>
                        </a:rPr>
                        <m:t>𝐵</m:t>
                      </m:r>
                      <m:r>
                        <a:rPr>
                          <a:latin typeface="Cambria Math" panose="02040503050406030204" pitchFamily="18" charset="0"/>
                        </a:rPr>
                        <m:t>.</m:t>
                      </m:r>
                    </m:oMath>
                  </m:oMathPara>
                </a14:m>
                <a:endParaRPr sz="1800" dirty="0">
                  <a:latin typeface="Times New Roman"/>
                </a:endParaRPr>
              </a:p>
              <a:p>
                <a:pPr marL="0" lvl="0" indent="0">
                  <a:spcAft>
                    <a:spcPts val="650"/>
                  </a:spcAft>
                  <a:buNone/>
                </a:pPr>
                <a:r>
                  <a:rPr sz="1800" dirty="0">
                    <a:latin typeface="Times New Roman"/>
                  </a:rPr>
                  <a:t>A solver for </a:t>
                </a:r>
                <a14:m>
                  <m:oMath xmlns:m="http://schemas.openxmlformats.org/officeDocument/2006/math">
                    <m:r>
                      <a:rPr>
                        <a:latin typeface="Cambria Math" panose="02040503050406030204" pitchFamily="18" charset="0"/>
                      </a:rPr>
                      <m:t>𝐵</m:t>
                    </m:r>
                  </m:oMath>
                </a14:m>
                <a:r>
                  <a:rPr sz="1800" dirty="0">
                    <a:latin typeface="Times New Roman"/>
                  </a:rPr>
                  <a:t> would also solve </a:t>
                </a:r>
                <a14:m>
                  <m:oMath xmlns:m="http://schemas.openxmlformats.org/officeDocument/2006/math">
                    <m:r>
                      <a:rPr>
                        <a:latin typeface="Cambria Math" panose="02040503050406030204" pitchFamily="18" charset="0"/>
                      </a:rPr>
                      <m:t>𝐴</m:t>
                    </m:r>
                  </m:oMath>
                </a14:m>
                <a:r>
                  <a:rPr sz="1800" dirty="0">
                    <a:latin typeface="Times New Roman"/>
                  </a:rPr>
                  <a:t>: </a:t>
                </a:r>
                <a14:m>
                  <m:oMath xmlns:m="http://schemas.openxmlformats.org/officeDocument/2006/math">
                    <m:r>
                      <a:rPr>
                        <a:latin typeface="Cambria Math" panose="02040503050406030204" pitchFamily="18" charset="0"/>
                      </a:rPr>
                      <m:t>𝐵</m:t>
                    </m:r>
                  </m:oMath>
                </a14:m>
                <a:r>
                  <a:rPr sz="1800" dirty="0">
                    <a:latin typeface="Times New Roman"/>
                  </a:rPr>
                  <a:t> is at least as hard as </a:t>
                </a:r>
                <a14:m>
                  <m:oMath xmlns:m="http://schemas.openxmlformats.org/officeDocument/2006/math">
                    <m:r>
                      <a:rPr>
                        <a:latin typeface="Cambria Math" panose="02040503050406030204" pitchFamily="18" charset="0"/>
                      </a:rPr>
                      <m:t>𝐴</m:t>
                    </m:r>
                  </m:oMath>
                </a14:m>
                <a:r>
                  <a:rPr sz="1800" dirty="0">
                    <a:latin typeface="Times New Roman"/>
                  </a:rPr>
                  <a:t>.</a:t>
                </a:r>
                <a:endParaRPr lang="en-US" sz="1800" dirty="0">
                  <a:latin typeface="Times New Roman"/>
                </a:endParaRPr>
              </a:p>
              <a:p>
                <a:pPr marL="0" lvl="0" indent="0">
                  <a:spcAft>
                    <a:spcPts val="650"/>
                  </a:spcAft>
                  <a:buNone/>
                </a:pPr>
                <a:endParaRPr sz="1800" dirty="0">
                  <a:latin typeface="Times New Roman"/>
                </a:endParaRPr>
              </a:p>
              <a:p>
                <a:pPr marL="0" lvl="0" indent="0">
                  <a:spcAft>
                    <a:spcPts val="650"/>
                  </a:spcAft>
                  <a:buNone/>
                </a:pPr>
                <a:r>
                  <a:rPr sz="1800" b="1" dirty="0">
                    <a:latin typeface="Times New Roman"/>
                  </a:rPr>
                  <a:t>To prove </a:t>
                </a:r>
                <a14:m>
                  <m:oMath xmlns:m="http://schemas.openxmlformats.org/officeDocument/2006/math">
                    <m:r>
                      <a:rPr>
                        <a:latin typeface="Cambria Math" panose="02040503050406030204" pitchFamily="18" charset="0"/>
                      </a:rPr>
                      <m:t>𝐵</m:t>
                    </m:r>
                  </m:oMath>
                </a14:m>
                <a:r>
                  <a:rPr sz="1800" b="1" dirty="0">
                    <a:latin typeface="Times New Roman"/>
                  </a:rPr>
                  <a:t> hard:</a:t>
                </a:r>
                <a:r>
                  <a:rPr sz="1800" dirty="0">
                    <a:latin typeface="Times New Roman"/>
                  </a:rPr>
                  <a:t> </a:t>
                </a:r>
                <a:endParaRPr lang="en-US" sz="1800" dirty="0">
                  <a:latin typeface="Times New Roman"/>
                </a:endParaRPr>
              </a:p>
              <a:p>
                <a:pPr marL="0" lvl="0" indent="0">
                  <a:spcAft>
                    <a:spcPts val="650"/>
                  </a:spcAft>
                  <a:buNone/>
                </a:pPr>
                <a:r>
                  <a:rPr sz="1800" dirty="0">
                    <a:latin typeface="Times New Roman"/>
                  </a:rPr>
                  <a:t>known hard </a:t>
                </a:r>
                <a14:m>
                  <m:oMath xmlns:m="http://schemas.openxmlformats.org/officeDocument/2006/math">
                    <m:r>
                      <a:rPr>
                        <a:latin typeface="Cambria Math" panose="02040503050406030204" pitchFamily="18" charset="0"/>
                      </a:rPr>
                      <m:t>𝐴</m:t>
                    </m:r>
                    <m:r>
                      <a:rPr>
                        <a:latin typeface="Cambria Math" panose="02040503050406030204" pitchFamily="18" charset="0"/>
                      </a:rPr>
                      <m:t>→</m:t>
                    </m:r>
                  </m:oMath>
                </a14:m>
                <a:r>
                  <a:rPr sz="1800" dirty="0">
                    <a:latin typeface="Times New Roman"/>
                  </a:rPr>
                  <a:t> target </a:t>
                </a:r>
                <a14:m>
                  <m:oMath xmlns:m="http://schemas.openxmlformats.org/officeDocument/2006/math">
                    <m:r>
                      <a:rPr>
                        <a:latin typeface="Cambria Math" panose="02040503050406030204" pitchFamily="18" charset="0"/>
                      </a:rPr>
                      <m:t>𝐵</m:t>
                    </m:r>
                  </m:oMath>
                </a14:m>
                <a:r>
                  <a:rPr sz="1800" dirty="0">
                    <a:latin typeface="Times New Roman"/>
                  </a:rPr>
                  <a:t>.</a:t>
                </a:r>
              </a:p>
            </p:txBody>
          </p:sp>
        </mc:Choice>
        <mc:Fallback>
          <p:sp>
            <p:nvSpPr>
              <p:cNvPr id="4" name="Content Placeholder 2"/>
              <p:cNvSpPr>
                <a:spLocks noGrp="1" noRot="1" noChangeAspect="1" noMove="1" noResize="1" noEditPoints="1" noAdjustHandles="1" noChangeArrowheads="1" noChangeShapeType="1" noTextEdit="1"/>
              </p:cNvSpPr>
              <p:nvPr/>
            </p:nvSpPr>
            <p:spPr>
              <a:xfrm>
                <a:off x="365760" y="2103120"/>
                <a:ext cx="4069080" cy="4206240"/>
              </a:xfr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Content Placeholder 2"/>
              <p:cNvSpPr>
                <a:spLocks noGrp="1"/>
              </p:cNvSpPr>
              <p:nvPr/>
            </p:nvSpPr>
            <p:spPr>
              <a:xfrm>
                <a:off x="4709160" y="2103120"/>
                <a:ext cx="4069080" cy="1600200"/>
              </a:xfrm>
            </p:spPr>
            <p:txBody>
              <a:bodyPr wrap="square" lIns="0" tIns="0" rIns="0" bIns="0" anchor="t">
                <a:noAutofit/>
              </a:bodyPr>
              <a:lstStyle>
                <a:lvl1pPr>
                  <a:defRPr sz="1800">
                    <a:latin typeface="Times New Roman"/>
                  </a:defRPr>
                </a:lvl1pPr>
                <a:lvl2pPr>
                  <a:defRPr sz="1800">
                    <a:latin typeface="Times New Roman"/>
                  </a:defRPr>
                </a:lvl2pPr>
                <a:lvl3pPr>
                  <a:defRPr sz="1800">
                    <a:latin typeface="Times New Roman"/>
                  </a:defRPr>
                </a:lvl3pPr>
                <a:lvl4pPr>
                  <a:defRPr sz="1800">
                    <a:latin typeface="Times New Roman"/>
                  </a:defRPr>
                </a:lvl4pPr>
                <a:lvl5pPr>
                  <a:defRPr sz="1800">
                    <a:latin typeface="Times New Roman"/>
                  </a:defRPr>
                </a:lvl5pPr>
                <a:lvl6pPr>
                  <a:defRPr sz="1800">
                    <a:latin typeface="Times New Roman"/>
                  </a:defRPr>
                </a:lvl6pPr>
                <a:lvl7pPr>
                  <a:defRPr sz="1800">
                    <a:latin typeface="Times New Roman"/>
                  </a:defRPr>
                </a:lvl7pPr>
                <a:lvl8pPr>
                  <a:defRPr sz="1800">
                    <a:latin typeface="Times New Roman"/>
                  </a:defRPr>
                </a:lvl8pPr>
                <a:lvl9pPr>
                  <a:defRPr sz="1800">
                    <a:latin typeface="Times New Roman"/>
                  </a:defRPr>
                </a:lvl9pPr>
              </a:lstStyle>
              <a:p>
                <a:pPr marL="0" lvl="0" indent="0">
                  <a:spcAft>
                    <a:spcPts val="650"/>
                  </a:spcAft>
                  <a:buNone/>
                </a:pPr>
                <a:r>
                  <a:rPr sz="1800" b="1" dirty="0">
                    <a:latin typeface="Times New Roman"/>
                  </a:rPr>
                  <a:t>Tiny example: EVEN reduces to MULTIPLE-OF-4</a:t>
                </a:r>
              </a:p>
              <a:p>
                <a:pPr marL="0" lvl="0" indent="0">
                  <a:spcAft>
                    <a:spcPts val="650"/>
                  </a:spcAft>
                  <a:buNone/>
                </a:pPr>
                <a:r>
                  <a:rPr sz="1800" dirty="0">
                    <a:latin typeface="Times New Roman"/>
                  </a:rPr>
                  <a:t>Use </a:t>
                </a:r>
                <a14:m>
                  <m:oMath xmlns:m="http://schemas.openxmlformats.org/officeDocument/2006/math">
                    <m:r>
                      <a:rPr>
                        <a:latin typeface="Cambria Math" panose="02040503050406030204" pitchFamily="18" charset="0"/>
                      </a:rPr>
                      <m:t>𝑓</m:t>
                    </m:r>
                    <m:r>
                      <a:rPr>
                        <a:latin typeface="Cambria Math" panose="02040503050406030204" pitchFamily="18" charset="0"/>
                      </a:rPr>
                      <m:t>(</m:t>
                    </m:r>
                    <m:r>
                      <a:rPr>
                        <a:latin typeface="Cambria Math" panose="02040503050406030204" pitchFamily="18" charset="0"/>
                      </a:rPr>
                      <m:t>𝑛</m:t>
                    </m:r>
                    <m:r>
                      <a:rPr>
                        <a:latin typeface="Cambria Math" panose="02040503050406030204" pitchFamily="18" charset="0"/>
                      </a:rPr>
                      <m:t>)=2</m:t>
                    </m:r>
                    <m:r>
                      <a:rPr>
                        <a:latin typeface="Cambria Math" panose="02040503050406030204" pitchFamily="18" charset="0"/>
                      </a:rPr>
                      <m:t>𝑛</m:t>
                    </m:r>
                  </m:oMath>
                </a14:m>
                <a:r>
                  <a:rPr sz="1800" dirty="0">
                    <a:latin typeface="Times New Roman"/>
                  </a:rPr>
                  <a:t>. Then</a:t>
                </a:r>
              </a:p>
              <a:p>
                <a:pPr marL="0" lvl="0" indent="0">
                  <a:spcAft>
                    <a:spcPts val="650"/>
                  </a:spcAft>
                  <a:buNone/>
                </a:pPr>
                <a14:m>
                  <m:oMathPara xmlns:m="http://schemas.openxmlformats.org/officeDocument/2006/math">
                    <m:oMathParaPr>
                      <m:jc m:val="center"/>
                    </m:oMathParaPr>
                    <m:oMath>
                      <m:r>
                        <a:rPr>
                          <a:latin typeface="Cambria Math" panose="02040503050406030204" pitchFamily="18" charset="0"/>
                        </a:rPr>
                        <m:t>𝑛</m:t>
                      </m:r>
                      <m:r>
                        <m:rPr>
                          <m:nor/>
                        </m:rPr>
                        <a:rPr i="0"/>
                        <m:t> is even</m:t>
                      </m:r>
                      <m:r>
                        <a:rPr>
                          <a:latin typeface="Cambria Math" panose="02040503050406030204" pitchFamily="18" charset="0"/>
                        </a:rPr>
                        <m:t>⇔4∣2</m:t>
                      </m:r>
                      <m:r>
                        <a:rPr>
                          <a:latin typeface="Cambria Math" panose="02040503050406030204" pitchFamily="18" charset="0"/>
                        </a:rPr>
                        <m:t>𝑛</m:t>
                      </m:r>
                      <m:r>
                        <a:rPr>
                          <a:latin typeface="Cambria Math" panose="02040503050406030204" pitchFamily="18" charset="0"/>
                        </a:rPr>
                        <m:t>.</m:t>
                      </m:r>
                    </m:oMath>
                  </m:oMathPara>
                </a14:m>
                <a:endParaRPr sz="1800" dirty="0">
                  <a:latin typeface="Times New Roman"/>
                </a:endParaRPr>
              </a:p>
            </p:txBody>
          </p:sp>
        </mc:Choice>
        <mc:Fallback>
          <p:sp>
            <p:nvSpPr>
              <p:cNvPr id="5" name="Content Placeholder 2"/>
              <p:cNvSpPr>
                <a:spLocks noGrp="1" noRot="1" noChangeAspect="1" noMove="1" noResize="1" noEditPoints="1" noAdjustHandles="1" noChangeArrowheads="1" noChangeShapeType="1" noTextEdit="1"/>
              </p:cNvSpPr>
              <p:nvPr/>
            </p:nvSpPr>
            <p:spPr>
              <a:xfrm>
                <a:off x="4709160" y="2103120"/>
                <a:ext cx="4069080" cy="1600200"/>
              </a:xfrm>
              <a:blipFill>
                <a:blip r:embed="rId4"/>
                <a:stretch>
                  <a:fillRect/>
                </a:stretch>
              </a:blipFill>
            </p:spPr>
            <p:txBody>
              <a:bodyPr/>
              <a:lstStyle/>
              <a:p>
                <a:r>
                  <a:rPr lang="en-US">
                    <a:noFill/>
                  </a:rPr>
                  <a:t> </a:t>
                </a:r>
              </a:p>
            </p:txBody>
          </p:sp>
        </mc:Fallback>
      </mc:AlternateContent>
      <p:graphicFrame>
        <p:nvGraphicFramePr>
          <p:cNvPr id="6" name="Content Placeholder 5"/>
          <p:cNvGraphicFramePr>
            <a:graphicFrameLocks noGrp="1"/>
          </p:cNvGraphicFramePr>
          <p:nvPr>
            <p:ph idx="1"/>
            <p:extLst>
              <p:ext uri="{D42A27DB-BD31-4B8C-83A1-F6EECF244321}">
                <p14:modId xmlns:p14="http://schemas.microsoft.com/office/powerpoint/2010/main" val="2763413102"/>
              </p:ext>
            </p:extLst>
          </p:nvPr>
        </p:nvGraphicFramePr>
        <p:xfrm>
          <a:off x="4709160" y="3604842"/>
          <a:ext cx="4069080" cy="1005840"/>
        </p:xfrm>
        <a:graphic>
          <a:graphicData uri="http://schemas.openxmlformats.org/drawingml/2006/table">
            <a:tbl>
              <a:tblPr firstRow="1" bandRow="1">
                <a:tableStyleId>{5C22544A-7EE6-4342-B048-85BDC9FD1C3A}</a:tableStyleId>
              </a:tblPr>
              <a:tblGrid>
                <a:gridCol w="1356360">
                  <a:extLst>
                    <a:ext uri="{9D8B030D-6E8A-4147-A177-3AD203B41FA5}">
                      <a16:colId xmlns:a16="http://schemas.microsoft.com/office/drawing/2014/main" val="20000"/>
                    </a:ext>
                  </a:extLst>
                </a:gridCol>
                <a:gridCol w="1356360">
                  <a:extLst>
                    <a:ext uri="{9D8B030D-6E8A-4147-A177-3AD203B41FA5}">
                      <a16:colId xmlns:a16="http://schemas.microsoft.com/office/drawing/2014/main" val="20001"/>
                    </a:ext>
                  </a:extLst>
                </a:gridCol>
                <a:gridCol w="1356360">
                  <a:extLst>
                    <a:ext uri="{9D8B030D-6E8A-4147-A177-3AD203B41FA5}">
                      <a16:colId xmlns:a16="http://schemas.microsoft.com/office/drawing/2014/main" val="20002"/>
                    </a:ext>
                  </a:extLst>
                </a:gridCol>
              </a:tblGrid>
              <a:tr h="335280">
                <a:tc>
                  <a:txBody>
                    <a:bodyPr/>
                    <a:lstStyle>
                      <a:lvl1pPr>
                        <a:defRPr sz="1600">
                          <a:latin typeface="Times New Roman"/>
                        </a:defRPr>
                      </a:lvl1pPr>
                      <a:lvl2pPr>
                        <a:defRPr sz="1600">
                          <a:latin typeface="Times New Roman"/>
                        </a:defRPr>
                      </a:lvl2pPr>
                      <a:lvl3pPr>
                        <a:defRPr sz="1600">
                          <a:latin typeface="Times New Roman"/>
                        </a:defRPr>
                      </a:lvl3pPr>
                      <a:lvl4pPr>
                        <a:defRPr sz="1600">
                          <a:latin typeface="Times New Roman"/>
                        </a:defRPr>
                      </a:lvl4pPr>
                      <a:lvl5pPr>
                        <a:defRPr sz="1600">
                          <a:latin typeface="Times New Roman"/>
                        </a:defRPr>
                      </a:lvl5pPr>
                      <a:lvl6pPr>
                        <a:defRPr sz="1600">
                          <a:latin typeface="Times New Roman"/>
                        </a:defRPr>
                      </a:lvl6pPr>
                      <a:lvl7pPr>
                        <a:defRPr sz="1600">
                          <a:latin typeface="Times New Roman"/>
                        </a:defRPr>
                      </a:lvl7pPr>
                      <a:lvl8pPr>
                        <a:defRPr sz="1600">
                          <a:latin typeface="Times New Roman"/>
                        </a:defRPr>
                      </a:lvl8pPr>
                      <a:lvl9pPr>
                        <a:defRPr sz="1600">
                          <a:latin typeface="Times New Roman"/>
                        </a:defRPr>
                      </a:lvl9pPr>
                    </a:lstStyle>
                    <a:p>
                      <a:pPr marL="0" lvl="0" indent="0" algn="l">
                        <a:spcAft>
                          <a:spcPts val="400"/>
                        </a:spcAft>
                        <a:buNone/>
                      </a:pPr>
                      <a:r>
                        <a:rPr lang="en-US" sz="1600" dirty="0">
                          <a:latin typeface="Times New Roman"/>
                        </a:rPr>
                        <a:t>N</a:t>
                      </a:r>
                      <a:endParaRPr sz="1600" dirty="0">
                        <a:latin typeface="Times New Roman"/>
                      </a:endParaRPr>
                    </a:p>
                  </a:txBody>
                  <a:tcPr/>
                </a:tc>
                <a:tc>
                  <a:txBody>
                    <a:bodyPr/>
                    <a:lstStyle>
                      <a:lvl1pPr>
                        <a:defRPr sz="1600">
                          <a:latin typeface="Times New Roman"/>
                        </a:defRPr>
                      </a:lvl1pPr>
                      <a:lvl2pPr>
                        <a:defRPr sz="1600">
                          <a:latin typeface="Times New Roman"/>
                        </a:defRPr>
                      </a:lvl2pPr>
                      <a:lvl3pPr>
                        <a:defRPr sz="1600">
                          <a:latin typeface="Times New Roman"/>
                        </a:defRPr>
                      </a:lvl3pPr>
                      <a:lvl4pPr>
                        <a:defRPr sz="1600">
                          <a:latin typeface="Times New Roman"/>
                        </a:defRPr>
                      </a:lvl4pPr>
                      <a:lvl5pPr>
                        <a:defRPr sz="1600">
                          <a:latin typeface="Times New Roman"/>
                        </a:defRPr>
                      </a:lvl5pPr>
                      <a:lvl6pPr>
                        <a:defRPr sz="1600">
                          <a:latin typeface="Times New Roman"/>
                        </a:defRPr>
                      </a:lvl6pPr>
                      <a:lvl7pPr>
                        <a:defRPr sz="1600">
                          <a:latin typeface="Times New Roman"/>
                        </a:defRPr>
                      </a:lvl7pPr>
                      <a:lvl8pPr>
                        <a:defRPr sz="1600">
                          <a:latin typeface="Times New Roman"/>
                        </a:defRPr>
                      </a:lvl8pPr>
                      <a:lvl9pPr>
                        <a:defRPr sz="1600">
                          <a:latin typeface="Times New Roman"/>
                        </a:defRPr>
                      </a:lvl9pPr>
                    </a:lstStyle>
                    <a:p>
                      <a:pPr marL="0" lvl="0" indent="0" algn="l">
                        <a:spcAft>
                          <a:spcPts val="400"/>
                        </a:spcAft>
                        <a:buNone/>
                      </a:pPr>
                      <a:r>
                        <a:rPr sz="1600">
                          <a:latin typeface="Times New Roman"/>
                        </a:rPr>
                        <a:t>f(n)</a:t>
                      </a:r>
                    </a:p>
                  </a:txBody>
                  <a:tcPr/>
                </a:tc>
                <a:tc>
                  <a:txBody>
                    <a:bodyPr/>
                    <a:lstStyle>
                      <a:lvl1pPr>
                        <a:defRPr sz="1600">
                          <a:latin typeface="Times New Roman"/>
                        </a:defRPr>
                      </a:lvl1pPr>
                      <a:lvl2pPr>
                        <a:defRPr sz="1600">
                          <a:latin typeface="Times New Roman"/>
                        </a:defRPr>
                      </a:lvl2pPr>
                      <a:lvl3pPr>
                        <a:defRPr sz="1600">
                          <a:latin typeface="Times New Roman"/>
                        </a:defRPr>
                      </a:lvl3pPr>
                      <a:lvl4pPr>
                        <a:defRPr sz="1600">
                          <a:latin typeface="Times New Roman"/>
                        </a:defRPr>
                      </a:lvl4pPr>
                      <a:lvl5pPr>
                        <a:defRPr sz="1600">
                          <a:latin typeface="Times New Roman"/>
                        </a:defRPr>
                      </a:lvl5pPr>
                      <a:lvl6pPr>
                        <a:defRPr sz="1600">
                          <a:latin typeface="Times New Roman"/>
                        </a:defRPr>
                      </a:lvl6pPr>
                      <a:lvl7pPr>
                        <a:defRPr sz="1600">
                          <a:latin typeface="Times New Roman"/>
                        </a:defRPr>
                      </a:lvl7pPr>
                      <a:lvl8pPr>
                        <a:defRPr sz="1600">
                          <a:latin typeface="Times New Roman"/>
                        </a:defRPr>
                      </a:lvl8pPr>
                      <a:lvl9pPr>
                        <a:defRPr sz="1600">
                          <a:latin typeface="Times New Roman"/>
                        </a:defRPr>
                      </a:lvl9pPr>
                    </a:lstStyle>
                    <a:p>
                      <a:pPr marL="0" lvl="0" indent="0" algn="l">
                        <a:spcAft>
                          <a:spcPts val="400"/>
                        </a:spcAft>
                        <a:buNone/>
                      </a:pPr>
                      <a:r>
                        <a:rPr sz="1600">
                          <a:latin typeface="Times New Roman"/>
                        </a:rPr>
                        <a:t>Preserved?</a:t>
                      </a:r>
                    </a:p>
                  </a:txBody>
                  <a:tcPr/>
                </a:tc>
                <a:extLst>
                  <a:ext uri="{0D108BD9-81ED-4DB2-BD59-A6C34878D82A}">
                    <a16:rowId xmlns:a16="http://schemas.microsoft.com/office/drawing/2014/main" val="10000"/>
                  </a:ext>
                </a:extLst>
              </a:tr>
              <a:tr h="335280">
                <a:tc>
                  <a:txBody>
                    <a:bodyPr/>
                    <a:lstStyle>
                      <a:lvl1pPr>
                        <a:defRPr sz="1600">
                          <a:latin typeface="Times New Roman"/>
                        </a:defRPr>
                      </a:lvl1pPr>
                      <a:lvl2pPr>
                        <a:defRPr sz="1600">
                          <a:latin typeface="Times New Roman"/>
                        </a:defRPr>
                      </a:lvl2pPr>
                      <a:lvl3pPr>
                        <a:defRPr sz="1600">
                          <a:latin typeface="Times New Roman"/>
                        </a:defRPr>
                      </a:lvl3pPr>
                      <a:lvl4pPr>
                        <a:defRPr sz="1600">
                          <a:latin typeface="Times New Roman"/>
                        </a:defRPr>
                      </a:lvl4pPr>
                      <a:lvl5pPr>
                        <a:defRPr sz="1600">
                          <a:latin typeface="Times New Roman"/>
                        </a:defRPr>
                      </a:lvl5pPr>
                      <a:lvl6pPr>
                        <a:defRPr sz="1600">
                          <a:latin typeface="Times New Roman"/>
                        </a:defRPr>
                      </a:lvl6pPr>
                      <a:lvl7pPr>
                        <a:defRPr sz="1600">
                          <a:latin typeface="Times New Roman"/>
                        </a:defRPr>
                      </a:lvl7pPr>
                      <a:lvl8pPr>
                        <a:defRPr sz="1600">
                          <a:latin typeface="Times New Roman"/>
                        </a:defRPr>
                      </a:lvl8pPr>
                      <a:lvl9pPr>
                        <a:defRPr sz="1600">
                          <a:latin typeface="Times New Roman"/>
                        </a:defRPr>
                      </a:lvl9pPr>
                    </a:lstStyle>
                    <a:p>
                      <a:pPr marL="0" lvl="0" indent="0" algn="l">
                        <a:spcAft>
                          <a:spcPts val="400"/>
                        </a:spcAft>
                        <a:buNone/>
                      </a:pPr>
                      <a:r>
                        <a:rPr sz="1600">
                          <a:latin typeface="Times New Roman"/>
                        </a:rPr>
                        <a:t>6: YES</a:t>
                      </a:r>
                    </a:p>
                  </a:txBody>
                  <a:tcPr/>
                </a:tc>
                <a:tc>
                  <a:txBody>
                    <a:bodyPr/>
                    <a:lstStyle>
                      <a:lvl1pPr>
                        <a:defRPr sz="1600">
                          <a:latin typeface="Times New Roman"/>
                        </a:defRPr>
                      </a:lvl1pPr>
                      <a:lvl2pPr>
                        <a:defRPr sz="1600">
                          <a:latin typeface="Times New Roman"/>
                        </a:defRPr>
                      </a:lvl2pPr>
                      <a:lvl3pPr>
                        <a:defRPr sz="1600">
                          <a:latin typeface="Times New Roman"/>
                        </a:defRPr>
                      </a:lvl3pPr>
                      <a:lvl4pPr>
                        <a:defRPr sz="1600">
                          <a:latin typeface="Times New Roman"/>
                        </a:defRPr>
                      </a:lvl4pPr>
                      <a:lvl5pPr>
                        <a:defRPr sz="1600">
                          <a:latin typeface="Times New Roman"/>
                        </a:defRPr>
                      </a:lvl5pPr>
                      <a:lvl6pPr>
                        <a:defRPr sz="1600">
                          <a:latin typeface="Times New Roman"/>
                        </a:defRPr>
                      </a:lvl6pPr>
                      <a:lvl7pPr>
                        <a:defRPr sz="1600">
                          <a:latin typeface="Times New Roman"/>
                        </a:defRPr>
                      </a:lvl7pPr>
                      <a:lvl8pPr>
                        <a:defRPr sz="1600">
                          <a:latin typeface="Times New Roman"/>
                        </a:defRPr>
                      </a:lvl8pPr>
                      <a:lvl9pPr>
                        <a:defRPr sz="1600">
                          <a:latin typeface="Times New Roman"/>
                        </a:defRPr>
                      </a:lvl9pPr>
                    </a:lstStyle>
                    <a:p>
                      <a:pPr marL="0" lvl="0" indent="0" algn="l">
                        <a:spcAft>
                          <a:spcPts val="400"/>
                        </a:spcAft>
                        <a:buNone/>
                      </a:pPr>
                      <a:r>
                        <a:rPr sz="1600">
                          <a:latin typeface="Times New Roman"/>
                        </a:rPr>
                        <a:t>12: YES</a:t>
                      </a:r>
                    </a:p>
                  </a:txBody>
                  <a:tcPr/>
                </a:tc>
                <a:tc>
                  <a:txBody>
                    <a:bodyPr/>
                    <a:lstStyle>
                      <a:lvl1pPr>
                        <a:defRPr sz="1600">
                          <a:latin typeface="Times New Roman"/>
                        </a:defRPr>
                      </a:lvl1pPr>
                      <a:lvl2pPr>
                        <a:defRPr sz="1600">
                          <a:latin typeface="Times New Roman"/>
                        </a:defRPr>
                      </a:lvl2pPr>
                      <a:lvl3pPr>
                        <a:defRPr sz="1600">
                          <a:latin typeface="Times New Roman"/>
                        </a:defRPr>
                      </a:lvl3pPr>
                      <a:lvl4pPr>
                        <a:defRPr sz="1600">
                          <a:latin typeface="Times New Roman"/>
                        </a:defRPr>
                      </a:lvl4pPr>
                      <a:lvl5pPr>
                        <a:defRPr sz="1600">
                          <a:latin typeface="Times New Roman"/>
                        </a:defRPr>
                      </a:lvl5pPr>
                      <a:lvl6pPr>
                        <a:defRPr sz="1600">
                          <a:latin typeface="Times New Roman"/>
                        </a:defRPr>
                      </a:lvl6pPr>
                      <a:lvl7pPr>
                        <a:defRPr sz="1600">
                          <a:latin typeface="Times New Roman"/>
                        </a:defRPr>
                      </a:lvl7pPr>
                      <a:lvl8pPr>
                        <a:defRPr sz="1600">
                          <a:latin typeface="Times New Roman"/>
                        </a:defRPr>
                      </a:lvl8pPr>
                      <a:lvl9pPr>
                        <a:defRPr sz="1600">
                          <a:latin typeface="Times New Roman"/>
                        </a:defRPr>
                      </a:lvl9pPr>
                    </a:lstStyle>
                    <a:p>
                      <a:pPr marL="0" lvl="0" indent="0" algn="l">
                        <a:spcAft>
                          <a:spcPts val="400"/>
                        </a:spcAft>
                        <a:buNone/>
                      </a:pPr>
                      <a:r>
                        <a:rPr sz="1600">
                          <a:latin typeface="Times New Roman"/>
                        </a:rPr>
                        <a:t>YES</a:t>
                      </a:r>
                    </a:p>
                  </a:txBody>
                  <a:tcPr/>
                </a:tc>
                <a:extLst>
                  <a:ext uri="{0D108BD9-81ED-4DB2-BD59-A6C34878D82A}">
                    <a16:rowId xmlns:a16="http://schemas.microsoft.com/office/drawing/2014/main" val="10001"/>
                  </a:ext>
                </a:extLst>
              </a:tr>
              <a:tr h="335280">
                <a:tc>
                  <a:txBody>
                    <a:bodyPr/>
                    <a:lstStyle>
                      <a:lvl1pPr>
                        <a:defRPr sz="1600">
                          <a:latin typeface="Times New Roman"/>
                        </a:defRPr>
                      </a:lvl1pPr>
                      <a:lvl2pPr>
                        <a:defRPr sz="1600">
                          <a:latin typeface="Times New Roman"/>
                        </a:defRPr>
                      </a:lvl2pPr>
                      <a:lvl3pPr>
                        <a:defRPr sz="1600">
                          <a:latin typeface="Times New Roman"/>
                        </a:defRPr>
                      </a:lvl3pPr>
                      <a:lvl4pPr>
                        <a:defRPr sz="1600">
                          <a:latin typeface="Times New Roman"/>
                        </a:defRPr>
                      </a:lvl4pPr>
                      <a:lvl5pPr>
                        <a:defRPr sz="1600">
                          <a:latin typeface="Times New Roman"/>
                        </a:defRPr>
                      </a:lvl5pPr>
                      <a:lvl6pPr>
                        <a:defRPr sz="1600">
                          <a:latin typeface="Times New Roman"/>
                        </a:defRPr>
                      </a:lvl6pPr>
                      <a:lvl7pPr>
                        <a:defRPr sz="1600">
                          <a:latin typeface="Times New Roman"/>
                        </a:defRPr>
                      </a:lvl7pPr>
                      <a:lvl8pPr>
                        <a:defRPr sz="1600">
                          <a:latin typeface="Times New Roman"/>
                        </a:defRPr>
                      </a:lvl8pPr>
                      <a:lvl9pPr>
                        <a:defRPr sz="1600">
                          <a:latin typeface="Times New Roman"/>
                        </a:defRPr>
                      </a:lvl9pPr>
                    </a:lstStyle>
                    <a:p>
                      <a:pPr marL="0" lvl="0" indent="0" algn="l">
                        <a:spcAft>
                          <a:spcPts val="400"/>
                        </a:spcAft>
                        <a:buNone/>
                      </a:pPr>
                      <a:r>
                        <a:rPr sz="1600">
                          <a:latin typeface="Times New Roman"/>
                        </a:rPr>
                        <a:t>7: NO</a:t>
                      </a:r>
                    </a:p>
                  </a:txBody>
                  <a:tcPr/>
                </a:tc>
                <a:tc>
                  <a:txBody>
                    <a:bodyPr/>
                    <a:lstStyle>
                      <a:lvl1pPr>
                        <a:defRPr sz="1600">
                          <a:latin typeface="Times New Roman"/>
                        </a:defRPr>
                      </a:lvl1pPr>
                      <a:lvl2pPr>
                        <a:defRPr sz="1600">
                          <a:latin typeface="Times New Roman"/>
                        </a:defRPr>
                      </a:lvl2pPr>
                      <a:lvl3pPr>
                        <a:defRPr sz="1600">
                          <a:latin typeface="Times New Roman"/>
                        </a:defRPr>
                      </a:lvl3pPr>
                      <a:lvl4pPr>
                        <a:defRPr sz="1600">
                          <a:latin typeface="Times New Roman"/>
                        </a:defRPr>
                      </a:lvl4pPr>
                      <a:lvl5pPr>
                        <a:defRPr sz="1600">
                          <a:latin typeface="Times New Roman"/>
                        </a:defRPr>
                      </a:lvl5pPr>
                      <a:lvl6pPr>
                        <a:defRPr sz="1600">
                          <a:latin typeface="Times New Roman"/>
                        </a:defRPr>
                      </a:lvl6pPr>
                      <a:lvl7pPr>
                        <a:defRPr sz="1600">
                          <a:latin typeface="Times New Roman"/>
                        </a:defRPr>
                      </a:lvl7pPr>
                      <a:lvl8pPr>
                        <a:defRPr sz="1600">
                          <a:latin typeface="Times New Roman"/>
                        </a:defRPr>
                      </a:lvl8pPr>
                      <a:lvl9pPr>
                        <a:defRPr sz="1600">
                          <a:latin typeface="Times New Roman"/>
                        </a:defRPr>
                      </a:lvl9pPr>
                    </a:lstStyle>
                    <a:p>
                      <a:pPr marL="0" lvl="0" indent="0" algn="l">
                        <a:spcAft>
                          <a:spcPts val="400"/>
                        </a:spcAft>
                        <a:buNone/>
                      </a:pPr>
                      <a:r>
                        <a:rPr sz="1600">
                          <a:latin typeface="Times New Roman"/>
                        </a:rPr>
                        <a:t>14: NO</a:t>
                      </a:r>
                    </a:p>
                  </a:txBody>
                  <a:tcPr/>
                </a:tc>
                <a:tc>
                  <a:txBody>
                    <a:bodyPr/>
                    <a:lstStyle>
                      <a:lvl1pPr>
                        <a:defRPr sz="1600">
                          <a:latin typeface="Times New Roman"/>
                        </a:defRPr>
                      </a:lvl1pPr>
                      <a:lvl2pPr>
                        <a:defRPr sz="1600">
                          <a:latin typeface="Times New Roman"/>
                        </a:defRPr>
                      </a:lvl2pPr>
                      <a:lvl3pPr>
                        <a:defRPr sz="1600">
                          <a:latin typeface="Times New Roman"/>
                        </a:defRPr>
                      </a:lvl3pPr>
                      <a:lvl4pPr>
                        <a:defRPr sz="1600">
                          <a:latin typeface="Times New Roman"/>
                        </a:defRPr>
                      </a:lvl4pPr>
                      <a:lvl5pPr>
                        <a:defRPr sz="1600">
                          <a:latin typeface="Times New Roman"/>
                        </a:defRPr>
                      </a:lvl5pPr>
                      <a:lvl6pPr>
                        <a:defRPr sz="1600">
                          <a:latin typeface="Times New Roman"/>
                        </a:defRPr>
                      </a:lvl6pPr>
                      <a:lvl7pPr>
                        <a:defRPr sz="1600">
                          <a:latin typeface="Times New Roman"/>
                        </a:defRPr>
                      </a:lvl7pPr>
                      <a:lvl8pPr>
                        <a:defRPr sz="1600">
                          <a:latin typeface="Times New Roman"/>
                        </a:defRPr>
                      </a:lvl8pPr>
                      <a:lvl9pPr>
                        <a:defRPr sz="1600">
                          <a:latin typeface="Times New Roman"/>
                        </a:defRPr>
                      </a:lvl9pPr>
                    </a:lstStyle>
                    <a:p>
                      <a:pPr marL="0" lvl="0" indent="0" algn="l">
                        <a:spcAft>
                          <a:spcPts val="400"/>
                        </a:spcAft>
                        <a:buNone/>
                      </a:pPr>
                      <a:r>
                        <a:rPr sz="1600" dirty="0">
                          <a:latin typeface="Times New Roman"/>
                        </a:rPr>
                        <a:t>YES</a:t>
                      </a:r>
                    </a:p>
                  </a:txBody>
                  <a:tcPr/>
                </a:tc>
                <a:extLst>
                  <a:ext uri="{0D108BD9-81ED-4DB2-BD59-A6C34878D82A}">
                    <a16:rowId xmlns:a16="http://schemas.microsoft.com/office/drawing/2014/main" val="10002"/>
                  </a:ext>
                </a:extLst>
              </a:tr>
            </a:tbl>
          </a:graphicData>
        </a:graphic>
      </p:graphicFrame>
      <p:sp>
        <p:nvSpPr>
          <p:cNvPr id="7" name="Content Placeholder 2"/>
          <p:cNvSpPr>
            <a:spLocks noGrp="1"/>
          </p:cNvSpPr>
          <p:nvPr/>
        </p:nvSpPr>
        <p:spPr>
          <a:xfrm>
            <a:off x="4709160" y="4849835"/>
            <a:ext cx="4069080" cy="868680"/>
          </a:xfrm>
        </p:spPr>
        <p:txBody>
          <a:bodyPr wrap="square" lIns="0" tIns="0" rIns="0" bIns="0" anchor="t">
            <a:noAutofit/>
          </a:bodyPr>
          <a:lstStyle>
            <a:lvl1pPr>
              <a:defRPr sz="1600">
                <a:latin typeface="Times New Roman"/>
              </a:defRPr>
            </a:lvl1pPr>
            <a:lvl2pPr>
              <a:defRPr sz="1600">
                <a:latin typeface="Times New Roman"/>
              </a:defRPr>
            </a:lvl2pPr>
            <a:lvl3pPr>
              <a:defRPr sz="1600">
                <a:latin typeface="Times New Roman"/>
              </a:defRPr>
            </a:lvl3pPr>
            <a:lvl4pPr>
              <a:defRPr sz="1600">
                <a:latin typeface="Times New Roman"/>
              </a:defRPr>
            </a:lvl4pPr>
            <a:lvl5pPr>
              <a:defRPr sz="1600">
                <a:latin typeface="Times New Roman"/>
              </a:defRPr>
            </a:lvl5pPr>
            <a:lvl6pPr>
              <a:defRPr sz="1600">
                <a:latin typeface="Times New Roman"/>
              </a:defRPr>
            </a:lvl6pPr>
            <a:lvl7pPr>
              <a:defRPr sz="1600">
                <a:latin typeface="Times New Roman"/>
              </a:defRPr>
            </a:lvl7pPr>
            <a:lvl8pPr>
              <a:defRPr sz="1600">
                <a:latin typeface="Times New Roman"/>
              </a:defRPr>
            </a:lvl8pPr>
            <a:lvl9pPr>
              <a:defRPr sz="1600">
                <a:latin typeface="Times New Roman"/>
              </a:defRPr>
            </a:lvl9pPr>
          </a:lstStyle>
          <a:p>
            <a:pPr marL="0" lvl="0" indent="0">
              <a:spcAft>
                <a:spcPts val="400"/>
              </a:spcAft>
              <a:buNone/>
            </a:pPr>
            <a:r>
              <a:rPr sz="1600" dirty="0">
                <a:latin typeface="Times New Roman"/>
              </a:rPr>
              <a:t>This illustrates the mechanics; a hardness proof starts from a known hard problem.</a:t>
            </a:r>
          </a:p>
        </p:txBody>
      </p:sp>
      <p:pic>
        <p:nvPicPr>
          <p:cNvPr id="10" name="Picture 1" descr="editable_assets/diagram-06-1.png">
            <a:extLst>
              <a:ext uri="{FF2B5EF4-FFF2-40B4-BE49-F238E27FC236}">
                <a16:creationId xmlns:a16="http://schemas.microsoft.com/office/drawing/2014/main" id="{C0A060DD-C6B3-EAA3-5689-3C7F407BD0E7}"/>
              </a:ext>
            </a:extLst>
          </p:cNvPr>
          <p:cNvPicPr>
            <a:picLocks noGrp="1" noChangeAspect="1"/>
          </p:cNvPicPr>
          <p:nvPr/>
        </p:nvPicPr>
        <p:blipFill>
          <a:blip r:embed="rId5"/>
          <a:srcRect l="2460" t="18443" r="2460" b="18852"/>
          <a:stretch>
            <a:fillRect/>
          </a:stretch>
        </p:blipFill>
        <p:spPr bwMode="auto">
          <a:xfrm>
            <a:off x="457200" y="1035949"/>
            <a:ext cx="8229600" cy="891324"/>
          </a:xfrm>
          <a:prstGeom prst="rect">
            <a:avLst/>
          </a:prstGeom>
          <a:noFill/>
          <a:ln w="9525">
            <a:noFill/>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228600" y="128016"/>
            <a:ext cx="8686800" cy="713232"/>
          </a:xfrm>
        </p:spPr>
        <p:txBody>
          <a:bodyPr wrap="square" lIns="0" tIns="0" rIns="0" bIns="0" anchor="t">
            <a:noAutofit/>
          </a:bodyPr>
          <a:lstStyle>
            <a:lvl1pPr>
              <a:defRPr sz="2350" b="1">
                <a:solidFill>
                  <a:srgbClr val="3333B2"/>
                </a:solidFill>
                <a:latin typeface="Times New Roman"/>
              </a:defRPr>
            </a:lvl1pPr>
            <a:lvl2pPr>
              <a:defRPr sz="2350" b="1">
                <a:solidFill>
                  <a:srgbClr val="3333B2"/>
                </a:solidFill>
                <a:latin typeface="Times New Roman"/>
              </a:defRPr>
            </a:lvl2pPr>
            <a:lvl3pPr>
              <a:defRPr sz="2350" b="1">
                <a:solidFill>
                  <a:srgbClr val="3333B2"/>
                </a:solidFill>
                <a:latin typeface="Times New Roman"/>
              </a:defRPr>
            </a:lvl3pPr>
            <a:lvl4pPr>
              <a:defRPr sz="2350" b="1">
                <a:solidFill>
                  <a:srgbClr val="3333B2"/>
                </a:solidFill>
                <a:latin typeface="Times New Roman"/>
              </a:defRPr>
            </a:lvl4pPr>
            <a:lvl5pPr>
              <a:defRPr sz="2350" b="1">
                <a:solidFill>
                  <a:srgbClr val="3333B2"/>
                </a:solidFill>
                <a:latin typeface="Times New Roman"/>
              </a:defRPr>
            </a:lvl5pPr>
            <a:lvl6pPr>
              <a:defRPr sz="2350" b="1">
                <a:solidFill>
                  <a:srgbClr val="3333B2"/>
                </a:solidFill>
                <a:latin typeface="Times New Roman"/>
              </a:defRPr>
            </a:lvl6pPr>
            <a:lvl7pPr>
              <a:defRPr sz="2350" b="1">
                <a:solidFill>
                  <a:srgbClr val="3333B2"/>
                </a:solidFill>
                <a:latin typeface="Times New Roman"/>
              </a:defRPr>
            </a:lvl7pPr>
            <a:lvl8pPr>
              <a:defRPr sz="2350" b="1">
                <a:solidFill>
                  <a:srgbClr val="3333B2"/>
                </a:solidFill>
                <a:latin typeface="Times New Roman"/>
              </a:defRPr>
            </a:lvl8pPr>
            <a:lvl9pPr>
              <a:defRPr sz="2350" b="1">
                <a:solidFill>
                  <a:srgbClr val="3333B2"/>
                </a:solidFill>
                <a:latin typeface="Times New Roman"/>
              </a:defRPr>
            </a:lvl9pPr>
          </a:lstStyle>
          <a:p>
            <a:pPr marL="0" lvl="0" indent="0">
              <a:spcAft>
                <a:spcPts val="650"/>
              </a:spcAft>
              <a:buNone/>
            </a:pPr>
            <a:r>
              <a:rPr sz="2350" b="1">
                <a:solidFill>
                  <a:srgbClr val="3333B2"/>
                </a:solidFill>
                <a:latin typeface="Times New Roman"/>
              </a:rPr>
              <a:t>Reusable Recipe: Proving a Problem NP-Complete</a:t>
            </a:r>
          </a:p>
        </p:txBody>
      </p:sp>
      <p:sp>
        <p:nvSpPr>
          <p:cNvPr id="3" name="Content Placeholder 2"/>
          <p:cNvSpPr>
            <a:spLocks noGrp="1"/>
          </p:cNvSpPr>
          <p:nvPr/>
        </p:nvSpPr>
        <p:spPr>
          <a:xfrm>
            <a:off x="365760" y="1097280"/>
            <a:ext cx="4069080" cy="2560320"/>
          </a:xfrm>
        </p:spPr>
        <p:txBody>
          <a:bodyPr wrap="square" lIns="0" tIns="0" rIns="0" bIns="0" anchor="t">
            <a:noAutofit/>
          </a:bodyPr>
          <a:lstStyle>
            <a:lvl1pPr>
              <a:defRPr sz="1900">
                <a:latin typeface="Times New Roman"/>
              </a:defRPr>
            </a:lvl1pPr>
            <a:lvl2pPr>
              <a:defRPr sz="1900">
                <a:latin typeface="Times New Roman"/>
              </a:defRPr>
            </a:lvl2pPr>
            <a:lvl3pPr>
              <a:defRPr sz="1900">
                <a:latin typeface="Times New Roman"/>
              </a:defRPr>
            </a:lvl3pPr>
            <a:lvl4pPr>
              <a:defRPr sz="1900">
                <a:latin typeface="Times New Roman"/>
              </a:defRPr>
            </a:lvl4pPr>
            <a:lvl5pPr>
              <a:defRPr sz="1900">
                <a:latin typeface="Times New Roman"/>
              </a:defRPr>
            </a:lvl5pPr>
            <a:lvl6pPr>
              <a:defRPr sz="1900">
                <a:latin typeface="Times New Roman"/>
              </a:defRPr>
            </a:lvl6pPr>
            <a:lvl7pPr>
              <a:defRPr sz="1900">
                <a:latin typeface="Times New Roman"/>
              </a:defRPr>
            </a:lvl7pPr>
            <a:lvl8pPr>
              <a:defRPr sz="1900">
                <a:latin typeface="Times New Roman"/>
              </a:defRPr>
            </a:lvl8pPr>
            <a:lvl9pPr>
              <a:defRPr sz="1900">
                <a:latin typeface="Times New Roman"/>
              </a:defRPr>
            </a:lvl9pPr>
          </a:lstStyle>
          <a:p>
            <a:pPr marL="0" lvl="0" indent="0">
              <a:spcAft>
                <a:spcPts val="650"/>
              </a:spcAft>
              <a:buNone/>
            </a:pPr>
            <a:r>
              <a:rPr sz="1900" b="1">
                <a:latin typeface="Times New Roman"/>
              </a:rPr>
              <a:t>1. Membership in NP</a:t>
            </a:r>
          </a:p>
          <a:p>
            <a:pPr lvl="0">
              <a:spcAft>
                <a:spcPts val="650"/>
              </a:spcAft>
            </a:pPr>
            <a:r>
              <a:rPr sz="1900">
                <a:latin typeface="Times New Roman"/>
              </a:rPr>
              <a:t>State a polynomial-size certificate.</a:t>
            </a:r>
          </a:p>
          <a:p>
            <a:pPr lvl="0">
              <a:spcAft>
                <a:spcPts val="650"/>
              </a:spcAft>
            </a:pPr>
            <a:r>
              <a:rPr sz="1900">
                <a:latin typeface="Times New Roman"/>
              </a:rPr>
              <a:t>Give a polynomial-time verifier.</a:t>
            </a:r>
          </a:p>
          <a:p>
            <a:pPr marL="0" lvl="0" indent="0">
              <a:spcAft>
                <a:spcPts val="650"/>
              </a:spcAft>
              <a:buNone/>
            </a:pPr>
            <a14:m xmlns:a14="http://schemas.microsoft.com/office/drawing/2010/main">
              <m:oMathPara xmlns:m="http://schemas.openxmlformats.org/officeDocument/2006/math">
                <m:oMathParaPr>
                  <m:jc m:val="center"/>
                </m:oMathParaPr>
                <m:oMath>
                  <m:r>
                    <a:rPr>
                      <a:latin typeface="Cambria Math" panose="02040503050406030204" pitchFamily="18" charset="0"/>
                    </a:rPr>
                    <m:t>𝐵</m:t>
                  </m:r>
                  <m:r>
                    <a:rPr>
                      <a:latin typeface="Cambria Math" panose="02040503050406030204" pitchFamily="18" charset="0"/>
                    </a:rPr>
                    <m:t>∈</m:t>
                  </m:r>
                  <m:r>
                    <a:rPr>
                      <a:latin typeface="Cambria Math" panose="02040503050406030204" pitchFamily="18" charset="0"/>
                    </a:rPr>
                    <m:t>𝑁𝑃</m:t>
                  </m:r>
                  <m:r>
                    <a:rPr>
                      <a:latin typeface="Cambria Math" panose="02040503050406030204" pitchFamily="18" charset="0"/>
                    </a:rPr>
                    <m:t>.</m:t>
                  </m:r>
                </m:oMath>
              </m:oMathPara>
            </a14:m>
            <a:endParaRPr sz="1900">
              <a:latin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228600" y="128016"/>
            <a:ext cx="8686800" cy="713232"/>
          </a:xfrm>
        </p:spPr>
        <p:txBody>
          <a:bodyPr wrap="square" lIns="0" tIns="0" rIns="0" bIns="0" anchor="t">
            <a:noAutofit/>
          </a:bodyPr>
          <a:lstStyle>
            <a:lvl1pPr>
              <a:defRPr sz="2350" b="1">
                <a:solidFill>
                  <a:srgbClr val="3333B2"/>
                </a:solidFill>
                <a:latin typeface="Times New Roman"/>
              </a:defRPr>
            </a:lvl1pPr>
            <a:lvl2pPr>
              <a:defRPr sz="2350" b="1">
                <a:solidFill>
                  <a:srgbClr val="3333B2"/>
                </a:solidFill>
                <a:latin typeface="Times New Roman"/>
              </a:defRPr>
            </a:lvl2pPr>
            <a:lvl3pPr>
              <a:defRPr sz="2350" b="1">
                <a:solidFill>
                  <a:srgbClr val="3333B2"/>
                </a:solidFill>
                <a:latin typeface="Times New Roman"/>
              </a:defRPr>
            </a:lvl3pPr>
            <a:lvl4pPr>
              <a:defRPr sz="2350" b="1">
                <a:solidFill>
                  <a:srgbClr val="3333B2"/>
                </a:solidFill>
                <a:latin typeface="Times New Roman"/>
              </a:defRPr>
            </a:lvl4pPr>
            <a:lvl5pPr>
              <a:defRPr sz="2350" b="1">
                <a:solidFill>
                  <a:srgbClr val="3333B2"/>
                </a:solidFill>
                <a:latin typeface="Times New Roman"/>
              </a:defRPr>
            </a:lvl5pPr>
            <a:lvl6pPr>
              <a:defRPr sz="2350" b="1">
                <a:solidFill>
                  <a:srgbClr val="3333B2"/>
                </a:solidFill>
                <a:latin typeface="Times New Roman"/>
              </a:defRPr>
            </a:lvl6pPr>
            <a:lvl7pPr>
              <a:defRPr sz="2350" b="1">
                <a:solidFill>
                  <a:srgbClr val="3333B2"/>
                </a:solidFill>
                <a:latin typeface="Times New Roman"/>
              </a:defRPr>
            </a:lvl7pPr>
            <a:lvl8pPr>
              <a:defRPr sz="2350" b="1">
                <a:solidFill>
                  <a:srgbClr val="3333B2"/>
                </a:solidFill>
                <a:latin typeface="Times New Roman"/>
              </a:defRPr>
            </a:lvl8pPr>
            <a:lvl9pPr>
              <a:defRPr sz="2350" b="1">
                <a:solidFill>
                  <a:srgbClr val="3333B2"/>
                </a:solidFill>
                <a:latin typeface="Times New Roman"/>
              </a:defRPr>
            </a:lvl9pPr>
          </a:lstStyle>
          <a:p>
            <a:pPr marL="0" lvl="0" indent="0">
              <a:spcAft>
                <a:spcPts val="650"/>
              </a:spcAft>
              <a:buNone/>
            </a:pPr>
            <a:r>
              <a:rPr sz="2350" b="1">
                <a:solidFill>
                  <a:srgbClr val="3333B2"/>
                </a:solidFill>
                <a:latin typeface="Times New Roman"/>
              </a:rPr>
              <a:t>Reusable Recipe: Proving a Problem NP-Complete</a:t>
            </a:r>
          </a:p>
        </p:txBody>
      </p:sp>
      <p:sp>
        <p:nvSpPr>
          <p:cNvPr id="3" name="Content Placeholder 2"/>
          <p:cNvSpPr>
            <a:spLocks noGrp="1"/>
          </p:cNvSpPr>
          <p:nvPr/>
        </p:nvSpPr>
        <p:spPr>
          <a:xfrm>
            <a:off x="365760" y="1097280"/>
            <a:ext cx="4069080" cy="2560320"/>
          </a:xfrm>
        </p:spPr>
        <p:txBody>
          <a:bodyPr wrap="square" lIns="0" tIns="0" rIns="0" bIns="0" anchor="t">
            <a:noAutofit/>
          </a:bodyPr>
          <a:lstStyle>
            <a:lvl1pPr>
              <a:defRPr sz="1900">
                <a:latin typeface="Times New Roman"/>
              </a:defRPr>
            </a:lvl1pPr>
            <a:lvl2pPr>
              <a:defRPr sz="1900">
                <a:latin typeface="Times New Roman"/>
              </a:defRPr>
            </a:lvl2pPr>
            <a:lvl3pPr>
              <a:defRPr sz="1900">
                <a:latin typeface="Times New Roman"/>
              </a:defRPr>
            </a:lvl3pPr>
            <a:lvl4pPr>
              <a:defRPr sz="1900">
                <a:latin typeface="Times New Roman"/>
              </a:defRPr>
            </a:lvl4pPr>
            <a:lvl5pPr>
              <a:defRPr sz="1900">
                <a:latin typeface="Times New Roman"/>
              </a:defRPr>
            </a:lvl5pPr>
            <a:lvl6pPr>
              <a:defRPr sz="1900">
                <a:latin typeface="Times New Roman"/>
              </a:defRPr>
            </a:lvl6pPr>
            <a:lvl7pPr>
              <a:defRPr sz="1900">
                <a:latin typeface="Times New Roman"/>
              </a:defRPr>
            </a:lvl7pPr>
            <a:lvl8pPr>
              <a:defRPr sz="1900">
                <a:latin typeface="Times New Roman"/>
              </a:defRPr>
            </a:lvl8pPr>
            <a:lvl9pPr>
              <a:defRPr sz="1900">
                <a:latin typeface="Times New Roman"/>
              </a:defRPr>
            </a:lvl9pPr>
          </a:lstStyle>
          <a:p>
            <a:pPr marL="0" lvl="0" indent="0">
              <a:spcAft>
                <a:spcPts val="650"/>
              </a:spcAft>
              <a:buNone/>
            </a:pPr>
            <a:r>
              <a:rPr sz="1900" b="1">
                <a:latin typeface="Times New Roman"/>
              </a:rPr>
              <a:t>1. Membership in NP</a:t>
            </a:r>
          </a:p>
          <a:p>
            <a:pPr lvl="0">
              <a:spcAft>
                <a:spcPts val="650"/>
              </a:spcAft>
            </a:pPr>
            <a:r>
              <a:rPr sz="1900">
                <a:latin typeface="Times New Roman"/>
              </a:rPr>
              <a:t>State a polynomial-size certificate.</a:t>
            </a:r>
          </a:p>
          <a:p>
            <a:pPr lvl="0">
              <a:spcAft>
                <a:spcPts val="650"/>
              </a:spcAft>
            </a:pPr>
            <a:r>
              <a:rPr sz="1900">
                <a:latin typeface="Times New Roman"/>
              </a:rPr>
              <a:t>Give a polynomial-time verifier.</a:t>
            </a:r>
          </a:p>
          <a:p>
            <a:pPr marL="0" lvl="0" indent="0">
              <a:spcAft>
                <a:spcPts val="650"/>
              </a:spcAft>
              <a:buNone/>
            </a:pPr>
            <a14:m xmlns:a14="http://schemas.microsoft.com/office/drawing/2010/main">
              <m:oMathPara xmlns:m="http://schemas.openxmlformats.org/officeDocument/2006/math">
                <m:oMathParaPr>
                  <m:jc m:val="center"/>
                </m:oMathParaPr>
                <m:oMath>
                  <m:r>
                    <a:rPr>
                      <a:latin typeface="Cambria Math" panose="02040503050406030204" pitchFamily="18" charset="0"/>
                    </a:rPr>
                    <m:t>𝐵</m:t>
                  </m:r>
                  <m:r>
                    <a:rPr>
                      <a:latin typeface="Cambria Math" panose="02040503050406030204" pitchFamily="18" charset="0"/>
                    </a:rPr>
                    <m:t>∈</m:t>
                  </m:r>
                  <m:r>
                    <a:rPr>
                      <a:latin typeface="Cambria Math" panose="02040503050406030204" pitchFamily="18" charset="0"/>
                    </a:rPr>
                    <m:t>𝑁𝑃</m:t>
                  </m:r>
                  <m:r>
                    <a:rPr>
                      <a:latin typeface="Cambria Math" panose="02040503050406030204" pitchFamily="18" charset="0"/>
                    </a:rPr>
                    <m:t>.</m:t>
                  </m:r>
                </m:oMath>
              </m:oMathPara>
            </a14:m>
            <a:endParaRPr sz="1900">
              <a:latin typeface="Times New Roman"/>
            </a:endParaRPr>
          </a:p>
        </p:txBody>
      </p:sp>
      <p:sp>
        <p:nvSpPr>
          <p:cNvPr id="4" name="Content Placeholder 2"/>
          <p:cNvSpPr>
            <a:spLocks noGrp="1"/>
          </p:cNvSpPr>
          <p:nvPr/>
        </p:nvSpPr>
        <p:spPr>
          <a:xfrm>
            <a:off x="4709160" y="1097280"/>
            <a:ext cx="4069080" cy="3017520"/>
          </a:xfrm>
        </p:spPr>
        <p:txBody>
          <a:bodyPr wrap="square" lIns="0" tIns="0" rIns="0" bIns="0" anchor="t">
            <a:noAutofit/>
          </a:bodyPr>
          <a:lstStyle>
            <a:lvl1pPr>
              <a:defRPr sz="1800">
                <a:latin typeface="Times New Roman"/>
              </a:defRPr>
            </a:lvl1pPr>
            <a:lvl2pPr>
              <a:defRPr sz="1800">
                <a:latin typeface="Times New Roman"/>
              </a:defRPr>
            </a:lvl2pPr>
            <a:lvl3pPr>
              <a:defRPr sz="1800">
                <a:latin typeface="Times New Roman"/>
              </a:defRPr>
            </a:lvl3pPr>
            <a:lvl4pPr>
              <a:defRPr sz="1800">
                <a:latin typeface="Times New Roman"/>
              </a:defRPr>
            </a:lvl4pPr>
            <a:lvl5pPr>
              <a:defRPr sz="1800">
                <a:latin typeface="Times New Roman"/>
              </a:defRPr>
            </a:lvl5pPr>
            <a:lvl6pPr>
              <a:defRPr sz="1800">
                <a:latin typeface="Times New Roman"/>
              </a:defRPr>
            </a:lvl6pPr>
            <a:lvl7pPr>
              <a:defRPr sz="1800">
                <a:latin typeface="Times New Roman"/>
              </a:defRPr>
            </a:lvl7pPr>
            <a:lvl8pPr>
              <a:defRPr sz="1800">
                <a:latin typeface="Times New Roman"/>
              </a:defRPr>
            </a:lvl8pPr>
            <a:lvl9pPr>
              <a:defRPr sz="1800">
                <a:latin typeface="Times New Roman"/>
              </a:defRPr>
            </a:lvl9pPr>
          </a:lstStyle>
          <a:p>
            <a:pPr marL="0" lvl="0" indent="0">
              <a:spcAft>
                <a:spcPts val="650"/>
              </a:spcAft>
              <a:buNone/>
            </a:pPr>
            <a:r>
              <a:rPr sz="1800" b="1">
                <a:latin typeface="Times New Roman"/>
              </a:rPr>
              <a:t>2. NP-hardness</a:t>
            </a:r>
          </a:p>
          <a:p>
            <a:pPr marL="342900" lvl="0" indent="-342900">
              <a:spcAft>
                <a:spcPts val="650"/>
              </a:spcAft>
              <a:buAutoNum type="arabicPeriod"/>
            </a:pPr>
            <a:r>
              <a:rPr sz="1800">
                <a:latin typeface="Times New Roman"/>
              </a:rPr>
              <a:t>Choose a known NP-complete problem </a:t>
            </a:r>
            <a14:m xmlns:a14="http://schemas.microsoft.com/office/drawing/2010/main">
              <m:oMath xmlns:m="http://schemas.openxmlformats.org/officeDocument/2006/math">
                <m:r>
                  <a:rPr>
                    <a:latin typeface="Cambria Math" panose="02040503050406030204" pitchFamily="18" charset="0"/>
                  </a:rPr>
                  <m:t>𝐴</m:t>
                </m:r>
              </m:oMath>
            </a14:m>
            <a:r>
              <a:rPr sz="1800">
                <a:latin typeface="Times New Roman"/>
              </a:rPr>
              <a:t>.</a:t>
            </a:r>
          </a:p>
          <a:p>
            <a:pPr marL="342900" lvl="0" indent="-342900">
              <a:spcAft>
                <a:spcPts val="650"/>
              </a:spcAft>
              <a:buAutoNum type="arabicPeriod"/>
            </a:pPr>
            <a:r>
              <a:rPr sz="1800">
                <a:latin typeface="Times New Roman"/>
              </a:rPr>
              <a:t>Construct </a:t>
            </a:r>
            <a14:m xmlns:a14="http://schemas.microsoft.com/office/drawing/2010/main">
              <m:oMath xmlns:m="http://schemas.openxmlformats.org/officeDocument/2006/math">
                <m:r>
                  <a:rPr>
                    <a:latin typeface="Cambria Math" panose="02040503050406030204" pitchFamily="18" charset="0"/>
                  </a:rPr>
                  <m:t>𝑓</m:t>
                </m:r>
              </m:oMath>
            </a14:m>
            <a:r>
              <a:rPr sz="1800">
                <a:latin typeface="Times New Roman"/>
              </a:rPr>
              <a:t> in polynomial time.</a:t>
            </a:r>
          </a:p>
          <a:p>
            <a:pPr marL="342900" lvl="0" indent="-342900">
              <a:spcAft>
                <a:spcPts val="650"/>
              </a:spcAft>
              <a:buAutoNum type="arabicPeriod"/>
            </a:pPr>
            <a:r>
              <a:rPr sz="1800">
                <a:latin typeface="Times New Roman"/>
              </a:rPr>
              <a:t>Prove </a:t>
            </a:r>
            <a14:m xmlns:a14="http://schemas.microsoft.com/office/drawing/2010/main">
              <m:oMath xmlns:m="http://schemas.openxmlformats.org/officeDocument/2006/math">
                <m:r>
                  <a:rPr>
                    <a:latin typeface="Cambria Math" panose="02040503050406030204" pitchFamily="18" charset="0"/>
                  </a:rPr>
                  <m:t>𝑥</m:t>
                </m:r>
                <m:r>
                  <a:rPr>
                    <a:latin typeface="Cambria Math" panose="02040503050406030204" pitchFamily="18" charset="0"/>
                  </a:rPr>
                  <m:t>∈</m:t>
                </m:r>
                <m:r>
                  <a:rPr>
                    <a:latin typeface="Cambria Math" panose="02040503050406030204" pitchFamily="18" charset="0"/>
                  </a:rPr>
                  <m:t>𝐴</m:t>
                </m:r>
                <m:r>
                  <a:rPr>
                    <a:latin typeface="Cambria Math" panose="02040503050406030204" pitchFamily="18" charset="0"/>
                  </a:rPr>
                  <m:t>⇔</m:t>
                </m:r>
                <m:r>
                  <a:rPr>
                    <a:latin typeface="Cambria Math" panose="02040503050406030204" pitchFamily="18" charset="0"/>
                  </a:rPr>
                  <m:t>𝑓</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r>
                  <a:rPr>
                    <a:latin typeface="Cambria Math" panose="02040503050406030204" pitchFamily="18" charset="0"/>
                  </a:rPr>
                  <m:t>𝐵</m:t>
                </m:r>
              </m:oMath>
            </a14:m>
            <a:r>
              <a:rPr sz="1800">
                <a:latin typeface="Times New Roman"/>
              </a:rPr>
              <a:t>.</a:t>
            </a:r>
          </a:p>
          <a:p>
            <a:pPr marL="0" lvl="0" indent="0">
              <a:spcAft>
                <a:spcPts val="650"/>
              </a:spcAft>
              <a:buNone/>
            </a:pPr>
            <a:r>
              <a:rPr sz="1800">
                <a:latin typeface="Times New Roman"/>
              </a:rPr>
              <a:t>If </a:t>
            </a:r>
            <a14:m xmlns:a14="http://schemas.microsoft.com/office/drawing/2010/main">
              <m:oMath xmlns:m="http://schemas.openxmlformats.org/officeDocument/2006/math">
                <m:r>
                  <a:rPr>
                    <a:latin typeface="Cambria Math" panose="02040503050406030204" pitchFamily="18" charset="0"/>
                  </a:rPr>
                  <m:t>𝐴</m:t>
                </m:r>
              </m:oMath>
            </a14:m>
            <a:r>
              <a:rPr sz="1800">
                <a:latin typeface="Times New Roman"/>
              </a:rPr>
              <a:t> is NP-hard and </a:t>
            </a:r>
            <a14:m xmlns:a14="http://schemas.microsoft.com/office/drawing/2010/main">
              <m:oMath xmlns:m="http://schemas.openxmlformats.org/officeDocument/2006/math">
                <m:r>
                  <a:rPr>
                    <a:latin typeface="Cambria Math" panose="02040503050406030204" pitchFamily="18" charset="0"/>
                  </a:rPr>
                  <m:t>𝐴</m:t>
                </m:r>
                <m:sSub>
                  <m:sSubPr>
                    <m:ctrlPr>
                      <a:rPr>
                        <a:latin typeface="Cambria Math" panose="02040503050406030204" pitchFamily="18" charset="0"/>
                      </a:rPr>
                    </m:ctrlPr>
                  </m:sSubPr>
                  <m:e>
                    <m:r>
                      <a:rPr>
                        <a:latin typeface="Cambria Math" panose="02040503050406030204" pitchFamily="18" charset="0"/>
                      </a:rPr>
                      <m:t>≤</m:t>
                    </m:r>
                  </m:e>
                  <m:sub>
                    <m:r>
                      <a:rPr>
                        <a:latin typeface="Cambria Math" panose="02040503050406030204" pitchFamily="18" charset="0"/>
                      </a:rPr>
                      <m:t>𝑝</m:t>
                    </m:r>
                  </m:sub>
                </m:sSub>
                <m:r>
                  <a:rPr>
                    <a:latin typeface="Cambria Math" panose="02040503050406030204" pitchFamily="18" charset="0"/>
                  </a:rPr>
                  <m:t>𝐵</m:t>
                </m:r>
              </m:oMath>
            </a14:m>
            <a:r>
              <a:rPr sz="1800">
                <a:latin typeface="Times New Roman"/>
              </a:rPr>
              <a:t>, then </a:t>
            </a:r>
            <a14:m xmlns:a14="http://schemas.microsoft.com/office/drawing/2010/main">
              <m:oMath xmlns:m="http://schemas.openxmlformats.org/officeDocument/2006/math">
                <m:r>
                  <a:rPr>
                    <a:latin typeface="Cambria Math" panose="02040503050406030204" pitchFamily="18" charset="0"/>
                  </a:rPr>
                  <m:t>𝐵</m:t>
                </m:r>
              </m:oMath>
            </a14:m>
            <a:r>
              <a:rPr sz="1800">
                <a:latin typeface="Times New Roman"/>
              </a:rPr>
              <a:t> is NP-hard.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228600" y="128016"/>
            <a:ext cx="8686800" cy="713232"/>
          </a:xfrm>
        </p:spPr>
        <p:txBody>
          <a:bodyPr wrap="square" lIns="0" tIns="0" rIns="0" bIns="0" anchor="t">
            <a:noAutofit/>
          </a:bodyPr>
          <a:lstStyle>
            <a:lvl1pPr>
              <a:defRPr sz="2350" b="1">
                <a:solidFill>
                  <a:srgbClr val="3333B2"/>
                </a:solidFill>
                <a:latin typeface="Times New Roman"/>
              </a:defRPr>
            </a:lvl1pPr>
            <a:lvl2pPr>
              <a:defRPr sz="2350" b="1">
                <a:solidFill>
                  <a:srgbClr val="3333B2"/>
                </a:solidFill>
                <a:latin typeface="Times New Roman"/>
              </a:defRPr>
            </a:lvl2pPr>
            <a:lvl3pPr>
              <a:defRPr sz="2350" b="1">
                <a:solidFill>
                  <a:srgbClr val="3333B2"/>
                </a:solidFill>
                <a:latin typeface="Times New Roman"/>
              </a:defRPr>
            </a:lvl3pPr>
            <a:lvl4pPr>
              <a:defRPr sz="2350" b="1">
                <a:solidFill>
                  <a:srgbClr val="3333B2"/>
                </a:solidFill>
                <a:latin typeface="Times New Roman"/>
              </a:defRPr>
            </a:lvl4pPr>
            <a:lvl5pPr>
              <a:defRPr sz="2350" b="1">
                <a:solidFill>
                  <a:srgbClr val="3333B2"/>
                </a:solidFill>
                <a:latin typeface="Times New Roman"/>
              </a:defRPr>
            </a:lvl5pPr>
            <a:lvl6pPr>
              <a:defRPr sz="2350" b="1">
                <a:solidFill>
                  <a:srgbClr val="3333B2"/>
                </a:solidFill>
                <a:latin typeface="Times New Roman"/>
              </a:defRPr>
            </a:lvl6pPr>
            <a:lvl7pPr>
              <a:defRPr sz="2350" b="1">
                <a:solidFill>
                  <a:srgbClr val="3333B2"/>
                </a:solidFill>
                <a:latin typeface="Times New Roman"/>
              </a:defRPr>
            </a:lvl7pPr>
            <a:lvl8pPr>
              <a:defRPr sz="2350" b="1">
                <a:solidFill>
                  <a:srgbClr val="3333B2"/>
                </a:solidFill>
                <a:latin typeface="Times New Roman"/>
              </a:defRPr>
            </a:lvl8pPr>
            <a:lvl9pPr>
              <a:defRPr sz="2350" b="1">
                <a:solidFill>
                  <a:srgbClr val="3333B2"/>
                </a:solidFill>
                <a:latin typeface="Times New Roman"/>
              </a:defRPr>
            </a:lvl9pPr>
          </a:lstStyle>
          <a:p>
            <a:pPr marL="0" lvl="0" indent="0">
              <a:spcAft>
                <a:spcPts val="650"/>
              </a:spcAft>
              <a:buNone/>
            </a:pPr>
            <a:r>
              <a:rPr sz="2350" b="1">
                <a:solidFill>
                  <a:srgbClr val="3333B2"/>
                </a:solidFill>
                <a:latin typeface="Times New Roman"/>
              </a:rPr>
              <a:t>Reusable Recipe: Proving a Problem NP-Complete</a:t>
            </a:r>
          </a:p>
        </p:txBody>
      </p:sp>
      <p:sp>
        <p:nvSpPr>
          <p:cNvPr id="3" name="Content Placeholder 2"/>
          <p:cNvSpPr>
            <a:spLocks noGrp="1"/>
          </p:cNvSpPr>
          <p:nvPr/>
        </p:nvSpPr>
        <p:spPr>
          <a:xfrm>
            <a:off x="365760" y="1097280"/>
            <a:ext cx="4069080" cy="2560320"/>
          </a:xfrm>
        </p:spPr>
        <p:txBody>
          <a:bodyPr wrap="square" lIns="0" tIns="0" rIns="0" bIns="0" anchor="t">
            <a:noAutofit/>
          </a:bodyPr>
          <a:lstStyle>
            <a:lvl1pPr>
              <a:defRPr sz="1900">
                <a:latin typeface="Times New Roman"/>
              </a:defRPr>
            </a:lvl1pPr>
            <a:lvl2pPr>
              <a:defRPr sz="1900">
                <a:latin typeface="Times New Roman"/>
              </a:defRPr>
            </a:lvl2pPr>
            <a:lvl3pPr>
              <a:defRPr sz="1900">
                <a:latin typeface="Times New Roman"/>
              </a:defRPr>
            </a:lvl3pPr>
            <a:lvl4pPr>
              <a:defRPr sz="1900">
                <a:latin typeface="Times New Roman"/>
              </a:defRPr>
            </a:lvl4pPr>
            <a:lvl5pPr>
              <a:defRPr sz="1900">
                <a:latin typeface="Times New Roman"/>
              </a:defRPr>
            </a:lvl5pPr>
            <a:lvl6pPr>
              <a:defRPr sz="1900">
                <a:latin typeface="Times New Roman"/>
              </a:defRPr>
            </a:lvl6pPr>
            <a:lvl7pPr>
              <a:defRPr sz="1900">
                <a:latin typeface="Times New Roman"/>
              </a:defRPr>
            </a:lvl7pPr>
            <a:lvl8pPr>
              <a:defRPr sz="1900">
                <a:latin typeface="Times New Roman"/>
              </a:defRPr>
            </a:lvl8pPr>
            <a:lvl9pPr>
              <a:defRPr sz="1900">
                <a:latin typeface="Times New Roman"/>
              </a:defRPr>
            </a:lvl9pPr>
          </a:lstStyle>
          <a:p>
            <a:pPr marL="0" lvl="0" indent="0">
              <a:spcAft>
                <a:spcPts val="650"/>
              </a:spcAft>
              <a:buNone/>
            </a:pPr>
            <a:r>
              <a:rPr sz="1900" b="1">
                <a:latin typeface="Times New Roman"/>
              </a:rPr>
              <a:t>1. Membership in NP</a:t>
            </a:r>
          </a:p>
          <a:p>
            <a:pPr lvl="0">
              <a:spcAft>
                <a:spcPts val="650"/>
              </a:spcAft>
            </a:pPr>
            <a:r>
              <a:rPr sz="1900">
                <a:latin typeface="Times New Roman"/>
              </a:rPr>
              <a:t>State a polynomial-size certificate.</a:t>
            </a:r>
          </a:p>
          <a:p>
            <a:pPr lvl="0">
              <a:spcAft>
                <a:spcPts val="650"/>
              </a:spcAft>
            </a:pPr>
            <a:r>
              <a:rPr sz="1900">
                <a:latin typeface="Times New Roman"/>
              </a:rPr>
              <a:t>Give a polynomial-time verifier.</a:t>
            </a:r>
          </a:p>
          <a:p>
            <a:pPr marL="0" lvl="0" indent="0">
              <a:spcAft>
                <a:spcPts val="650"/>
              </a:spcAft>
              <a:buNone/>
            </a:pPr>
            <a14:m xmlns:a14="http://schemas.microsoft.com/office/drawing/2010/main">
              <m:oMathPara xmlns:m="http://schemas.openxmlformats.org/officeDocument/2006/math">
                <m:oMathParaPr>
                  <m:jc m:val="center"/>
                </m:oMathParaPr>
                <m:oMath>
                  <m:r>
                    <a:rPr>
                      <a:latin typeface="Cambria Math" panose="02040503050406030204" pitchFamily="18" charset="0"/>
                    </a:rPr>
                    <m:t>𝐵</m:t>
                  </m:r>
                  <m:r>
                    <a:rPr>
                      <a:latin typeface="Cambria Math" panose="02040503050406030204" pitchFamily="18" charset="0"/>
                    </a:rPr>
                    <m:t>∈</m:t>
                  </m:r>
                  <m:r>
                    <a:rPr>
                      <a:latin typeface="Cambria Math" panose="02040503050406030204" pitchFamily="18" charset="0"/>
                    </a:rPr>
                    <m:t>𝑁𝑃</m:t>
                  </m:r>
                  <m:r>
                    <a:rPr>
                      <a:latin typeface="Cambria Math" panose="02040503050406030204" pitchFamily="18" charset="0"/>
                    </a:rPr>
                    <m:t>.</m:t>
                  </m:r>
                </m:oMath>
              </m:oMathPara>
            </a14:m>
            <a:endParaRPr sz="1900">
              <a:latin typeface="Times New Roman"/>
            </a:endParaRPr>
          </a:p>
        </p:txBody>
      </p:sp>
      <p:sp>
        <p:nvSpPr>
          <p:cNvPr id="4" name="Content Placeholder 2"/>
          <p:cNvSpPr>
            <a:spLocks noGrp="1"/>
          </p:cNvSpPr>
          <p:nvPr/>
        </p:nvSpPr>
        <p:spPr>
          <a:xfrm>
            <a:off x="4709160" y="1097280"/>
            <a:ext cx="4069080" cy="3017520"/>
          </a:xfrm>
        </p:spPr>
        <p:txBody>
          <a:bodyPr wrap="square" lIns="0" tIns="0" rIns="0" bIns="0" anchor="t">
            <a:noAutofit/>
          </a:bodyPr>
          <a:lstStyle>
            <a:lvl1pPr>
              <a:defRPr sz="1800">
                <a:latin typeface="Times New Roman"/>
              </a:defRPr>
            </a:lvl1pPr>
            <a:lvl2pPr>
              <a:defRPr sz="1800">
                <a:latin typeface="Times New Roman"/>
              </a:defRPr>
            </a:lvl2pPr>
            <a:lvl3pPr>
              <a:defRPr sz="1800">
                <a:latin typeface="Times New Roman"/>
              </a:defRPr>
            </a:lvl3pPr>
            <a:lvl4pPr>
              <a:defRPr sz="1800">
                <a:latin typeface="Times New Roman"/>
              </a:defRPr>
            </a:lvl4pPr>
            <a:lvl5pPr>
              <a:defRPr sz="1800">
                <a:latin typeface="Times New Roman"/>
              </a:defRPr>
            </a:lvl5pPr>
            <a:lvl6pPr>
              <a:defRPr sz="1800">
                <a:latin typeface="Times New Roman"/>
              </a:defRPr>
            </a:lvl6pPr>
            <a:lvl7pPr>
              <a:defRPr sz="1800">
                <a:latin typeface="Times New Roman"/>
              </a:defRPr>
            </a:lvl7pPr>
            <a:lvl8pPr>
              <a:defRPr sz="1800">
                <a:latin typeface="Times New Roman"/>
              </a:defRPr>
            </a:lvl8pPr>
            <a:lvl9pPr>
              <a:defRPr sz="1800">
                <a:latin typeface="Times New Roman"/>
              </a:defRPr>
            </a:lvl9pPr>
          </a:lstStyle>
          <a:p>
            <a:pPr marL="0" lvl="0" indent="0">
              <a:spcAft>
                <a:spcPts val="650"/>
              </a:spcAft>
              <a:buNone/>
            </a:pPr>
            <a:r>
              <a:rPr sz="1800" b="1">
                <a:latin typeface="Times New Roman"/>
              </a:rPr>
              <a:t>2. NP-hardness</a:t>
            </a:r>
          </a:p>
          <a:p>
            <a:pPr marL="342900" lvl="0" indent="-342900">
              <a:spcAft>
                <a:spcPts val="650"/>
              </a:spcAft>
              <a:buAutoNum type="arabicPeriod"/>
            </a:pPr>
            <a:r>
              <a:rPr sz="1800">
                <a:latin typeface="Times New Roman"/>
              </a:rPr>
              <a:t>Choose a known NP-complete problem </a:t>
            </a:r>
            <a14:m xmlns:a14="http://schemas.microsoft.com/office/drawing/2010/main">
              <m:oMath xmlns:m="http://schemas.openxmlformats.org/officeDocument/2006/math">
                <m:r>
                  <a:rPr>
                    <a:latin typeface="Cambria Math" panose="02040503050406030204" pitchFamily="18" charset="0"/>
                  </a:rPr>
                  <m:t>𝐴</m:t>
                </m:r>
              </m:oMath>
            </a14:m>
            <a:r>
              <a:rPr sz="1800">
                <a:latin typeface="Times New Roman"/>
              </a:rPr>
              <a:t>.</a:t>
            </a:r>
          </a:p>
          <a:p>
            <a:pPr marL="342900" lvl="0" indent="-342900">
              <a:spcAft>
                <a:spcPts val="650"/>
              </a:spcAft>
              <a:buAutoNum type="arabicPeriod"/>
            </a:pPr>
            <a:r>
              <a:rPr sz="1800">
                <a:latin typeface="Times New Roman"/>
              </a:rPr>
              <a:t>Construct </a:t>
            </a:r>
            <a14:m xmlns:a14="http://schemas.microsoft.com/office/drawing/2010/main">
              <m:oMath xmlns:m="http://schemas.openxmlformats.org/officeDocument/2006/math">
                <m:r>
                  <a:rPr>
                    <a:latin typeface="Cambria Math" panose="02040503050406030204" pitchFamily="18" charset="0"/>
                  </a:rPr>
                  <m:t>𝑓</m:t>
                </m:r>
              </m:oMath>
            </a14:m>
            <a:r>
              <a:rPr sz="1800">
                <a:latin typeface="Times New Roman"/>
              </a:rPr>
              <a:t> in polynomial time.</a:t>
            </a:r>
          </a:p>
          <a:p>
            <a:pPr marL="342900" lvl="0" indent="-342900">
              <a:spcAft>
                <a:spcPts val="650"/>
              </a:spcAft>
              <a:buAutoNum type="arabicPeriod"/>
            </a:pPr>
            <a:r>
              <a:rPr sz="1800">
                <a:latin typeface="Times New Roman"/>
              </a:rPr>
              <a:t>Prove </a:t>
            </a:r>
            <a14:m xmlns:a14="http://schemas.microsoft.com/office/drawing/2010/main">
              <m:oMath xmlns:m="http://schemas.openxmlformats.org/officeDocument/2006/math">
                <m:r>
                  <a:rPr>
                    <a:latin typeface="Cambria Math" panose="02040503050406030204" pitchFamily="18" charset="0"/>
                  </a:rPr>
                  <m:t>𝑥</m:t>
                </m:r>
                <m:r>
                  <a:rPr>
                    <a:latin typeface="Cambria Math" panose="02040503050406030204" pitchFamily="18" charset="0"/>
                  </a:rPr>
                  <m:t>∈</m:t>
                </m:r>
                <m:r>
                  <a:rPr>
                    <a:latin typeface="Cambria Math" panose="02040503050406030204" pitchFamily="18" charset="0"/>
                  </a:rPr>
                  <m:t>𝐴</m:t>
                </m:r>
                <m:r>
                  <a:rPr>
                    <a:latin typeface="Cambria Math" panose="02040503050406030204" pitchFamily="18" charset="0"/>
                  </a:rPr>
                  <m:t>⇔</m:t>
                </m:r>
                <m:r>
                  <a:rPr>
                    <a:latin typeface="Cambria Math" panose="02040503050406030204" pitchFamily="18" charset="0"/>
                  </a:rPr>
                  <m:t>𝑓</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r>
                  <a:rPr>
                    <a:latin typeface="Cambria Math" panose="02040503050406030204" pitchFamily="18" charset="0"/>
                  </a:rPr>
                  <m:t>𝐵</m:t>
                </m:r>
              </m:oMath>
            </a14:m>
            <a:r>
              <a:rPr sz="1800">
                <a:latin typeface="Times New Roman"/>
              </a:rPr>
              <a:t>.</a:t>
            </a:r>
          </a:p>
          <a:p>
            <a:pPr marL="0" lvl="0" indent="0">
              <a:spcAft>
                <a:spcPts val="650"/>
              </a:spcAft>
              <a:buNone/>
            </a:pPr>
            <a:r>
              <a:rPr sz="1800">
                <a:latin typeface="Times New Roman"/>
              </a:rPr>
              <a:t>If </a:t>
            </a:r>
            <a14:m xmlns:a14="http://schemas.microsoft.com/office/drawing/2010/main">
              <m:oMath xmlns:m="http://schemas.openxmlformats.org/officeDocument/2006/math">
                <m:r>
                  <a:rPr>
                    <a:latin typeface="Cambria Math" panose="02040503050406030204" pitchFamily="18" charset="0"/>
                  </a:rPr>
                  <m:t>𝐴</m:t>
                </m:r>
              </m:oMath>
            </a14:m>
            <a:r>
              <a:rPr sz="1800">
                <a:latin typeface="Times New Roman"/>
              </a:rPr>
              <a:t> is NP-hard and </a:t>
            </a:r>
            <a14:m xmlns:a14="http://schemas.microsoft.com/office/drawing/2010/main">
              <m:oMath xmlns:m="http://schemas.openxmlformats.org/officeDocument/2006/math">
                <m:r>
                  <a:rPr>
                    <a:latin typeface="Cambria Math" panose="02040503050406030204" pitchFamily="18" charset="0"/>
                  </a:rPr>
                  <m:t>𝐴</m:t>
                </m:r>
                <m:sSub>
                  <m:sSubPr>
                    <m:ctrlPr>
                      <a:rPr>
                        <a:latin typeface="Cambria Math" panose="02040503050406030204" pitchFamily="18" charset="0"/>
                      </a:rPr>
                    </m:ctrlPr>
                  </m:sSubPr>
                  <m:e>
                    <m:r>
                      <a:rPr>
                        <a:latin typeface="Cambria Math" panose="02040503050406030204" pitchFamily="18" charset="0"/>
                      </a:rPr>
                      <m:t>≤</m:t>
                    </m:r>
                  </m:e>
                  <m:sub>
                    <m:r>
                      <a:rPr>
                        <a:latin typeface="Cambria Math" panose="02040503050406030204" pitchFamily="18" charset="0"/>
                      </a:rPr>
                      <m:t>𝑝</m:t>
                    </m:r>
                  </m:sub>
                </m:sSub>
                <m:r>
                  <a:rPr>
                    <a:latin typeface="Cambria Math" panose="02040503050406030204" pitchFamily="18" charset="0"/>
                  </a:rPr>
                  <m:t>𝐵</m:t>
                </m:r>
              </m:oMath>
            </a14:m>
            <a:r>
              <a:rPr sz="1800">
                <a:latin typeface="Times New Roman"/>
              </a:rPr>
              <a:t>, then </a:t>
            </a:r>
            <a14:m xmlns:a14="http://schemas.microsoft.com/office/drawing/2010/main">
              <m:oMath xmlns:m="http://schemas.openxmlformats.org/officeDocument/2006/math">
                <m:r>
                  <a:rPr>
                    <a:latin typeface="Cambria Math" panose="02040503050406030204" pitchFamily="18" charset="0"/>
                  </a:rPr>
                  <m:t>𝐵</m:t>
                </m:r>
              </m:oMath>
            </a14:m>
            <a:r>
              <a:rPr sz="1800">
                <a:latin typeface="Times New Roman"/>
              </a:rPr>
              <a:t> is NP-hard.</a:t>
            </a:r>
          </a:p>
        </p:txBody>
      </p:sp>
      <p:pic>
        <p:nvPicPr>
          <p:cNvPr id="5" name="Picture 1" descr="editable_assets/diagram-07-1.png"/>
          <p:cNvPicPr>
            <a:picLocks noGrp="1" noChangeAspect="1"/>
          </p:cNvPicPr>
          <p:nvPr/>
        </p:nvPicPr>
        <p:blipFill>
          <a:blip r:embed="rId3"/>
          <a:srcRect l="3346" t="11471" r="3346" b="11471"/>
          <a:stretch>
            <a:fillRect/>
          </a:stretch>
        </p:blipFill>
        <p:spPr bwMode="auto">
          <a:xfrm>
            <a:off x="1693785" y="3913632"/>
            <a:ext cx="5756429" cy="1618488"/>
          </a:xfrm>
          <a:prstGeom prst="rect">
            <a:avLst/>
          </a:prstGeom>
          <a:noFill/>
          <a:ln w="9525">
            <a:noFill/>
            <a:headEnd/>
            <a:tailEnd/>
          </a:ln>
        </p:spPr>
      </p:pic>
      <p:sp>
        <p:nvSpPr>
          <p:cNvPr id="6" name="Content Placeholder 2"/>
          <p:cNvSpPr>
            <a:spLocks noGrp="1"/>
          </p:cNvSpPr>
          <p:nvPr/>
        </p:nvSpPr>
        <p:spPr>
          <a:xfrm>
            <a:off x="457200" y="5820505"/>
            <a:ext cx="8229600" cy="502920"/>
          </a:xfrm>
        </p:spPr>
        <p:txBody>
          <a:bodyPr wrap="square" lIns="0" tIns="0" rIns="0" bIns="0" anchor="t">
            <a:noAutofit/>
          </a:bodyPr>
          <a:lstStyle>
            <a:lvl1pPr>
              <a:defRPr sz="1800">
                <a:latin typeface="Times New Roman"/>
              </a:defRPr>
            </a:lvl1pPr>
            <a:lvl2pPr>
              <a:defRPr sz="1800">
                <a:latin typeface="Times New Roman"/>
              </a:defRPr>
            </a:lvl2pPr>
            <a:lvl3pPr>
              <a:defRPr sz="1800">
                <a:latin typeface="Times New Roman"/>
              </a:defRPr>
            </a:lvl3pPr>
            <a:lvl4pPr>
              <a:defRPr sz="1800">
                <a:latin typeface="Times New Roman"/>
              </a:defRPr>
            </a:lvl4pPr>
            <a:lvl5pPr>
              <a:defRPr sz="1800">
                <a:latin typeface="Times New Roman"/>
              </a:defRPr>
            </a:lvl5pPr>
            <a:lvl6pPr>
              <a:defRPr sz="1800">
                <a:latin typeface="Times New Roman"/>
              </a:defRPr>
            </a:lvl6pPr>
            <a:lvl7pPr>
              <a:defRPr sz="1800">
                <a:latin typeface="Times New Roman"/>
              </a:defRPr>
            </a:lvl7pPr>
            <a:lvl8pPr>
              <a:defRPr sz="1800">
                <a:latin typeface="Times New Roman"/>
              </a:defRPr>
            </a:lvl8pPr>
            <a:lvl9pPr>
              <a:defRPr sz="1800">
                <a:latin typeface="Times New Roman"/>
              </a:defRPr>
            </a:lvl9pPr>
          </a:lstStyle>
          <a:p>
            <a:pPr marL="0" lvl="0" indent="0" algn="ctr">
              <a:spcAft>
                <a:spcPts val="650"/>
              </a:spcAft>
              <a:buNone/>
            </a:pPr>
            <a:r>
              <a:rPr sz="1800" b="1" dirty="0">
                <a:latin typeface="Times New Roman"/>
              </a:rPr>
              <a:t>Direction mnemonic:</a:t>
            </a:r>
            <a:r>
              <a:rPr sz="1800" dirty="0">
                <a:latin typeface="Times New Roman"/>
              </a:rPr>
              <a:t> the known hard problem goes </a:t>
            </a:r>
            <a:r>
              <a:rPr sz="1800" i="1" dirty="0">
                <a:latin typeface="Times New Roman"/>
              </a:rPr>
              <a:t>into</a:t>
            </a:r>
            <a:r>
              <a:rPr sz="1800" dirty="0">
                <a:latin typeface="Times New Roman"/>
              </a:rPr>
              <a:t> the target problem.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228600" y="128016"/>
            <a:ext cx="8686800" cy="713232"/>
          </a:xfrm>
        </p:spPr>
        <p:txBody>
          <a:bodyPr wrap="square" lIns="0" tIns="0" rIns="0" bIns="0" anchor="t">
            <a:noAutofit/>
          </a:bodyPr>
          <a:lstStyle>
            <a:lvl1pPr>
              <a:defRPr sz="2350" b="1">
                <a:solidFill>
                  <a:srgbClr val="3333B2"/>
                </a:solidFill>
                <a:latin typeface="Times New Roman"/>
              </a:defRPr>
            </a:lvl1pPr>
            <a:lvl2pPr>
              <a:defRPr sz="2350" b="1">
                <a:solidFill>
                  <a:srgbClr val="3333B2"/>
                </a:solidFill>
                <a:latin typeface="Times New Roman"/>
              </a:defRPr>
            </a:lvl2pPr>
            <a:lvl3pPr>
              <a:defRPr sz="2350" b="1">
                <a:solidFill>
                  <a:srgbClr val="3333B2"/>
                </a:solidFill>
                <a:latin typeface="Times New Roman"/>
              </a:defRPr>
            </a:lvl3pPr>
            <a:lvl4pPr>
              <a:defRPr sz="2350" b="1">
                <a:solidFill>
                  <a:srgbClr val="3333B2"/>
                </a:solidFill>
                <a:latin typeface="Times New Roman"/>
              </a:defRPr>
            </a:lvl4pPr>
            <a:lvl5pPr>
              <a:defRPr sz="2350" b="1">
                <a:solidFill>
                  <a:srgbClr val="3333B2"/>
                </a:solidFill>
                <a:latin typeface="Times New Roman"/>
              </a:defRPr>
            </a:lvl5pPr>
            <a:lvl6pPr>
              <a:defRPr sz="2350" b="1">
                <a:solidFill>
                  <a:srgbClr val="3333B2"/>
                </a:solidFill>
                <a:latin typeface="Times New Roman"/>
              </a:defRPr>
            </a:lvl6pPr>
            <a:lvl7pPr>
              <a:defRPr sz="2350" b="1">
                <a:solidFill>
                  <a:srgbClr val="3333B2"/>
                </a:solidFill>
                <a:latin typeface="Times New Roman"/>
              </a:defRPr>
            </a:lvl7pPr>
            <a:lvl8pPr>
              <a:defRPr sz="2350" b="1">
                <a:solidFill>
                  <a:srgbClr val="3333B2"/>
                </a:solidFill>
                <a:latin typeface="Times New Roman"/>
              </a:defRPr>
            </a:lvl8pPr>
            <a:lvl9pPr>
              <a:defRPr sz="2350" b="1">
                <a:solidFill>
                  <a:srgbClr val="3333B2"/>
                </a:solidFill>
                <a:latin typeface="Times New Roman"/>
              </a:defRPr>
            </a:lvl9pPr>
          </a:lstStyle>
          <a:p>
            <a:pPr marL="0" lvl="0" indent="0">
              <a:spcAft>
                <a:spcPts val="650"/>
              </a:spcAft>
              <a:buNone/>
            </a:pPr>
            <a:r>
              <a:rPr sz="2350" b="1">
                <a:solidFill>
                  <a:srgbClr val="3333B2"/>
                </a:solidFill>
                <a:latin typeface="Times New Roman"/>
              </a:rPr>
              <a:t>Worked Reduction: 3-SAT reduces to 3-COLOR</a:t>
            </a:r>
          </a:p>
        </p:txBody>
      </p:sp>
      <p:sp>
        <p:nvSpPr>
          <p:cNvPr id="3" name="Content Placeholder 2"/>
          <p:cNvSpPr>
            <a:spLocks noGrp="1"/>
          </p:cNvSpPr>
          <p:nvPr/>
        </p:nvSpPr>
        <p:spPr>
          <a:xfrm>
            <a:off x="365760" y="1051560"/>
            <a:ext cx="4069080" cy="2743200"/>
          </a:xfrm>
        </p:spPr>
        <p:txBody>
          <a:bodyPr wrap="square" lIns="0" tIns="0" rIns="0" bIns="0" anchor="t">
            <a:noAutofit/>
          </a:bodyPr>
          <a:lstStyle>
            <a:lvl1pPr>
              <a:defRPr sz="1800">
                <a:latin typeface="Times New Roman"/>
              </a:defRPr>
            </a:lvl1pPr>
            <a:lvl2pPr>
              <a:defRPr sz="1800">
                <a:latin typeface="Times New Roman"/>
              </a:defRPr>
            </a:lvl2pPr>
            <a:lvl3pPr>
              <a:defRPr sz="1800">
                <a:latin typeface="Times New Roman"/>
              </a:defRPr>
            </a:lvl3pPr>
            <a:lvl4pPr>
              <a:defRPr sz="1800">
                <a:latin typeface="Times New Roman"/>
              </a:defRPr>
            </a:lvl4pPr>
            <a:lvl5pPr>
              <a:defRPr sz="1800">
                <a:latin typeface="Times New Roman"/>
              </a:defRPr>
            </a:lvl5pPr>
            <a:lvl6pPr>
              <a:defRPr sz="1800">
                <a:latin typeface="Times New Roman"/>
              </a:defRPr>
            </a:lvl6pPr>
            <a:lvl7pPr>
              <a:defRPr sz="1800">
                <a:latin typeface="Times New Roman"/>
              </a:defRPr>
            </a:lvl7pPr>
            <a:lvl8pPr>
              <a:defRPr sz="1800">
                <a:latin typeface="Times New Roman"/>
              </a:defRPr>
            </a:lvl8pPr>
            <a:lvl9pPr>
              <a:defRPr sz="1800">
                <a:latin typeface="Times New Roman"/>
              </a:defRPr>
            </a:lvl9pPr>
          </a:lstStyle>
          <a:p>
            <a:pPr marL="0" lvl="0" indent="0">
              <a:spcAft>
                <a:spcPts val="650"/>
              </a:spcAft>
              <a:buNone/>
            </a:pPr>
            <a:r>
              <a:rPr sz="1800" b="1">
                <a:latin typeface="Times New Roman"/>
              </a:rPr>
              <a:t>Source: 3-SAT</a:t>
            </a:r>
          </a:p>
          <a:p>
            <a:pPr marL="0" lvl="0" indent="0">
              <a:spcAft>
                <a:spcPts val="650"/>
              </a:spcAft>
              <a:buNone/>
            </a:pPr>
            <a:r>
              <a:rPr sz="1800">
                <a:latin typeface="Times New Roman"/>
              </a:rPr>
              <a:t>A 3-CNF formula is an AND of clauses, each an OR of three literals:</a:t>
            </a:r>
          </a:p>
          <a:p>
            <a:pPr marL="0" lvl="0" indent="0">
              <a:spcAft>
                <a:spcPts val="650"/>
              </a:spcAft>
              <a:buNone/>
            </a:pPr>
            <a14:m xmlns:a14="http://schemas.microsoft.com/office/drawing/2010/main">
              <m:oMathPara xmlns:m="http://schemas.openxmlformats.org/officeDocument/2006/math">
                <m:oMathParaPr>
                  <m:jc m:val="center"/>
                </m:oMathParaPr>
                <m:oMath>
                  <m:r>
                    <a:rPr>
                      <a:latin typeface="Cambria Math" panose="02040503050406030204" pitchFamily="18" charset="0"/>
                    </a:rPr>
                    <m:t>𝜙</m:t>
                  </m:r>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𝐶</m:t>
                      </m:r>
                    </m:e>
                    <m:sub>
                      <m:r>
                        <a:rPr>
                          <a:latin typeface="Cambria Math" panose="02040503050406030204" pitchFamily="18" charset="0"/>
                        </a:rPr>
                        <m:t>1</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𝐶</m:t>
                      </m:r>
                    </m:e>
                    <m:sub>
                      <m:r>
                        <a:rPr>
                          <a:latin typeface="Cambria Math" panose="02040503050406030204" pitchFamily="18" charset="0"/>
                        </a:rPr>
                        <m:t>𝑚</m:t>
                      </m:r>
                    </m:sub>
                  </m:sSub>
                  <m:r>
                    <a:rPr>
                      <a:latin typeface="Cambria Math" panose="02040503050406030204" pitchFamily="18" charset="0"/>
                    </a:rPr>
                    <m:t>.</m:t>
                  </m:r>
                </m:oMath>
              </m:oMathPara>
            </a14:m>
            <a:endParaRPr sz="1800">
              <a:latin typeface="Times New Roman"/>
            </a:endParaRPr>
          </a:p>
          <a:p>
            <a:pPr marL="0" lvl="0" indent="0">
              <a:spcAft>
                <a:spcPts val="650"/>
              </a:spcAft>
              <a:buNone/>
            </a:pPr>
            <a:r>
              <a:rPr sz="1800">
                <a:latin typeface="Times New Roman"/>
              </a:rPr>
              <a:t>Can a truth assignment satisfy every clause? A literal is a variable or its negation.</a:t>
            </a:r>
          </a:p>
        </p:txBody>
      </p:sp>
      <p:sp>
        <p:nvSpPr>
          <p:cNvPr id="4" name="Content Placeholder 2"/>
          <p:cNvSpPr>
            <a:spLocks noGrp="1"/>
          </p:cNvSpPr>
          <p:nvPr/>
        </p:nvSpPr>
        <p:spPr>
          <a:xfrm>
            <a:off x="4709160" y="1051560"/>
            <a:ext cx="4069080" cy="2286000"/>
          </a:xfrm>
        </p:spPr>
        <p:txBody>
          <a:bodyPr wrap="square" lIns="0" tIns="0" rIns="0" bIns="0" anchor="t">
            <a:noAutofit/>
          </a:bodyPr>
          <a:lstStyle>
            <a:lvl1pPr>
              <a:defRPr sz="1900">
                <a:latin typeface="Times New Roman"/>
              </a:defRPr>
            </a:lvl1pPr>
            <a:lvl2pPr>
              <a:defRPr sz="1900">
                <a:latin typeface="Times New Roman"/>
              </a:defRPr>
            </a:lvl2pPr>
            <a:lvl3pPr>
              <a:defRPr sz="1900">
                <a:latin typeface="Times New Roman"/>
              </a:defRPr>
            </a:lvl3pPr>
            <a:lvl4pPr>
              <a:defRPr sz="1900">
                <a:latin typeface="Times New Roman"/>
              </a:defRPr>
            </a:lvl4pPr>
            <a:lvl5pPr>
              <a:defRPr sz="1900">
                <a:latin typeface="Times New Roman"/>
              </a:defRPr>
            </a:lvl5pPr>
            <a:lvl6pPr>
              <a:defRPr sz="1900">
                <a:latin typeface="Times New Roman"/>
              </a:defRPr>
            </a:lvl6pPr>
            <a:lvl7pPr>
              <a:defRPr sz="1900">
                <a:latin typeface="Times New Roman"/>
              </a:defRPr>
            </a:lvl7pPr>
            <a:lvl8pPr>
              <a:defRPr sz="1900">
                <a:latin typeface="Times New Roman"/>
              </a:defRPr>
            </a:lvl8pPr>
            <a:lvl9pPr>
              <a:defRPr sz="1900">
                <a:latin typeface="Times New Roman"/>
              </a:defRPr>
            </a:lvl9pPr>
          </a:lstStyle>
          <a:p>
            <a:pPr marL="0" lvl="0" indent="0">
              <a:spcAft>
                <a:spcPts val="650"/>
              </a:spcAft>
              <a:buNone/>
            </a:pPr>
            <a:r>
              <a:rPr sz="1900" b="1">
                <a:latin typeface="Times New Roman"/>
              </a:rPr>
              <a:t>Target: 3-COLOR</a:t>
            </a:r>
          </a:p>
          <a:p>
            <a:pPr marL="0" lvl="0" indent="0">
              <a:spcAft>
                <a:spcPts val="650"/>
              </a:spcAft>
              <a:buNone/>
            </a:pPr>
            <a:r>
              <a:rPr sz="1900">
                <a:latin typeface="Times New Roman"/>
              </a:rPr>
              <a:t>Can the graph’s vertices be colored with three colors so that adjacent vertices have different colors?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228600" y="128016"/>
            <a:ext cx="8686800" cy="713232"/>
          </a:xfrm>
        </p:spPr>
        <p:txBody>
          <a:bodyPr wrap="square" lIns="0" tIns="0" rIns="0" bIns="0" anchor="t">
            <a:noAutofit/>
          </a:bodyPr>
          <a:lstStyle>
            <a:lvl1pPr>
              <a:defRPr sz="2350" b="1">
                <a:solidFill>
                  <a:srgbClr val="3333B2"/>
                </a:solidFill>
                <a:latin typeface="Times New Roman"/>
              </a:defRPr>
            </a:lvl1pPr>
            <a:lvl2pPr>
              <a:defRPr sz="2350" b="1">
                <a:solidFill>
                  <a:srgbClr val="3333B2"/>
                </a:solidFill>
                <a:latin typeface="Times New Roman"/>
              </a:defRPr>
            </a:lvl2pPr>
            <a:lvl3pPr>
              <a:defRPr sz="2350" b="1">
                <a:solidFill>
                  <a:srgbClr val="3333B2"/>
                </a:solidFill>
                <a:latin typeface="Times New Roman"/>
              </a:defRPr>
            </a:lvl3pPr>
            <a:lvl4pPr>
              <a:defRPr sz="2350" b="1">
                <a:solidFill>
                  <a:srgbClr val="3333B2"/>
                </a:solidFill>
                <a:latin typeface="Times New Roman"/>
              </a:defRPr>
            </a:lvl4pPr>
            <a:lvl5pPr>
              <a:defRPr sz="2350" b="1">
                <a:solidFill>
                  <a:srgbClr val="3333B2"/>
                </a:solidFill>
                <a:latin typeface="Times New Roman"/>
              </a:defRPr>
            </a:lvl5pPr>
            <a:lvl6pPr>
              <a:defRPr sz="2350" b="1">
                <a:solidFill>
                  <a:srgbClr val="3333B2"/>
                </a:solidFill>
                <a:latin typeface="Times New Roman"/>
              </a:defRPr>
            </a:lvl6pPr>
            <a:lvl7pPr>
              <a:defRPr sz="2350" b="1">
                <a:solidFill>
                  <a:srgbClr val="3333B2"/>
                </a:solidFill>
                <a:latin typeface="Times New Roman"/>
              </a:defRPr>
            </a:lvl7pPr>
            <a:lvl8pPr>
              <a:defRPr sz="2350" b="1">
                <a:solidFill>
                  <a:srgbClr val="3333B2"/>
                </a:solidFill>
                <a:latin typeface="Times New Roman"/>
              </a:defRPr>
            </a:lvl8pPr>
            <a:lvl9pPr>
              <a:defRPr sz="2350" b="1">
                <a:solidFill>
                  <a:srgbClr val="3333B2"/>
                </a:solidFill>
                <a:latin typeface="Times New Roman"/>
              </a:defRPr>
            </a:lvl9pPr>
          </a:lstStyle>
          <a:p>
            <a:pPr marL="0" lvl="0" indent="0">
              <a:spcAft>
                <a:spcPts val="650"/>
              </a:spcAft>
              <a:buNone/>
            </a:pPr>
            <a:r>
              <a:rPr sz="2350" b="1">
                <a:solidFill>
                  <a:srgbClr val="3333B2"/>
                </a:solidFill>
                <a:latin typeface="Times New Roman"/>
              </a:rPr>
              <a:t>Worked Reduction: 3-SAT reduces to 3-COLOR</a:t>
            </a:r>
          </a:p>
        </p:txBody>
      </p:sp>
      <p:sp>
        <p:nvSpPr>
          <p:cNvPr id="3" name="Content Placeholder 2"/>
          <p:cNvSpPr>
            <a:spLocks noGrp="1"/>
          </p:cNvSpPr>
          <p:nvPr/>
        </p:nvSpPr>
        <p:spPr>
          <a:xfrm>
            <a:off x="365760" y="1051560"/>
            <a:ext cx="4069080" cy="2743200"/>
          </a:xfrm>
        </p:spPr>
        <p:txBody>
          <a:bodyPr wrap="square" lIns="0" tIns="0" rIns="0" bIns="0" anchor="t">
            <a:noAutofit/>
          </a:bodyPr>
          <a:lstStyle>
            <a:lvl1pPr>
              <a:defRPr sz="1800">
                <a:latin typeface="Times New Roman"/>
              </a:defRPr>
            </a:lvl1pPr>
            <a:lvl2pPr>
              <a:defRPr sz="1800">
                <a:latin typeface="Times New Roman"/>
              </a:defRPr>
            </a:lvl2pPr>
            <a:lvl3pPr>
              <a:defRPr sz="1800">
                <a:latin typeface="Times New Roman"/>
              </a:defRPr>
            </a:lvl3pPr>
            <a:lvl4pPr>
              <a:defRPr sz="1800">
                <a:latin typeface="Times New Roman"/>
              </a:defRPr>
            </a:lvl4pPr>
            <a:lvl5pPr>
              <a:defRPr sz="1800">
                <a:latin typeface="Times New Roman"/>
              </a:defRPr>
            </a:lvl5pPr>
            <a:lvl6pPr>
              <a:defRPr sz="1800">
                <a:latin typeface="Times New Roman"/>
              </a:defRPr>
            </a:lvl6pPr>
            <a:lvl7pPr>
              <a:defRPr sz="1800">
                <a:latin typeface="Times New Roman"/>
              </a:defRPr>
            </a:lvl7pPr>
            <a:lvl8pPr>
              <a:defRPr sz="1800">
                <a:latin typeface="Times New Roman"/>
              </a:defRPr>
            </a:lvl8pPr>
            <a:lvl9pPr>
              <a:defRPr sz="1800">
                <a:latin typeface="Times New Roman"/>
              </a:defRPr>
            </a:lvl9pPr>
          </a:lstStyle>
          <a:p>
            <a:pPr marL="0" lvl="0" indent="0">
              <a:spcAft>
                <a:spcPts val="650"/>
              </a:spcAft>
              <a:buNone/>
            </a:pPr>
            <a:r>
              <a:rPr sz="1800" b="1" dirty="0">
                <a:latin typeface="Times New Roman"/>
              </a:rPr>
              <a:t>Source: 3-SAT</a:t>
            </a:r>
          </a:p>
          <a:p>
            <a:pPr marL="0" lvl="0" indent="0">
              <a:spcAft>
                <a:spcPts val="650"/>
              </a:spcAft>
              <a:buNone/>
            </a:pPr>
            <a:r>
              <a:rPr sz="1800" dirty="0">
                <a:latin typeface="Times New Roman"/>
              </a:rPr>
              <a:t>A 3-CNF formula is an AND of clauses, each an OR of three literals:</a:t>
            </a:r>
          </a:p>
          <a:p>
            <a:pPr marL="0" lvl="0" indent="0">
              <a:spcAft>
                <a:spcPts val="650"/>
              </a:spcAft>
              <a:buNone/>
            </a:pPr>
            <a14:m xmlns:a14="http://schemas.microsoft.com/office/drawing/2010/main">
              <m:oMathPara xmlns:m="http://schemas.openxmlformats.org/officeDocument/2006/math">
                <m:oMathParaPr>
                  <m:jc m:val="center"/>
                </m:oMathParaPr>
                <m:oMath>
                  <m:r>
                    <a:rPr>
                      <a:latin typeface="Cambria Math" panose="02040503050406030204" pitchFamily="18" charset="0"/>
                    </a:rPr>
                    <m:t>𝜙</m:t>
                  </m:r>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𝐶</m:t>
                      </m:r>
                    </m:e>
                    <m:sub>
                      <m:r>
                        <a:rPr>
                          <a:latin typeface="Cambria Math" panose="02040503050406030204" pitchFamily="18" charset="0"/>
                        </a:rPr>
                        <m:t>1</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𝐶</m:t>
                      </m:r>
                    </m:e>
                    <m:sub>
                      <m:r>
                        <a:rPr>
                          <a:latin typeface="Cambria Math" panose="02040503050406030204" pitchFamily="18" charset="0"/>
                        </a:rPr>
                        <m:t>𝑚</m:t>
                      </m:r>
                    </m:sub>
                  </m:sSub>
                  <m:r>
                    <a:rPr>
                      <a:latin typeface="Cambria Math" panose="02040503050406030204" pitchFamily="18" charset="0"/>
                    </a:rPr>
                    <m:t>.</m:t>
                  </m:r>
                </m:oMath>
              </m:oMathPara>
            </a14:m>
            <a:endParaRPr sz="1800" dirty="0">
              <a:latin typeface="Times New Roman"/>
            </a:endParaRPr>
          </a:p>
          <a:p>
            <a:pPr marL="0" lvl="0" indent="0">
              <a:spcAft>
                <a:spcPts val="650"/>
              </a:spcAft>
              <a:buNone/>
            </a:pPr>
            <a:r>
              <a:rPr sz="1800" dirty="0">
                <a:latin typeface="Times New Roman"/>
              </a:rPr>
              <a:t>Can a truth assignment satisfy every clause? A literal is a variable or its negation.</a:t>
            </a:r>
          </a:p>
        </p:txBody>
      </p:sp>
      <p:sp>
        <p:nvSpPr>
          <p:cNvPr id="4" name="Content Placeholder 2"/>
          <p:cNvSpPr>
            <a:spLocks noGrp="1"/>
          </p:cNvSpPr>
          <p:nvPr/>
        </p:nvSpPr>
        <p:spPr>
          <a:xfrm>
            <a:off x="4709160" y="1051560"/>
            <a:ext cx="4069080" cy="2286000"/>
          </a:xfrm>
        </p:spPr>
        <p:txBody>
          <a:bodyPr wrap="square" lIns="0" tIns="0" rIns="0" bIns="0" anchor="t">
            <a:noAutofit/>
          </a:bodyPr>
          <a:lstStyle>
            <a:lvl1pPr>
              <a:defRPr sz="1900">
                <a:latin typeface="Times New Roman"/>
              </a:defRPr>
            </a:lvl1pPr>
            <a:lvl2pPr>
              <a:defRPr sz="1900">
                <a:latin typeface="Times New Roman"/>
              </a:defRPr>
            </a:lvl2pPr>
            <a:lvl3pPr>
              <a:defRPr sz="1900">
                <a:latin typeface="Times New Roman"/>
              </a:defRPr>
            </a:lvl3pPr>
            <a:lvl4pPr>
              <a:defRPr sz="1900">
                <a:latin typeface="Times New Roman"/>
              </a:defRPr>
            </a:lvl4pPr>
            <a:lvl5pPr>
              <a:defRPr sz="1900">
                <a:latin typeface="Times New Roman"/>
              </a:defRPr>
            </a:lvl5pPr>
            <a:lvl6pPr>
              <a:defRPr sz="1900">
                <a:latin typeface="Times New Roman"/>
              </a:defRPr>
            </a:lvl6pPr>
            <a:lvl7pPr>
              <a:defRPr sz="1900">
                <a:latin typeface="Times New Roman"/>
              </a:defRPr>
            </a:lvl7pPr>
            <a:lvl8pPr>
              <a:defRPr sz="1900">
                <a:latin typeface="Times New Roman"/>
              </a:defRPr>
            </a:lvl8pPr>
            <a:lvl9pPr>
              <a:defRPr sz="1900">
                <a:latin typeface="Times New Roman"/>
              </a:defRPr>
            </a:lvl9pPr>
          </a:lstStyle>
          <a:p>
            <a:pPr marL="0" lvl="0" indent="0">
              <a:spcAft>
                <a:spcPts val="650"/>
              </a:spcAft>
              <a:buNone/>
            </a:pPr>
            <a:r>
              <a:rPr sz="1900" b="1">
                <a:latin typeface="Times New Roman"/>
              </a:rPr>
              <a:t>Target: 3-COLOR</a:t>
            </a:r>
          </a:p>
          <a:p>
            <a:pPr marL="0" lvl="0" indent="0">
              <a:spcAft>
                <a:spcPts val="650"/>
              </a:spcAft>
              <a:buNone/>
            </a:pPr>
            <a:r>
              <a:rPr sz="1900">
                <a:latin typeface="Times New Roman"/>
              </a:rPr>
              <a:t>Can the graph’s vertices be colored with three colors so that adjacent vertices have different colors?</a:t>
            </a:r>
          </a:p>
        </p:txBody>
      </p:sp>
      <p:pic>
        <p:nvPicPr>
          <p:cNvPr id="7" name="Picture 1" descr="editable_assets/diagram-08-1.png">
            <a:extLst>
              <a:ext uri="{FF2B5EF4-FFF2-40B4-BE49-F238E27FC236}">
                <a16:creationId xmlns:a16="http://schemas.microsoft.com/office/drawing/2014/main" id="{43A872C5-79F2-D229-4330-7D6B39BA2BEA}"/>
              </a:ext>
            </a:extLst>
          </p:cNvPr>
          <p:cNvPicPr>
            <a:picLocks noGrp="1" noChangeAspect="1"/>
          </p:cNvPicPr>
          <p:nvPr/>
        </p:nvPicPr>
        <p:blipFill>
          <a:blip r:embed="rId3"/>
          <a:srcRect l="2776" t="9956" r="2776" b="9956"/>
          <a:stretch>
            <a:fillRect/>
          </a:stretch>
        </p:blipFill>
        <p:spPr bwMode="auto">
          <a:xfrm>
            <a:off x="1574877" y="3547872"/>
            <a:ext cx="5994246" cy="1801368"/>
          </a:xfrm>
          <a:prstGeom prst="rect">
            <a:avLst/>
          </a:prstGeom>
          <a:noFill/>
          <a:ln w="9525">
            <a:noFill/>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228600" y="128016"/>
            <a:ext cx="8686800" cy="713232"/>
          </a:xfrm>
        </p:spPr>
        <p:txBody>
          <a:bodyPr wrap="square" lIns="0" tIns="0" rIns="0" bIns="0" anchor="t">
            <a:noAutofit/>
          </a:bodyPr>
          <a:lstStyle>
            <a:lvl1pPr>
              <a:defRPr sz="2350" b="1">
                <a:solidFill>
                  <a:srgbClr val="3333B2"/>
                </a:solidFill>
                <a:latin typeface="Times New Roman"/>
              </a:defRPr>
            </a:lvl1pPr>
            <a:lvl2pPr>
              <a:defRPr sz="2350" b="1">
                <a:solidFill>
                  <a:srgbClr val="3333B2"/>
                </a:solidFill>
                <a:latin typeface="Times New Roman"/>
              </a:defRPr>
            </a:lvl2pPr>
            <a:lvl3pPr>
              <a:defRPr sz="2350" b="1">
                <a:solidFill>
                  <a:srgbClr val="3333B2"/>
                </a:solidFill>
                <a:latin typeface="Times New Roman"/>
              </a:defRPr>
            </a:lvl3pPr>
            <a:lvl4pPr>
              <a:defRPr sz="2350" b="1">
                <a:solidFill>
                  <a:srgbClr val="3333B2"/>
                </a:solidFill>
                <a:latin typeface="Times New Roman"/>
              </a:defRPr>
            </a:lvl4pPr>
            <a:lvl5pPr>
              <a:defRPr sz="2350" b="1">
                <a:solidFill>
                  <a:srgbClr val="3333B2"/>
                </a:solidFill>
                <a:latin typeface="Times New Roman"/>
              </a:defRPr>
            </a:lvl5pPr>
            <a:lvl6pPr>
              <a:defRPr sz="2350" b="1">
                <a:solidFill>
                  <a:srgbClr val="3333B2"/>
                </a:solidFill>
                <a:latin typeface="Times New Roman"/>
              </a:defRPr>
            </a:lvl6pPr>
            <a:lvl7pPr>
              <a:defRPr sz="2350" b="1">
                <a:solidFill>
                  <a:srgbClr val="3333B2"/>
                </a:solidFill>
                <a:latin typeface="Times New Roman"/>
              </a:defRPr>
            </a:lvl7pPr>
            <a:lvl8pPr>
              <a:defRPr sz="2350" b="1">
                <a:solidFill>
                  <a:srgbClr val="3333B2"/>
                </a:solidFill>
                <a:latin typeface="Times New Roman"/>
              </a:defRPr>
            </a:lvl8pPr>
            <a:lvl9pPr>
              <a:defRPr sz="2350" b="1">
                <a:solidFill>
                  <a:srgbClr val="3333B2"/>
                </a:solidFill>
                <a:latin typeface="Times New Roman"/>
              </a:defRPr>
            </a:lvl9pPr>
          </a:lstStyle>
          <a:p>
            <a:pPr marL="0" lvl="0" indent="0">
              <a:spcAft>
                <a:spcPts val="650"/>
              </a:spcAft>
              <a:buNone/>
            </a:pPr>
            <a:r>
              <a:rPr sz="2350" b="1">
                <a:solidFill>
                  <a:srgbClr val="3333B2"/>
                </a:solidFill>
                <a:latin typeface="Times New Roman"/>
              </a:rPr>
              <a:t>Worked Reduction: 3-SAT reduces to 3-COLOR</a:t>
            </a:r>
          </a:p>
        </p:txBody>
      </p:sp>
      <p:sp>
        <p:nvSpPr>
          <p:cNvPr id="3" name="Content Placeholder 2"/>
          <p:cNvSpPr>
            <a:spLocks noGrp="1"/>
          </p:cNvSpPr>
          <p:nvPr/>
        </p:nvSpPr>
        <p:spPr>
          <a:xfrm>
            <a:off x="365760" y="1051560"/>
            <a:ext cx="4069080" cy="2743200"/>
          </a:xfrm>
        </p:spPr>
        <p:txBody>
          <a:bodyPr wrap="square" lIns="0" tIns="0" rIns="0" bIns="0" anchor="t">
            <a:noAutofit/>
          </a:bodyPr>
          <a:lstStyle>
            <a:lvl1pPr>
              <a:defRPr sz="1800">
                <a:latin typeface="Times New Roman"/>
              </a:defRPr>
            </a:lvl1pPr>
            <a:lvl2pPr>
              <a:defRPr sz="1800">
                <a:latin typeface="Times New Roman"/>
              </a:defRPr>
            </a:lvl2pPr>
            <a:lvl3pPr>
              <a:defRPr sz="1800">
                <a:latin typeface="Times New Roman"/>
              </a:defRPr>
            </a:lvl3pPr>
            <a:lvl4pPr>
              <a:defRPr sz="1800">
                <a:latin typeface="Times New Roman"/>
              </a:defRPr>
            </a:lvl4pPr>
            <a:lvl5pPr>
              <a:defRPr sz="1800">
                <a:latin typeface="Times New Roman"/>
              </a:defRPr>
            </a:lvl5pPr>
            <a:lvl6pPr>
              <a:defRPr sz="1800">
                <a:latin typeface="Times New Roman"/>
              </a:defRPr>
            </a:lvl6pPr>
            <a:lvl7pPr>
              <a:defRPr sz="1800">
                <a:latin typeface="Times New Roman"/>
              </a:defRPr>
            </a:lvl7pPr>
            <a:lvl8pPr>
              <a:defRPr sz="1800">
                <a:latin typeface="Times New Roman"/>
              </a:defRPr>
            </a:lvl8pPr>
            <a:lvl9pPr>
              <a:defRPr sz="1800">
                <a:latin typeface="Times New Roman"/>
              </a:defRPr>
            </a:lvl9pPr>
          </a:lstStyle>
          <a:p>
            <a:pPr marL="0" lvl="0" indent="0">
              <a:spcAft>
                <a:spcPts val="650"/>
              </a:spcAft>
              <a:buNone/>
            </a:pPr>
            <a:r>
              <a:rPr sz="1800" b="1">
                <a:latin typeface="Times New Roman"/>
              </a:rPr>
              <a:t>Source: 3-SAT</a:t>
            </a:r>
          </a:p>
          <a:p>
            <a:pPr marL="0" lvl="0" indent="0">
              <a:spcAft>
                <a:spcPts val="650"/>
              </a:spcAft>
              <a:buNone/>
            </a:pPr>
            <a:r>
              <a:rPr sz="1800">
                <a:latin typeface="Times New Roman"/>
              </a:rPr>
              <a:t>A 3-CNF formula is an AND of clauses, each an OR of three literals:</a:t>
            </a:r>
          </a:p>
          <a:p>
            <a:pPr marL="0" lvl="0" indent="0">
              <a:spcAft>
                <a:spcPts val="650"/>
              </a:spcAft>
              <a:buNone/>
            </a:pPr>
            <a14:m xmlns:a14="http://schemas.microsoft.com/office/drawing/2010/main">
              <m:oMathPara xmlns:m="http://schemas.openxmlformats.org/officeDocument/2006/math">
                <m:oMathParaPr>
                  <m:jc m:val="center"/>
                </m:oMathParaPr>
                <m:oMath>
                  <m:r>
                    <a:rPr>
                      <a:latin typeface="Cambria Math" panose="02040503050406030204" pitchFamily="18" charset="0"/>
                    </a:rPr>
                    <m:t>𝜙</m:t>
                  </m:r>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𝐶</m:t>
                      </m:r>
                    </m:e>
                    <m:sub>
                      <m:r>
                        <a:rPr>
                          <a:latin typeface="Cambria Math" panose="02040503050406030204" pitchFamily="18" charset="0"/>
                        </a:rPr>
                        <m:t>1</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𝐶</m:t>
                      </m:r>
                    </m:e>
                    <m:sub>
                      <m:r>
                        <a:rPr>
                          <a:latin typeface="Cambria Math" panose="02040503050406030204" pitchFamily="18" charset="0"/>
                        </a:rPr>
                        <m:t>𝑚</m:t>
                      </m:r>
                    </m:sub>
                  </m:sSub>
                  <m:r>
                    <a:rPr>
                      <a:latin typeface="Cambria Math" panose="02040503050406030204" pitchFamily="18" charset="0"/>
                    </a:rPr>
                    <m:t>.</m:t>
                  </m:r>
                </m:oMath>
              </m:oMathPara>
            </a14:m>
            <a:endParaRPr sz="1800">
              <a:latin typeface="Times New Roman"/>
            </a:endParaRPr>
          </a:p>
          <a:p>
            <a:pPr marL="0" lvl="0" indent="0">
              <a:spcAft>
                <a:spcPts val="650"/>
              </a:spcAft>
              <a:buNone/>
            </a:pPr>
            <a:r>
              <a:rPr sz="1800">
                <a:latin typeface="Times New Roman"/>
              </a:rPr>
              <a:t>Can a truth assignment satisfy every clause? A literal is a variable or its negation.</a:t>
            </a:r>
          </a:p>
        </p:txBody>
      </p:sp>
      <p:sp>
        <p:nvSpPr>
          <p:cNvPr id="4" name="Content Placeholder 2"/>
          <p:cNvSpPr>
            <a:spLocks noGrp="1"/>
          </p:cNvSpPr>
          <p:nvPr/>
        </p:nvSpPr>
        <p:spPr>
          <a:xfrm>
            <a:off x="4709160" y="1051560"/>
            <a:ext cx="4069080" cy="2286000"/>
          </a:xfrm>
        </p:spPr>
        <p:txBody>
          <a:bodyPr wrap="square" lIns="0" tIns="0" rIns="0" bIns="0" anchor="t">
            <a:noAutofit/>
          </a:bodyPr>
          <a:lstStyle>
            <a:lvl1pPr>
              <a:defRPr sz="1900">
                <a:latin typeface="Times New Roman"/>
              </a:defRPr>
            </a:lvl1pPr>
            <a:lvl2pPr>
              <a:defRPr sz="1900">
                <a:latin typeface="Times New Roman"/>
              </a:defRPr>
            </a:lvl2pPr>
            <a:lvl3pPr>
              <a:defRPr sz="1900">
                <a:latin typeface="Times New Roman"/>
              </a:defRPr>
            </a:lvl3pPr>
            <a:lvl4pPr>
              <a:defRPr sz="1900">
                <a:latin typeface="Times New Roman"/>
              </a:defRPr>
            </a:lvl4pPr>
            <a:lvl5pPr>
              <a:defRPr sz="1900">
                <a:latin typeface="Times New Roman"/>
              </a:defRPr>
            </a:lvl5pPr>
            <a:lvl6pPr>
              <a:defRPr sz="1900">
                <a:latin typeface="Times New Roman"/>
              </a:defRPr>
            </a:lvl6pPr>
            <a:lvl7pPr>
              <a:defRPr sz="1900">
                <a:latin typeface="Times New Roman"/>
              </a:defRPr>
            </a:lvl7pPr>
            <a:lvl8pPr>
              <a:defRPr sz="1900">
                <a:latin typeface="Times New Roman"/>
              </a:defRPr>
            </a:lvl8pPr>
            <a:lvl9pPr>
              <a:defRPr sz="1900">
                <a:latin typeface="Times New Roman"/>
              </a:defRPr>
            </a:lvl9pPr>
          </a:lstStyle>
          <a:p>
            <a:pPr marL="0" lvl="0" indent="0">
              <a:spcAft>
                <a:spcPts val="650"/>
              </a:spcAft>
              <a:buNone/>
            </a:pPr>
            <a:r>
              <a:rPr sz="1900" b="1">
                <a:latin typeface="Times New Roman"/>
              </a:rPr>
              <a:t>Target: 3-COLOR</a:t>
            </a:r>
          </a:p>
          <a:p>
            <a:pPr marL="0" lvl="0" indent="0">
              <a:spcAft>
                <a:spcPts val="650"/>
              </a:spcAft>
              <a:buNone/>
            </a:pPr>
            <a:r>
              <a:rPr sz="1900">
                <a:latin typeface="Times New Roman"/>
              </a:rPr>
              <a:t>Can the graph’s vertices be colored with three colors so that adjacent vertices have different colors?</a:t>
            </a:r>
          </a:p>
        </p:txBody>
      </p:sp>
      <p:pic>
        <p:nvPicPr>
          <p:cNvPr id="5" name="Picture 1" descr="editable_assets/diagram-08-1.png"/>
          <p:cNvPicPr>
            <a:picLocks noGrp="1" noChangeAspect="1"/>
          </p:cNvPicPr>
          <p:nvPr/>
        </p:nvPicPr>
        <p:blipFill>
          <a:blip r:embed="rId3"/>
          <a:srcRect l="2776" t="9956" r="2776" b="9956"/>
          <a:stretch>
            <a:fillRect/>
          </a:stretch>
        </p:blipFill>
        <p:spPr bwMode="auto">
          <a:xfrm>
            <a:off x="1574877" y="3547872"/>
            <a:ext cx="5994246" cy="1801368"/>
          </a:xfrm>
          <a:prstGeom prst="rect">
            <a:avLst/>
          </a:prstGeom>
          <a:noFill/>
          <a:ln w="9525">
            <a:noFill/>
            <a:headEnd/>
            <a:tailEnd/>
          </a:ln>
        </p:spPr>
      </p:pic>
      <mc:AlternateContent xmlns:mc="http://schemas.openxmlformats.org/markup-compatibility/2006">
        <mc:Choice xmlns:a14="http://schemas.microsoft.com/office/drawing/2010/main" Requires="a14">
          <p:sp>
            <p:nvSpPr>
              <p:cNvPr id="6" name="Content Placeholder 2"/>
              <p:cNvSpPr>
                <a:spLocks noGrp="1"/>
              </p:cNvSpPr>
              <p:nvPr/>
            </p:nvSpPr>
            <p:spPr>
              <a:xfrm>
                <a:off x="457200" y="5532120"/>
                <a:ext cx="8229600" cy="868680"/>
              </a:xfrm>
            </p:spPr>
            <p:txBody>
              <a:bodyPr wrap="square" lIns="0" tIns="0" rIns="0" bIns="0" anchor="t">
                <a:noAutofit/>
              </a:bodyPr>
              <a:lstStyle>
                <a:lvl1pPr>
                  <a:defRPr sz="1700">
                    <a:latin typeface="Times New Roman"/>
                  </a:defRPr>
                </a:lvl1pPr>
                <a:lvl2pPr>
                  <a:defRPr sz="1700">
                    <a:latin typeface="Times New Roman"/>
                  </a:defRPr>
                </a:lvl2pPr>
                <a:lvl3pPr>
                  <a:defRPr sz="1700">
                    <a:latin typeface="Times New Roman"/>
                  </a:defRPr>
                </a:lvl3pPr>
                <a:lvl4pPr>
                  <a:defRPr sz="1700">
                    <a:latin typeface="Times New Roman"/>
                  </a:defRPr>
                </a:lvl4pPr>
                <a:lvl5pPr>
                  <a:defRPr sz="1700">
                    <a:latin typeface="Times New Roman"/>
                  </a:defRPr>
                </a:lvl5pPr>
                <a:lvl6pPr>
                  <a:defRPr sz="1700">
                    <a:latin typeface="Times New Roman"/>
                  </a:defRPr>
                </a:lvl6pPr>
                <a:lvl7pPr>
                  <a:defRPr sz="1700">
                    <a:latin typeface="Times New Roman"/>
                  </a:defRPr>
                </a:lvl7pPr>
                <a:lvl8pPr>
                  <a:defRPr sz="1700">
                    <a:latin typeface="Times New Roman"/>
                  </a:defRPr>
                </a:lvl8pPr>
                <a:lvl9pPr>
                  <a:defRPr sz="1700">
                    <a:latin typeface="Times New Roman"/>
                  </a:defRPr>
                </a:lvl9pPr>
              </a:lstStyle>
              <a:p>
                <a:pPr marL="0" lvl="0" indent="0" algn="ctr">
                  <a:spcAft>
                    <a:spcPts val="400"/>
                  </a:spcAft>
                  <a:buNone/>
                </a:pPr>
                <a:r>
                  <a:rPr sz="1700" b="1" dirty="0">
                    <a:latin typeface="Times New Roman"/>
                  </a:rPr>
                  <a:t>Design invariant:</a:t>
                </a:r>
                <a:r>
                  <a:rPr sz="1700" dirty="0">
                    <a:latin typeface="Times New Roman"/>
                  </a:rPr>
                  <a:t> </a:t>
                </a:r>
                <a14:m>
                  <m:oMath xmlns:m="http://schemas.openxmlformats.org/officeDocument/2006/math">
                    <m:r>
                      <a:rPr>
                        <a:latin typeface="Cambria Math" panose="02040503050406030204" pitchFamily="18" charset="0"/>
                      </a:rPr>
                      <m:t>𝜙</m:t>
                    </m:r>
                  </m:oMath>
                </a14:m>
                <a:r>
                  <a:rPr sz="1700" dirty="0">
                    <a:latin typeface="Times New Roman"/>
                  </a:rPr>
                  <a:t> is satisfiable if and only if </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𝐺</m:t>
                        </m:r>
                      </m:e>
                      <m:sub>
                        <m:r>
                          <a:rPr>
                            <a:latin typeface="Cambria Math" panose="02040503050406030204" pitchFamily="18" charset="0"/>
                          </a:rPr>
                          <m:t>𝜙</m:t>
                        </m:r>
                      </m:sub>
                    </m:sSub>
                  </m:oMath>
                </a14:m>
                <a:r>
                  <a:rPr sz="1700" dirty="0">
                    <a:latin typeface="Times New Roman"/>
                  </a:rPr>
                  <a:t> is 3-colorable.</a:t>
                </a:r>
              </a:p>
              <a:p>
                <a:pPr marL="0" lvl="0" indent="0" algn="ctr">
                  <a:spcAft>
                    <a:spcPts val="400"/>
                  </a:spcAft>
                  <a:buNone/>
                </a:pPr>
                <a:r>
                  <a:rPr sz="1700" dirty="0">
                    <a:latin typeface="Times New Roman"/>
                  </a:rPr>
                  <a:t>This illustrates the general proof recipe; it is not the definition of reduction.</a:t>
                </a:r>
              </a:p>
            </p:txBody>
          </p:sp>
        </mc:Choice>
        <mc:Fallback>
          <p:sp>
            <p:nvSpPr>
              <p:cNvPr id="6" name="Content Placeholder 2"/>
              <p:cNvSpPr>
                <a:spLocks noGrp="1" noRot="1" noChangeAspect="1" noMove="1" noResize="1" noEditPoints="1" noAdjustHandles="1" noChangeArrowheads="1" noChangeShapeType="1" noTextEdit="1"/>
              </p:cNvSpPr>
              <p:nvPr/>
            </p:nvSpPr>
            <p:spPr>
              <a:xfrm>
                <a:off x="457200" y="5532120"/>
                <a:ext cx="8229600" cy="868680"/>
              </a:xfrm>
              <a:blipFill>
                <a:blip r:embed="rId4"/>
                <a:stretch>
                  <a:fillRect/>
                </a:stretch>
              </a:blipFill>
            </p:spPr>
            <p:txBody>
              <a:bodyPr/>
              <a:lstStyle/>
              <a:p>
                <a:r>
                  <a:rPr lang="en-US">
                    <a:noFill/>
                  </a:rPr>
                  <a:t> </a:t>
                </a:r>
              </a:p>
            </p:txBody>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228600" y="128016"/>
            <a:ext cx="8686800" cy="713232"/>
          </a:xfrm>
        </p:spPr>
        <p:txBody>
          <a:bodyPr wrap="square" lIns="0" tIns="0" rIns="0" bIns="0" anchor="t">
            <a:noAutofit/>
          </a:bodyPr>
          <a:lstStyle>
            <a:lvl1pPr>
              <a:defRPr sz="2350" b="1">
                <a:solidFill>
                  <a:srgbClr val="3333B2"/>
                </a:solidFill>
                <a:latin typeface="Times New Roman"/>
              </a:defRPr>
            </a:lvl1pPr>
            <a:lvl2pPr>
              <a:defRPr sz="2350" b="1">
                <a:solidFill>
                  <a:srgbClr val="3333B2"/>
                </a:solidFill>
                <a:latin typeface="Times New Roman"/>
              </a:defRPr>
            </a:lvl2pPr>
            <a:lvl3pPr>
              <a:defRPr sz="2350" b="1">
                <a:solidFill>
                  <a:srgbClr val="3333B2"/>
                </a:solidFill>
                <a:latin typeface="Times New Roman"/>
              </a:defRPr>
            </a:lvl3pPr>
            <a:lvl4pPr>
              <a:defRPr sz="2350" b="1">
                <a:solidFill>
                  <a:srgbClr val="3333B2"/>
                </a:solidFill>
                <a:latin typeface="Times New Roman"/>
              </a:defRPr>
            </a:lvl4pPr>
            <a:lvl5pPr>
              <a:defRPr sz="2350" b="1">
                <a:solidFill>
                  <a:srgbClr val="3333B2"/>
                </a:solidFill>
                <a:latin typeface="Times New Roman"/>
              </a:defRPr>
            </a:lvl5pPr>
            <a:lvl6pPr>
              <a:defRPr sz="2350" b="1">
                <a:solidFill>
                  <a:srgbClr val="3333B2"/>
                </a:solidFill>
                <a:latin typeface="Times New Roman"/>
              </a:defRPr>
            </a:lvl6pPr>
            <a:lvl7pPr>
              <a:defRPr sz="2350" b="1">
                <a:solidFill>
                  <a:srgbClr val="3333B2"/>
                </a:solidFill>
                <a:latin typeface="Times New Roman"/>
              </a:defRPr>
            </a:lvl7pPr>
            <a:lvl8pPr>
              <a:defRPr sz="2350" b="1">
                <a:solidFill>
                  <a:srgbClr val="3333B2"/>
                </a:solidFill>
                <a:latin typeface="Times New Roman"/>
              </a:defRPr>
            </a:lvl8pPr>
            <a:lvl9pPr>
              <a:defRPr sz="2350" b="1">
                <a:solidFill>
                  <a:srgbClr val="3333B2"/>
                </a:solidFill>
                <a:latin typeface="Times New Roman"/>
              </a:defRPr>
            </a:lvl9pPr>
          </a:lstStyle>
          <a:p>
            <a:pPr marL="0" lvl="0" indent="0">
              <a:spcAft>
                <a:spcPts val="650"/>
              </a:spcAft>
              <a:buNone/>
            </a:pPr>
            <a:r>
              <a:rPr sz="2350" b="1">
                <a:solidFill>
                  <a:srgbClr val="3333B2"/>
                </a:solidFill>
                <a:latin typeface="Times New Roman"/>
              </a:rPr>
              <a:t>Encoding Truth with Colors</a:t>
            </a:r>
          </a:p>
        </p:txBody>
      </p:sp>
      <p:sp>
        <p:nvSpPr>
          <p:cNvPr id="3" name="Content Placeholder 2"/>
          <p:cNvSpPr>
            <a:spLocks noGrp="1"/>
          </p:cNvSpPr>
          <p:nvPr/>
        </p:nvSpPr>
        <p:spPr>
          <a:xfrm>
            <a:off x="365760" y="1188720"/>
            <a:ext cx="4069080" cy="1188720"/>
          </a:xfrm>
        </p:spPr>
        <p:txBody>
          <a:bodyPr wrap="square" lIns="0" tIns="0" rIns="0" bIns="0" anchor="t">
            <a:noAutofit/>
          </a:bodyPr>
          <a:lstStyle>
            <a:lvl1pPr>
              <a:defRPr sz="1900">
                <a:latin typeface="Times New Roman"/>
              </a:defRPr>
            </a:lvl1pPr>
            <a:lvl2pPr>
              <a:defRPr sz="1900">
                <a:latin typeface="Times New Roman"/>
              </a:defRPr>
            </a:lvl2pPr>
            <a:lvl3pPr>
              <a:defRPr sz="1900">
                <a:latin typeface="Times New Roman"/>
              </a:defRPr>
            </a:lvl3pPr>
            <a:lvl4pPr>
              <a:defRPr sz="1900">
                <a:latin typeface="Times New Roman"/>
              </a:defRPr>
            </a:lvl4pPr>
            <a:lvl5pPr>
              <a:defRPr sz="1900">
                <a:latin typeface="Times New Roman"/>
              </a:defRPr>
            </a:lvl5pPr>
            <a:lvl6pPr>
              <a:defRPr sz="1900">
                <a:latin typeface="Times New Roman"/>
              </a:defRPr>
            </a:lvl6pPr>
            <a:lvl7pPr>
              <a:defRPr sz="1900">
                <a:latin typeface="Times New Roman"/>
              </a:defRPr>
            </a:lvl7pPr>
            <a:lvl8pPr>
              <a:defRPr sz="1900">
                <a:latin typeface="Times New Roman"/>
              </a:defRPr>
            </a:lvl8pPr>
            <a:lvl9pPr>
              <a:defRPr sz="1900">
                <a:latin typeface="Times New Roman"/>
              </a:defRPr>
            </a:lvl9pPr>
          </a:lstStyle>
          <a:p>
            <a:pPr marL="0" lvl="0" indent="0">
              <a:spcAft>
                <a:spcPts val="650"/>
              </a:spcAft>
              <a:buNone/>
            </a:pPr>
            <a:r>
              <a:rPr sz="1900" b="1">
                <a:latin typeface="Times New Roman"/>
              </a:rPr>
              <a:t>Palette gadget</a:t>
            </a:r>
          </a:p>
          <a:p>
            <a:pPr marL="0" lvl="0" indent="0">
              <a:spcAft>
                <a:spcPts val="650"/>
              </a:spcAft>
              <a:buNone/>
            </a:pPr>
            <a:r>
              <a:rPr sz="1900">
                <a:latin typeface="Times New Roman"/>
              </a:rPr>
              <a:t>A triangle forces three distinct colors. Name them </a:t>
            </a:r>
            <a14:m xmlns:a14="http://schemas.microsoft.com/office/drawing/2010/main">
              <m:oMath xmlns:m="http://schemas.openxmlformats.org/officeDocument/2006/math">
                <m:r>
                  <a:rPr>
                    <a:latin typeface="Cambria Math" panose="02040503050406030204" pitchFamily="18" charset="0"/>
                  </a:rPr>
                  <m:t>𝑇</m:t>
                </m:r>
              </m:oMath>
            </a14:m>
            <a:r>
              <a:rPr sz="1900">
                <a:latin typeface="Times New Roman"/>
              </a:rPr>
              <a:t>, </a:t>
            </a:r>
            <a14:m xmlns:a14="http://schemas.microsoft.com/office/drawing/2010/main">
              <m:oMath xmlns:m="http://schemas.openxmlformats.org/officeDocument/2006/math">
                <m:r>
                  <a:rPr>
                    <a:latin typeface="Cambria Math" panose="02040503050406030204" pitchFamily="18" charset="0"/>
                  </a:rPr>
                  <m:t>𝐹</m:t>
                </m:r>
              </m:oMath>
            </a14:m>
            <a:r>
              <a:rPr sz="1900">
                <a:latin typeface="Times New Roman"/>
              </a:rPr>
              <a:t> and </a:t>
            </a:r>
            <a14:m xmlns:a14="http://schemas.microsoft.com/office/drawing/2010/main">
              <m:oMath xmlns:m="http://schemas.openxmlformats.org/officeDocument/2006/math">
                <m:r>
                  <a:rPr>
                    <a:latin typeface="Cambria Math" panose="02040503050406030204" pitchFamily="18" charset="0"/>
                  </a:rPr>
                  <m:t>𝐵</m:t>
                </m:r>
              </m:oMath>
            </a14:m>
            <a:r>
              <a:rPr sz="1900">
                <a:latin typeface="Times New Roman"/>
              </a:rPr>
              <a:t> (base/helper).</a:t>
            </a:r>
          </a:p>
        </p:txBody>
      </p:sp>
      <p:pic>
        <p:nvPicPr>
          <p:cNvPr id="8" name="Picture 1" descr="editable_assets/diagram-09-1.png">
            <a:extLst>
              <a:ext uri="{FF2B5EF4-FFF2-40B4-BE49-F238E27FC236}">
                <a16:creationId xmlns:a16="http://schemas.microsoft.com/office/drawing/2014/main" id="{0CD2E463-7A5F-40A7-35D4-3CE80E80A100}"/>
              </a:ext>
            </a:extLst>
          </p:cNvPr>
          <p:cNvPicPr>
            <a:picLocks noGrp="1" noChangeAspect="1"/>
          </p:cNvPicPr>
          <p:nvPr/>
        </p:nvPicPr>
        <p:blipFill>
          <a:blip r:embed="rId3"/>
          <a:srcRect l="7538" t="9298" r="7538" b="8648"/>
          <a:stretch>
            <a:fillRect/>
          </a:stretch>
        </p:blipFill>
        <p:spPr bwMode="auto">
          <a:xfrm>
            <a:off x="731522" y="2624346"/>
            <a:ext cx="2335236" cy="1947655"/>
          </a:xfrm>
          <a:prstGeom prst="rect">
            <a:avLst/>
          </a:prstGeom>
          <a:noFill/>
          <a:ln w="9525">
            <a:noFill/>
            <a:headEnd/>
            <a:tailEnd/>
          </a:ln>
        </p:spPr>
      </p:pic>
      <mc:AlternateContent xmlns:mc="http://schemas.openxmlformats.org/markup-compatibility/2006">
        <mc:Choice xmlns:a14="http://schemas.microsoft.com/office/drawing/2010/main" Requires="a14">
          <p:sp>
            <p:nvSpPr>
              <p:cNvPr id="10" name="Content Placeholder 2">
                <a:extLst>
                  <a:ext uri="{FF2B5EF4-FFF2-40B4-BE49-F238E27FC236}">
                    <a16:creationId xmlns:a16="http://schemas.microsoft.com/office/drawing/2014/main" id="{E8AC0C7B-A6C5-6636-106F-F367B2696128}"/>
                  </a:ext>
                </a:extLst>
              </p:cNvPr>
              <p:cNvSpPr>
                <a:spLocks noGrp="1"/>
              </p:cNvSpPr>
              <p:nvPr/>
            </p:nvSpPr>
            <p:spPr>
              <a:xfrm>
                <a:off x="365760" y="4828735"/>
                <a:ext cx="3806271" cy="777240"/>
              </a:xfrm>
            </p:spPr>
            <p:txBody>
              <a:bodyPr wrap="square" lIns="0" tIns="0" rIns="0" bIns="0" anchor="t">
                <a:noAutofit/>
              </a:bodyPr>
              <a:lstStyle>
                <a:lvl1pPr>
                  <a:defRPr sz="1900">
                    <a:latin typeface="Times New Roman"/>
                  </a:defRPr>
                </a:lvl1pPr>
                <a:lvl2pPr>
                  <a:defRPr sz="1900">
                    <a:latin typeface="Times New Roman"/>
                  </a:defRPr>
                </a:lvl2pPr>
                <a:lvl3pPr>
                  <a:defRPr sz="1900">
                    <a:latin typeface="Times New Roman"/>
                  </a:defRPr>
                </a:lvl3pPr>
                <a:lvl4pPr>
                  <a:defRPr sz="1900">
                    <a:latin typeface="Times New Roman"/>
                  </a:defRPr>
                </a:lvl4pPr>
                <a:lvl5pPr>
                  <a:defRPr sz="1900">
                    <a:latin typeface="Times New Roman"/>
                  </a:defRPr>
                </a:lvl5pPr>
                <a:lvl6pPr>
                  <a:defRPr sz="1900">
                    <a:latin typeface="Times New Roman"/>
                  </a:defRPr>
                </a:lvl6pPr>
                <a:lvl7pPr>
                  <a:defRPr sz="1900">
                    <a:latin typeface="Times New Roman"/>
                  </a:defRPr>
                </a:lvl7pPr>
                <a:lvl8pPr>
                  <a:defRPr sz="1900">
                    <a:latin typeface="Times New Roman"/>
                  </a:defRPr>
                </a:lvl8pPr>
                <a:lvl9pPr>
                  <a:defRPr sz="1900">
                    <a:latin typeface="Times New Roman"/>
                  </a:defRPr>
                </a:lvl9pPr>
              </a:lstStyle>
              <a:p>
                <a:pPr lvl="0">
                  <a:spcAft>
                    <a:spcPts val="650"/>
                  </a:spcAft>
                </a:pPr>
                <a:r>
                  <a:rPr lang="en-US" sz="1900" b="1" dirty="0">
                    <a:latin typeface="Times New Roman"/>
                  </a:rPr>
                  <a:t>Three vertices </a:t>
                </a:r>
                <a14:m>
                  <m:oMath xmlns:m="http://schemas.openxmlformats.org/officeDocument/2006/math">
                    <m:r>
                      <a:rPr lang="ar-AE" i="1">
                        <a:latin typeface="Cambria Math" panose="02040503050406030204" pitchFamily="18" charset="0"/>
                      </a:rPr>
                      <m:t>⇒</m:t>
                    </m:r>
                  </m:oMath>
                </a14:m>
                <a:r>
                  <a:rPr lang="en-US" sz="1900" b="1" dirty="0">
                    <a:latin typeface="Times New Roman"/>
                  </a:rPr>
                  <a:t> Three meaning</a:t>
                </a:r>
                <a:endParaRPr sz="1900" b="1" dirty="0">
                  <a:latin typeface="Times New Roman"/>
                </a:endParaRPr>
              </a:p>
            </p:txBody>
          </p:sp>
        </mc:Choice>
        <mc:Fallback>
          <p:sp>
            <p:nvSpPr>
              <p:cNvPr id="10" name="Content Placeholder 2">
                <a:extLst>
                  <a:ext uri="{FF2B5EF4-FFF2-40B4-BE49-F238E27FC236}">
                    <a16:creationId xmlns:a16="http://schemas.microsoft.com/office/drawing/2014/main" id="{E8AC0C7B-A6C5-6636-106F-F367B2696128}"/>
                  </a:ext>
                </a:extLst>
              </p:cNvPr>
              <p:cNvSpPr>
                <a:spLocks noGrp="1" noRot="1" noChangeAspect="1" noMove="1" noResize="1" noEditPoints="1" noAdjustHandles="1" noChangeArrowheads="1" noChangeShapeType="1" noTextEdit="1"/>
              </p:cNvSpPr>
              <p:nvPr/>
            </p:nvSpPr>
            <p:spPr>
              <a:xfrm>
                <a:off x="365760" y="4828735"/>
                <a:ext cx="3806271" cy="777240"/>
              </a:xfrm>
              <a:blipFill>
                <a:blip r:embed="rId4"/>
                <a:stretch>
                  <a:fillRect/>
                </a:stretch>
              </a:blipFill>
            </p:spPr>
            <p:txBody>
              <a:bodyPr/>
              <a:lstStyle/>
              <a:p>
                <a:r>
                  <a:rPr lang="en-US">
                    <a:noFill/>
                  </a:rPr>
                  <a:t> </a:t>
                </a:r>
              </a:p>
            </p:txBody>
          </p:sp>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228600" y="128016"/>
            <a:ext cx="8686800" cy="713232"/>
          </a:xfrm>
        </p:spPr>
        <p:txBody>
          <a:bodyPr wrap="square" lIns="0" tIns="0" rIns="0" bIns="0" anchor="t">
            <a:noAutofit/>
          </a:bodyPr>
          <a:lstStyle>
            <a:lvl1pPr>
              <a:defRPr sz="2350" b="1">
                <a:solidFill>
                  <a:srgbClr val="3333B2"/>
                </a:solidFill>
                <a:latin typeface="Times New Roman"/>
              </a:defRPr>
            </a:lvl1pPr>
            <a:lvl2pPr>
              <a:defRPr sz="2350" b="1">
                <a:solidFill>
                  <a:srgbClr val="3333B2"/>
                </a:solidFill>
                <a:latin typeface="Times New Roman"/>
              </a:defRPr>
            </a:lvl2pPr>
            <a:lvl3pPr>
              <a:defRPr sz="2350" b="1">
                <a:solidFill>
                  <a:srgbClr val="3333B2"/>
                </a:solidFill>
                <a:latin typeface="Times New Roman"/>
              </a:defRPr>
            </a:lvl3pPr>
            <a:lvl4pPr>
              <a:defRPr sz="2350" b="1">
                <a:solidFill>
                  <a:srgbClr val="3333B2"/>
                </a:solidFill>
                <a:latin typeface="Times New Roman"/>
              </a:defRPr>
            </a:lvl4pPr>
            <a:lvl5pPr>
              <a:defRPr sz="2350" b="1">
                <a:solidFill>
                  <a:srgbClr val="3333B2"/>
                </a:solidFill>
                <a:latin typeface="Times New Roman"/>
              </a:defRPr>
            </a:lvl5pPr>
            <a:lvl6pPr>
              <a:defRPr sz="2350" b="1">
                <a:solidFill>
                  <a:srgbClr val="3333B2"/>
                </a:solidFill>
                <a:latin typeface="Times New Roman"/>
              </a:defRPr>
            </a:lvl6pPr>
            <a:lvl7pPr>
              <a:defRPr sz="2350" b="1">
                <a:solidFill>
                  <a:srgbClr val="3333B2"/>
                </a:solidFill>
                <a:latin typeface="Times New Roman"/>
              </a:defRPr>
            </a:lvl7pPr>
            <a:lvl8pPr>
              <a:defRPr sz="2350" b="1">
                <a:solidFill>
                  <a:srgbClr val="3333B2"/>
                </a:solidFill>
                <a:latin typeface="Times New Roman"/>
              </a:defRPr>
            </a:lvl8pPr>
            <a:lvl9pPr>
              <a:defRPr sz="2350" b="1">
                <a:solidFill>
                  <a:srgbClr val="3333B2"/>
                </a:solidFill>
                <a:latin typeface="Times New Roman"/>
              </a:defRPr>
            </a:lvl9pPr>
          </a:lstStyle>
          <a:p>
            <a:pPr marL="0" lvl="0" indent="0">
              <a:spcAft>
                <a:spcPts val="650"/>
              </a:spcAft>
              <a:buNone/>
            </a:pPr>
            <a:r>
              <a:rPr sz="2350" b="1">
                <a:solidFill>
                  <a:srgbClr val="3333B2"/>
                </a:solidFill>
                <a:latin typeface="Times New Roman"/>
              </a:rPr>
              <a:t>Encoding Truth with Colors</a:t>
            </a:r>
          </a:p>
        </p:txBody>
      </p:sp>
      <p:sp>
        <p:nvSpPr>
          <p:cNvPr id="3" name="Content Placeholder 2"/>
          <p:cNvSpPr>
            <a:spLocks noGrp="1"/>
          </p:cNvSpPr>
          <p:nvPr/>
        </p:nvSpPr>
        <p:spPr>
          <a:xfrm>
            <a:off x="365760" y="1188720"/>
            <a:ext cx="4069080" cy="1188720"/>
          </a:xfrm>
        </p:spPr>
        <p:txBody>
          <a:bodyPr wrap="square" lIns="0" tIns="0" rIns="0" bIns="0" anchor="t">
            <a:noAutofit/>
          </a:bodyPr>
          <a:lstStyle>
            <a:lvl1pPr>
              <a:defRPr sz="1900">
                <a:latin typeface="Times New Roman"/>
              </a:defRPr>
            </a:lvl1pPr>
            <a:lvl2pPr>
              <a:defRPr sz="1900">
                <a:latin typeface="Times New Roman"/>
              </a:defRPr>
            </a:lvl2pPr>
            <a:lvl3pPr>
              <a:defRPr sz="1900">
                <a:latin typeface="Times New Roman"/>
              </a:defRPr>
            </a:lvl3pPr>
            <a:lvl4pPr>
              <a:defRPr sz="1900">
                <a:latin typeface="Times New Roman"/>
              </a:defRPr>
            </a:lvl4pPr>
            <a:lvl5pPr>
              <a:defRPr sz="1900">
                <a:latin typeface="Times New Roman"/>
              </a:defRPr>
            </a:lvl5pPr>
            <a:lvl6pPr>
              <a:defRPr sz="1900">
                <a:latin typeface="Times New Roman"/>
              </a:defRPr>
            </a:lvl6pPr>
            <a:lvl7pPr>
              <a:defRPr sz="1900">
                <a:latin typeface="Times New Roman"/>
              </a:defRPr>
            </a:lvl7pPr>
            <a:lvl8pPr>
              <a:defRPr sz="1900">
                <a:latin typeface="Times New Roman"/>
              </a:defRPr>
            </a:lvl8pPr>
            <a:lvl9pPr>
              <a:defRPr sz="1900">
                <a:latin typeface="Times New Roman"/>
              </a:defRPr>
            </a:lvl9pPr>
          </a:lstStyle>
          <a:p>
            <a:pPr marL="0" lvl="0" indent="0">
              <a:spcAft>
                <a:spcPts val="650"/>
              </a:spcAft>
              <a:buNone/>
            </a:pPr>
            <a:r>
              <a:rPr sz="1900" b="1" dirty="0">
                <a:latin typeface="Times New Roman"/>
              </a:rPr>
              <a:t>Palette gadget</a:t>
            </a:r>
          </a:p>
          <a:p>
            <a:pPr marL="0" lvl="0" indent="0">
              <a:spcAft>
                <a:spcPts val="650"/>
              </a:spcAft>
              <a:buNone/>
            </a:pPr>
            <a:r>
              <a:rPr sz="1900" dirty="0">
                <a:latin typeface="Times New Roman"/>
              </a:rPr>
              <a:t>A triangle forces three distinct colors. Name them </a:t>
            </a:r>
            <a14:m xmlns:a14="http://schemas.microsoft.com/office/drawing/2010/main">
              <m:oMath xmlns:m="http://schemas.openxmlformats.org/officeDocument/2006/math">
                <m:r>
                  <a:rPr>
                    <a:latin typeface="Cambria Math" panose="02040503050406030204" pitchFamily="18" charset="0"/>
                  </a:rPr>
                  <m:t>𝑇</m:t>
                </m:r>
              </m:oMath>
            </a14:m>
            <a:r>
              <a:rPr sz="1900" dirty="0">
                <a:latin typeface="Times New Roman"/>
              </a:rPr>
              <a:t>, </a:t>
            </a:r>
            <a14:m xmlns:a14="http://schemas.microsoft.com/office/drawing/2010/main">
              <m:oMath xmlns:m="http://schemas.openxmlformats.org/officeDocument/2006/math">
                <m:r>
                  <a:rPr>
                    <a:latin typeface="Cambria Math" panose="02040503050406030204" pitchFamily="18" charset="0"/>
                  </a:rPr>
                  <m:t>𝐹</m:t>
                </m:r>
              </m:oMath>
            </a14:m>
            <a:r>
              <a:rPr sz="1900" dirty="0">
                <a:latin typeface="Times New Roman"/>
              </a:rPr>
              <a:t> and </a:t>
            </a:r>
            <a14:m xmlns:a14="http://schemas.microsoft.com/office/drawing/2010/main">
              <m:oMath xmlns:m="http://schemas.openxmlformats.org/officeDocument/2006/math">
                <m:r>
                  <a:rPr>
                    <a:latin typeface="Cambria Math" panose="02040503050406030204" pitchFamily="18" charset="0"/>
                  </a:rPr>
                  <m:t>𝐵</m:t>
                </m:r>
              </m:oMath>
            </a14:m>
            <a:r>
              <a:rPr sz="1900" dirty="0">
                <a:latin typeface="Times New Roman"/>
              </a:rPr>
              <a:t> (base/helper).</a:t>
            </a:r>
          </a:p>
        </p:txBody>
      </p:sp>
      <p:pic>
        <p:nvPicPr>
          <p:cNvPr id="4" name="Picture 1" descr="editable_assets/diagram-09-1.png"/>
          <p:cNvPicPr>
            <a:picLocks noGrp="1" noChangeAspect="1"/>
          </p:cNvPicPr>
          <p:nvPr/>
        </p:nvPicPr>
        <p:blipFill>
          <a:blip r:embed="rId3"/>
          <a:srcRect l="7538" t="9298" r="7538" b="8648"/>
          <a:stretch>
            <a:fillRect/>
          </a:stretch>
        </p:blipFill>
        <p:spPr bwMode="auto">
          <a:xfrm>
            <a:off x="731522" y="2624346"/>
            <a:ext cx="2335236" cy="1947655"/>
          </a:xfrm>
          <a:prstGeom prst="rect">
            <a:avLst/>
          </a:prstGeom>
          <a:noFill/>
          <a:ln w="9525">
            <a:noFill/>
            <a:headEnd/>
            <a:tailEnd/>
          </a:ln>
        </p:spPr>
      </p:pic>
      <mc:AlternateContent xmlns:mc="http://schemas.openxmlformats.org/markup-compatibility/2006">
        <mc:Choice xmlns:a14="http://schemas.microsoft.com/office/drawing/2010/main" Requires="a14">
          <p:sp>
            <p:nvSpPr>
              <p:cNvPr id="5" name="Content Placeholder 2"/>
              <p:cNvSpPr>
                <a:spLocks noGrp="1"/>
              </p:cNvSpPr>
              <p:nvPr/>
            </p:nvSpPr>
            <p:spPr>
              <a:xfrm>
                <a:off x="4434840" y="1188720"/>
                <a:ext cx="4343400" cy="1097280"/>
              </a:xfrm>
            </p:spPr>
            <p:txBody>
              <a:bodyPr wrap="square" lIns="0" tIns="0" rIns="0" bIns="0" anchor="t">
                <a:noAutofit/>
              </a:bodyPr>
              <a:lstStyle>
                <a:lvl1pPr>
                  <a:defRPr sz="1900">
                    <a:latin typeface="Times New Roman"/>
                  </a:defRPr>
                </a:lvl1pPr>
                <a:lvl2pPr>
                  <a:defRPr sz="1900">
                    <a:latin typeface="Times New Roman"/>
                  </a:defRPr>
                </a:lvl2pPr>
                <a:lvl3pPr>
                  <a:defRPr sz="1900">
                    <a:latin typeface="Times New Roman"/>
                  </a:defRPr>
                </a:lvl3pPr>
                <a:lvl4pPr>
                  <a:defRPr sz="1900">
                    <a:latin typeface="Times New Roman"/>
                  </a:defRPr>
                </a:lvl4pPr>
                <a:lvl5pPr>
                  <a:defRPr sz="1900">
                    <a:latin typeface="Times New Roman"/>
                  </a:defRPr>
                </a:lvl5pPr>
                <a:lvl6pPr>
                  <a:defRPr sz="1900">
                    <a:latin typeface="Times New Roman"/>
                  </a:defRPr>
                </a:lvl6pPr>
                <a:lvl7pPr>
                  <a:defRPr sz="1900">
                    <a:latin typeface="Times New Roman"/>
                  </a:defRPr>
                </a:lvl7pPr>
                <a:lvl8pPr>
                  <a:defRPr sz="1900">
                    <a:latin typeface="Times New Roman"/>
                  </a:defRPr>
                </a:lvl8pPr>
                <a:lvl9pPr>
                  <a:defRPr sz="1900">
                    <a:latin typeface="Times New Roman"/>
                  </a:defRPr>
                </a:lvl9pPr>
              </a:lstStyle>
              <a:p>
                <a:pPr marL="0" lvl="0" indent="0">
                  <a:spcAft>
                    <a:spcPts val="650"/>
                  </a:spcAft>
                  <a:buNone/>
                </a:pPr>
                <a:r>
                  <a:rPr sz="1900" b="1" dirty="0">
                    <a:latin typeface="Times New Roman"/>
                  </a:rPr>
                  <a:t>Variable gadget</a:t>
                </a:r>
              </a:p>
              <a:p>
                <a:pPr marL="0" lvl="0" indent="0">
                  <a:spcAft>
                    <a:spcPts val="650"/>
                  </a:spcAft>
                  <a:buNone/>
                </a:pPr>
                <a:r>
                  <a:rPr sz="1900" dirty="0">
                    <a:latin typeface="Times New Roman"/>
                  </a:rPr>
                  <a:t>Connect </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𝑖</m:t>
                        </m:r>
                      </m:sub>
                    </m:sSub>
                  </m:oMath>
                </a14:m>
                <a:r>
                  <a:rPr sz="1900" dirty="0">
                    <a:latin typeface="Times New Roman"/>
                  </a:rPr>
                  <a:t> and </a:t>
                </a:r>
                <a14:m>
                  <m:oMath xmlns:m="http://schemas.openxmlformats.org/officeDocument/2006/math">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𝑖</m:t>
                        </m:r>
                      </m:sub>
                    </m:sSub>
                  </m:oMath>
                </a14:m>
                <a:r>
                  <a:rPr sz="1900" dirty="0">
                    <a:latin typeface="Times New Roman"/>
                  </a:rPr>
                  <a:t> to each other and to </a:t>
                </a:r>
                <a14:m>
                  <m:oMath xmlns:m="http://schemas.openxmlformats.org/officeDocument/2006/math">
                    <m:r>
                      <a:rPr>
                        <a:latin typeface="Cambria Math" panose="02040503050406030204" pitchFamily="18" charset="0"/>
                      </a:rPr>
                      <m:t>𝐵</m:t>
                    </m:r>
                  </m:oMath>
                </a14:m>
                <a:r>
                  <a:rPr sz="1900" dirty="0">
                    <a:latin typeface="Times New Roman"/>
                  </a:rPr>
                  <a:t>.</a:t>
                </a:r>
              </a:p>
            </p:txBody>
          </p:sp>
        </mc:Choice>
        <mc:Fallback>
          <p:sp>
            <p:nvSpPr>
              <p:cNvPr id="5" name="Content Placeholder 2"/>
              <p:cNvSpPr>
                <a:spLocks noGrp="1" noRot="1" noChangeAspect="1" noMove="1" noResize="1" noEditPoints="1" noAdjustHandles="1" noChangeArrowheads="1" noChangeShapeType="1" noTextEdit="1"/>
              </p:cNvSpPr>
              <p:nvPr/>
            </p:nvSpPr>
            <p:spPr>
              <a:xfrm>
                <a:off x="4434840" y="1188720"/>
                <a:ext cx="4343400" cy="1097280"/>
              </a:xfrm>
              <a:blipFill>
                <a:blip r:embed="rId4"/>
                <a:stretch>
                  <a:fillRect/>
                </a:stretch>
              </a:blipFill>
            </p:spPr>
            <p:txBody>
              <a:bodyPr/>
              <a:lstStyle/>
              <a:p>
                <a:r>
                  <a:rPr lang="en-US">
                    <a:noFill/>
                  </a:rPr>
                  <a:t> </a:t>
                </a:r>
              </a:p>
            </p:txBody>
          </p:sp>
        </mc:Fallback>
      </mc:AlternateContent>
      <p:pic>
        <p:nvPicPr>
          <p:cNvPr id="6" name="Picture 1" descr="editable_assets/diagram-10-1.png"/>
          <p:cNvPicPr>
            <a:picLocks noGrp="1" noChangeAspect="1"/>
          </p:cNvPicPr>
          <p:nvPr/>
        </p:nvPicPr>
        <p:blipFill>
          <a:blip r:embed="rId5"/>
          <a:srcRect l="3524" t="8459" r="3524" b="8647"/>
          <a:stretch>
            <a:fillRect/>
          </a:stretch>
        </p:blipFill>
        <p:spPr bwMode="auto">
          <a:xfrm>
            <a:off x="4172031" y="2624346"/>
            <a:ext cx="4697649" cy="1947655"/>
          </a:xfrm>
          <a:prstGeom prst="rect">
            <a:avLst/>
          </a:prstGeom>
          <a:noFill/>
          <a:ln w="9525">
            <a:noFill/>
            <a:headEnd/>
            <a:tailEnd/>
          </a:ln>
        </p:spPr>
      </p:pic>
      <mc:AlternateContent xmlns:mc="http://schemas.openxmlformats.org/markup-compatibility/2006">
        <mc:Choice xmlns:a14="http://schemas.microsoft.com/office/drawing/2010/main" Requires="a14">
          <p:sp>
            <p:nvSpPr>
              <p:cNvPr id="7" name="Content Placeholder 2"/>
              <p:cNvSpPr>
                <a:spLocks noGrp="1"/>
              </p:cNvSpPr>
              <p:nvPr/>
            </p:nvSpPr>
            <p:spPr>
              <a:xfrm>
                <a:off x="4434840" y="4828735"/>
                <a:ext cx="4343400" cy="777240"/>
              </a:xfrm>
            </p:spPr>
            <p:txBody>
              <a:bodyPr wrap="square" lIns="0" tIns="0" rIns="0" bIns="0" anchor="t">
                <a:noAutofit/>
              </a:bodyPr>
              <a:lstStyle>
                <a:lvl1pPr>
                  <a:defRPr sz="1900">
                    <a:latin typeface="Times New Roman"/>
                  </a:defRPr>
                </a:lvl1pPr>
                <a:lvl2pPr>
                  <a:defRPr sz="1900">
                    <a:latin typeface="Times New Roman"/>
                  </a:defRPr>
                </a:lvl2pPr>
                <a:lvl3pPr>
                  <a:defRPr sz="1900">
                    <a:latin typeface="Times New Roman"/>
                  </a:defRPr>
                </a:lvl3pPr>
                <a:lvl4pPr>
                  <a:defRPr sz="1900">
                    <a:latin typeface="Times New Roman"/>
                  </a:defRPr>
                </a:lvl4pPr>
                <a:lvl5pPr>
                  <a:defRPr sz="1900">
                    <a:latin typeface="Times New Roman"/>
                  </a:defRPr>
                </a:lvl5pPr>
                <a:lvl6pPr>
                  <a:defRPr sz="1900">
                    <a:latin typeface="Times New Roman"/>
                  </a:defRPr>
                </a:lvl6pPr>
                <a:lvl7pPr>
                  <a:defRPr sz="1900">
                    <a:latin typeface="Times New Roman"/>
                  </a:defRPr>
                </a:lvl7pPr>
                <a:lvl8pPr>
                  <a:defRPr sz="1900">
                    <a:latin typeface="Times New Roman"/>
                  </a:defRPr>
                </a:lvl8pPr>
                <a:lvl9pPr>
                  <a:defRPr sz="1900">
                    <a:latin typeface="Times New Roman"/>
                  </a:defRPr>
                </a:lvl9pPr>
              </a:lstStyle>
              <a:p>
                <a:pPr marL="0" lvl="0" indent="0">
                  <a:spcAft>
                    <a:spcPts val="650"/>
                  </a:spcAft>
                  <a:buNone/>
                </a:pPr>
                <a:r>
                  <a:rPr sz="1900" b="1" dirty="0">
                    <a:latin typeface="Times New Roman"/>
                  </a:rPr>
                  <a:t>Exactly one of </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𝑖</m:t>
                        </m:r>
                      </m:sub>
                    </m:sSub>
                  </m:oMath>
                </a14:m>
                <a:r>
                  <a:rPr sz="1900" b="1" dirty="0">
                    <a:latin typeface="Times New Roman"/>
                  </a:rPr>
                  <a:t> and </a:t>
                </a:r>
                <a14:m>
                  <m:oMath xmlns:m="http://schemas.openxmlformats.org/officeDocument/2006/math">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𝑖</m:t>
                        </m:r>
                      </m:sub>
                    </m:sSub>
                  </m:oMath>
                </a14:m>
                <a:r>
                  <a:rPr sz="1900" b="1" dirty="0">
                    <a:latin typeface="Times New Roman"/>
                  </a:rPr>
                  <a:t> receives color </a:t>
                </a:r>
                <a14:m>
                  <m:oMath xmlns:m="http://schemas.openxmlformats.org/officeDocument/2006/math">
                    <m:r>
                      <a:rPr>
                        <a:latin typeface="Cambria Math" panose="02040503050406030204" pitchFamily="18" charset="0"/>
                      </a:rPr>
                      <m:t>𝑇</m:t>
                    </m:r>
                  </m:oMath>
                </a14:m>
                <a:r>
                  <a:rPr sz="1900" b="1" dirty="0">
                    <a:latin typeface="Times New Roman"/>
                  </a:rPr>
                  <a:t>.</a:t>
                </a:r>
              </a:p>
            </p:txBody>
          </p:sp>
        </mc:Choice>
        <mc:Fallback>
          <p:sp>
            <p:nvSpPr>
              <p:cNvPr id="7" name="Content Placeholder 2"/>
              <p:cNvSpPr>
                <a:spLocks noGrp="1" noRot="1" noChangeAspect="1" noMove="1" noResize="1" noEditPoints="1" noAdjustHandles="1" noChangeArrowheads="1" noChangeShapeType="1" noTextEdit="1"/>
              </p:cNvSpPr>
              <p:nvPr/>
            </p:nvSpPr>
            <p:spPr>
              <a:xfrm>
                <a:off x="4434840" y="4828735"/>
                <a:ext cx="4343400" cy="777240"/>
              </a:xfr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Content Placeholder 2">
                <a:extLst>
                  <a:ext uri="{FF2B5EF4-FFF2-40B4-BE49-F238E27FC236}">
                    <a16:creationId xmlns:a16="http://schemas.microsoft.com/office/drawing/2014/main" id="{6EDA5152-7FE3-868E-71CC-8C28C444F246}"/>
                  </a:ext>
                </a:extLst>
              </p:cNvPr>
              <p:cNvSpPr>
                <a:spLocks noGrp="1"/>
              </p:cNvSpPr>
              <p:nvPr/>
            </p:nvSpPr>
            <p:spPr>
              <a:xfrm>
                <a:off x="365760" y="4828735"/>
                <a:ext cx="3806271" cy="777240"/>
              </a:xfrm>
            </p:spPr>
            <p:txBody>
              <a:bodyPr wrap="square" lIns="0" tIns="0" rIns="0" bIns="0" anchor="t">
                <a:noAutofit/>
              </a:bodyPr>
              <a:lstStyle>
                <a:lvl1pPr>
                  <a:defRPr sz="1900">
                    <a:latin typeface="Times New Roman"/>
                  </a:defRPr>
                </a:lvl1pPr>
                <a:lvl2pPr>
                  <a:defRPr sz="1900">
                    <a:latin typeface="Times New Roman"/>
                  </a:defRPr>
                </a:lvl2pPr>
                <a:lvl3pPr>
                  <a:defRPr sz="1900">
                    <a:latin typeface="Times New Roman"/>
                  </a:defRPr>
                </a:lvl3pPr>
                <a:lvl4pPr>
                  <a:defRPr sz="1900">
                    <a:latin typeface="Times New Roman"/>
                  </a:defRPr>
                </a:lvl4pPr>
                <a:lvl5pPr>
                  <a:defRPr sz="1900">
                    <a:latin typeface="Times New Roman"/>
                  </a:defRPr>
                </a:lvl5pPr>
                <a:lvl6pPr>
                  <a:defRPr sz="1900">
                    <a:latin typeface="Times New Roman"/>
                  </a:defRPr>
                </a:lvl6pPr>
                <a:lvl7pPr>
                  <a:defRPr sz="1900">
                    <a:latin typeface="Times New Roman"/>
                  </a:defRPr>
                </a:lvl7pPr>
                <a:lvl8pPr>
                  <a:defRPr sz="1900">
                    <a:latin typeface="Times New Roman"/>
                  </a:defRPr>
                </a:lvl8pPr>
                <a:lvl9pPr>
                  <a:defRPr sz="1900">
                    <a:latin typeface="Times New Roman"/>
                  </a:defRPr>
                </a:lvl9pPr>
              </a:lstStyle>
              <a:p>
                <a:pPr lvl="0">
                  <a:spcAft>
                    <a:spcPts val="650"/>
                  </a:spcAft>
                </a:pPr>
                <a:r>
                  <a:rPr lang="en-US" sz="1900" b="1" dirty="0">
                    <a:latin typeface="Times New Roman"/>
                  </a:rPr>
                  <a:t>Three vertices </a:t>
                </a:r>
                <a14:m>
                  <m:oMath xmlns:m="http://schemas.openxmlformats.org/officeDocument/2006/math">
                    <m:r>
                      <a:rPr lang="ar-AE" i="1">
                        <a:latin typeface="Cambria Math" panose="02040503050406030204" pitchFamily="18" charset="0"/>
                      </a:rPr>
                      <m:t>⇒</m:t>
                    </m:r>
                  </m:oMath>
                </a14:m>
                <a:r>
                  <a:rPr lang="en-US" sz="1900" b="1" dirty="0">
                    <a:latin typeface="Times New Roman"/>
                  </a:rPr>
                  <a:t> Three meaning</a:t>
                </a:r>
                <a:endParaRPr sz="1900" b="1" dirty="0">
                  <a:latin typeface="Times New Roman"/>
                </a:endParaRPr>
              </a:p>
            </p:txBody>
          </p:sp>
        </mc:Choice>
        <mc:Fallback>
          <p:sp>
            <p:nvSpPr>
              <p:cNvPr id="9" name="Content Placeholder 2">
                <a:extLst>
                  <a:ext uri="{FF2B5EF4-FFF2-40B4-BE49-F238E27FC236}">
                    <a16:creationId xmlns:a16="http://schemas.microsoft.com/office/drawing/2014/main" id="{6EDA5152-7FE3-868E-71CC-8C28C444F246}"/>
                  </a:ext>
                </a:extLst>
              </p:cNvPr>
              <p:cNvSpPr>
                <a:spLocks noGrp="1" noRot="1" noChangeAspect="1" noMove="1" noResize="1" noEditPoints="1" noAdjustHandles="1" noChangeArrowheads="1" noChangeShapeType="1" noTextEdit="1"/>
              </p:cNvSpPr>
              <p:nvPr/>
            </p:nvSpPr>
            <p:spPr>
              <a:xfrm>
                <a:off x="365760" y="4828735"/>
                <a:ext cx="3806271" cy="777240"/>
              </a:xfrm>
              <a:blipFill>
                <a:blip r:embed="rId7"/>
                <a:stretch>
                  <a:fillRect/>
                </a:stretch>
              </a:blipFill>
            </p:spPr>
            <p:txBody>
              <a:bodyPr/>
              <a:lstStyle/>
              <a:p>
                <a:r>
                  <a:rPr lang="en-US">
                    <a:noFill/>
                  </a:rPr>
                  <a:t> </a:t>
                </a:r>
              </a:p>
            </p:txBody>
          </p:sp>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228600" y="128016"/>
            <a:ext cx="8686800" cy="713232"/>
          </a:xfrm>
        </p:spPr>
        <p:txBody>
          <a:bodyPr wrap="square" lIns="0" tIns="0" rIns="0" bIns="0" anchor="t">
            <a:noAutofit/>
          </a:bodyPr>
          <a:lstStyle>
            <a:lvl1pPr>
              <a:defRPr sz="2350" b="1">
                <a:solidFill>
                  <a:srgbClr val="3333B2"/>
                </a:solidFill>
                <a:latin typeface="Times New Roman"/>
              </a:defRPr>
            </a:lvl1pPr>
            <a:lvl2pPr>
              <a:defRPr sz="2350" b="1">
                <a:solidFill>
                  <a:srgbClr val="3333B2"/>
                </a:solidFill>
                <a:latin typeface="Times New Roman"/>
              </a:defRPr>
            </a:lvl2pPr>
            <a:lvl3pPr>
              <a:defRPr sz="2350" b="1">
                <a:solidFill>
                  <a:srgbClr val="3333B2"/>
                </a:solidFill>
                <a:latin typeface="Times New Roman"/>
              </a:defRPr>
            </a:lvl3pPr>
            <a:lvl4pPr>
              <a:defRPr sz="2350" b="1">
                <a:solidFill>
                  <a:srgbClr val="3333B2"/>
                </a:solidFill>
                <a:latin typeface="Times New Roman"/>
              </a:defRPr>
            </a:lvl4pPr>
            <a:lvl5pPr>
              <a:defRPr sz="2350" b="1">
                <a:solidFill>
                  <a:srgbClr val="3333B2"/>
                </a:solidFill>
                <a:latin typeface="Times New Roman"/>
              </a:defRPr>
            </a:lvl5pPr>
            <a:lvl6pPr>
              <a:defRPr sz="2350" b="1">
                <a:solidFill>
                  <a:srgbClr val="3333B2"/>
                </a:solidFill>
                <a:latin typeface="Times New Roman"/>
              </a:defRPr>
            </a:lvl6pPr>
            <a:lvl7pPr>
              <a:defRPr sz="2350" b="1">
                <a:solidFill>
                  <a:srgbClr val="3333B2"/>
                </a:solidFill>
                <a:latin typeface="Times New Roman"/>
              </a:defRPr>
            </a:lvl7pPr>
            <a:lvl8pPr>
              <a:defRPr sz="2350" b="1">
                <a:solidFill>
                  <a:srgbClr val="3333B2"/>
                </a:solidFill>
                <a:latin typeface="Times New Roman"/>
              </a:defRPr>
            </a:lvl8pPr>
            <a:lvl9pPr>
              <a:defRPr sz="2350" b="1">
                <a:solidFill>
                  <a:srgbClr val="3333B2"/>
                </a:solidFill>
                <a:latin typeface="Times New Roman"/>
              </a:defRPr>
            </a:lvl9pPr>
          </a:lstStyle>
          <a:p>
            <a:pPr marL="0" lvl="0" indent="0">
              <a:spcAft>
                <a:spcPts val="650"/>
              </a:spcAft>
              <a:buNone/>
            </a:pPr>
            <a:r>
              <a:rPr sz="2350" b="1">
                <a:solidFill>
                  <a:srgbClr val="3333B2"/>
                </a:solidFill>
                <a:latin typeface="Times New Roman"/>
              </a:rPr>
              <a:t>Constructing the Exact Clause Gadget</a:t>
            </a:r>
          </a:p>
        </p:txBody>
      </p:sp>
      <mc:AlternateContent xmlns:mc="http://schemas.openxmlformats.org/markup-compatibility/2006">
        <mc:Choice xmlns:a14="http://schemas.microsoft.com/office/drawing/2010/main" Requires="a14">
          <p:sp>
            <p:nvSpPr>
              <p:cNvPr id="3" name="Content Placeholder 2"/>
              <p:cNvSpPr>
                <a:spLocks noGrp="1"/>
              </p:cNvSpPr>
              <p:nvPr/>
            </p:nvSpPr>
            <p:spPr>
              <a:xfrm>
                <a:off x="365760" y="1005840"/>
                <a:ext cx="3977640" cy="5440680"/>
              </a:xfrm>
            </p:spPr>
            <p:txBody>
              <a:bodyPr wrap="square" lIns="0" tIns="0" rIns="0" bIns="0" anchor="t">
                <a:noAutofit/>
              </a:bodyPr>
              <a:lstStyle>
                <a:lvl1pPr>
                  <a:defRPr sz="1600">
                    <a:latin typeface="Times New Roman"/>
                  </a:defRPr>
                </a:lvl1pPr>
                <a:lvl2pPr>
                  <a:defRPr sz="1600">
                    <a:latin typeface="Times New Roman"/>
                  </a:defRPr>
                </a:lvl2pPr>
                <a:lvl3pPr>
                  <a:defRPr sz="1600">
                    <a:latin typeface="Times New Roman"/>
                  </a:defRPr>
                </a:lvl3pPr>
                <a:lvl4pPr>
                  <a:defRPr sz="1600">
                    <a:latin typeface="Times New Roman"/>
                  </a:defRPr>
                </a:lvl4pPr>
                <a:lvl5pPr>
                  <a:defRPr sz="1600">
                    <a:latin typeface="Times New Roman"/>
                  </a:defRPr>
                </a:lvl5pPr>
                <a:lvl6pPr>
                  <a:defRPr sz="1600">
                    <a:latin typeface="Times New Roman"/>
                  </a:defRPr>
                </a:lvl6pPr>
                <a:lvl7pPr>
                  <a:defRPr sz="1600">
                    <a:latin typeface="Times New Roman"/>
                  </a:defRPr>
                </a:lvl7pPr>
                <a:lvl8pPr>
                  <a:defRPr sz="1600">
                    <a:latin typeface="Times New Roman"/>
                  </a:defRPr>
                </a:lvl8pPr>
                <a:lvl9pPr>
                  <a:defRPr sz="1600">
                    <a:latin typeface="Times New Roman"/>
                  </a:defRPr>
                </a:lvl9pPr>
              </a:lstStyle>
              <a:p>
                <a:pPr marL="0" lvl="0" indent="0">
                  <a:spcAft>
                    <a:spcPts val="400"/>
                  </a:spcAft>
                  <a:buNone/>
                </a:pPr>
                <a:r>
                  <a:rPr sz="1900" dirty="0"/>
                  <a:t>For </a:t>
                </a:r>
                <a14:m>
                  <m:oMath xmlns:m="http://schemas.openxmlformats.org/officeDocument/2006/math">
                    <m:r>
                      <a:rPr sz="1900">
                        <a:latin typeface="Cambria Math" panose="02040503050406030204" pitchFamily="18" charset="0"/>
                      </a:rPr>
                      <m:t>𝐶</m:t>
                    </m:r>
                    <m:r>
                      <a:rPr sz="1900">
                        <a:latin typeface="Cambria Math" panose="02040503050406030204" pitchFamily="18" charset="0"/>
                      </a:rPr>
                      <m:t>=(</m:t>
                    </m:r>
                    <m:sSub>
                      <m:sSubPr>
                        <m:ctrlPr>
                          <a:rPr sz="1900">
                            <a:latin typeface="Cambria Math" panose="02040503050406030204" pitchFamily="18" charset="0"/>
                          </a:rPr>
                        </m:ctrlPr>
                      </m:sSubPr>
                      <m:e>
                        <m:r>
                          <m:rPr>
                            <m:sty m:val="p"/>
                          </m:rPr>
                          <a:rPr sz="1900">
                            <a:latin typeface="Cambria Math" panose="02040503050406030204" pitchFamily="18" charset="0"/>
                          </a:rPr>
                          <m:t>ℓ</m:t>
                        </m:r>
                      </m:e>
                      <m:sub>
                        <m:r>
                          <a:rPr sz="1900">
                            <a:latin typeface="Cambria Math" panose="02040503050406030204" pitchFamily="18" charset="0"/>
                          </a:rPr>
                          <m:t>1</m:t>
                        </m:r>
                      </m:sub>
                    </m:sSub>
                    <m:r>
                      <a:rPr sz="1900">
                        <a:latin typeface="Cambria Math" panose="02040503050406030204" pitchFamily="18" charset="0"/>
                      </a:rPr>
                      <m:t>∨</m:t>
                    </m:r>
                    <m:sSub>
                      <m:sSubPr>
                        <m:ctrlPr>
                          <a:rPr sz="1900">
                            <a:latin typeface="Cambria Math" panose="02040503050406030204" pitchFamily="18" charset="0"/>
                          </a:rPr>
                        </m:ctrlPr>
                      </m:sSubPr>
                      <m:e>
                        <m:r>
                          <m:rPr>
                            <m:sty m:val="p"/>
                          </m:rPr>
                          <a:rPr sz="1900">
                            <a:latin typeface="Cambria Math" panose="02040503050406030204" pitchFamily="18" charset="0"/>
                          </a:rPr>
                          <m:t>ℓ</m:t>
                        </m:r>
                      </m:e>
                      <m:sub>
                        <m:r>
                          <a:rPr sz="1900">
                            <a:latin typeface="Cambria Math" panose="02040503050406030204" pitchFamily="18" charset="0"/>
                          </a:rPr>
                          <m:t>2</m:t>
                        </m:r>
                      </m:sub>
                    </m:sSub>
                    <m:r>
                      <a:rPr sz="1900">
                        <a:latin typeface="Cambria Math" panose="02040503050406030204" pitchFamily="18" charset="0"/>
                      </a:rPr>
                      <m:t>∨</m:t>
                    </m:r>
                    <m:sSub>
                      <m:sSubPr>
                        <m:ctrlPr>
                          <a:rPr sz="1900">
                            <a:latin typeface="Cambria Math" panose="02040503050406030204" pitchFamily="18" charset="0"/>
                          </a:rPr>
                        </m:ctrlPr>
                      </m:sSubPr>
                      <m:e>
                        <m:r>
                          <m:rPr>
                            <m:sty m:val="p"/>
                          </m:rPr>
                          <a:rPr sz="1900">
                            <a:latin typeface="Cambria Math" panose="02040503050406030204" pitchFamily="18" charset="0"/>
                          </a:rPr>
                          <m:t>ℓ</m:t>
                        </m:r>
                      </m:e>
                      <m:sub>
                        <m:r>
                          <a:rPr sz="1900">
                            <a:latin typeface="Cambria Math" panose="02040503050406030204" pitchFamily="18" charset="0"/>
                          </a:rPr>
                          <m:t>3</m:t>
                        </m:r>
                      </m:sub>
                    </m:sSub>
                    <m:r>
                      <a:rPr sz="1900">
                        <a:latin typeface="Cambria Math" panose="02040503050406030204" pitchFamily="18" charset="0"/>
                      </a:rPr>
                      <m:t>)</m:t>
                    </m:r>
                  </m:oMath>
                </a14:m>
                <a:r>
                  <a:rPr sz="1900" dirty="0"/>
                  <a:t>, add six fresh vertices </a:t>
                </a:r>
                <a14:m>
                  <m:oMath xmlns:m="http://schemas.openxmlformats.org/officeDocument/2006/math">
                    <m:sSub>
                      <m:sSubPr>
                        <m:ctrlPr>
                          <a:rPr sz="1900">
                            <a:latin typeface="Cambria Math" panose="02040503050406030204" pitchFamily="18" charset="0"/>
                          </a:rPr>
                        </m:ctrlPr>
                      </m:sSubPr>
                      <m:e>
                        <m:r>
                          <a:rPr sz="1900">
                            <a:latin typeface="Cambria Math" panose="02040503050406030204" pitchFamily="18" charset="0"/>
                          </a:rPr>
                          <m:t>𝑎</m:t>
                        </m:r>
                      </m:e>
                      <m:sub>
                        <m:r>
                          <a:rPr sz="1900">
                            <a:latin typeface="Cambria Math" panose="02040503050406030204" pitchFamily="18" charset="0"/>
                          </a:rPr>
                          <m:t>𝑖</m:t>
                        </m:r>
                      </m:sub>
                    </m:sSub>
                    <m:r>
                      <a:rPr sz="1900">
                        <a:latin typeface="Cambria Math" panose="02040503050406030204" pitchFamily="18" charset="0"/>
                      </a:rPr>
                      <m:t>,</m:t>
                    </m:r>
                    <m:sSub>
                      <m:sSubPr>
                        <m:ctrlPr>
                          <a:rPr sz="1900">
                            <a:latin typeface="Cambria Math" panose="02040503050406030204" pitchFamily="18" charset="0"/>
                          </a:rPr>
                        </m:ctrlPr>
                      </m:sSubPr>
                      <m:e>
                        <m:r>
                          <a:rPr sz="1900">
                            <a:latin typeface="Cambria Math" panose="02040503050406030204" pitchFamily="18" charset="0"/>
                          </a:rPr>
                          <m:t>𝑏</m:t>
                        </m:r>
                      </m:e>
                      <m:sub>
                        <m:r>
                          <a:rPr sz="1900">
                            <a:latin typeface="Cambria Math" panose="02040503050406030204" pitchFamily="18" charset="0"/>
                          </a:rPr>
                          <m:t>𝑖</m:t>
                        </m:r>
                      </m:sub>
                    </m:sSub>
                  </m:oMath>
                </a14:m>
                <a:r>
                  <a:rPr sz="1900" dirty="0"/>
                  <a:t> and 13 edges:</a:t>
                </a:r>
              </a:p>
              <a:p>
                <a:pPr marL="0" lvl="0" indent="0">
                  <a:spcAft>
                    <a:spcPts val="400"/>
                  </a:spcAft>
                  <a:buNone/>
                </a:pPr>
                <a14:m>
                  <m:oMathPara xmlns:m="http://schemas.openxmlformats.org/officeDocument/2006/math">
                    <m:oMathParaPr>
                      <m:jc m:val="center"/>
                    </m:oMathParaPr>
                    <m:oMath>
                      <m:eqArr>
                        <m:eqArrPr>
                          <m:ctrlPr>
                            <a:rPr sz="1900">
                              <a:latin typeface="Cambria Math" panose="02040503050406030204" pitchFamily="18" charset="0"/>
                            </a:rPr>
                          </m:ctrlPr>
                        </m:eqArrPr>
                        <m:e>
                          <m:r>
                            <a:rPr sz="1900">
                              <a:latin typeface="Cambria Math" panose="02040503050406030204" pitchFamily="18" charset="0"/>
                            </a:rPr>
                            <m:t>&amp;(</m:t>
                          </m:r>
                          <m:sSub>
                            <m:sSubPr>
                              <m:ctrlPr>
                                <a:rPr sz="1900">
                                  <a:latin typeface="Cambria Math" panose="02040503050406030204" pitchFamily="18" charset="0"/>
                                </a:rPr>
                              </m:ctrlPr>
                            </m:sSubPr>
                            <m:e>
                              <m:r>
                                <m:rPr>
                                  <m:sty m:val="p"/>
                                </m:rPr>
                                <a:rPr sz="1900">
                                  <a:latin typeface="Cambria Math" panose="02040503050406030204" pitchFamily="18" charset="0"/>
                                </a:rPr>
                                <m:t>ℓ</m:t>
                              </m:r>
                            </m:e>
                            <m:sub>
                              <m:r>
                                <a:rPr sz="1900">
                                  <a:latin typeface="Cambria Math" panose="02040503050406030204" pitchFamily="18" charset="0"/>
                                </a:rPr>
                                <m:t>𝑖</m:t>
                              </m:r>
                            </m:sub>
                          </m:sSub>
                          <m:r>
                            <a:rPr sz="1900">
                              <a:latin typeface="Cambria Math" panose="02040503050406030204" pitchFamily="18" charset="0"/>
                            </a:rPr>
                            <m:t>,</m:t>
                          </m:r>
                          <m:sSub>
                            <m:sSubPr>
                              <m:ctrlPr>
                                <a:rPr sz="1900">
                                  <a:latin typeface="Cambria Math" panose="02040503050406030204" pitchFamily="18" charset="0"/>
                                </a:rPr>
                              </m:ctrlPr>
                            </m:sSubPr>
                            <m:e>
                              <m:r>
                                <a:rPr sz="1900">
                                  <a:latin typeface="Cambria Math" panose="02040503050406030204" pitchFamily="18" charset="0"/>
                                </a:rPr>
                                <m:t>𝑎</m:t>
                              </m:r>
                            </m:e>
                            <m:sub>
                              <m:r>
                                <a:rPr sz="1900">
                                  <a:latin typeface="Cambria Math" panose="02040503050406030204" pitchFamily="18" charset="0"/>
                                </a:rPr>
                                <m:t>𝑖</m:t>
                              </m:r>
                            </m:sub>
                          </m:sSub>
                          <m:r>
                            <a:rPr sz="1900">
                              <a:latin typeface="Cambria Math" panose="02040503050406030204" pitchFamily="18" charset="0"/>
                            </a:rPr>
                            <m:t>),(</m:t>
                          </m:r>
                          <m:sSub>
                            <m:sSubPr>
                              <m:ctrlPr>
                                <a:rPr sz="1900">
                                  <a:latin typeface="Cambria Math" panose="02040503050406030204" pitchFamily="18" charset="0"/>
                                </a:rPr>
                              </m:ctrlPr>
                            </m:sSubPr>
                            <m:e>
                              <m:r>
                                <a:rPr sz="1900">
                                  <a:latin typeface="Cambria Math" panose="02040503050406030204" pitchFamily="18" charset="0"/>
                                </a:rPr>
                                <m:t>𝑎</m:t>
                              </m:r>
                            </m:e>
                            <m:sub>
                              <m:r>
                                <a:rPr sz="1900">
                                  <a:latin typeface="Cambria Math" panose="02040503050406030204" pitchFamily="18" charset="0"/>
                                </a:rPr>
                                <m:t>𝑖</m:t>
                              </m:r>
                            </m:sub>
                          </m:sSub>
                          <m:r>
                            <a:rPr sz="1900">
                              <a:latin typeface="Cambria Math" panose="02040503050406030204" pitchFamily="18" charset="0"/>
                            </a:rPr>
                            <m:t>,</m:t>
                          </m:r>
                          <m:sSub>
                            <m:sSubPr>
                              <m:ctrlPr>
                                <a:rPr sz="1900">
                                  <a:latin typeface="Cambria Math" panose="02040503050406030204" pitchFamily="18" charset="0"/>
                                </a:rPr>
                              </m:ctrlPr>
                            </m:sSubPr>
                            <m:e>
                              <m:r>
                                <a:rPr sz="1900">
                                  <a:latin typeface="Cambria Math" panose="02040503050406030204" pitchFamily="18" charset="0"/>
                                </a:rPr>
                                <m:t>𝑏</m:t>
                              </m:r>
                            </m:e>
                            <m:sub>
                              <m:r>
                                <a:rPr sz="1900">
                                  <a:latin typeface="Cambria Math" panose="02040503050406030204" pitchFamily="18" charset="0"/>
                                </a:rPr>
                                <m:t>𝑖</m:t>
                              </m:r>
                            </m:sub>
                          </m:sSub>
                          <m:r>
                            <a:rPr sz="1900">
                              <a:latin typeface="Cambria Math" panose="02040503050406030204" pitchFamily="18" charset="0"/>
                            </a:rPr>
                            <m:t>),(</m:t>
                          </m:r>
                          <m:r>
                            <a:rPr sz="1900">
                              <a:latin typeface="Cambria Math" panose="02040503050406030204" pitchFamily="18" charset="0"/>
                            </a:rPr>
                            <m:t>𝑇</m:t>
                          </m:r>
                          <m:r>
                            <a:rPr sz="1900">
                              <a:latin typeface="Cambria Math" panose="02040503050406030204" pitchFamily="18" charset="0"/>
                            </a:rPr>
                            <m:t>,</m:t>
                          </m:r>
                          <m:sSub>
                            <m:sSubPr>
                              <m:ctrlPr>
                                <a:rPr sz="1900">
                                  <a:latin typeface="Cambria Math" panose="02040503050406030204" pitchFamily="18" charset="0"/>
                                </a:rPr>
                              </m:ctrlPr>
                            </m:sSubPr>
                            <m:e>
                              <m:r>
                                <a:rPr sz="1900">
                                  <a:latin typeface="Cambria Math" panose="02040503050406030204" pitchFamily="18" charset="0"/>
                                </a:rPr>
                                <m:t>𝑎</m:t>
                              </m:r>
                            </m:e>
                            <m:sub>
                              <m:r>
                                <a:rPr sz="1900">
                                  <a:latin typeface="Cambria Math" panose="02040503050406030204" pitchFamily="18" charset="0"/>
                                </a:rPr>
                                <m:t>𝑖</m:t>
                              </m:r>
                            </m:sub>
                          </m:sSub>
                          <m:r>
                            <a:rPr sz="1900">
                              <a:latin typeface="Cambria Math" panose="02040503050406030204" pitchFamily="18" charset="0"/>
                            </a:rPr>
                            <m:t>)</m:t>
                          </m:r>
                        </m:e>
                        <m:e>
                          <m:r>
                            <a:rPr sz="1900">
                              <a:latin typeface="Cambria Math" panose="02040503050406030204" pitchFamily="18" charset="0"/>
                            </a:rPr>
                            <m:t>&amp;  </m:t>
                          </m:r>
                          <m:r>
                            <m:rPr>
                              <m:nor/>
                            </m:rPr>
                            <a:rPr sz="1900" i="0"/>
                            <m:t>for </m:t>
                          </m:r>
                          <m:r>
                            <a:rPr sz="1900">
                              <a:latin typeface="Cambria Math" panose="02040503050406030204" pitchFamily="18" charset="0"/>
                            </a:rPr>
                            <m:t>𝑖</m:t>
                          </m:r>
                          <m:r>
                            <a:rPr sz="1900">
                              <a:latin typeface="Cambria Math" panose="02040503050406030204" pitchFamily="18" charset="0"/>
                            </a:rPr>
                            <m:t>=1,2,3,</m:t>
                          </m:r>
                        </m:e>
                        <m:e>
                          <m:r>
                            <a:rPr sz="1900">
                              <a:latin typeface="Cambria Math" panose="02040503050406030204" pitchFamily="18" charset="0"/>
                            </a:rPr>
                            <m:t>&amp;(</m:t>
                          </m:r>
                          <m:r>
                            <a:rPr sz="1900">
                              <a:latin typeface="Cambria Math" panose="02040503050406030204" pitchFamily="18" charset="0"/>
                            </a:rPr>
                            <m:t>𝑇</m:t>
                          </m:r>
                          <m:r>
                            <a:rPr sz="1900">
                              <a:latin typeface="Cambria Math" panose="02040503050406030204" pitchFamily="18" charset="0"/>
                            </a:rPr>
                            <m:t>,</m:t>
                          </m:r>
                          <m:sSub>
                            <m:sSubPr>
                              <m:ctrlPr>
                                <a:rPr sz="1900">
                                  <a:latin typeface="Cambria Math" panose="02040503050406030204" pitchFamily="18" charset="0"/>
                                </a:rPr>
                              </m:ctrlPr>
                            </m:sSubPr>
                            <m:e>
                              <m:r>
                                <a:rPr sz="1900">
                                  <a:latin typeface="Cambria Math" panose="02040503050406030204" pitchFamily="18" charset="0"/>
                                </a:rPr>
                                <m:t>𝑏</m:t>
                              </m:r>
                            </m:e>
                            <m:sub>
                              <m:r>
                                <a:rPr sz="1900">
                                  <a:latin typeface="Cambria Math" panose="02040503050406030204" pitchFamily="18" charset="0"/>
                                </a:rPr>
                                <m:t>1</m:t>
                              </m:r>
                            </m:sub>
                          </m:sSub>
                          <m:r>
                            <a:rPr sz="1900">
                              <a:latin typeface="Cambria Math" panose="02040503050406030204" pitchFamily="18" charset="0"/>
                            </a:rPr>
                            <m:t>),(</m:t>
                          </m:r>
                          <m:sSub>
                            <m:sSubPr>
                              <m:ctrlPr>
                                <a:rPr sz="1900">
                                  <a:latin typeface="Cambria Math" panose="02040503050406030204" pitchFamily="18" charset="0"/>
                                </a:rPr>
                              </m:ctrlPr>
                            </m:sSubPr>
                            <m:e>
                              <m:r>
                                <a:rPr sz="1900">
                                  <a:latin typeface="Cambria Math" panose="02040503050406030204" pitchFamily="18" charset="0"/>
                                </a:rPr>
                                <m:t>𝑏</m:t>
                              </m:r>
                            </m:e>
                            <m:sub>
                              <m:r>
                                <a:rPr sz="1900">
                                  <a:latin typeface="Cambria Math" panose="02040503050406030204" pitchFamily="18" charset="0"/>
                                </a:rPr>
                                <m:t>1</m:t>
                              </m:r>
                            </m:sub>
                          </m:sSub>
                          <m:r>
                            <a:rPr sz="1900">
                              <a:latin typeface="Cambria Math" panose="02040503050406030204" pitchFamily="18" charset="0"/>
                            </a:rPr>
                            <m:t>,</m:t>
                          </m:r>
                          <m:sSub>
                            <m:sSubPr>
                              <m:ctrlPr>
                                <a:rPr sz="1900">
                                  <a:latin typeface="Cambria Math" panose="02040503050406030204" pitchFamily="18" charset="0"/>
                                </a:rPr>
                              </m:ctrlPr>
                            </m:sSubPr>
                            <m:e>
                              <m:r>
                                <a:rPr sz="1900">
                                  <a:latin typeface="Cambria Math" panose="02040503050406030204" pitchFamily="18" charset="0"/>
                                </a:rPr>
                                <m:t>𝑏</m:t>
                              </m:r>
                            </m:e>
                            <m:sub>
                              <m:r>
                                <a:rPr sz="1900">
                                  <a:latin typeface="Cambria Math" panose="02040503050406030204" pitchFamily="18" charset="0"/>
                                </a:rPr>
                                <m:t>2</m:t>
                              </m:r>
                            </m:sub>
                          </m:sSub>
                          <m:r>
                            <a:rPr sz="1900">
                              <a:latin typeface="Cambria Math" panose="02040503050406030204" pitchFamily="18" charset="0"/>
                            </a:rPr>
                            <m:t>),</m:t>
                          </m:r>
                        </m:e>
                        <m:e>
                          <m:r>
                            <a:rPr sz="1900">
                              <a:latin typeface="Cambria Math" panose="02040503050406030204" pitchFamily="18" charset="0"/>
                            </a:rPr>
                            <m:t>&amp;(</m:t>
                          </m:r>
                          <m:sSub>
                            <m:sSubPr>
                              <m:ctrlPr>
                                <a:rPr sz="1900">
                                  <a:latin typeface="Cambria Math" panose="02040503050406030204" pitchFamily="18" charset="0"/>
                                </a:rPr>
                              </m:ctrlPr>
                            </m:sSubPr>
                            <m:e>
                              <m:r>
                                <a:rPr sz="1900">
                                  <a:latin typeface="Cambria Math" panose="02040503050406030204" pitchFamily="18" charset="0"/>
                                </a:rPr>
                                <m:t>𝑏</m:t>
                              </m:r>
                            </m:e>
                            <m:sub>
                              <m:r>
                                <a:rPr sz="1900">
                                  <a:latin typeface="Cambria Math" panose="02040503050406030204" pitchFamily="18" charset="0"/>
                                </a:rPr>
                                <m:t>2</m:t>
                              </m:r>
                            </m:sub>
                          </m:sSub>
                          <m:r>
                            <a:rPr sz="1900">
                              <a:latin typeface="Cambria Math" panose="02040503050406030204" pitchFamily="18" charset="0"/>
                            </a:rPr>
                            <m:t>,</m:t>
                          </m:r>
                          <m:sSub>
                            <m:sSubPr>
                              <m:ctrlPr>
                                <a:rPr sz="1900">
                                  <a:latin typeface="Cambria Math" panose="02040503050406030204" pitchFamily="18" charset="0"/>
                                </a:rPr>
                              </m:ctrlPr>
                            </m:sSubPr>
                            <m:e>
                              <m:r>
                                <a:rPr sz="1900">
                                  <a:latin typeface="Cambria Math" panose="02040503050406030204" pitchFamily="18" charset="0"/>
                                </a:rPr>
                                <m:t>𝑏</m:t>
                              </m:r>
                            </m:e>
                            <m:sub>
                              <m:r>
                                <a:rPr sz="1900">
                                  <a:latin typeface="Cambria Math" panose="02040503050406030204" pitchFamily="18" charset="0"/>
                                </a:rPr>
                                <m:t>3</m:t>
                              </m:r>
                            </m:sub>
                          </m:sSub>
                          <m:r>
                            <a:rPr sz="1900">
                              <a:latin typeface="Cambria Math" panose="02040503050406030204" pitchFamily="18" charset="0"/>
                            </a:rPr>
                            <m:t>),(</m:t>
                          </m:r>
                          <m:sSub>
                            <m:sSubPr>
                              <m:ctrlPr>
                                <a:rPr sz="1900">
                                  <a:latin typeface="Cambria Math" panose="02040503050406030204" pitchFamily="18" charset="0"/>
                                </a:rPr>
                              </m:ctrlPr>
                            </m:sSubPr>
                            <m:e>
                              <m:r>
                                <a:rPr sz="1900">
                                  <a:latin typeface="Cambria Math" panose="02040503050406030204" pitchFamily="18" charset="0"/>
                                </a:rPr>
                                <m:t>𝑏</m:t>
                              </m:r>
                            </m:e>
                            <m:sub>
                              <m:r>
                                <a:rPr sz="1900">
                                  <a:latin typeface="Cambria Math" panose="02040503050406030204" pitchFamily="18" charset="0"/>
                                </a:rPr>
                                <m:t>3</m:t>
                              </m:r>
                            </m:sub>
                          </m:sSub>
                          <m:r>
                            <a:rPr sz="1900">
                              <a:latin typeface="Cambria Math" panose="02040503050406030204" pitchFamily="18" charset="0"/>
                            </a:rPr>
                            <m:t>,</m:t>
                          </m:r>
                          <m:r>
                            <a:rPr sz="1900">
                              <a:latin typeface="Cambria Math" panose="02040503050406030204" pitchFamily="18" charset="0"/>
                            </a:rPr>
                            <m:t>𝐹</m:t>
                          </m:r>
                          <m:r>
                            <a:rPr sz="1900">
                              <a:latin typeface="Cambria Math" panose="02040503050406030204" pitchFamily="18" charset="0"/>
                            </a:rPr>
                            <m:t>).</m:t>
                          </m:r>
                        </m:e>
                      </m:eqArr>
                    </m:oMath>
                  </m:oMathPara>
                </a14:m>
                <a:endParaRPr sz="1900" dirty="0"/>
              </a:p>
            </p:txBody>
          </p:sp>
        </mc:Choice>
        <mc:Fallback>
          <p:sp>
            <p:nvSpPr>
              <p:cNvPr id="3" name="Content Placeholder 2"/>
              <p:cNvSpPr>
                <a:spLocks noGrp="1" noRot="1" noChangeAspect="1" noMove="1" noResize="1" noEditPoints="1" noAdjustHandles="1" noChangeArrowheads="1" noChangeShapeType="1" noTextEdit="1"/>
              </p:cNvSpPr>
              <p:nvPr/>
            </p:nvSpPr>
            <p:spPr>
              <a:xfrm>
                <a:off x="365760" y="1005840"/>
                <a:ext cx="3977640" cy="5440680"/>
              </a:xfrm>
              <a:blipFill>
                <a:blip r:embed="rId3"/>
                <a:stretch>
                  <a:fillRect/>
                </a:stretch>
              </a:blipFill>
            </p:spPr>
            <p:txBody>
              <a:bodyPr/>
              <a:lstStyle/>
              <a:p>
                <a:r>
                  <a:rPr lang="en-US">
                    <a:noFill/>
                  </a:rPr>
                  <a:t> </a:t>
                </a:r>
              </a:p>
            </p:txBody>
          </p:sp>
        </mc:Fallback>
      </mc:AlternateContent>
      <p:pic>
        <p:nvPicPr>
          <p:cNvPr id="4" name="Picture 1" descr="editable_assets/diagram-11-1.png"/>
          <p:cNvPicPr>
            <a:picLocks noGrp="1" noChangeAspect="1"/>
          </p:cNvPicPr>
          <p:nvPr/>
        </p:nvPicPr>
        <p:blipFill>
          <a:blip r:embed="rId4"/>
          <a:srcRect l="6855" t="36109" r="43774" b="8751"/>
          <a:stretch>
            <a:fillRect/>
          </a:stretch>
        </p:blipFill>
        <p:spPr bwMode="auto">
          <a:xfrm>
            <a:off x="4526280" y="1282723"/>
            <a:ext cx="4251960" cy="3515315"/>
          </a:xfrm>
          <a:prstGeom prst="rect">
            <a:avLst/>
          </a:prstGeom>
          <a:noFill/>
          <a:ln w="9525">
            <a:noFill/>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228600" y="128016"/>
            <a:ext cx="8686800" cy="713232"/>
          </a:xfrm>
        </p:spPr>
        <p:txBody>
          <a:bodyPr wrap="square" lIns="0" tIns="0" rIns="0" bIns="0" anchor="t">
            <a:noAutofit/>
          </a:bodyPr>
          <a:lstStyle>
            <a:lvl1pPr>
              <a:defRPr sz="2350" b="1">
                <a:solidFill>
                  <a:srgbClr val="3333B2"/>
                </a:solidFill>
                <a:latin typeface="Times New Roman"/>
              </a:defRPr>
            </a:lvl1pPr>
            <a:lvl2pPr>
              <a:defRPr sz="2350" b="1">
                <a:solidFill>
                  <a:srgbClr val="3333B2"/>
                </a:solidFill>
                <a:latin typeface="Times New Roman"/>
              </a:defRPr>
            </a:lvl2pPr>
            <a:lvl3pPr>
              <a:defRPr sz="2350" b="1">
                <a:solidFill>
                  <a:srgbClr val="3333B2"/>
                </a:solidFill>
                <a:latin typeface="Times New Roman"/>
              </a:defRPr>
            </a:lvl3pPr>
            <a:lvl4pPr>
              <a:defRPr sz="2350" b="1">
                <a:solidFill>
                  <a:srgbClr val="3333B2"/>
                </a:solidFill>
                <a:latin typeface="Times New Roman"/>
              </a:defRPr>
            </a:lvl4pPr>
            <a:lvl5pPr>
              <a:defRPr sz="2350" b="1">
                <a:solidFill>
                  <a:srgbClr val="3333B2"/>
                </a:solidFill>
                <a:latin typeface="Times New Roman"/>
              </a:defRPr>
            </a:lvl5pPr>
            <a:lvl6pPr>
              <a:defRPr sz="2350" b="1">
                <a:solidFill>
                  <a:srgbClr val="3333B2"/>
                </a:solidFill>
                <a:latin typeface="Times New Roman"/>
              </a:defRPr>
            </a:lvl6pPr>
            <a:lvl7pPr>
              <a:defRPr sz="2350" b="1">
                <a:solidFill>
                  <a:srgbClr val="3333B2"/>
                </a:solidFill>
                <a:latin typeface="Times New Roman"/>
              </a:defRPr>
            </a:lvl7pPr>
            <a:lvl8pPr>
              <a:defRPr sz="2350" b="1">
                <a:solidFill>
                  <a:srgbClr val="3333B2"/>
                </a:solidFill>
                <a:latin typeface="Times New Roman"/>
              </a:defRPr>
            </a:lvl8pPr>
            <a:lvl9pPr>
              <a:defRPr sz="2350" b="1">
                <a:solidFill>
                  <a:srgbClr val="3333B2"/>
                </a:solidFill>
                <a:latin typeface="Times New Roman"/>
              </a:defRPr>
            </a:lvl9pPr>
          </a:lstStyle>
          <a:p>
            <a:pPr marL="0" lvl="0" indent="0">
              <a:spcAft>
                <a:spcPts val="650"/>
              </a:spcAft>
              <a:buNone/>
            </a:pPr>
            <a:r>
              <a:rPr sz="2350" b="1">
                <a:solidFill>
                  <a:srgbClr val="3333B2"/>
                </a:solidFill>
                <a:latin typeface="Times New Roman"/>
              </a:rPr>
              <a:t>Constructing the Exact Clause Gadget</a:t>
            </a:r>
          </a:p>
        </p:txBody>
      </p:sp>
      <mc:AlternateContent xmlns:mc="http://schemas.openxmlformats.org/markup-compatibility/2006">
        <mc:Choice xmlns:a14="http://schemas.microsoft.com/office/drawing/2010/main" Requires="a14">
          <p:sp>
            <p:nvSpPr>
              <p:cNvPr id="3" name="Content Placeholder 2"/>
              <p:cNvSpPr>
                <a:spLocks noGrp="1"/>
              </p:cNvSpPr>
              <p:nvPr/>
            </p:nvSpPr>
            <p:spPr>
              <a:xfrm>
                <a:off x="365760" y="1005840"/>
                <a:ext cx="3977640" cy="5440680"/>
              </a:xfrm>
            </p:spPr>
            <p:txBody>
              <a:bodyPr wrap="square" lIns="0" tIns="0" rIns="0" bIns="0" anchor="t">
                <a:noAutofit/>
              </a:bodyPr>
              <a:lstStyle>
                <a:lvl1pPr>
                  <a:defRPr sz="1600">
                    <a:latin typeface="Times New Roman"/>
                  </a:defRPr>
                </a:lvl1pPr>
                <a:lvl2pPr>
                  <a:defRPr sz="1600">
                    <a:latin typeface="Times New Roman"/>
                  </a:defRPr>
                </a:lvl2pPr>
                <a:lvl3pPr>
                  <a:defRPr sz="1600">
                    <a:latin typeface="Times New Roman"/>
                  </a:defRPr>
                </a:lvl3pPr>
                <a:lvl4pPr>
                  <a:defRPr sz="1600">
                    <a:latin typeface="Times New Roman"/>
                  </a:defRPr>
                </a:lvl4pPr>
                <a:lvl5pPr>
                  <a:defRPr sz="1600">
                    <a:latin typeface="Times New Roman"/>
                  </a:defRPr>
                </a:lvl5pPr>
                <a:lvl6pPr>
                  <a:defRPr sz="1600">
                    <a:latin typeface="Times New Roman"/>
                  </a:defRPr>
                </a:lvl6pPr>
                <a:lvl7pPr>
                  <a:defRPr sz="1600">
                    <a:latin typeface="Times New Roman"/>
                  </a:defRPr>
                </a:lvl7pPr>
                <a:lvl8pPr>
                  <a:defRPr sz="1600">
                    <a:latin typeface="Times New Roman"/>
                  </a:defRPr>
                </a:lvl8pPr>
                <a:lvl9pPr>
                  <a:defRPr sz="1600">
                    <a:latin typeface="Times New Roman"/>
                  </a:defRPr>
                </a:lvl9pPr>
              </a:lstStyle>
              <a:p>
                <a:pPr marL="0" lvl="0" indent="0">
                  <a:spcAft>
                    <a:spcPts val="400"/>
                  </a:spcAft>
                  <a:buNone/>
                </a:pPr>
                <a:r>
                  <a:rPr sz="1900" dirty="0"/>
                  <a:t>For </a:t>
                </a:r>
                <a14:m>
                  <m:oMath xmlns:m="http://schemas.openxmlformats.org/officeDocument/2006/math">
                    <m:r>
                      <a:rPr sz="1900">
                        <a:latin typeface="Cambria Math" panose="02040503050406030204" pitchFamily="18" charset="0"/>
                      </a:rPr>
                      <m:t>𝐶</m:t>
                    </m:r>
                    <m:r>
                      <a:rPr sz="1900">
                        <a:latin typeface="Cambria Math" panose="02040503050406030204" pitchFamily="18" charset="0"/>
                      </a:rPr>
                      <m:t>=(</m:t>
                    </m:r>
                    <m:sSub>
                      <m:sSubPr>
                        <m:ctrlPr>
                          <a:rPr sz="1900">
                            <a:latin typeface="Cambria Math" panose="02040503050406030204" pitchFamily="18" charset="0"/>
                          </a:rPr>
                        </m:ctrlPr>
                      </m:sSubPr>
                      <m:e>
                        <m:r>
                          <m:rPr>
                            <m:sty m:val="p"/>
                          </m:rPr>
                          <a:rPr sz="1900">
                            <a:latin typeface="Cambria Math" panose="02040503050406030204" pitchFamily="18" charset="0"/>
                          </a:rPr>
                          <m:t>ℓ</m:t>
                        </m:r>
                      </m:e>
                      <m:sub>
                        <m:r>
                          <a:rPr sz="1900">
                            <a:latin typeface="Cambria Math" panose="02040503050406030204" pitchFamily="18" charset="0"/>
                          </a:rPr>
                          <m:t>1</m:t>
                        </m:r>
                      </m:sub>
                    </m:sSub>
                    <m:r>
                      <a:rPr sz="1900">
                        <a:latin typeface="Cambria Math" panose="02040503050406030204" pitchFamily="18" charset="0"/>
                      </a:rPr>
                      <m:t>∨</m:t>
                    </m:r>
                    <m:sSub>
                      <m:sSubPr>
                        <m:ctrlPr>
                          <a:rPr sz="1900">
                            <a:latin typeface="Cambria Math" panose="02040503050406030204" pitchFamily="18" charset="0"/>
                          </a:rPr>
                        </m:ctrlPr>
                      </m:sSubPr>
                      <m:e>
                        <m:r>
                          <m:rPr>
                            <m:sty m:val="p"/>
                          </m:rPr>
                          <a:rPr sz="1900">
                            <a:latin typeface="Cambria Math" panose="02040503050406030204" pitchFamily="18" charset="0"/>
                          </a:rPr>
                          <m:t>ℓ</m:t>
                        </m:r>
                      </m:e>
                      <m:sub>
                        <m:r>
                          <a:rPr sz="1900">
                            <a:latin typeface="Cambria Math" panose="02040503050406030204" pitchFamily="18" charset="0"/>
                          </a:rPr>
                          <m:t>2</m:t>
                        </m:r>
                      </m:sub>
                    </m:sSub>
                    <m:r>
                      <a:rPr sz="1900">
                        <a:latin typeface="Cambria Math" panose="02040503050406030204" pitchFamily="18" charset="0"/>
                      </a:rPr>
                      <m:t>∨</m:t>
                    </m:r>
                    <m:sSub>
                      <m:sSubPr>
                        <m:ctrlPr>
                          <a:rPr sz="1900">
                            <a:latin typeface="Cambria Math" panose="02040503050406030204" pitchFamily="18" charset="0"/>
                          </a:rPr>
                        </m:ctrlPr>
                      </m:sSubPr>
                      <m:e>
                        <m:r>
                          <m:rPr>
                            <m:sty m:val="p"/>
                          </m:rPr>
                          <a:rPr sz="1900">
                            <a:latin typeface="Cambria Math" panose="02040503050406030204" pitchFamily="18" charset="0"/>
                          </a:rPr>
                          <m:t>ℓ</m:t>
                        </m:r>
                      </m:e>
                      <m:sub>
                        <m:r>
                          <a:rPr sz="1900">
                            <a:latin typeface="Cambria Math" panose="02040503050406030204" pitchFamily="18" charset="0"/>
                          </a:rPr>
                          <m:t>3</m:t>
                        </m:r>
                      </m:sub>
                    </m:sSub>
                    <m:r>
                      <a:rPr sz="1900">
                        <a:latin typeface="Cambria Math" panose="02040503050406030204" pitchFamily="18" charset="0"/>
                      </a:rPr>
                      <m:t>)</m:t>
                    </m:r>
                  </m:oMath>
                </a14:m>
                <a:r>
                  <a:rPr sz="1900" dirty="0"/>
                  <a:t>, add six fresh vertices </a:t>
                </a:r>
                <a14:m>
                  <m:oMath xmlns:m="http://schemas.openxmlformats.org/officeDocument/2006/math">
                    <m:sSub>
                      <m:sSubPr>
                        <m:ctrlPr>
                          <a:rPr sz="1900">
                            <a:latin typeface="Cambria Math" panose="02040503050406030204" pitchFamily="18" charset="0"/>
                          </a:rPr>
                        </m:ctrlPr>
                      </m:sSubPr>
                      <m:e>
                        <m:r>
                          <a:rPr sz="1900">
                            <a:latin typeface="Cambria Math" panose="02040503050406030204" pitchFamily="18" charset="0"/>
                          </a:rPr>
                          <m:t>𝑎</m:t>
                        </m:r>
                      </m:e>
                      <m:sub>
                        <m:r>
                          <a:rPr sz="1900">
                            <a:latin typeface="Cambria Math" panose="02040503050406030204" pitchFamily="18" charset="0"/>
                          </a:rPr>
                          <m:t>𝑖</m:t>
                        </m:r>
                      </m:sub>
                    </m:sSub>
                    <m:r>
                      <a:rPr sz="1900">
                        <a:latin typeface="Cambria Math" panose="02040503050406030204" pitchFamily="18" charset="0"/>
                      </a:rPr>
                      <m:t>,</m:t>
                    </m:r>
                    <m:sSub>
                      <m:sSubPr>
                        <m:ctrlPr>
                          <a:rPr sz="1900">
                            <a:latin typeface="Cambria Math" panose="02040503050406030204" pitchFamily="18" charset="0"/>
                          </a:rPr>
                        </m:ctrlPr>
                      </m:sSubPr>
                      <m:e>
                        <m:r>
                          <a:rPr sz="1900">
                            <a:latin typeface="Cambria Math" panose="02040503050406030204" pitchFamily="18" charset="0"/>
                          </a:rPr>
                          <m:t>𝑏</m:t>
                        </m:r>
                      </m:e>
                      <m:sub>
                        <m:r>
                          <a:rPr sz="1900">
                            <a:latin typeface="Cambria Math" panose="02040503050406030204" pitchFamily="18" charset="0"/>
                          </a:rPr>
                          <m:t>𝑖</m:t>
                        </m:r>
                      </m:sub>
                    </m:sSub>
                  </m:oMath>
                </a14:m>
                <a:r>
                  <a:rPr sz="1900" dirty="0"/>
                  <a:t> and 13 edges:</a:t>
                </a:r>
              </a:p>
              <a:p>
                <a:pPr marL="0" lvl="0" indent="0">
                  <a:spcAft>
                    <a:spcPts val="400"/>
                  </a:spcAft>
                  <a:buNone/>
                </a:pPr>
                <a14:m>
                  <m:oMathPara xmlns:m="http://schemas.openxmlformats.org/officeDocument/2006/math">
                    <m:oMathParaPr>
                      <m:jc m:val="center"/>
                    </m:oMathParaPr>
                    <m:oMath>
                      <m:eqArr>
                        <m:eqArrPr>
                          <m:ctrlPr>
                            <a:rPr sz="1900">
                              <a:latin typeface="Cambria Math" panose="02040503050406030204" pitchFamily="18" charset="0"/>
                            </a:rPr>
                          </m:ctrlPr>
                        </m:eqArrPr>
                        <m:e>
                          <m:r>
                            <a:rPr sz="1900">
                              <a:latin typeface="Cambria Math" panose="02040503050406030204" pitchFamily="18" charset="0"/>
                            </a:rPr>
                            <m:t>&amp;(</m:t>
                          </m:r>
                          <m:sSub>
                            <m:sSubPr>
                              <m:ctrlPr>
                                <a:rPr sz="1900">
                                  <a:latin typeface="Cambria Math" panose="02040503050406030204" pitchFamily="18" charset="0"/>
                                </a:rPr>
                              </m:ctrlPr>
                            </m:sSubPr>
                            <m:e>
                              <m:r>
                                <m:rPr>
                                  <m:sty m:val="p"/>
                                </m:rPr>
                                <a:rPr sz="1900">
                                  <a:latin typeface="Cambria Math" panose="02040503050406030204" pitchFamily="18" charset="0"/>
                                </a:rPr>
                                <m:t>ℓ</m:t>
                              </m:r>
                            </m:e>
                            <m:sub>
                              <m:r>
                                <a:rPr sz="1900">
                                  <a:latin typeface="Cambria Math" panose="02040503050406030204" pitchFamily="18" charset="0"/>
                                </a:rPr>
                                <m:t>𝑖</m:t>
                              </m:r>
                            </m:sub>
                          </m:sSub>
                          <m:r>
                            <a:rPr sz="1900">
                              <a:latin typeface="Cambria Math" panose="02040503050406030204" pitchFamily="18" charset="0"/>
                            </a:rPr>
                            <m:t>,</m:t>
                          </m:r>
                          <m:sSub>
                            <m:sSubPr>
                              <m:ctrlPr>
                                <a:rPr sz="1900">
                                  <a:latin typeface="Cambria Math" panose="02040503050406030204" pitchFamily="18" charset="0"/>
                                </a:rPr>
                              </m:ctrlPr>
                            </m:sSubPr>
                            <m:e>
                              <m:r>
                                <a:rPr sz="1900">
                                  <a:latin typeface="Cambria Math" panose="02040503050406030204" pitchFamily="18" charset="0"/>
                                </a:rPr>
                                <m:t>𝑎</m:t>
                              </m:r>
                            </m:e>
                            <m:sub>
                              <m:r>
                                <a:rPr sz="1900">
                                  <a:latin typeface="Cambria Math" panose="02040503050406030204" pitchFamily="18" charset="0"/>
                                </a:rPr>
                                <m:t>𝑖</m:t>
                              </m:r>
                            </m:sub>
                          </m:sSub>
                          <m:r>
                            <a:rPr sz="1900">
                              <a:latin typeface="Cambria Math" panose="02040503050406030204" pitchFamily="18" charset="0"/>
                            </a:rPr>
                            <m:t>),(</m:t>
                          </m:r>
                          <m:sSub>
                            <m:sSubPr>
                              <m:ctrlPr>
                                <a:rPr sz="1900">
                                  <a:latin typeface="Cambria Math" panose="02040503050406030204" pitchFamily="18" charset="0"/>
                                </a:rPr>
                              </m:ctrlPr>
                            </m:sSubPr>
                            <m:e>
                              <m:r>
                                <a:rPr sz="1900">
                                  <a:latin typeface="Cambria Math" panose="02040503050406030204" pitchFamily="18" charset="0"/>
                                </a:rPr>
                                <m:t>𝑎</m:t>
                              </m:r>
                            </m:e>
                            <m:sub>
                              <m:r>
                                <a:rPr sz="1900">
                                  <a:latin typeface="Cambria Math" panose="02040503050406030204" pitchFamily="18" charset="0"/>
                                </a:rPr>
                                <m:t>𝑖</m:t>
                              </m:r>
                            </m:sub>
                          </m:sSub>
                          <m:r>
                            <a:rPr sz="1900">
                              <a:latin typeface="Cambria Math" panose="02040503050406030204" pitchFamily="18" charset="0"/>
                            </a:rPr>
                            <m:t>,</m:t>
                          </m:r>
                          <m:sSub>
                            <m:sSubPr>
                              <m:ctrlPr>
                                <a:rPr sz="1900">
                                  <a:latin typeface="Cambria Math" panose="02040503050406030204" pitchFamily="18" charset="0"/>
                                </a:rPr>
                              </m:ctrlPr>
                            </m:sSubPr>
                            <m:e>
                              <m:r>
                                <a:rPr sz="1900">
                                  <a:latin typeface="Cambria Math" panose="02040503050406030204" pitchFamily="18" charset="0"/>
                                </a:rPr>
                                <m:t>𝑏</m:t>
                              </m:r>
                            </m:e>
                            <m:sub>
                              <m:r>
                                <a:rPr sz="1900">
                                  <a:latin typeface="Cambria Math" panose="02040503050406030204" pitchFamily="18" charset="0"/>
                                </a:rPr>
                                <m:t>𝑖</m:t>
                              </m:r>
                            </m:sub>
                          </m:sSub>
                          <m:r>
                            <a:rPr sz="1900">
                              <a:latin typeface="Cambria Math" panose="02040503050406030204" pitchFamily="18" charset="0"/>
                            </a:rPr>
                            <m:t>),(</m:t>
                          </m:r>
                          <m:r>
                            <a:rPr sz="1900">
                              <a:latin typeface="Cambria Math" panose="02040503050406030204" pitchFamily="18" charset="0"/>
                            </a:rPr>
                            <m:t>𝑇</m:t>
                          </m:r>
                          <m:r>
                            <a:rPr sz="1900">
                              <a:latin typeface="Cambria Math" panose="02040503050406030204" pitchFamily="18" charset="0"/>
                            </a:rPr>
                            <m:t>,</m:t>
                          </m:r>
                          <m:sSub>
                            <m:sSubPr>
                              <m:ctrlPr>
                                <a:rPr sz="1900">
                                  <a:latin typeface="Cambria Math" panose="02040503050406030204" pitchFamily="18" charset="0"/>
                                </a:rPr>
                              </m:ctrlPr>
                            </m:sSubPr>
                            <m:e>
                              <m:r>
                                <a:rPr sz="1900">
                                  <a:latin typeface="Cambria Math" panose="02040503050406030204" pitchFamily="18" charset="0"/>
                                </a:rPr>
                                <m:t>𝑎</m:t>
                              </m:r>
                            </m:e>
                            <m:sub>
                              <m:r>
                                <a:rPr sz="1900">
                                  <a:latin typeface="Cambria Math" panose="02040503050406030204" pitchFamily="18" charset="0"/>
                                </a:rPr>
                                <m:t>𝑖</m:t>
                              </m:r>
                            </m:sub>
                          </m:sSub>
                          <m:r>
                            <a:rPr sz="1900">
                              <a:latin typeface="Cambria Math" panose="02040503050406030204" pitchFamily="18" charset="0"/>
                            </a:rPr>
                            <m:t>)</m:t>
                          </m:r>
                        </m:e>
                        <m:e>
                          <m:r>
                            <a:rPr sz="1900">
                              <a:latin typeface="Cambria Math" panose="02040503050406030204" pitchFamily="18" charset="0"/>
                            </a:rPr>
                            <m:t>&amp;  </m:t>
                          </m:r>
                          <m:r>
                            <m:rPr>
                              <m:nor/>
                            </m:rPr>
                            <a:rPr sz="1900" i="0"/>
                            <m:t>for </m:t>
                          </m:r>
                          <m:r>
                            <a:rPr sz="1900">
                              <a:latin typeface="Cambria Math" panose="02040503050406030204" pitchFamily="18" charset="0"/>
                            </a:rPr>
                            <m:t>𝑖</m:t>
                          </m:r>
                          <m:r>
                            <a:rPr sz="1900">
                              <a:latin typeface="Cambria Math" panose="02040503050406030204" pitchFamily="18" charset="0"/>
                            </a:rPr>
                            <m:t>=1,2,3,</m:t>
                          </m:r>
                        </m:e>
                        <m:e>
                          <m:r>
                            <a:rPr sz="1900">
                              <a:latin typeface="Cambria Math" panose="02040503050406030204" pitchFamily="18" charset="0"/>
                            </a:rPr>
                            <m:t>&amp;(</m:t>
                          </m:r>
                          <m:r>
                            <a:rPr sz="1900">
                              <a:latin typeface="Cambria Math" panose="02040503050406030204" pitchFamily="18" charset="0"/>
                            </a:rPr>
                            <m:t>𝑇</m:t>
                          </m:r>
                          <m:r>
                            <a:rPr sz="1900">
                              <a:latin typeface="Cambria Math" panose="02040503050406030204" pitchFamily="18" charset="0"/>
                            </a:rPr>
                            <m:t>,</m:t>
                          </m:r>
                          <m:sSub>
                            <m:sSubPr>
                              <m:ctrlPr>
                                <a:rPr sz="1900">
                                  <a:latin typeface="Cambria Math" panose="02040503050406030204" pitchFamily="18" charset="0"/>
                                </a:rPr>
                              </m:ctrlPr>
                            </m:sSubPr>
                            <m:e>
                              <m:r>
                                <a:rPr sz="1900">
                                  <a:latin typeface="Cambria Math" panose="02040503050406030204" pitchFamily="18" charset="0"/>
                                </a:rPr>
                                <m:t>𝑏</m:t>
                              </m:r>
                            </m:e>
                            <m:sub>
                              <m:r>
                                <a:rPr sz="1900">
                                  <a:latin typeface="Cambria Math" panose="02040503050406030204" pitchFamily="18" charset="0"/>
                                </a:rPr>
                                <m:t>1</m:t>
                              </m:r>
                            </m:sub>
                          </m:sSub>
                          <m:r>
                            <a:rPr sz="1900">
                              <a:latin typeface="Cambria Math" panose="02040503050406030204" pitchFamily="18" charset="0"/>
                            </a:rPr>
                            <m:t>),(</m:t>
                          </m:r>
                          <m:sSub>
                            <m:sSubPr>
                              <m:ctrlPr>
                                <a:rPr sz="1900">
                                  <a:latin typeface="Cambria Math" panose="02040503050406030204" pitchFamily="18" charset="0"/>
                                </a:rPr>
                              </m:ctrlPr>
                            </m:sSubPr>
                            <m:e>
                              <m:r>
                                <a:rPr sz="1900">
                                  <a:latin typeface="Cambria Math" panose="02040503050406030204" pitchFamily="18" charset="0"/>
                                </a:rPr>
                                <m:t>𝑏</m:t>
                              </m:r>
                            </m:e>
                            <m:sub>
                              <m:r>
                                <a:rPr sz="1900">
                                  <a:latin typeface="Cambria Math" panose="02040503050406030204" pitchFamily="18" charset="0"/>
                                </a:rPr>
                                <m:t>1</m:t>
                              </m:r>
                            </m:sub>
                          </m:sSub>
                          <m:r>
                            <a:rPr sz="1900">
                              <a:latin typeface="Cambria Math" panose="02040503050406030204" pitchFamily="18" charset="0"/>
                            </a:rPr>
                            <m:t>,</m:t>
                          </m:r>
                          <m:sSub>
                            <m:sSubPr>
                              <m:ctrlPr>
                                <a:rPr sz="1900">
                                  <a:latin typeface="Cambria Math" panose="02040503050406030204" pitchFamily="18" charset="0"/>
                                </a:rPr>
                              </m:ctrlPr>
                            </m:sSubPr>
                            <m:e>
                              <m:r>
                                <a:rPr sz="1900">
                                  <a:latin typeface="Cambria Math" panose="02040503050406030204" pitchFamily="18" charset="0"/>
                                </a:rPr>
                                <m:t>𝑏</m:t>
                              </m:r>
                            </m:e>
                            <m:sub>
                              <m:r>
                                <a:rPr sz="1900">
                                  <a:latin typeface="Cambria Math" panose="02040503050406030204" pitchFamily="18" charset="0"/>
                                </a:rPr>
                                <m:t>2</m:t>
                              </m:r>
                            </m:sub>
                          </m:sSub>
                          <m:r>
                            <a:rPr sz="1900">
                              <a:latin typeface="Cambria Math" panose="02040503050406030204" pitchFamily="18" charset="0"/>
                            </a:rPr>
                            <m:t>),</m:t>
                          </m:r>
                        </m:e>
                        <m:e>
                          <m:r>
                            <a:rPr sz="1900">
                              <a:latin typeface="Cambria Math" panose="02040503050406030204" pitchFamily="18" charset="0"/>
                            </a:rPr>
                            <m:t>&amp;(</m:t>
                          </m:r>
                          <m:sSub>
                            <m:sSubPr>
                              <m:ctrlPr>
                                <a:rPr sz="1900">
                                  <a:latin typeface="Cambria Math" panose="02040503050406030204" pitchFamily="18" charset="0"/>
                                </a:rPr>
                              </m:ctrlPr>
                            </m:sSubPr>
                            <m:e>
                              <m:r>
                                <a:rPr sz="1900">
                                  <a:latin typeface="Cambria Math" panose="02040503050406030204" pitchFamily="18" charset="0"/>
                                </a:rPr>
                                <m:t>𝑏</m:t>
                              </m:r>
                            </m:e>
                            <m:sub>
                              <m:r>
                                <a:rPr sz="1900">
                                  <a:latin typeface="Cambria Math" panose="02040503050406030204" pitchFamily="18" charset="0"/>
                                </a:rPr>
                                <m:t>2</m:t>
                              </m:r>
                            </m:sub>
                          </m:sSub>
                          <m:r>
                            <a:rPr sz="1900">
                              <a:latin typeface="Cambria Math" panose="02040503050406030204" pitchFamily="18" charset="0"/>
                            </a:rPr>
                            <m:t>,</m:t>
                          </m:r>
                          <m:sSub>
                            <m:sSubPr>
                              <m:ctrlPr>
                                <a:rPr sz="1900">
                                  <a:latin typeface="Cambria Math" panose="02040503050406030204" pitchFamily="18" charset="0"/>
                                </a:rPr>
                              </m:ctrlPr>
                            </m:sSubPr>
                            <m:e>
                              <m:r>
                                <a:rPr sz="1900">
                                  <a:latin typeface="Cambria Math" panose="02040503050406030204" pitchFamily="18" charset="0"/>
                                </a:rPr>
                                <m:t>𝑏</m:t>
                              </m:r>
                            </m:e>
                            <m:sub>
                              <m:r>
                                <a:rPr sz="1900">
                                  <a:latin typeface="Cambria Math" panose="02040503050406030204" pitchFamily="18" charset="0"/>
                                </a:rPr>
                                <m:t>3</m:t>
                              </m:r>
                            </m:sub>
                          </m:sSub>
                          <m:r>
                            <a:rPr sz="1900">
                              <a:latin typeface="Cambria Math" panose="02040503050406030204" pitchFamily="18" charset="0"/>
                            </a:rPr>
                            <m:t>),(</m:t>
                          </m:r>
                          <m:sSub>
                            <m:sSubPr>
                              <m:ctrlPr>
                                <a:rPr sz="1900">
                                  <a:latin typeface="Cambria Math" panose="02040503050406030204" pitchFamily="18" charset="0"/>
                                </a:rPr>
                              </m:ctrlPr>
                            </m:sSubPr>
                            <m:e>
                              <m:r>
                                <a:rPr sz="1900">
                                  <a:latin typeface="Cambria Math" panose="02040503050406030204" pitchFamily="18" charset="0"/>
                                </a:rPr>
                                <m:t>𝑏</m:t>
                              </m:r>
                            </m:e>
                            <m:sub>
                              <m:r>
                                <a:rPr sz="1900">
                                  <a:latin typeface="Cambria Math" panose="02040503050406030204" pitchFamily="18" charset="0"/>
                                </a:rPr>
                                <m:t>3</m:t>
                              </m:r>
                            </m:sub>
                          </m:sSub>
                          <m:r>
                            <a:rPr sz="1900">
                              <a:latin typeface="Cambria Math" panose="02040503050406030204" pitchFamily="18" charset="0"/>
                            </a:rPr>
                            <m:t>,</m:t>
                          </m:r>
                          <m:r>
                            <a:rPr sz="1900">
                              <a:latin typeface="Cambria Math" panose="02040503050406030204" pitchFamily="18" charset="0"/>
                            </a:rPr>
                            <m:t>𝐹</m:t>
                          </m:r>
                          <m:r>
                            <a:rPr sz="1900">
                              <a:latin typeface="Cambria Math" panose="02040503050406030204" pitchFamily="18" charset="0"/>
                            </a:rPr>
                            <m:t>).</m:t>
                          </m:r>
                        </m:e>
                      </m:eqArr>
                    </m:oMath>
                  </m:oMathPara>
                </a14:m>
                <a:endParaRPr sz="1900" dirty="0"/>
              </a:p>
            </p:txBody>
          </p:sp>
        </mc:Choice>
        <mc:Fallback>
          <p:sp>
            <p:nvSpPr>
              <p:cNvPr id="3" name="Content Placeholder 2"/>
              <p:cNvSpPr>
                <a:spLocks noGrp="1" noRot="1" noChangeAspect="1" noMove="1" noResize="1" noEditPoints="1" noAdjustHandles="1" noChangeArrowheads="1" noChangeShapeType="1" noTextEdit="1"/>
              </p:cNvSpPr>
              <p:nvPr/>
            </p:nvSpPr>
            <p:spPr>
              <a:xfrm>
                <a:off x="365760" y="1005840"/>
                <a:ext cx="3977640" cy="5440680"/>
              </a:xfrm>
              <a:blipFill>
                <a:blip r:embed="rId3"/>
                <a:stretch>
                  <a:fillRect/>
                </a:stretch>
              </a:blipFill>
            </p:spPr>
            <p:txBody>
              <a:bodyPr/>
              <a:lstStyle/>
              <a:p>
                <a:r>
                  <a:rPr lang="en-US">
                    <a:noFill/>
                  </a:rPr>
                  <a:t> </a:t>
                </a:r>
              </a:p>
            </p:txBody>
          </p:sp>
        </mc:Fallback>
      </mc:AlternateContent>
      <p:pic>
        <p:nvPicPr>
          <p:cNvPr id="4" name="Picture 1" descr="editable_assets/diagram-11-2.png"/>
          <p:cNvPicPr>
            <a:picLocks noGrp="1" noChangeAspect="1"/>
          </p:cNvPicPr>
          <p:nvPr/>
        </p:nvPicPr>
        <p:blipFill>
          <a:blip r:embed="rId4"/>
          <a:srcRect l="6855" t="36109" r="43774" b="8751"/>
          <a:stretch>
            <a:fillRect/>
          </a:stretch>
        </p:blipFill>
        <p:spPr bwMode="auto">
          <a:xfrm>
            <a:off x="4526280" y="1282723"/>
            <a:ext cx="4251960" cy="3515315"/>
          </a:xfrm>
          <a:prstGeom prst="rect">
            <a:avLst/>
          </a:prstGeom>
          <a:noFill/>
          <a:ln w="9525">
            <a:noFill/>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228600" y="128016"/>
            <a:ext cx="8686800" cy="713232"/>
          </a:xfrm>
        </p:spPr>
        <p:txBody>
          <a:bodyPr wrap="square" lIns="0" tIns="0" rIns="0" bIns="0" anchor="t">
            <a:noAutofit/>
          </a:bodyPr>
          <a:lstStyle>
            <a:lvl1pPr>
              <a:defRPr sz="2350" b="1">
                <a:solidFill>
                  <a:srgbClr val="3333B2"/>
                </a:solidFill>
                <a:latin typeface="Times New Roman"/>
              </a:defRPr>
            </a:lvl1pPr>
            <a:lvl2pPr>
              <a:defRPr sz="2350" b="1">
                <a:solidFill>
                  <a:srgbClr val="3333B2"/>
                </a:solidFill>
                <a:latin typeface="Times New Roman"/>
              </a:defRPr>
            </a:lvl2pPr>
            <a:lvl3pPr>
              <a:defRPr sz="2350" b="1">
                <a:solidFill>
                  <a:srgbClr val="3333B2"/>
                </a:solidFill>
                <a:latin typeface="Times New Roman"/>
              </a:defRPr>
            </a:lvl3pPr>
            <a:lvl4pPr>
              <a:defRPr sz="2350" b="1">
                <a:solidFill>
                  <a:srgbClr val="3333B2"/>
                </a:solidFill>
                <a:latin typeface="Times New Roman"/>
              </a:defRPr>
            </a:lvl4pPr>
            <a:lvl5pPr>
              <a:defRPr sz="2350" b="1">
                <a:solidFill>
                  <a:srgbClr val="3333B2"/>
                </a:solidFill>
                <a:latin typeface="Times New Roman"/>
              </a:defRPr>
            </a:lvl5pPr>
            <a:lvl6pPr>
              <a:defRPr sz="2350" b="1">
                <a:solidFill>
                  <a:srgbClr val="3333B2"/>
                </a:solidFill>
                <a:latin typeface="Times New Roman"/>
              </a:defRPr>
            </a:lvl6pPr>
            <a:lvl7pPr>
              <a:defRPr sz="2350" b="1">
                <a:solidFill>
                  <a:srgbClr val="3333B2"/>
                </a:solidFill>
                <a:latin typeface="Times New Roman"/>
              </a:defRPr>
            </a:lvl7pPr>
            <a:lvl8pPr>
              <a:defRPr sz="2350" b="1">
                <a:solidFill>
                  <a:srgbClr val="3333B2"/>
                </a:solidFill>
                <a:latin typeface="Times New Roman"/>
              </a:defRPr>
            </a:lvl8pPr>
            <a:lvl9pPr>
              <a:defRPr sz="2350" b="1">
                <a:solidFill>
                  <a:srgbClr val="3333B2"/>
                </a:solidFill>
                <a:latin typeface="Times New Roman"/>
              </a:defRPr>
            </a:lvl9pPr>
          </a:lstStyle>
          <a:p>
            <a:pPr marL="0" lvl="0" indent="0">
              <a:spcAft>
                <a:spcPts val="650"/>
              </a:spcAft>
              <a:buNone/>
            </a:pPr>
            <a:r>
              <a:rPr sz="2350" b="1">
                <a:solidFill>
                  <a:srgbClr val="3333B2"/>
                </a:solidFill>
                <a:latin typeface="Times New Roman"/>
              </a:rPr>
              <a:t>Constructing the Exact Clause Gadget</a:t>
            </a:r>
          </a:p>
        </p:txBody>
      </p:sp>
      <mc:AlternateContent xmlns:mc="http://schemas.openxmlformats.org/markup-compatibility/2006">
        <mc:Choice xmlns:a14="http://schemas.microsoft.com/office/drawing/2010/main" Requires="a14">
          <p:sp>
            <p:nvSpPr>
              <p:cNvPr id="3" name="Content Placeholder 2"/>
              <p:cNvSpPr>
                <a:spLocks noGrp="1"/>
              </p:cNvSpPr>
              <p:nvPr/>
            </p:nvSpPr>
            <p:spPr>
              <a:xfrm>
                <a:off x="365760" y="1005840"/>
                <a:ext cx="3977640" cy="5440680"/>
              </a:xfrm>
            </p:spPr>
            <p:txBody>
              <a:bodyPr wrap="square" lIns="0" tIns="0" rIns="0" bIns="0" anchor="t">
                <a:noAutofit/>
              </a:bodyPr>
              <a:lstStyle>
                <a:lvl1pPr>
                  <a:defRPr sz="1600">
                    <a:latin typeface="Times New Roman"/>
                  </a:defRPr>
                </a:lvl1pPr>
                <a:lvl2pPr>
                  <a:defRPr sz="1600">
                    <a:latin typeface="Times New Roman"/>
                  </a:defRPr>
                </a:lvl2pPr>
                <a:lvl3pPr>
                  <a:defRPr sz="1600">
                    <a:latin typeface="Times New Roman"/>
                  </a:defRPr>
                </a:lvl3pPr>
                <a:lvl4pPr>
                  <a:defRPr sz="1600">
                    <a:latin typeface="Times New Roman"/>
                  </a:defRPr>
                </a:lvl4pPr>
                <a:lvl5pPr>
                  <a:defRPr sz="1600">
                    <a:latin typeface="Times New Roman"/>
                  </a:defRPr>
                </a:lvl5pPr>
                <a:lvl6pPr>
                  <a:defRPr sz="1600">
                    <a:latin typeface="Times New Roman"/>
                  </a:defRPr>
                </a:lvl6pPr>
                <a:lvl7pPr>
                  <a:defRPr sz="1600">
                    <a:latin typeface="Times New Roman"/>
                  </a:defRPr>
                </a:lvl7pPr>
                <a:lvl8pPr>
                  <a:defRPr sz="1600">
                    <a:latin typeface="Times New Roman"/>
                  </a:defRPr>
                </a:lvl8pPr>
                <a:lvl9pPr>
                  <a:defRPr sz="1600">
                    <a:latin typeface="Times New Roman"/>
                  </a:defRPr>
                </a:lvl9pPr>
              </a:lstStyle>
              <a:p>
                <a:pPr marL="0" lvl="0" indent="0">
                  <a:spcAft>
                    <a:spcPts val="400"/>
                  </a:spcAft>
                  <a:buNone/>
                </a:pPr>
                <a:r>
                  <a:rPr sz="1900" dirty="0"/>
                  <a:t>For </a:t>
                </a:r>
                <a14:m>
                  <m:oMath xmlns:m="http://schemas.openxmlformats.org/officeDocument/2006/math">
                    <m:r>
                      <a:rPr sz="1900">
                        <a:latin typeface="Cambria Math" panose="02040503050406030204" pitchFamily="18" charset="0"/>
                      </a:rPr>
                      <m:t>𝐶</m:t>
                    </m:r>
                    <m:r>
                      <a:rPr sz="1900">
                        <a:latin typeface="Cambria Math" panose="02040503050406030204" pitchFamily="18" charset="0"/>
                      </a:rPr>
                      <m:t>=(</m:t>
                    </m:r>
                    <m:sSub>
                      <m:sSubPr>
                        <m:ctrlPr>
                          <a:rPr sz="1900">
                            <a:latin typeface="Cambria Math" panose="02040503050406030204" pitchFamily="18" charset="0"/>
                          </a:rPr>
                        </m:ctrlPr>
                      </m:sSubPr>
                      <m:e>
                        <m:r>
                          <m:rPr>
                            <m:sty m:val="p"/>
                          </m:rPr>
                          <a:rPr sz="1900">
                            <a:latin typeface="Cambria Math" panose="02040503050406030204" pitchFamily="18" charset="0"/>
                          </a:rPr>
                          <m:t>ℓ</m:t>
                        </m:r>
                      </m:e>
                      <m:sub>
                        <m:r>
                          <a:rPr sz="1900">
                            <a:latin typeface="Cambria Math" panose="02040503050406030204" pitchFamily="18" charset="0"/>
                          </a:rPr>
                          <m:t>1</m:t>
                        </m:r>
                      </m:sub>
                    </m:sSub>
                    <m:r>
                      <a:rPr sz="1900">
                        <a:latin typeface="Cambria Math" panose="02040503050406030204" pitchFamily="18" charset="0"/>
                      </a:rPr>
                      <m:t>∨</m:t>
                    </m:r>
                    <m:sSub>
                      <m:sSubPr>
                        <m:ctrlPr>
                          <a:rPr sz="1900">
                            <a:latin typeface="Cambria Math" panose="02040503050406030204" pitchFamily="18" charset="0"/>
                          </a:rPr>
                        </m:ctrlPr>
                      </m:sSubPr>
                      <m:e>
                        <m:r>
                          <m:rPr>
                            <m:sty m:val="p"/>
                          </m:rPr>
                          <a:rPr sz="1900">
                            <a:latin typeface="Cambria Math" panose="02040503050406030204" pitchFamily="18" charset="0"/>
                          </a:rPr>
                          <m:t>ℓ</m:t>
                        </m:r>
                      </m:e>
                      <m:sub>
                        <m:r>
                          <a:rPr sz="1900">
                            <a:latin typeface="Cambria Math" panose="02040503050406030204" pitchFamily="18" charset="0"/>
                          </a:rPr>
                          <m:t>2</m:t>
                        </m:r>
                      </m:sub>
                    </m:sSub>
                    <m:r>
                      <a:rPr sz="1900">
                        <a:latin typeface="Cambria Math" panose="02040503050406030204" pitchFamily="18" charset="0"/>
                      </a:rPr>
                      <m:t>∨</m:t>
                    </m:r>
                    <m:sSub>
                      <m:sSubPr>
                        <m:ctrlPr>
                          <a:rPr sz="1900">
                            <a:latin typeface="Cambria Math" panose="02040503050406030204" pitchFamily="18" charset="0"/>
                          </a:rPr>
                        </m:ctrlPr>
                      </m:sSubPr>
                      <m:e>
                        <m:r>
                          <m:rPr>
                            <m:sty m:val="p"/>
                          </m:rPr>
                          <a:rPr sz="1900">
                            <a:latin typeface="Cambria Math" panose="02040503050406030204" pitchFamily="18" charset="0"/>
                          </a:rPr>
                          <m:t>ℓ</m:t>
                        </m:r>
                      </m:e>
                      <m:sub>
                        <m:r>
                          <a:rPr sz="1900">
                            <a:latin typeface="Cambria Math" panose="02040503050406030204" pitchFamily="18" charset="0"/>
                          </a:rPr>
                          <m:t>3</m:t>
                        </m:r>
                      </m:sub>
                    </m:sSub>
                    <m:r>
                      <a:rPr sz="1900">
                        <a:latin typeface="Cambria Math" panose="02040503050406030204" pitchFamily="18" charset="0"/>
                      </a:rPr>
                      <m:t>)</m:t>
                    </m:r>
                  </m:oMath>
                </a14:m>
                <a:r>
                  <a:rPr sz="1900" dirty="0"/>
                  <a:t>, add six fresh vertices </a:t>
                </a:r>
                <a14:m>
                  <m:oMath xmlns:m="http://schemas.openxmlformats.org/officeDocument/2006/math">
                    <m:sSub>
                      <m:sSubPr>
                        <m:ctrlPr>
                          <a:rPr sz="1900">
                            <a:latin typeface="Cambria Math" panose="02040503050406030204" pitchFamily="18" charset="0"/>
                          </a:rPr>
                        </m:ctrlPr>
                      </m:sSubPr>
                      <m:e>
                        <m:r>
                          <a:rPr sz="1900">
                            <a:latin typeface="Cambria Math" panose="02040503050406030204" pitchFamily="18" charset="0"/>
                          </a:rPr>
                          <m:t>𝑎</m:t>
                        </m:r>
                      </m:e>
                      <m:sub>
                        <m:r>
                          <a:rPr sz="1900">
                            <a:latin typeface="Cambria Math" panose="02040503050406030204" pitchFamily="18" charset="0"/>
                          </a:rPr>
                          <m:t>𝑖</m:t>
                        </m:r>
                      </m:sub>
                    </m:sSub>
                    <m:r>
                      <a:rPr sz="1900">
                        <a:latin typeface="Cambria Math" panose="02040503050406030204" pitchFamily="18" charset="0"/>
                      </a:rPr>
                      <m:t>,</m:t>
                    </m:r>
                    <m:sSub>
                      <m:sSubPr>
                        <m:ctrlPr>
                          <a:rPr sz="1900">
                            <a:latin typeface="Cambria Math" panose="02040503050406030204" pitchFamily="18" charset="0"/>
                          </a:rPr>
                        </m:ctrlPr>
                      </m:sSubPr>
                      <m:e>
                        <m:r>
                          <a:rPr sz="1900">
                            <a:latin typeface="Cambria Math" panose="02040503050406030204" pitchFamily="18" charset="0"/>
                          </a:rPr>
                          <m:t>𝑏</m:t>
                        </m:r>
                      </m:e>
                      <m:sub>
                        <m:r>
                          <a:rPr sz="1900">
                            <a:latin typeface="Cambria Math" panose="02040503050406030204" pitchFamily="18" charset="0"/>
                          </a:rPr>
                          <m:t>𝑖</m:t>
                        </m:r>
                      </m:sub>
                    </m:sSub>
                  </m:oMath>
                </a14:m>
                <a:r>
                  <a:rPr sz="1900" dirty="0"/>
                  <a:t> and 13 edges:</a:t>
                </a:r>
              </a:p>
              <a:p>
                <a:pPr marL="0" lvl="0" indent="0">
                  <a:spcAft>
                    <a:spcPts val="400"/>
                  </a:spcAft>
                  <a:buNone/>
                </a:pPr>
                <a14:m>
                  <m:oMathPara xmlns:m="http://schemas.openxmlformats.org/officeDocument/2006/math">
                    <m:oMathParaPr>
                      <m:jc m:val="center"/>
                    </m:oMathParaPr>
                    <m:oMath>
                      <m:eqArr>
                        <m:eqArrPr>
                          <m:ctrlPr>
                            <a:rPr sz="1900">
                              <a:latin typeface="Cambria Math" panose="02040503050406030204" pitchFamily="18" charset="0"/>
                            </a:rPr>
                          </m:ctrlPr>
                        </m:eqArrPr>
                        <m:e>
                          <m:r>
                            <a:rPr sz="1900">
                              <a:latin typeface="Cambria Math" panose="02040503050406030204" pitchFamily="18" charset="0"/>
                            </a:rPr>
                            <m:t>&amp;(</m:t>
                          </m:r>
                          <m:sSub>
                            <m:sSubPr>
                              <m:ctrlPr>
                                <a:rPr sz="1900">
                                  <a:latin typeface="Cambria Math" panose="02040503050406030204" pitchFamily="18" charset="0"/>
                                </a:rPr>
                              </m:ctrlPr>
                            </m:sSubPr>
                            <m:e>
                              <m:r>
                                <m:rPr>
                                  <m:sty m:val="p"/>
                                </m:rPr>
                                <a:rPr sz="1900">
                                  <a:latin typeface="Cambria Math" panose="02040503050406030204" pitchFamily="18" charset="0"/>
                                </a:rPr>
                                <m:t>ℓ</m:t>
                              </m:r>
                            </m:e>
                            <m:sub>
                              <m:r>
                                <a:rPr sz="1900">
                                  <a:latin typeface="Cambria Math" panose="02040503050406030204" pitchFamily="18" charset="0"/>
                                </a:rPr>
                                <m:t>𝑖</m:t>
                              </m:r>
                            </m:sub>
                          </m:sSub>
                          <m:r>
                            <a:rPr sz="1900">
                              <a:latin typeface="Cambria Math" panose="02040503050406030204" pitchFamily="18" charset="0"/>
                            </a:rPr>
                            <m:t>,</m:t>
                          </m:r>
                          <m:sSub>
                            <m:sSubPr>
                              <m:ctrlPr>
                                <a:rPr sz="1900">
                                  <a:latin typeface="Cambria Math" panose="02040503050406030204" pitchFamily="18" charset="0"/>
                                </a:rPr>
                              </m:ctrlPr>
                            </m:sSubPr>
                            <m:e>
                              <m:r>
                                <a:rPr sz="1900">
                                  <a:latin typeface="Cambria Math" panose="02040503050406030204" pitchFamily="18" charset="0"/>
                                </a:rPr>
                                <m:t>𝑎</m:t>
                              </m:r>
                            </m:e>
                            <m:sub>
                              <m:r>
                                <a:rPr sz="1900">
                                  <a:latin typeface="Cambria Math" panose="02040503050406030204" pitchFamily="18" charset="0"/>
                                </a:rPr>
                                <m:t>𝑖</m:t>
                              </m:r>
                            </m:sub>
                          </m:sSub>
                          <m:r>
                            <a:rPr sz="1900">
                              <a:latin typeface="Cambria Math" panose="02040503050406030204" pitchFamily="18" charset="0"/>
                            </a:rPr>
                            <m:t>),(</m:t>
                          </m:r>
                          <m:sSub>
                            <m:sSubPr>
                              <m:ctrlPr>
                                <a:rPr sz="1900">
                                  <a:latin typeface="Cambria Math" panose="02040503050406030204" pitchFamily="18" charset="0"/>
                                </a:rPr>
                              </m:ctrlPr>
                            </m:sSubPr>
                            <m:e>
                              <m:r>
                                <a:rPr sz="1900">
                                  <a:latin typeface="Cambria Math" panose="02040503050406030204" pitchFamily="18" charset="0"/>
                                </a:rPr>
                                <m:t>𝑎</m:t>
                              </m:r>
                            </m:e>
                            <m:sub>
                              <m:r>
                                <a:rPr sz="1900">
                                  <a:latin typeface="Cambria Math" panose="02040503050406030204" pitchFamily="18" charset="0"/>
                                </a:rPr>
                                <m:t>𝑖</m:t>
                              </m:r>
                            </m:sub>
                          </m:sSub>
                          <m:r>
                            <a:rPr sz="1900">
                              <a:latin typeface="Cambria Math" panose="02040503050406030204" pitchFamily="18" charset="0"/>
                            </a:rPr>
                            <m:t>,</m:t>
                          </m:r>
                          <m:sSub>
                            <m:sSubPr>
                              <m:ctrlPr>
                                <a:rPr sz="1900">
                                  <a:latin typeface="Cambria Math" panose="02040503050406030204" pitchFamily="18" charset="0"/>
                                </a:rPr>
                              </m:ctrlPr>
                            </m:sSubPr>
                            <m:e>
                              <m:r>
                                <a:rPr sz="1900">
                                  <a:latin typeface="Cambria Math" panose="02040503050406030204" pitchFamily="18" charset="0"/>
                                </a:rPr>
                                <m:t>𝑏</m:t>
                              </m:r>
                            </m:e>
                            <m:sub>
                              <m:r>
                                <a:rPr sz="1900">
                                  <a:latin typeface="Cambria Math" panose="02040503050406030204" pitchFamily="18" charset="0"/>
                                </a:rPr>
                                <m:t>𝑖</m:t>
                              </m:r>
                            </m:sub>
                          </m:sSub>
                          <m:r>
                            <a:rPr sz="1900">
                              <a:latin typeface="Cambria Math" panose="02040503050406030204" pitchFamily="18" charset="0"/>
                            </a:rPr>
                            <m:t>),(</m:t>
                          </m:r>
                          <m:r>
                            <a:rPr sz="1900">
                              <a:latin typeface="Cambria Math" panose="02040503050406030204" pitchFamily="18" charset="0"/>
                            </a:rPr>
                            <m:t>𝑇</m:t>
                          </m:r>
                          <m:r>
                            <a:rPr sz="1900">
                              <a:latin typeface="Cambria Math" panose="02040503050406030204" pitchFamily="18" charset="0"/>
                            </a:rPr>
                            <m:t>,</m:t>
                          </m:r>
                          <m:sSub>
                            <m:sSubPr>
                              <m:ctrlPr>
                                <a:rPr sz="1900">
                                  <a:latin typeface="Cambria Math" panose="02040503050406030204" pitchFamily="18" charset="0"/>
                                </a:rPr>
                              </m:ctrlPr>
                            </m:sSubPr>
                            <m:e>
                              <m:r>
                                <a:rPr sz="1900">
                                  <a:latin typeface="Cambria Math" panose="02040503050406030204" pitchFamily="18" charset="0"/>
                                </a:rPr>
                                <m:t>𝑎</m:t>
                              </m:r>
                            </m:e>
                            <m:sub>
                              <m:r>
                                <a:rPr sz="1900">
                                  <a:latin typeface="Cambria Math" panose="02040503050406030204" pitchFamily="18" charset="0"/>
                                </a:rPr>
                                <m:t>𝑖</m:t>
                              </m:r>
                            </m:sub>
                          </m:sSub>
                          <m:r>
                            <a:rPr sz="1900">
                              <a:latin typeface="Cambria Math" panose="02040503050406030204" pitchFamily="18" charset="0"/>
                            </a:rPr>
                            <m:t>)</m:t>
                          </m:r>
                        </m:e>
                        <m:e>
                          <m:r>
                            <a:rPr sz="1900">
                              <a:latin typeface="Cambria Math" panose="02040503050406030204" pitchFamily="18" charset="0"/>
                            </a:rPr>
                            <m:t>&amp;  </m:t>
                          </m:r>
                          <m:r>
                            <m:rPr>
                              <m:nor/>
                            </m:rPr>
                            <a:rPr sz="1900" i="0"/>
                            <m:t>for </m:t>
                          </m:r>
                          <m:r>
                            <a:rPr sz="1900">
                              <a:latin typeface="Cambria Math" panose="02040503050406030204" pitchFamily="18" charset="0"/>
                            </a:rPr>
                            <m:t>𝑖</m:t>
                          </m:r>
                          <m:r>
                            <a:rPr sz="1900">
                              <a:latin typeface="Cambria Math" panose="02040503050406030204" pitchFamily="18" charset="0"/>
                            </a:rPr>
                            <m:t>=1,2,3,</m:t>
                          </m:r>
                        </m:e>
                        <m:e>
                          <m:r>
                            <a:rPr sz="1900">
                              <a:latin typeface="Cambria Math" panose="02040503050406030204" pitchFamily="18" charset="0"/>
                            </a:rPr>
                            <m:t>&amp;(</m:t>
                          </m:r>
                          <m:r>
                            <a:rPr sz="1900">
                              <a:latin typeface="Cambria Math" panose="02040503050406030204" pitchFamily="18" charset="0"/>
                            </a:rPr>
                            <m:t>𝑇</m:t>
                          </m:r>
                          <m:r>
                            <a:rPr sz="1900">
                              <a:latin typeface="Cambria Math" panose="02040503050406030204" pitchFamily="18" charset="0"/>
                            </a:rPr>
                            <m:t>,</m:t>
                          </m:r>
                          <m:sSub>
                            <m:sSubPr>
                              <m:ctrlPr>
                                <a:rPr sz="1900">
                                  <a:latin typeface="Cambria Math" panose="02040503050406030204" pitchFamily="18" charset="0"/>
                                </a:rPr>
                              </m:ctrlPr>
                            </m:sSubPr>
                            <m:e>
                              <m:r>
                                <a:rPr sz="1900">
                                  <a:latin typeface="Cambria Math" panose="02040503050406030204" pitchFamily="18" charset="0"/>
                                </a:rPr>
                                <m:t>𝑏</m:t>
                              </m:r>
                            </m:e>
                            <m:sub>
                              <m:r>
                                <a:rPr sz="1900">
                                  <a:latin typeface="Cambria Math" panose="02040503050406030204" pitchFamily="18" charset="0"/>
                                </a:rPr>
                                <m:t>1</m:t>
                              </m:r>
                            </m:sub>
                          </m:sSub>
                          <m:r>
                            <a:rPr sz="1900">
                              <a:latin typeface="Cambria Math" panose="02040503050406030204" pitchFamily="18" charset="0"/>
                            </a:rPr>
                            <m:t>),(</m:t>
                          </m:r>
                          <m:sSub>
                            <m:sSubPr>
                              <m:ctrlPr>
                                <a:rPr sz="1900">
                                  <a:latin typeface="Cambria Math" panose="02040503050406030204" pitchFamily="18" charset="0"/>
                                </a:rPr>
                              </m:ctrlPr>
                            </m:sSubPr>
                            <m:e>
                              <m:r>
                                <a:rPr sz="1900">
                                  <a:latin typeface="Cambria Math" panose="02040503050406030204" pitchFamily="18" charset="0"/>
                                </a:rPr>
                                <m:t>𝑏</m:t>
                              </m:r>
                            </m:e>
                            <m:sub>
                              <m:r>
                                <a:rPr sz="1900">
                                  <a:latin typeface="Cambria Math" panose="02040503050406030204" pitchFamily="18" charset="0"/>
                                </a:rPr>
                                <m:t>1</m:t>
                              </m:r>
                            </m:sub>
                          </m:sSub>
                          <m:r>
                            <a:rPr sz="1900">
                              <a:latin typeface="Cambria Math" panose="02040503050406030204" pitchFamily="18" charset="0"/>
                            </a:rPr>
                            <m:t>,</m:t>
                          </m:r>
                          <m:sSub>
                            <m:sSubPr>
                              <m:ctrlPr>
                                <a:rPr sz="1900">
                                  <a:latin typeface="Cambria Math" panose="02040503050406030204" pitchFamily="18" charset="0"/>
                                </a:rPr>
                              </m:ctrlPr>
                            </m:sSubPr>
                            <m:e>
                              <m:r>
                                <a:rPr sz="1900">
                                  <a:latin typeface="Cambria Math" panose="02040503050406030204" pitchFamily="18" charset="0"/>
                                </a:rPr>
                                <m:t>𝑏</m:t>
                              </m:r>
                            </m:e>
                            <m:sub>
                              <m:r>
                                <a:rPr sz="1900">
                                  <a:latin typeface="Cambria Math" panose="02040503050406030204" pitchFamily="18" charset="0"/>
                                </a:rPr>
                                <m:t>2</m:t>
                              </m:r>
                            </m:sub>
                          </m:sSub>
                          <m:r>
                            <a:rPr sz="1900">
                              <a:latin typeface="Cambria Math" panose="02040503050406030204" pitchFamily="18" charset="0"/>
                            </a:rPr>
                            <m:t>),</m:t>
                          </m:r>
                        </m:e>
                        <m:e>
                          <m:r>
                            <a:rPr sz="1900">
                              <a:latin typeface="Cambria Math" panose="02040503050406030204" pitchFamily="18" charset="0"/>
                            </a:rPr>
                            <m:t>&amp;(</m:t>
                          </m:r>
                          <m:sSub>
                            <m:sSubPr>
                              <m:ctrlPr>
                                <a:rPr sz="1900">
                                  <a:latin typeface="Cambria Math" panose="02040503050406030204" pitchFamily="18" charset="0"/>
                                </a:rPr>
                              </m:ctrlPr>
                            </m:sSubPr>
                            <m:e>
                              <m:r>
                                <a:rPr sz="1900">
                                  <a:latin typeface="Cambria Math" panose="02040503050406030204" pitchFamily="18" charset="0"/>
                                </a:rPr>
                                <m:t>𝑏</m:t>
                              </m:r>
                            </m:e>
                            <m:sub>
                              <m:r>
                                <a:rPr sz="1900">
                                  <a:latin typeface="Cambria Math" panose="02040503050406030204" pitchFamily="18" charset="0"/>
                                </a:rPr>
                                <m:t>2</m:t>
                              </m:r>
                            </m:sub>
                          </m:sSub>
                          <m:r>
                            <a:rPr sz="1900">
                              <a:latin typeface="Cambria Math" panose="02040503050406030204" pitchFamily="18" charset="0"/>
                            </a:rPr>
                            <m:t>,</m:t>
                          </m:r>
                          <m:sSub>
                            <m:sSubPr>
                              <m:ctrlPr>
                                <a:rPr sz="1900">
                                  <a:latin typeface="Cambria Math" panose="02040503050406030204" pitchFamily="18" charset="0"/>
                                </a:rPr>
                              </m:ctrlPr>
                            </m:sSubPr>
                            <m:e>
                              <m:r>
                                <a:rPr sz="1900">
                                  <a:latin typeface="Cambria Math" panose="02040503050406030204" pitchFamily="18" charset="0"/>
                                </a:rPr>
                                <m:t>𝑏</m:t>
                              </m:r>
                            </m:e>
                            <m:sub>
                              <m:r>
                                <a:rPr sz="1900">
                                  <a:latin typeface="Cambria Math" panose="02040503050406030204" pitchFamily="18" charset="0"/>
                                </a:rPr>
                                <m:t>3</m:t>
                              </m:r>
                            </m:sub>
                          </m:sSub>
                          <m:r>
                            <a:rPr sz="1900">
                              <a:latin typeface="Cambria Math" panose="02040503050406030204" pitchFamily="18" charset="0"/>
                            </a:rPr>
                            <m:t>),(</m:t>
                          </m:r>
                          <m:sSub>
                            <m:sSubPr>
                              <m:ctrlPr>
                                <a:rPr sz="1900">
                                  <a:latin typeface="Cambria Math" panose="02040503050406030204" pitchFamily="18" charset="0"/>
                                </a:rPr>
                              </m:ctrlPr>
                            </m:sSubPr>
                            <m:e>
                              <m:r>
                                <a:rPr sz="1900">
                                  <a:latin typeface="Cambria Math" panose="02040503050406030204" pitchFamily="18" charset="0"/>
                                </a:rPr>
                                <m:t>𝑏</m:t>
                              </m:r>
                            </m:e>
                            <m:sub>
                              <m:r>
                                <a:rPr sz="1900">
                                  <a:latin typeface="Cambria Math" panose="02040503050406030204" pitchFamily="18" charset="0"/>
                                </a:rPr>
                                <m:t>3</m:t>
                              </m:r>
                            </m:sub>
                          </m:sSub>
                          <m:r>
                            <a:rPr sz="1900">
                              <a:latin typeface="Cambria Math" panose="02040503050406030204" pitchFamily="18" charset="0"/>
                            </a:rPr>
                            <m:t>,</m:t>
                          </m:r>
                          <m:r>
                            <a:rPr sz="1900">
                              <a:latin typeface="Cambria Math" panose="02040503050406030204" pitchFamily="18" charset="0"/>
                            </a:rPr>
                            <m:t>𝐹</m:t>
                          </m:r>
                          <m:r>
                            <a:rPr sz="1900">
                              <a:latin typeface="Cambria Math" panose="02040503050406030204" pitchFamily="18" charset="0"/>
                            </a:rPr>
                            <m:t>).</m:t>
                          </m:r>
                        </m:e>
                      </m:eqArr>
                    </m:oMath>
                  </m:oMathPara>
                </a14:m>
                <a:endParaRPr sz="1900" dirty="0"/>
              </a:p>
            </p:txBody>
          </p:sp>
        </mc:Choice>
        <mc:Fallback>
          <p:sp>
            <p:nvSpPr>
              <p:cNvPr id="3" name="Content Placeholder 2"/>
              <p:cNvSpPr>
                <a:spLocks noGrp="1" noRot="1" noChangeAspect="1" noMove="1" noResize="1" noEditPoints="1" noAdjustHandles="1" noChangeArrowheads="1" noChangeShapeType="1" noTextEdit="1"/>
              </p:cNvSpPr>
              <p:nvPr/>
            </p:nvSpPr>
            <p:spPr>
              <a:xfrm>
                <a:off x="365760" y="1005840"/>
                <a:ext cx="3977640" cy="5440680"/>
              </a:xfrm>
              <a:blipFill>
                <a:blip r:embed="rId3"/>
                <a:stretch>
                  <a:fillRect/>
                </a:stretch>
              </a:blipFill>
            </p:spPr>
            <p:txBody>
              <a:bodyPr/>
              <a:lstStyle/>
              <a:p>
                <a:r>
                  <a:rPr lang="en-US">
                    <a:noFill/>
                  </a:rPr>
                  <a:t> </a:t>
                </a:r>
              </a:p>
            </p:txBody>
          </p:sp>
        </mc:Fallback>
      </mc:AlternateContent>
      <p:pic>
        <p:nvPicPr>
          <p:cNvPr id="4" name="Picture 1" descr="editable_assets/diagram-11-3.png"/>
          <p:cNvPicPr>
            <a:picLocks noGrp="1" noChangeAspect="1"/>
          </p:cNvPicPr>
          <p:nvPr/>
        </p:nvPicPr>
        <p:blipFill>
          <a:blip r:embed="rId4"/>
          <a:srcRect l="6855" t="36109" r="43774" b="8751"/>
          <a:stretch>
            <a:fillRect/>
          </a:stretch>
        </p:blipFill>
        <p:spPr bwMode="auto">
          <a:xfrm>
            <a:off x="4526280" y="1282723"/>
            <a:ext cx="4251960" cy="3515315"/>
          </a:xfrm>
          <a:prstGeom prst="rect">
            <a:avLst/>
          </a:prstGeom>
          <a:noFill/>
          <a:ln w="9525">
            <a:noFill/>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228600" y="128016"/>
            <a:ext cx="8686800" cy="713232"/>
          </a:xfrm>
        </p:spPr>
        <p:txBody>
          <a:bodyPr wrap="square" lIns="0" tIns="0" rIns="0" bIns="0" anchor="t">
            <a:noAutofit/>
          </a:bodyPr>
          <a:lstStyle>
            <a:lvl1pPr>
              <a:defRPr sz="2350" b="1">
                <a:solidFill>
                  <a:srgbClr val="3333B2"/>
                </a:solidFill>
                <a:latin typeface="Times New Roman"/>
              </a:defRPr>
            </a:lvl1pPr>
            <a:lvl2pPr>
              <a:defRPr sz="2350" b="1">
                <a:solidFill>
                  <a:srgbClr val="3333B2"/>
                </a:solidFill>
                <a:latin typeface="Times New Roman"/>
              </a:defRPr>
            </a:lvl2pPr>
            <a:lvl3pPr>
              <a:defRPr sz="2350" b="1">
                <a:solidFill>
                  <a:srgbClr val="3333B2"/>
                </a:solidFill>
                <a:latin typeface="Times New Roman"/>
              </a:defRPr>
            </a:lvl3pPr>
            <a:lvl4pPr>
              <a:defRPr sz="2350" b="1">
                <a:solidFill>
                  <a:srgbClr val="3333B2"/>
                </a:solidFill>
                <a:latin typeface="Times New Roman"/>
              </a:defRPr>
            </a:lvl4pPr>
            <a:lvl5pPr>
              <a:defRPr sz="2350" b="1">
                <a:solidFill>
                  <a:srgbClr val="3333B2"/>
                </a:solidFill>
                <a:latin typeface="Times New Roman"/>
              </a:defRPr>
            </a:lvl5pPr>
            <a:lvl6pPr>
              <a:defRPr sz="2350" b="1">
                <a:solidFill>
                  <a:srgbClr val="3333B2"/>
                </a:solidFill>
                <a:latin typeface="Times New Roman"/>
              </a:defRPr>
            </a:lvl6pPr>
            <a:lvl7pPr>
              <a:defRPr sz="2350" b="1">
                <a:solidFill>
                  <a:srgbClr val="3333B2"/>
                </a:solidFill>
                <a:latin typeface="Times New Roman"/>
              </a:defRPr>
            </a:lvl7pPr>
            <a:lvl8pPr>
              <a:defRPr sz="2350" b="1">
                <a:solidFill>
                  <a:srgbClr val="3333B2"/>
                </a:solidFill>
                <a:latin typeface="Times New Roman"/>
              </a:defRPr>
            </a:lvl8pPr>
            <a:lvl9pPr>
              <a:defRPr sz="2350" b="1">
                <a:solidFill>
                  <a:srgbClr val="3333B2"/>
                </a:solidFill>
                <a:latin typeface="Times New Roman"/>
              </a:defRPr>
            </a:lvl9pPr>
          </a:lstStyle>
          <a:p>
            <a:pPr marL="0" lvl="0" indent="0">
              <a:spcAft>
                <a:spcPts val="650"/>
              </a:spcAft>
              <a:buNone/>
            </a:pPr>
            <a:r>
              <a:rPr sz="2350" b="1">
                <a:solidFill>
                  <a:srgbClr val="3333B2"/>
                </a:solidFill>
                <a:latin typeface="Times New Roman"/>
              </a:rPr>
              <a:t>Constructing the Exact Clause Gadget</a:t>
            </a:r>
          </a:p>
        </p:txBody>
      </p:sp>
      <mc:AlternateContent xmlns:mc="http://schemas.openxmlformats.org/markup-compatibility/2006">
        <mc:Choice xmlns:a14="http://schemas.microsoft.com/office/drawing/2010/main" Requires="a14">
          <p:sp>
            <p:nvSpPr>
              <p:cNvPr id="3" name="Content Placeholder 2"/>
              <p:cNvSpPr>
                <a:spLocks noGrp="1"/>
              </p:cNvSpPr>
              <p:nvPr/>
            </p:nvSpPr>
            <p:spPr>
              <a:xfrm>
                <a:off x="365760" y="1005840"/>
                <a:ext cx="3977640" cy="5440680"/>
              </a:xfrm>
            </p:spPr>
            <p:txBody>
              <a:bodyPr wrap="square" lIns="0" tIns="0" rIns="0" bIns="0" anchor="t">
                <a:noAutofit/>
              </a:bodyPr>
              <a:lstStyle>
                <a:lvl1pPr>
                  <a:defRPr sz="1600">
                    <a:latin typeface="Times New Roman"/>
                  </a:defRPr>
                </a:lvl1pPr>
                <a:lvl2pPr>
                  <a:defRPr sz="1600">
                    <a:latin typeface="Times New Roman"/>
                  </a:defRPr>
                </a:lvl2pPr>
                <a:lvl3pPr>
                  <a:defRPr sz="1600">
                    <a:latin typeface="Times New Roman"/>
                  </a:defRPr>
                </a:lvl3pPr>
                <a:lvl4pPr>
                  <a:defRPr sz="1600">
                    <a:latin typeface="Times New Roman"/>
                  </a:defRPr>
                </a:lvl4pPr>
                <a:lvl5pPr>
                  <a:defRPr sz="1600">
                    <a:latin typeface="Times New Roman"/>
                  </a:defRPr>
                </a:lvl5pPr>
                <a:lvl6pPr>
                  <a:defRPr sz="1600">
                    <a:latin typeface="Times New Roman"/>
                  </a:defRPr>
                </a:lvl6pPr>
                <a:lvl7pPr>
                  <a:defRPr sz="1600">
                    <a:latin typeface="Times New Roman"/>
                  </a:defRPr>
                </a:lvl7pPr>
                <a:lvl8pPr>
                  <a:defRPr sz="1600">
                    <a:latin typeface="Times New Roman"/>
                  </a:defRPr>
                </a:lvl8pPr>
                <a:lvl9pPr>
                  <a:defRPr sz="1600">
                    <a:latin typeface="Times New Roman"/>
                  </a:defRPr>
                </a:lvl9pPr>
              </a:lstStyle>
              <a:p>
                <a:pPr marL="0" lvl="0" indent="0">
                  <a:spcAft>
                    <a:spcPts val="400"/>
                  </a:spcAft>
                  <a:buNone/>
                </a:pPr>
                <a:r>
                  <a:rPr sz="1900" dirty="0"/>
                  <a:t>For </a:t>
                </a:r>
                <a14:m>
                  <m:oMath xmlns:m="http://schemas.openxmlformats.org/officeDocument/2006/math">
                    <m:r>
                      <a:rPr sz="1900">
                        <a:latin typeface="Cambria Math" panose="02040503050406030204" pitchFamily="18" charset="0"/>
                      </a:rPr>
                      <m:t>𝐶</m:t>
                    </m:r>
                    <m:r>
                      <a:rPr sz="1900">
                        <a:latin typeface="Cambria Math" panose="02040503050406030204" pitchFamily="18" charset="0"/>
                      </a:rPr>
                      <m:t>=(</m:t>
                    </m:r>
                    <m:sSub>
                      <m:sSubPr>
                        <m:ctrlPr>
                          <a:rPr sz="1900">
                            <a:latin typeface="Cambria Math" panose="02040503050406030204" pitchFamily="18" charset="0"/>
                          </a:rPr>
                        </m:ctrlPr>
                      </m:sSubPr>
                      <m:e>
                        <m:r>
                          <m:rPr>
                            <m:sty m:val="p"/>
                          </m:rPr>
                          <a:rPr sz="1900">
                            <a:latin typeface="Cambria Math" panose="02040503050406030204" pitchFamily="18" charset="0"/>
                          </a:rPr>
                          <m:t>ℓ</m:t>
                        </m:r>
                      </m:e>
                      <m:sub>
                        <m:r>
                          <a:rPr sz="1900">
                            <a:latin typeface="Cambria Math" panose="02040503050406030204" pitchFamily="18" charset="0"/>
                          </a:rPr>
                          <m:t>1</m:t>
                        </m:r>
                      </m:sub>
                    </m:sSub>
                    <m:r>
                      <a:rPr sz="1900">
                        <a:latin typeface="Cambria Math" panose="02040503050406030204" pitchFamily="18" charset="0"/>
                      </a:rPr>
                      <m:t>∨</m:t>
                    </m:r>
                    <m:sSub>
                      <m:sSubPr>
                        <m:ctrlPr>
                          <a:rPr sz="1900">
                            <a:latin typeface="Cambria Math" panose="02040503050406030204" pitchFamily="18" charset="0"/>
                          </a:rPr>
                        </m:ctrlPr>
                      </m:sSubPr>
                      <m:e>
                        <m:r>
                          <m:rPr>
                            <m:sty m:val="p"/>
                          </m:rPr>
                          <a:rPr sz="1900">
                            <a:latin typeface="Cambria Math" panose="02040503050406030204" pitchFamily="18" charset="0"/>
                          </a:rPr>
                          <m:t>ℓ</m:t>
                        </m:r>
                      </m:e>
                      <m:sub>
                        <m:r>
                          <a:rPr sz="1900">
                            <a:latin typeface="Cambria Math" panose="02040503050406030204" pitchFamily="18" charset="0"/>
                          </a:rPr>
                          <m:t>2</m:t>
                        </m:r>
                      </m:sub>
                    </m:sSub>
                    <m:r>
                      <a:rPr sz="1900">
                        <a:latin typeface="Cambria Math" panose="02040503050406030204" pitchFamily="18" charset="0"/>
                      </a:rPr>
                      <m:t>∨</m:t>
                    </m:r>
                    <m:sSub>
                      <m:sSubPr>
                        <m:ctrlPr>
                          <a:rPr sz="1900">
                            <a:latin typeface="Cambria Math" panose="02040503050406030204" pitchFamily="18" charset="0"/>
                          </a:rPr>
                        </m:ctrlPr>
                      </m:sSubPr>
                      <m:e>
                        <m:r>
                          <m:rPr>
                            <m:sty m:val="p"/>
                          </m:rPr>
                          <a:rPr sz="1900">
                            <a:latin typeface="Cambria Math" panose="02040503050406030204" pitchFamily="18" charset="0"/>
                          </a:rPr>
                          <m:t>ℓ</m:t>
                        </m:r>
                      </m:e>
                      <m:sub>
                        <m:r>
                          <a:rPr sz="1900">
                            <a:latin typeface="Cambria Math" panose="02040503050406030204" pitchFamily="18" charset="0"/>
                          </a:rPr>
                          <m:t>3</m:t>
                        </m:r>
                      </m:sub>
                    </m:sSub>
                    <m:r>
                      <a:rPr sz="1900">
                        <a:latin typeface="Cambria Math" panose="02040503050406030204" pitchFamily="18" charset="0"/>
                      </a:rPr>
                      <m:t>)</m:t>
                    </m:r>
                  </m:oMath>
                </a14:m>
                <a:r>
                  <a:rPr sz="1900" dirty="0"/>
                  <a:t>, add six fresh vertices </a:t>
                </a:r>
                <a14:m>
                  <m:oMath xmlns:m="http://schemas.openxmlformats.org/officeDocument/2006/math">
                    <m:sSub>
                      <m:sSubPr>
                        <m:ctrlPr>
                          <a:rPr sz="1900">
                            <a:latin typeface="Cambria Math" panose="02040503050406030204" pitchFamily="18" charset="0"/>
                          </a:rPr>
                        </m:ctrlPr>
                      </m:sSubPr>
                      <m:e>
                        <m:r>
                          <a:rPr sz="1900">
                            <a:latin typeface="Cambria Math" panose="02040503050406030204" pitchFamily="18" charset="0"/>
                          </a:rPr>
                          <m:t>𝑎</m:t>
                        </m:r>
                      </m:e>
                      <m:sub>
                        <m:r>
                          <a:rPr sz="1900">
                            <a:latin typeface="Cambria Math" panose="02040503050406030204" pitchFamily="18" charset="0"/>
                          </a:rPr>
                          <m:t>𝑖</m:t>
                        </m:r>
                      </m:sub>
                    </m:sSub>
                    <m:r>
                      <a:rPr sz="1900">
                        <a:latin typeface="Cambria Math" panose="02040503050406030204" pitchFamily="18" charset="0"/>
                      </a:rPr>
                      <m:t>,</m:t>
                    </m:r>
                    <m:sSub>
                      <m:sSubPr>
                        <m:ctrlPr>
                          <a:rPr sz="1900">
                            <a:latin typeface="Cambria Math" panose="02040503050406030204" pitchFamily="18" charset="0"/>
                          </a:rPr>
                        </m:ctrlPr>
                      </m:sSubPr>
                      <m:e>
                        <m:r>
                          <a:rPr sz="1900">
                            <a:latin typeface="Cambria Math" panose="02040503050406030204" pitchFamily="18" charset="0"/>
                          </a:rPr>
                          <m:t>𝑏</m:t>
                        </m:r>
                      </m:e>
                      <m:sub>
                        <m:r>
                          <a:rPr sz="1900">
                            <a:latin typeface="Cambria Math" panose="02040503050406030204" pitchFamily="18" charset="0"/>
                          </a:rPr>
                          <m:t>𝑖</m:t>
                        </m:r>
                      </m:sub>
                    </m:sSub>
                  </m:oMath>
                </a14:m>
                <a:r>
                  <a:rPr sz="1900" dirty="0"/>
                  <a:t> and 13 edges:</a:t>
                </a:r>
              </a:p>
              <a:p>
                <a:pPr marL="0" lvl="0" indent="0">
                  <a:spcAft>
                    <a:spcPts val="400"/>
                  </a:spcAft>
                  <a:buNone/>
                </a:pPr>
                <a14:m>
                  <m:oMathPara xmlns:m="http://schemas.openxmlformats.org/officeDocument/2006/math">
                    <m:oMathParaPr>
                      <m:jc m:val="center"/>
                    </m:oMathParaPr>
                    <m:oMath>
                      <m:eqArr>
                        <m:eqArrPr>
                          <m:ctrlPr>
                            <a:rPr sz="1900">
                              <a:latin typeface="Cambria Math" panose="02040503050406030204" pitchFamily="18" charset="0"/>
                            </a:rPr>
                          </m:ctrlPr>
                        </m:eqArrPr>
                        <m:e>
                          <m:r>
                            <a:rPr sz="1900">
                              <a:latin typeface="Cambria Math" panose="02040503050406030204" pitchFamily="18" charset="0"/>
                            </a:rPr>
                            <m:t>&amp;(</m:t>
                          </m:r>
                          <m:sSub>
                            <m:sSubPr>
                              <m:ctrlPr>
                                <a:rPr sz="1900">
                                  <a:latin typeface="Cambria Math" panose="02040503050406030204" pitchFamily="18" charset="0"/>
                                </a:rPr>
                              </m:ctrlPr>
                            </m:sSubPr>
                            <m:e>
                              <m:r>
                                <m:rPr>
                                  <m:sty m:val="p"/>
                                </m:rPr>
                                <a:rPr sz="1900">
                                  <a:latin typeface="Cambria Math" panose="02040503050406030204" pitchFamily="18" charset="0"/>
                                </a:rPr>
                                <m:t>ℓ</m:t>
                              </m:r>
                            </m:e>
                            <m:sub>
                              <m:r>
                                <a:rPr sz="1900">
                                  <a:latin typeface="Cambria Math" panose="02040503050406030204" pitchFamily="18" charset="0"/>
                                </a:rPr>
                                <m:t>𝑖</m:t>
                              </m:r>
                            </m:sub>
                          </m:sSub>
                          <m:r>
                            <a:rPr sz="1900">
                              <a:latin typeface="Cambria Math" panose="02040503050406030204" pitchFamily="18" charset="0"/>
                            </a:rPr>
                            <m:t>,</m:t>
                          </m:r>
                          <m:sSub>
                            <m:sSubPr>
                              <m:ctrlPr>
                                <a:rPr sz="1900">
                                  <a:latin typeface="Cambria Math" panose="02040503050406030204" pitchFamily="18" charset="0"/>
                                </a:rPr>
                              </m:ctrlPr>
                            </m:sSubPr>
                            <m:e>
                              <m:r>
                                <a:rPr sz="1900">
                                  <a:latin typeface="Cambria Math" panose="02040503050406030204" pitchFamily="18" charset="0"/>
                                </a:rPr>
                                <m:t>𝑎</m:t>
                              </m:r>
                            </m:e>
                            <m:sub>
                              <m:r>
                                <a:rPr sz="1900">
                                  <a:latin typeface="Cambria Math" panose="02040503050406030204" pitchFamily="18" charset="0"/>
                                </a:rPr>
                                <m:t>𝑖</m:t>
                              </m:r>
                            </m:sub>
                          </m:sSub>
                          <m:r>
                            <a:rPr sz="1900">
                              <a:latin typeface="Cambria Math" panose="02040503050406030204" pitchFamily="18" charset="0"/>
                            </a:rPr>
                            <m:t>),(</m:t>
                          </m:r>
                          <m:sSub>
                            <m:sSubPr>
                              <m:ctrlPr>
                                <a:rPr sz="1900">
                                  <a:latin typeface="Cambria Math" panose="02040503050406030204" pitchFamily="18" charset="0"/>
                                </a:rPr>
                              </m:ctrlPr>
                            </m:sSubPr>
                            <m:e>
                              <m:r>
                                <a:rPr sz="1900">
                                  <a:latin typeface="Cambria Math" panose="02040503050406030204" pitchFamily="18" charset="0"/>
                                </a:rPr>
                                <m:t>𝑎</m:t>
                              </m:r>
                            </m:e>
                            <m:sub>
                              <m:r>
                                <a:rPr sz="1900">
                                  <a:latin typeface="Cambria Math" panose="02040503050406030204" pitchFamily="18" charset="0"/>
                                </a:rPr>
                                <m:t>𝑖</m:t>
                              </m:r>
                            </m:sub>
                          </m:sSub>
                          <m:r>
                            <a:rPr sz="1900">
                              <a:latin typeface="Cambria Math" panose="02040503050406030204" pitchFamily="18" charset="0"/>
                            </a:rPr>
                            <m:t>,</m:t>
                          </m:r>
                          <m:sSub>
                            <m:sSubPr>
                              <m:ctrlPr>
                                <a:rPr sz="1900">
                                  <a:latin typeface="Cambria Math" panose="02040503050406030204" pitchFamily="18" charset="0"/>
                                </a:rPr>
                              </m:ctrlPr>
                            </m:sSubPr>
                            <m:e>
                              <m:r>
                                <a:rPr sz="1900">
                                  <a:latin typeface="Cambria Math" panose="02040503050406030204" pitchFamily="18" charset="0"/>
                                </a:rPr>
                                <m:t>𝑏</m:t>
                              </m:r>
                            </m:e>
                            <m:sub>
                              <m:r>
                                <a:rPr sz="1900">
                                  <a:latin typeface="Cambria Math" panose="02040503050406030204" pitchFamily="18" charset="0"/>
                                </a:rPr>
                                <m:t>𝑖</m:t>
                              </m:r>
                            </m:sub>
                          </m:sSub>
                          <m:r>
                            <a:rPr sz="1900">
                              <a:latin typeface="Cambria Math" panose="02040503050406030204" pitchFamily="18" charset="0"/>
                            </a:rPr>
                            <m:t>),(</m:t>
                          </m:r>
                          <m:r>
                            <a:rPr sz="1900">
                              <a:latin typeface="Cambria Math" panose="02040503050406030204" pitchFamily="18" charset="0"/>
                            </a:rPr>
                            <m:t>𝑇</m:t>
                          </m:r>
                          <m:r>
                            <a:rPr sz="1900">
                              <a:latin typeface="Cambria Math" panose="02040503050406030204" pitchFamily="18" charset="0"/>
                            </a:rPr>
                            <m:t>,</m:t>
                          </m:r>
                          <m:sSub>
                            <m:sSubPr>
                              <m:ctrlPr>
                                <a:rPr sz="1900">
                                  <a:latin typeface="Cambria Math" panose="02040503050406030204" pitchFamily="18" charset="0"/>
                                </a:rPr>
                              </m:ctrlPr>
                            </m:sSubPr>
                            <m:e>
                              <m:r>
                                <a:rPr sz="1900">
                                  <a:latin typeface="Cambria Math" panose="02040503050406030204" pitchFamily="18" charset="0"/>
                                </a:rPr>
                                <m:t>𝑎</m:t>
                              </m:r>
                            </m:e>
                            <m:sub>
                              <m:r>
                                <a:rPr sz="1900">
                                  <a:latin typeface="Cambria Math" panose="02040503050406030204" pitchFamily="18" charset="0"/>
                                </a:rPr>
                                <m:t>𝑖</m:t>
                              </m:r>
                            </m:sub>
                          </m:sSub>
                          <m:r>
                            <a:rPr sz="1900">
                              <a:latin typeface="Cambria Math" panose="02040503050406030204" pitchFamily="18" charset="0"/>
                            </a:rPr>
                            <m:t>)</m:t>
                          </m:r>
                        </m:e>
                        <m:e>
                          <m:r>
                            <a:rPr sz="1900">
                              <a:latin typeface="Cambria Math" panose="02040503050406030204" pitchFamily="18" charset="0"/>
                            </a:rPr>
                            <m:t>&amp;  </m:t>
                          </m:r>
                          <m:r>
                            <m:rPr>
                              <m:nor/>
                            </m:rPr>
                            <a:rPr sz="1900" i="0"/>
                            <m:t>for </m:t>
                          </m:r>
                          <m:r>
                            <a:rPr sz="1900">
                              <a:latin typeface="Cambria Math" panose="02040503050406030204" pitchFamily="18" charset="0"/>
                            </a:rPr>
                            <m:t>𝑖</m:t>
                          </m:r>
                          <m:r>
                            <a:rPr sz="1900">
                              <a:latin typeface="Cambria Math" panose="02040503050406030204" pitchFamily="18" charset="0"/>
                            </a:rPr>
                            <m:t>=1,2,3,</m:t>
                          </m:r>
                        </m:e>
                        <m:e>
                          <m:r>
                            <a:rPr sz="1900">
                              <a:latin typeface="Cambria Math" panose="02040503050406030204" pitchFamily="18" charset="0"/>
                            </a:rPr>
                            <m:t>&amp;(</m:t>
                          </m:r>
                          <m:r>
                            <a:rPr sz="1900">
                              <a:latin typeface="Cambria Math" panose="02040503050406030204" pitchFamily="18" charset="0"/>
                            </a:rPr>
                            <m:t>𝑇</m:t>
                          </m:r>
                          <m:r>
                            <a:rPr sz="1900">
                              <a:latin typeface="Cambria Math" panose="02040503050406030204" pitchFamily="18" charset="0"/>
                            </a:rPr>
                            <m:t>,</m:t>
                          </m:r>
                          <m:sSub>
                            <m:sSubPr>
                              <m:ctrlPr>
                                <a:rPr sz="1900">
                                  <a:latin typeface="Cambria Math" panose="02040503050406030204" pitchFamily="18" charset="0"/>
                                </a:rPr>
                              </m:ctrlPr>
                            </m:sSubPr>
                            <m:e>
                              <m:r>
                                <a:rPr sz="1900">
                                  <a:latin typeface="Cambria Math" panose="02040503050406030204" pitchFamily="18" charset="0"/>
                                </a:rPr>
                                <m:t>𝑏</m:t>
                              </m:r>
                            </m:e>
                            <m:sub>
                              <m:r>
                                <a:rPr sz="1900">
                                  <a:latin typeface="Cambria Math" panose="02040503050406030204" pitchFamily="18" charset="0"/>
                                </a:rPr>
                                <m:t>1</m:t>
                              </m:r>
                            </m:sub>
                          </m:sSub>
                          <m:r>
                            <a:rPr sz="1900">
                              <a:latin typeface="Cambria Math" panose="02040503050406030204" pitchFamily="18" charset="0"/>
                            </a:rPr>
                            <m:t>),(</m:t>
                          </m:r>
                          <m:sSub>
                            <m:sSubPr>
                              <m:ctrlPr>
                                <a:rPr sz="1900">
                                  <a:latin typeface="Cambria Math" panose="02040503050406030204" pitchFamily="18" charset="0"/>
                                </a:rPr>
                              </m:ctrlPr>
                            </m:sSubPr>
                            <m:e>
                              <m:r>
                                <a:rPr sz="1900">
                                  <a:latin typeface="Cambria Math" panose="02040503050406030204" pitchFamily="18" charset="0"/>
                                </a:rPr>
                                <m:t>𝑏</m:t>
                              </m:r>
                            </m:e>
                            <m:sub>
                              <m:r>
                                <a:rPr sz="1900">
                                  <a:latin typeface="Cambria Math" panose="02040503050406030204" pitchFamily="18" charset="0"/>
                                </a:rPr>
                                <m:t>1</m:t>
                              </m:r>
                            </m:sub>
                          </m:sSub>
                          <m:r>
                            <a:rPr sz="1900">
                              <a:latin typeface="Cambria Math" panose="02040503050406030204" pitchFamily="18" charset="0"/>
                            </a:rPr>
                            <m:t>,</m:t>
                          </m:r>
                          <m:sSub>
                            <m:sSubPr>
                              <m:ctrlPr>
                                <a:rPr sz="1900">
                                  <a:latin typeface="Cambria Math" panose="02040503050406030204" pitchFamily="18" charset="0"/>
                                </a:rPr>
                              </m:ctrlPr>
                            </m:sSubPr>
                            <m:e>
                              <m:r>
                                <a:rPr sz="1900">
                                  <a:latin typeface="Cambria Math" panose="02040503050406030204" pitchFamily="18" charset="0"/>
                                </a:rPr>
                                <m:t>𝑏</m:t>
                              </m:r>
                            </m:e>
                            <m:sub>
                              <m:r>
                                <a:rPr sz="1900">
                                  <a:latin typeface="Cambria Math" panose="02040503050406030204" pitchFamily="18" charset="0"/>
                                </a:rPr>
                                <m:t>2</m:t>
                              </m:r>
                            </m:sub>
                          </m:sSub>
                          <m:r>
                            <a:rPr sz="1900">
                              <a:latin typeface="Cambria Math" panose="02040503050406030204" pitchFamily="18" charset="0"/>
                            </a:rPr>
                            <m:t>),</m:t>
                          </m:r>
                        </m:e>
                        <m:e>
                          <m:r>
                            <a:rPr sz="1900">
                              <a:latin typeface="Cambria Math" panose="02040503050406030204" pitchFamily="18" charset="0"/>
                            </a:rPr>
                            <m:t>&amp;(</m:t>
                          </m:r>
                          <m:sSub>
                            <m:sSubPr>
                              <m:ctrlPr>
                                <a:rPr sz="1900">
                                  <a:latin typeface="Cambria Math" panose="02040503050406030204" pitchFamily="18" charset="0"/>
                                </a:rPr>
                              </m:ctrlPr>
                            </m:sSubPr>
                            <m:e>
                              <m:r>
                                <a:rPr sz="1900">
                                  <a:latin typeface="Cambria Math" panose="02040503050406030204" pitchFamily="18" charset="0"/>
                                </a:rPr>
                                <m:t>𝑏</m:t>
                              </m:r>
                            </m:e>
                            <m:sub>
                              <m:r>
                                <a:rPr sz="1900">
                                  <a:latin typeface="Cambria Math" panose="02040503050406030204" pitchFamily="18" charset="0"/>
                                </a:rPr>
                                <m:t>2</m:t>
                              </m:r>
                            </m:sub>
                          </m:sSub>
                          <m:r>
                            <a:rPr sz="1900">
                              <a:latin typeface="Cambria Math" panose="02040503050406030204" pitchFamily="18" charset="0"/>
                            </a:rPr>
                            <m:t>,</m:t>
                          </m:r>
                          <m:sSub>
                            <m:sSubPr>
                              <m:ctrlPr>
                                <a:rPr sz="1900">
                                  <a:latin typeface="Cambria Math" panose="02040503050406030204" pitchFamily="18" charset="0"/>
                                </a:rPr>
                              </m:ctrlPr>
                            </m:sSubPr>
                            <m:e>
                              <m:r>
                                <a:rPr sz="1900">
                                  <a:latin typeface="Cambria Math" panose="02040503050406030204" pitchFamily="18" charset="0"/>
                                </a:rPr>
                                <m:t>𝑏</m:t>
                              </m:r>
                            </m:e>
                            <m:sub>
                              <m:r>
                                <a:rPr sz="1900">
                                  <a:latin typeface="Cambria Math" panose="02040503050406030204" pitchFamily="18" charset="0"/>
                                </a:rPr>
                                <m:t>3</m:t>
                              </m:r>
                            </m:sub>
                          </m:sSub>
                          <m:r>
                            <a:rPr sz="1900">
                              <a:latin typeface="Cambria Math" panose="02040503050406030204" pitchFamily="18" charset="0"/>
                            </a:rPr>
                            <m:t>),(</m:t>
                          </m:r>
                          <m:sSub>
                            <m:sSubPr>
                              <m:ctrlPr>
                                <a:rPr sz="1900">
                                  <a:latin typeface="Cambria Math" panose="02040503050406030204" pitchFamily="18" charset="0"/>
                                </a:rPr>
                              </m:ctrlPr>
                            </m:sSubPr>
                            <m:e>
                              <m:r>
                                <a:rPr sz="1900">
                                  <a:latin typeface="Cambria Math" panose="02040503050406030204" pitchFamily="18" charset="0"/>
                                </a:rPr>
                                <m:t>𝑏</m:t>
                              </m:r>
                            </m:e>
                            <m:sub>
                              <m:r>
                                <a:rPr sz="1900">
                                  <a:latin typeface="Cambria Math" panose="02040503050406030204" pitchFamily="18" charset="0"/>
                                </a:rPr>
                                <m:t>3</m:t>
                              </m:r>
                            </m:sub>
                          </m:sSub>
                          <m:r>
                            <a:rPr sz="1900">
                              <a:latin typeface="Cambria Math" panose="02040503050406030204" pitchFamily="18" charset="0"/>
                            </a:rPr>
                            <m:t>,</m:t>
                          </m:r>
                          <m:r>
                            <a:rPr sz="1900">
                              <a:latin typeface="Cambria Math" panose="02040503050406030204" pitchFamily="18" charset="0"/>
                            </a:rPr>
                            <m:t>𝐹</m:t>
                          </m:r>
                          <m:r>
                            <a:rPr sz="1900">
                              <a:latin typeface="Cambria Math" panose="02040503050406030204" pitchFamily="18" charset="0"/>
                            </a:rPr>
                            <m:t>).</m:t>
                          </m:r>
                        </m:e>
                      </m:eqArr>
                    </m:oMath>
                  </m:oMathPara>
                </a14:m>
                <a:endParaRPr sz="1900" dirty="0"/>
              </a:p>
              <a:p>
                <a:pPr marL="0" lvl="0" indent="0">
                  <a:spcAft>
                    <a:spcPts val="400"/>
                  </a:spcAft>
                  <a:buNone/>
                </a:pPr>
                <a:endParaRPr lang="en-US" sz="1900" b="1" dirty="0"/>
              </a:p>
              <a:p>
                <a:pPr marL="0" lvl="0" indent="0">
                  <a:spcAft>
                    <a:spcPts val="400"/>
                  </a:spcAft>
                  <a:buNone/>
                </a:pPr>
                <a:endParaRPr lang="en-US" sz="1900" b="1" dirty="0"/>
              </a:p>
              <a:p>
                <a:pPr marL="0" lvl="0" indent="0">
                  <a:spcAft>
                    <a:spcPts val="400"/>
                  </a:spcAft>
                  <a:buNone/>
                </a:pPr>
                <a:r>
                  <a:rPr sz="1900" b="1" dirty="0"/>
                  <a:t>Result: can we complete the coloring?</a:t>
                </a:r>
              </a:p>
              <a:p>
                <a:pPr marL="0" lvl="0" indent="0">
                  <a:spcAft>
                    <a:spcPts val="400"/>
                  </a:spcAft>
                  <a:buNone/>
                </a:pPr>
                <a:r>
                  <a:rPr sz="1900" dirty="0"/>
                  <a:t>With inputs fixed in </a:t>
                </a:r>
                <a14:m>
                  <m:oMath xmlns:m="http://schemas.openxmlformats.org/officeDocument/2006/math">
                    <m:r>
                      <a:rPr sz="1900">
                        <a:latin typeface="Cambria Math" panose="02040503050406030204" pitchFamily="18" charset="0"/>
                      </a:rPr>
                      <m:t>{</m:t>
                    </m:r>
                    <m:r>
                      <a:rPr sz="1900">
                        <a:latin typeface="Cambria Math" panose="02040503050406030204" pitchFamily="18" charset="0"/>
                      </a:rPr>
                      <m:t>𝑇</m:t>
                    </m:r>
                    <m:r>
                      <a:rPr sz="1900">
                        <a:latin typeface="Cambria Math" panose="02040503050406030204" pitchFamily="18" charset="0"/>
                      </a:rPr>
                      <m:t>,</m:t>
                    </m:r>
                    <m:r>
                      <a:rPr sz="1900">
                        <a:latin typeface="Cambria Math" panose="02040503050406030204" pitchFamily="18" charset="0"/>
                      </a:rPr>
                      <m:t>𝐹</m:t>
                    </m:r>
                    <m:r>
                      <a:rPr sz="1900">
                        <a:latin typeface="Cambria Math" panose="02040503050406030204" pitchFamily="18" charset="0"/>
                      </a:rPr>
                      <m:t>}</m:t>
                    </m:r>
                  </m:oMath>
                </a14:m>
                <a:r>
                  <a:rPr sz="1900" dirty="0"/>
                  <a:t>, the internal coloring extends exactly when at least one input is </a:t>
                </a:r>
                <a14:m>
                  <m:oMath xmlns:m="http://schemas.openxmlformats.org/officeDocument/2006/math">
                    <m:r>
                      <a:rPr sz="1900">
                        <a:latin typeface="Cambria Math" panose="02040503050406030204" pitchFamily="18" charset="0"/>
                      </a:rPr>
                      <m:t>𝑇</m:t>
                    </m:r>
                  </m:oMath>
                </a14:m>
                <a:r>
                  <a:rPr sz="1900" dirty="0"/>
                  <a:t>.</a:t>
                </a:r>
              </a:p>
              <a:p>
                <a:pPr marL="0" lvl="0" indent="0">
                  <a:spcAft>
                    <a:spcPts val="400"/>
                  </a:spcAft>
                  <a:buNone/>
                </a:pPr>
                <a:r>
                  <a:rPr sz="1900" b="1" dirty="0"/>
                  <a:t>There is no output vertex.</a:t>
                </a:r>
              </a:p>
            </p:txBody>
          </p:sp>
        </mc:Choice>
        <mc:Fallback>
          <p:sp>
            <p:nvSpPr>
              <p:cNvPr id="3" name="Content Placeholder 2"/>
              <p:cNvSpPr>
                <a:spLocks noGrp="1" noRot="1" noChangeAspect="1" noMove="1" noResize="1" noEditPoints="1" noAdjustHandles="1" noChangeArrowheads="1" noChangeShapeType="1" noTextEdit="1"/>
              </p:cNvSpPr>
              <p:nvPr/>
            </p:nvSpPr>
            <p:spPr>
              <a:xfrm>
                <a:off x="365760" y="1005840"/>
                <a:ext cx="3977640" cy="5440680"/>
              </a:xfrm>
              <a:blipFill>
                <a:blip r:embed="rId3"/>
                <a:stretch>
                  <a:fillRect/>
                </a:stretch>
              </a:blipFill>
            </p:spPr>
            <p:txBody>
              <a:bodyPr/>
              <a:lstStyle/>
              <a:p>
                <a:r>
                  <a:rPr lang="en-US">
                    <a:noFill/>
                  </a:rPr>
                  <a:t> </a:t>
                </a:r>
              </a:p>
            </p:txBody>
          </p:sp>
        </mc:Fallback>
      </mc:AlternateContent>
      <p:pic>
        <p:nvPicPr>
          <p:cNvPr id="4" name="Picture 1" descr="editable_assets/diagram-11-4.png"/>
          <p:cNvPicPr>
            <a:picLocks noGrp="1" noChangeAspect="1"/>
          </p:cNvPicPr>
          <p:nvPr/>
        </p:nvPicPr>
        <p:blipFill>
          <a:blip r:embed="rId4"/>
          <a:srcRect l="6855" t="36109" r="43774" b="8751"/>
          <a:stretch>
            <a:fillRect/>
          </a:stretch>
        </p:blipFill>
        <p:spPr bwMode="auto">
          <a:xfrm>
            <a:off x="4526280" y="1282723"/>
            <a:ext cx="4251960" cy="3515315"/>
          </a:xfrm>
          <a:prstGeom prst="rect">
            <a:avLst/>
          </a:prstGeom>
          <a:noFill/>
          <a:ln w="9525">
            <a:noFill/>
            <a:headEnd/>
            <a:tailEnd/>
          </a:ln>
        </p:spPr>
      </p:pic>
      <p:sp>
        <p:nvSpPr>
          <p:cNvPr id="5" name="Content Placeholder 2"/>
          <p:cNvSpPr>
            <a:spLocks noGrp="1"/>
          </p:cNvSpPr>
          <p:nvPr/>
        </p:nvSpPr>
        <p:spPr>
          <a:xfrm>
            <a:off x="4617720" y="5074920"/>
            <a:ext cx="4160520" cy="1234440"/>
          </a:xfrm>
        </p:spPr>
        <p:txBody>
          <a:bodyPr wrap="square" lIns="0" tIns="0" rIns="0" bIns="0" anchor="t">
            <a:noAutofit/>
          </a:bodyPr>
          <a:lstStyle>
            <a:lvl1pPr>
              <a:defRPr sz="1500">
                <a:latin typeface="Times New Roman"/>
              </a:defRPr>
            </a:lvl1pPr>
            <a:lvl2pPr>
              <a:defRPr sz="1500">
                <a:latin typeface="Times New Roman"/>
              </a:defRPr>
            </a:lvl2pPr>
            <a:lvl3pPr>
              <a:defRPr sz="1500">
                <a:latin typeface="Times New Roman"/>
              </a:defRPr>
            </a:lvl3pPr>
            <a:lvl4pPr>
              <a:defRPr sz="1500">
                <a:latin typeface="Times New Roman"/>
              </a:defRPr>
            </a:lvl4pPr>
            <a:lvl5pPr>
              <a:defRPr sz="1500">
                <a:latin typeface="Times New Roman"/>
              </a:defRPr>
            </a:lvl5pPr>
            <a:lvl6pPr>
              <a:defRPr sz="1500">
                <a:latin typeface="Times New Roman"/>
              </a:defRPr>
            </a:lvl6pPr>
            <a:lvl7pPr>
              <a:defRPr sz="1500">
                <a:latin typeface="Times New Roman"/>
              </a:defRPr>
            </a:lvl7pPr>
            <a:lvl8pPr>
              <a:defRPr sz="1500">
                <a:latin typeface="Times New Roman"/>
              </a:defRPr>
            </a:lvl8pPr>
            <a:lvl9pPr>
              <a:defRPr sz="1500">
                <a:latin typeface="Times New Roman"/>
              </a:defRPr>
            </a:lvl9pPr>
          </a:lstStyle>
          <a:p>
            <a:pPr marL="0" lvl="0" indent="0">
              <a:spcAft>
                <a:spcPts val="400"/>
              </a:spcAft>
              <a:buNone/>
            </a:pPr>
            <a:r>
              <a:rPr sz="1500" dirty="0">
                <a:latin typeface="Times New Roman"/>
              </a:rPr>
              <a:t>Black: literal arms. Blue: </a:t>
            </a:r>
            <a14:m xmlns:a14="http://schemas.microsoft.com/office/drawing/2010/main">
              <m:oMath xmlns:m="http://schemas.openxmlformats.org/officeDocument/2006/math">
                <m:r>
                  <a:rPr>
                    <a:latin typeface="Cambria Math" panose="02040503050406030204" pitchFamily="18" charset="0"/>
                  </a:rPr>
                  <m:t>𝑇</m:t>
                </m:r>
              </m:oMath>
            </a14:m>
            <a:r>
              <a:rPr sz="1500" dirty="0">
                <a:latin typeface="Times New Roman"/>
              </a:rPr>
              <a:t> links. Red: forcing path. Dotted gray: existing edges.</a:t>
            </a:r>
          </a:p>
          <a:p>
            <a:pPr marL="0" lvl="0" indent="0">
              <a:spcAft>
                <a:spcPts val="400"/>
              </a:spcAft>
              <a:buNone/>
            </a:pPr>
            <a:r>
              <a:rPr sz="1500" dirty="0">
                <a:latin typeface="Times New Roman"/>
              </a:rPr>
              <a:t>All lines are ordinary edges. White/gray vertices are unassigned, not extra colors.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228600" y="128016"/>
            <a:ext cx="8686800" cy="713232"/>
          </a:xfrm>
        </p:spPr>
        <p:txBody>
          <a:bodyPr wrap="square" lIns="0" tIns="0" rIns="0" bIns="0" anchor="t">
            <a:noAutofit/>
          </a:bodyPr>
          <a:lstStyle>
            <a:lvl1pPr>
              <a:defRPr sz="2350" b="1">
                <a:solidFill>
                  <a:srgbClr val="3333B2"/>
                </a:solidFill>
                <a:latin typeface="Times New Roman"/>
              </a:defRPr>
            </a:lvl1pPr>
            <a:lvl2pPr>
              <a:defRPr sz="2350" b="1">
                <a:solidFill>
                  <a:srgbClr val="3333B2"/>
                </a:solidFill>
                <a:latin typeface="Times New Roman"/>
              </a:defRPr>
            </a:lvl2pPr>
            <a:lvl3pPr>
              <a:defRPr sz="2350" b="1">
                <a:solidFill>
                  <a:srgbClr val="3333B2"/>
                </a:solidFill>
                <a:latin typeface="Times New Roman"/>
              </a:defRPr>
            </a:lvl3pPr>
            <a:lvl4pPr>
              <a:defRPr sz="2350" b="1">
                <a:solidFill>
                  <a:srgbClr val="3333B2"/>
                </a:solidFill>
                <a:latin typeface="Times New Roman"/>
              </a:defRPr>
            </a:lvl4pPr>
            <a:lvl5pPr>
              <a:defRPr sz="2350" b="1">
                <a:solidFill>
                  <a:srgbClr val="3333B2"/>
                </a:solidFill>
                <a:latin typeface="Times New Roman"/>
              </a:defRPr>
            </a:lvl5pPr>
            <a:lvl6pPr>
              <a:defRPr sz="2350" b="1">
                <a:solidFill>
                  <a:srgbClr val="3333B2"/>
                </a:solidFill>
                <a:latin typeface="Times New Roman"/>
              </a:defRPr>
            </a:lvl6pPr>
            <a:lvl7pPr>
              <a:defRPr sz="2350" b="1">
                <a:solidFill>
                  <a:srgbClr val="3333B2"/>
                </a:solidFill>
                <a:latin typeface="Times New Roman"/>
              </a:defRPr>
            </a:lvl7pPr>
            <a:lvl8pPr>
              <a:defRPr sz="2350" b="1">
                <a:solidFill>
                  <a:srgbClr val="3333B2"/>
                </a:solidFill>
                <a:latin typeface="Times New Roman"/>
              </a:defRPr>
            </a:lvl8pPr>
            <a:lvl9pPr>
              <a:defRPr sz="2350" b="1">
                <a:solidFill>
                  <a:srgbClr val="3333B2"/>
                </a:solidFill>
                <a:latin typeface="Times New Roman"/>
              </a:defRPr>
            </a:lvl9pPr>
          </a:lstStyle>
          <a:p>
            <a:pPr marL="0" lvl="0" indent="0">
              <a:spcAft>
                <a:spcPts val="650"/>
              </a:spcAft>
              <a:buNone/>
            </a:pPr>
            <a:r>
              <a:rPr sz="2350" b="1">
                <a:solidFill>
                  <a:srgbClr val="3333B2"/>
                </a:solidFill>
                <a:latin typeface="Times New Roman"/>
              </a:rPr>
              <a:t>Why the Clause Gadget Encodes OR: Impossible Case</a:t>
            </a:r>
          </a:p>
        </p:txBody>
      </p:sp>
      <mc:AlternateContent xmlns:mc="http://schemas.openxmlformats.org/markup-compatibility/2006">
        <mc:Choice xmlns:a14="http://schemas.microsoft.com/office/drawing/2010/main" Requires="a14">
          <p:sp>
            <p:nvSpPr>
              <p:cNvPr id="3" name="Content Placeholder 2"/>
              <p:cNvSpPr>
                <a:spLocks noGrp="1"/>
              </p:cNvSpPr>
              <p:nvPr/>
            </p:nvSpPr>
            <p:spPr>
              <a:xfrm>
                <a:off x="365760" y="1051560"/>
                <a:ext cx="3545058" cy="5303520"/>
              </a:xfrm>
            </p:spPr>
            <p:txBody>
              <a:bodyPr wrap="square" lIns="0" tIns="0" rIns="0" bIns="0" anchor="t">
                <a:noAutofit/>
              </a:bodyPr>
              <a:lstStyle>
                <a:lvl1pPr>
                  <a:defRPr sz="1800">
                    <a:latin typeface="Times New Roman"/>
                  </a:defRPr>
                </a:lvl1pPr>
                <a:lvl2pPr>
                  <a:defRPr sz="1800">
                    <a:latin typeface="Times New Roman"/>
                  </a:defRPr>
                </a:lvl2pPr>
                <a:lvl3pPr>
                  <a:defRPr sz="1800">
                    <a:latin typeface="Times New Roman"/>
                  </a:defRPr>
                </a:lvl3pPr>
                <a:lvl4pPr>
                  <a:defRPr sz="1800">
                    <a:latin typeface="Times New Roman"/>
                  </a:defRPr>
                </a:lvl4pPr>
                <a:lvl5pPr>
                  <a:defRPr sz="1800">
                    <a:latin typeface="Times New Roman"/>
                  </a:defRPr>
                </a:lvl5pPr>
                <a:lvl6pPr>
                  <a:defRPr sz="1800">
                    <a:latin typeface="Times New Roman"/>
                  </a:defRPr>
                </a:lvl6pPr>
                <a:lvl7pPr>
                  <a:defRPr sz="1800">
                    <a:latin typeface="Times New Roman"/>
                  </a:defRPr>
                </a:lvl7pPr>
                <a:lvl8pPr>
                  <a:defRPr sz="1800">
                    <a:latin typeface="Times New Roman"/>
                  </a:defRPr>
                </a:lvl8pPr>
                <a:lvl9pPr>
                  <a:defRPr sz="1800">
                    <a:latin typeface="Times New Roman"/>
                  </a:defRPr>
                </a:lvl9pPr>
              </a:lstStyle>
              <a:p>
                <a:pPr marL="0" lvl="0" indent="0">
                  <a:spcAft>
                    <a:spcPts val="650"/>
                  </a:spcAft>
                  <a:buNone/>
                </a:pPr>
                <a:r>
                  <a:rPr sz="1900" b="1" dirty="0"/>
                  <a:t>All inputs are </a:t>
                </a:r>
                <a14:m>
                  <m:oMath xmlns:m="http://schemas.openxmlformats.org/officeDocument/2006/math">
                    <m:r>
                      <a:rPr sz="1900">
                        <a:latin typeface="Cambria Math" panose="02040503050406030204" pitchFamily="18" charset="0"/>
                      </a:rPr>
                      <m:t>𝐹</m:t>
                    </m:r>
                  </m:oMath>
                </a14:m>
                <a:endParaRPr sz="1900" b="1" dirty="0"/>
              </a:p>
              <a:p>
                <a:pPr marL="0" lvl="0" indent="0">
                  <a:spcAft>
                    <a:spcPts val="650"/>
                  </a:spcAft>
                  <a:buNone/>
                </a:pPr>
                <a:r>
                  <a:rPr sz="1900" dirty="0"/>
                  <a:t>If every </a:t>
                </a:r>
                <a14:m>
                  <m:oMath xmlns:m="http://schemas.openxmlformats.org/officeDocument/2006/math">
                    <m:sSub>
                      <m:sSubPr>
                        <m:ctrlPr>
                          <a:rPr sz="1900">
                            <a:latin typeface="Cambria Math" panose="02040503050406030204" pitchFamily="18" charset="0"/>
                          </a:rPr>
                        </m:ctrlPr>
                      </m:sSubPr>
                      <m:e>
                        <m:r>
                          <m:rPr>
                            <m:sty m:val="p"/>
                          </m:rPr>
                          <a:rPr sz="1900">
                            <a:latin typeface="Cambria Math" panose="02040503050406030204" pitchFamily="18" charset="0"/>
                          </a:rPr>
                          <m:t>ℓ</m:t>
                        </m:r>
                      </m:e>
                      <m:sub>
                        <m:r>
                          <a:rPr sz="1900">
                            <a:latin typeface="Cambria Math" panose="02040503050406030204" pitchFamily="18" charset="0"/>
                          </a:rPr>
                          <m:t>𝑖</m:t>
                        </m:r>
                      </m:sub>
                    </m:sSub>
                    <m:r>
                      <a:rPr sz="1900">
                        <a:latin typeface="Cambria Math" panose="02040503050406030204" pitchFamily="18" charset="0"/>
                      </a:rPr>
                      <m:t>=</m:t>
                    </m:r>
                    <m:r>
                      <a:rPr sz="1900">
                        <a:latin typeface="Cambria Math" panose="02040503050406030204" pitchFamily="18" charset="0"/>
                      </a:rPr>
                      <m:t>𝐹</m:t>
                    </m:r>
                  </m:oMath>
                </a14:m>
                <a:r>
                  <a:rPr sz="1900" dirty="0"/>
                  <a:t>, the edges </a:t>
                </a:r>
                <a14:m>
                  <m:oMath xmlns:m="http://schemas.openxmlformats.org/officeDocument/2006/math">
                    <m:r>
                      <a:rPr sz="1900">
                        <a:latin typeface="Cambria Math" panose="02040503050406030204" pitchFamily="18" charset="0"/>
                      </a:rPr>
                      <m:t>(</m:t>
                    </m:r>
                    <m:sSub>
                      <m:sSubPr>
                        <m:ctrlPr>
                          <a:rPr sz="1900">
                            <a:latin typeface="Cambria Math" panose="02040503050406030204" pitchFamily="18" charset="0"/>
                          </a:rPr>
                        </m:ctrlPr>
                      </m:sSubPr>
                      <m:e>
                        <m:r>
                          <m:rPr>
                            <m:sty m:val="p"/>
                          </m:rPr>
                          <a:rPr sz="1900">
                            <a:latin typeface="Cambria Math" panose="02040503050406030204" pitchFamily="18" charset="0"/>
                          </a:rPr>
                          <m:t>ℓ</m:t>
                        </m:r>
                      </m:e>
                      <m:sub>
                        <m:r>
                          <a:rPr sz="1900">
                            <a:latin typeface="Cambria Math" panose="02040503050406030204" pitchFamily="18" charset="0"/>
                          </a:rPr>
                          <m:t>𝑖</m:t>
                        </m:r>
                      </m:sub>
                    </m:sSub>
                    <m:r>
                      <a:rPr sz="1900">
                        <a:latin typeface="Cambria Math" panose="02040503050406030204" pitchFamily="18" charset="0"/>
                      </a:rPr>
                      <m:t>,</m:t>
                    </m:r>
                    <m:sSub>
                      <m:sSubPr>
                        <m:ctrlPr>
                          <a:rPr sz="1900">
                            <a:latin typeface="Cambria Math" panose="02040503050406030204" pitchFamily="18" charset="0"/>
                          </a:rPr>
                        </m:ctrlPr>
                      </m:sSubPr>
                      <m:e>
                        <m:r>
                          <a:rPr sz="1900">
                            <a:latin typeface="Cambria Math" panose="02040503050406030204" pitchFamily="18" charset="0"/>
                          </a:rPr>
                          <m:t>𝑎</m:t>
                        </m:r>
                      </m:e>
                      <m:sub>
                        <m:r>
                          <a:rPr sz="1900">
                            <a:latin typeface="Cambria Math" panose="02040503050406030204" pitchFamily="18" charset="0"/>
                          </a:rPr>
                          <m:t>𝑖</m:t>
                        </m:r>
                      </m:sub>
                    </m:sSub>
                    <m:r>
                      <a:rPr sz="1900">
                        <a:latin typeface="Cambria Math" panose="02040503050406030204" pitchFamily="18" charset="0"/>
                      </a:rPr>
                      <m:t>)</m:t>
                    </m:r>
                  </m:oMath>
                </a14:m>
                <a:r>
                  <a:rPr sz="1900" dirty="0"/>
                  <a:t> and </a:t>
                </a:r>
                <a14:m>
                  <m:oMath xmlns:m="http://schemas.openxmlformats.org/officeDocument/2006/math">
                    <m:r>
                      <a:rPr sz="1900">
                        <a:latin typeface="Cambria Math" panose="02040503050406030204" pitchFamily="18" charset="0"/>
                      </a:rPr>
                      <m:t>(</m:t>
                    </m:r>
                    <m:r>
                      <a:rPr sz="1900">
                        <a:latin typeface="Cambria Math" panose="02040503050406030204" pitchFamily="18" charset="0"/>
                      </a:rPr>
                      <m:t>𝑇</m:t>
                    </m:r>
                    <m:r>
                      <a:rPr sz="1900">
                        <a:latin typeface="Cambria Math" panose="02040503050406030204" pitchFamily="18" charset="0"/>
                      </a:rPr>
                      <m:t>,</m:t>
                    </m:r>
                    <m:sSub>
                      <m:sSubPr>
                        <m:ctrlPr>
                          <a:rPr sz="1900">
                            <a:latin typeface="Cambria Math" panose="02040503050406030204" pitchFamily="18" charset="0"/>
                          </a:rPr>
                        </m:ctrlPr>
                      </m:sSubPr>
                      <m:e>
                        <m:r>
                          <a:rPr sz="1900">
                            <a:latin typeface="Cambria Math" panose="02040503050406030204" pitchFamily="18" charset="0"/>
                          </a:rPr>
                          <m:t>𝑎</m:t>
                        </m:r>
                      </m:e>
                      <m:sub>
                        <m:r>
                          <a:rPr sz="1900">
                            <a:latin typeface="Cambria Math" panose="02040503050406030204" pitchFamily="18" charset="0"/>
                          </a:rPr>
                          <m:t>𝑖</m:t>
                        </m:r>
                      </m:sub>
                    </m:sSub>
                    <m:r>
                      <a:rPr sz="1900">
                        <a:latin typeface="Cambria Math" panose="02040503050406030204" pitchFamily="18" charset="0"/>
                      </a:rPr>
                      <m:t>)</m:t>
                    </m:r>
                  </m:oMath>
                </a14:m>
                <a:r>
                  <a:rPr sz="1900" dirty="0"/>
                  <a:t> force every </a:t>
                </a:r>
                <a14:m>
                  <m:oMath xmlns:m="http://schemas.openxmlformats.org/officeDocument/2006/math">
                    <m:sSub>
                      <m:sSubPr>
                        <m:ctrlPr>
                          <a:rPr sz="1900">
                            <a:latin typeface="Cambria Math" panose="02040503050406030204" pitchFamily="18" charset="0"/>
                          </a:rPr>
                        </m:ctrlPr>
                      </m:sSubPr>
                      <m:e>
                        <m:r>
                          <a:rPr sz="1900">
                            <a:latin typeface="Cambria Math" panose="02040503050406030204" pitchFamily="18" charset="0"/>
                          </a:rPr>
                          <m:t>𝑎</m:t>
                        </m:r>
                      </m:e>
                      <m:sub>
                        <m:r>
                          <a:rPr sz="1900">
                            <a:latin typeface="Cambria Math" panose="02040503050406030204" pitchFamily="18" charset="0"/>
                          </a:rPr>
                          <m:t>𝑖</m:t>
                        </m:r>
                      </m:sub>
                    </m:sSub>
                  </m:oMath>
                </a14:m>
                <a:r>
                  <a:rPr sz="1900" dirty="0"/>
                  <a:t> to color </a:t>
                </a:r>
                <a14:m>
                  <m:oMath xmlns:m="http://schemas.openxmlformats.org/officeDocument/2006/math">
                    <m:r>
                      <a:rPr sz="1900">
                        <a:latin typeface="Cambria Math" panose="02040503050406030204" pitchFamily="18" charset="0"/>
                      </a:rPr>
                      <m:t>𝐵</m:t>
                    </m:r>
                  </m:oMath>
                </a14:m>
                <a:r>
                  <a:rPr sz="1900" dirty="0"/>
                  <a:t>.</a:t>
                </a:r>
                <a:endParaRPr lang="en-US" sz="1900" dirty="0"/>
              </a:p>
              <a:p>
                <a:pPr marL="0" lvl="0" indent="0">
                  <a:spcAft>
                    <a:spcPts val="650"/>
                  </a:spcAft>
                  <a:buNone/>
                </a:pPr>
                <a:endParaRPr lang="en-US" sz="1900" dirty="0"/>
              </a:p>
              <a:p>
                <a:pPr marL="0" lvl="0" indent="0">
                  <a:spcAft>
                    <a:spcPts val="650"/>
                  </a:spcAft>
                  <a:buNone/>
                </a:pPr>
                <a:endParaRPr sz="1900" dirty="0"/>
              </a:p>
            </p:txBody>
          </p:sp>
        </mc:Choice>
        <mc:Fallback>
          <p:sp>
            <p:nvSpPr>
              <p:cNvPr id="3" name="Content Placeholder 2"/>
              <p:cNvSpPr>
                <a:spLocks noGrp="1" noRot="1" noChangeAspect="1" noMove="1" noResize="1" noEditPoints="1" noAdjustHandles="1" noChangeArrowheads="1" noChangeShapeType="1" noTextEdit="1"/>
              </p:cNvSpPr>
              <p:nvPr/>
            </p:nvSpPr>
            <p:spPr>
              <a:xfrm>
                <a:off x="365760" y="1051560"/>
                <a:ext cx="3545058" cy="5303520"/>
              </a:xfrm>
              <a:blipFill>
                <a:blip r:embed="rId3"/>
                <a:stretch>
                  <a:fillRect/>
                </a:stretch>
              </a:blipFill>
            </p:spPr>
            <p:txBody>
              <a:bodyPr/>
              <a:lstStyle/>
              <a:p>
                <a:r>
                  <a:rPr lang="en-US">
                    <a:noFill/>
                  </a:rPr>
                  <a:t> </a:t>
                </a:r>
              </a:p>
            </p:txBody>
          </p:sp>
        </mc:Fallback>
      </mc:AlternateContent>
      <p:pic>
        <p:nvPicPr>
          <p:cNvPr id="4" name="Picture 1" descr="editable_assets/diagram-12-1.png"/>
          <p:cNvPicPr>
            <a:picLocks noGrp="1" noChangeAspect="1"/>
          </p:cNvPicPr>
          <p:nvPr/>
        </p:nvPicPr>
        <p:blipFill>
          <a:blip r:embed="rId4"/>
          <a:srcRect l="12223" t="14110" r="12223" b="6258"/>
          <a:stretch>
            <a:fillRect/>
          </a:stretch>
        </p:blipFill>
        <p:spPr bwMode="auto">
          <a:xfrm>
            <a:off x="4526280" y="1280160"/>
            <a:ext cx="4247098" cy="3511296"/>
          </a:xfrm>
          <a:prstGeom prst="rect">
            <a:avLst/>
          </a:prstGeom>
          <a:noFill/>
          <a:ln w="9525">
            <a:noFill/>
            <a:headEnd/>
            <a:tailEnd/>
          </a:ln>
        </p:spPr>
      </p:pic>
      <p:sp>
        <p:nvSpPr>
          <p:cNvPr id="5" name="Content Placeholder 2"/>
          <p:cNvSpPr>
            <a:spLocks noGrp="1"/>
          </p:cNvSpPr>
          <p:nvPr/>
        </p:nvSpPr>
        <p:spPr>
          <a:xfrm>
            <a:off x="4572000" y="5230368"/>
            <a:ext cx="4206239" cy="411480"/>
          </a:xfrm>
        </p:spPr>
        <p:txBody>
          <a:bodyPr wrap="square" lIns="0" tIns="0" rIns="0" bIns="0" anchor="t">
            <a:noAutofit/>
          </a:bodyPr>
          <a:lstStyle>
            <a:lvl1pPr>
              <a:defRPr sz="1400">
                <a:latin typeface="Times New Roman"/>
              </a:defRPr>
            </a:lvl1pPr>
            <a:lvl2pPr>
              <a:defRPr sz="1400">
                <a:latin typeface="Times New Roman"/>
              </a:defRPr>
            </a:lvl2pPr>
            <a:lvl3pPr>
              <a:defRPr sz="1400">
                <a:latin typeface="Times New Roman"/>
              </a:defRPr>
            </a:lvl3pPr>
            <a:lvl4pPr>
              <a:defRPr sz="1400">
                <a:latin typeface="Times New Roman"/>
              </a:defRPr>
            </a:lvl4pPr>
            <a:lvl5pPr>
              <a:defRPr sz="1400">
                <a:latin typeface="Times New Roman"/>
              </a:defRPr>
            </a:lvl5pPr>
            <a:lvl6pPr>
              <a:defRPr sz="1400">
                <a:latin typeface="Times New Roman"/>
              </a:defRPr>
            </a:lvl6pPr>
            <a:lvl7pPr>
              <a:defRPr sz="1400">
                <a:latin typeface="Times New Roman"/>
              </a:defRPr>
            </a:lvl7pPr>
            <a:lvl8pPr>
              <a:defRPr sz="1400">
                <a:latin typeface="Times New Roman"/>
              </a:defRPr>
            </a:lvl8pPr>
            <a:lvl9pPr>
              <a:defRPr sz="1400">
                <a:latin typeface="Times New Roman"/>
              </a:defRPr>
            </a:lvl9pPr>
          </a:lstStyle>
          <a:p>
            <a:pPr marL="0" lvl="0" indent="0" algn="ctr">
              <a:spcAft>
                <a:spcPts val="400"/>
              </a:spcAft>
              <a:buNone/>
            </a:pPr>
            <a:r>
              <a:rPr sz="1400" dirty="0">
                <a:latin typeface="Times New Roman"/>
              </a:rPr>
              <a:t>Full clause gadget plus palette.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443D8-5800-1C3A-49ED-FACB730594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2A75D2-0560-F749-CEBA-0AFB9BF5B944}"/>
              </a:ext>
            </a:extLst>
          </p:cNvPr>
          <p:cNvSpPr>
            <a:spLocks noGrp="1"/>
          </p:cNvSpPr>
          <p:nvPr/>
        </p:nvSpPr>
        <p:spPr>
          <a:xfrm>
            <a:off x="228600" y="128016"/>
            <a:ext cx="8686800" cy="713232"/>
          </a:xfrm>
        </p:spPr>
        <p:txBody>
          <a:bodyPr wrap="square" lIns="0" tIns="0" rIns="0" bIns="0" anchor="t">
            <a:noAutofit/>
          </a:bodyPr>
          <a:lstStyle>
            <a:lvl1pPr>
              <a:defRPr sz="2350" b="1">
                <a:solidFill>
                  <a:srgbClr val="3333B2"/>
                </a:solidFill>
                <a:latin typeface="Times New Roman"/>
              </a:defRPr>
            </a:lvl1pPr>
            <a:lvl2pPr>
              <a:defRPr sz="2350" b="1">
                <a:solidFill>
                  <a:srgbClr val="3333B2"/>
                </a:solidFill>
                <a:latin typeface="Times New Roman"/>
              </a:defRPr>
            </a:lvl2pPr>
            <a:lvl3pPr>
              <a:defRPr sz="2350" b="1">
                <a:solidFill>
                  <a:srgbClr val="3333B2"/>
                </a:solidFill>
                <a:latin typeface="Times New Roman"/>
              </a:defRPr>
            </a:lvl3pPr>
            <a:lvl4pPr>
              <a:defRPr sz="2350" b="1">
                <a:solidFill>
                  <a:srgbClr val="3333B2"/>
                </a:solidFill>
                <a:latin typeface="Times New Roman"/>
              </a:defRPr>
            </a:lvl4pPr>
            <a:lvl5pPr>
              <a:defRPr sz="2350" b="1">
                <a:solidFill>
                  <a:srgbClr val="3333B2"/>
                </a:solidFill>
                <a:latin typeface="Times New Roman"/>
              </a:defRPr>
            </a:lvl5pPr>
            <a:lvl6pPr>
              <a:defRPr sz="2350" b="1">
                <a:solidFill>
                  <a:srgbClr val="3333B2"/>
                </a:solidFill>
                <a:latin typeface="Times New Roman"/>
              </a:defRPr>
            </a:lvl6pPr>
            <a:lvl7pPr>
              <a:defRPr sz="2350" b="1">
                <a:solidFill>
                  <a:srgbClr val="3333B2"/>
                </a:solidFill>
                <a:latin typeface="Times New Roman"/>
              </a:defRPr>
            </a:lvl7pPr>
            <a:lvl8pPr>
              <a:defRPr sz="2350" b="1">
                <a:solidFill>
                  <a:srgbClr val="3333B2"/>
                </a:solidFill>
                <a:latin typeface="Times New Roman"/>
              </a:defRPr>
            </a:lvl8pPr>
            <a:lvl9pPr>
              <a:defRPr sz="2350" b="1">
                <a:solidFill>
                  <a:srgbClr val="3333B2"/>
                </a:solidFill>
                <a:latin typeface="Times New Roman"/>
              </a:defRPr>
            </a:lvl9pPr>
          </a:lstStyle>
          <a:p>
            <a:pPr marL="0" lvl="0" indent="0">
              <a:spcAft>
                <a:spcPts val="650"/>
              </a:spcAft>
              <a:buNone/>
            </a:pPr>
            <a:r>
              <a:rPr sz="2350" b="1">
                <a:solidFill>
                  <a:srgbClr val="3333B2"/>
                </a:solidFill>
                <a:latin typeface="Times New Roman"/>
              </a:rPr>
              <a:t>Why the Clause Gadget Encodes OR: Impossible Case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D801E99-DDDE-998F-ABC7-39AF781AB909}"/>
                  </a:ext>
                </a:extLst>
              </p:cNvPr>
              <p:cNvSpPr>
                <a:spLocks noGrp="1"/>
              </p:cNvSpPr>
              <p:nvPr/>
            </p:nvSpPr>
            <p:spPr>
              <a:xfrm>
                <a:off x="365760" y="1051560"/>
                <a:ext cx="3545058" cy="5303520"/>
              </a:xfrm>
            </p:spPr>
            <p:txBody>
              <a:bodyPr wrap="square" lIns="0" tIns="0" rIns="0" bIns="0" anchor="t">
                <a:noAutofit/>
              </a:bodyPr>
              <a:lstStyle>
                <a:lvl1pPr>
                  <a:defRPr sz="1800">
                    <a:latin typeface="Times New Roman"/>
                  </a:defRPr>
                </a:lvl1pPr>
                <a:lvl2pPr>
                  <a:defRPr sz="1800">
                    <a:latin typeface="Times New Roman"/>
                  </a:defRPr>
                </a:lvl2pPr>
                <a:lvl3pPr>
                  <a:defRPr sz="1800">
                    <a:latin typeface="Times New Roman"/>
                  </a:defRPr>
                </a:lvl3pPr>
                <a:lvl4pPr>
                  <a:defRPr sz="1800">
                    <a:latin typeface="Times New Roman"/>
                  </a:defRPr>
                </a:lvl4pPr>
                <a:lvl5pPr>
                  <a:defRPr sz="1800">
                    <a:latin typeface="Times New Roman"/>
                  </a:defRPr>
                </a:lvl5pPr>
                <a:lvl6pPr>
                  <a:defRPr sz="1800">
                    <a:latin typeface="Times New Roman"/>
                  </a:defRPr>
                </a:lvl6pPr>
                <a:lvl7pPr>
                  <a:defRPr sz="1800">
                    <a:latin typeface="Times New Roman"/>
                  </a:defRPr>
                </a:lvl7pPr>
                <a:lvl8pPr>
                  <a:defRPr sz="1800">
                    <a:latin typeface="Times New Roman"/>
                  </a:defRPr>
                </a:lvl8pPr>
                <a:lvl9pPr>
                  <a:defRPr sz="1800">
                    <a:latin typeface="Times New Roman"/>
                  </a:defRPr>
                </a:lvl9pPr>
              </a:lstStyle>
              <a:p>
                <a:pPr lvl="0">
                  <a:spcAft>
                    <a:spcPts val="650"/>
                  </a:spcAft>
                </a:pPr>
                <a:r>
                  <a:rPr lang="en-US" sz="1900" b="1" dirty="0"/>
                  <a:t>All inputs are </a:t>
                </a:r>
                <a14:m>
                  <m:oMath xmlns:m="http://schemas.openxmlformats.org/officeDocument/2006/math">
                    <m:r>
                      <a:rPr lang="en-US" sz="1900">
                        <a:latin typeface="Cambria Math" panose="02040503050406030204" pitchFamily="18" charset="0"/>
                      </a:rPr>
                      <m:t>𝐹</m:t>
                    </m:r>
                  </m:oMath>
                </a14:m>
                <a:endParaRPr lang="en-US" sz="1900" b="1" dirty="0"/>
              </a:p>
              <a:p>
                <a:pPr lvl="0">
                  <a:spcAft>
                    <a:spcPts val="650"/>
                  </a:spcAft>
                </a:pPr>
                <a:r>
                  <a:rPr lang="en-US" sz="1900" dirty="0"/>
                  <a:t>If every </a:t>
                </a:r>
                <a14:m>
                  <m:oMath xmlns:m="http://schemas.openxmlformats.org/officeDocument/2006/math">
                    <m:sSub>
                      <m:sSubPr>
                        <m:ctrlPr>
                          <a:rPr lang="ar-AE" sz="1900">
                            <a:latin typeface="Cambria Math" panose="02040503050406030204" pitchFamily="18" charset="0"/>
                          </a:rPr>
                        </m:ctrlPr>
                      </m:sSubPr>
                      <m:e>
                        <m:r>
                          <m:rPr>
                            <m:sty m:val="p"/>
                          </m:rPr>
                          <a:rPr lang="ar-AE" sz="1900">
                            <a:latin typeface="Cambria Math" panose="02040503050406030204" pitchFamily="18" charset="0"/>
                          </a:rPr>
                          <m:t>ℓ</m:t>
                        </m:r>
                      </m:e>
                      <m:sub>
                        <m:r>
                          <a:rPr lang="ar-AE" sz="1900">
                            <a:latin typeface="Cambria Math" panose="02040503050406030204" pitchFamily="18" charset="0"/>
                          </a:rPr>
                          <m:t>𝑖</m:t>
                        </m:r>
                      </m:sub>
                    </m:sSub>
                    <m:r>
                      <a:rPr lang="ar-AE" sz="1900">
                        <a:latin typeface="Cambria Math" panose="02040503050406030204" pitchFamily="18" charset="0"/>
                      </a:rPr>
                      <m:t>=</m:t>
                    </m:r>
                    <m:r>
                      <a:rPr lang="ar-AE" sz="1900">
                        <a:latin typeface="Cambria Math" panose="02040503050406030204" pitchFamily="18" charset="0"/>
                      </a:rPr>
                      <m:t>𝐹</m:t>
                    </m:r>
                  </m:oMath>
                </a14:m>
                <a:r>
                  <a:rPr lang="ar-AE" sz="1900" dirty="0"/>
                  <a:t>, </a:t>
                </a:r>
                <a:r>
                  <a:rPr lang="en-US" sz="1900" dirty="0"/>
                  <a:t>the edges </a:t>
                </a:r>
                <a14:m>
                  <m:oMath xmlns:m="http://schemas.openxmlformats.org/officeDocument/2006/math">
                    <m:r>
                      <a:rPr lang="en-US" sz="1900">
                        <a:latin typeface="Cambria Math" panose="02040503050406030204" pitchFamily="18" charset="0"/>
                      </a:rPr>
                      <m:t>(</m:t>
                    </m:r>
                    <m:sSub>
                      <m:sSubPr>
                        <m:ctrlPr>
                          <a:rPr lang="ar-AE" sz="1900">
                            <a:latin typeface="Cambria Math" panose="02040503050406030204" pitchFamily="18" charset="0"/>
                          </a:rPr>
                        </m:ctrlPr>
                      </m:sSubPr>
                      <m:e>
                        <m:r>
                          <m:rPr>
                            <m:sty m:val="p"/>
                          </m:rPr>
                          <a:rPr lang="ar-AE" sz="1900">
                            <a:latin typeface="Cambria Math" panose="02040503050406030204" pitchFamily="18" charset="0"/>
                          </a:rPr>
                          <m:t>ℓ</m:t>
                        </m:r>
                      </m:e>
                      <m:sub>
                        <m:r>
                          <a:rPr lang="ar-AE" sz="1900">
                            <a:latin typeface="Cambria Math" panose="02040503050406030204" pitchFamily="18" charset="0"/>
                          </a:rPr>
                          <m:t>𝑖</m:t>
                        </m:r>
                      </m:sub>
                    </m:sSub>
                    <m:r>
                      <a:rPr lang="ar-AE" sz="1900">
                        <a:latin typeface="Cambria Math" panose="02040503050406030204" pitchFamily="18" charset="0"/>
                      </a:rPr>
                      <m:t>,</m:t>
                    </m:r>
                    <m:sSub>
                      <m:sSubPr>
                        <m:ctrlPr>
                          <a:rPr lang="ar-AE" sz="1900">
                            <a:latin typeface="Cambria Math" panose="02040503050406030204" pitchFamily="18" charset="0"/>
                          </a:rPr>
                        </m:ctrlPr>
                      </m:sSubPr>
                      <m:e>
                        <m:r>
                          <a:rPr lang="ar-AE" sz="1900">
                            <a:latin typeface="Cambria Math" panose="02040503050406030204" pitchFamily="18" charset="0"/>
                          </a:rPr>
                          <m:t>𝑎</m:t>
                        </m:r>
                      </m:e>
                      <m:sub>
                        <m:r>
                          <a:rPr lang="ar-AE" sz="1900">
                            <a:latin typeface="Cambria Math" panose="02040503050406030204" pitchFamily="18" charset="0"/>
                          </a:rPr>
                          <m:t>𝑖</m:t>
                        </m:r>
                      </m:sub>
                    </m:sSub>
                    <m:r>
                      <a:rPr lang="ar-AE" sz="1900">
                        <a:latin typeface="Cambria Math" panose="02040503050406030204" pitchFamily="18" charset="0"/>
                      </a:rPr>
                      <m:t>)</m:t>
                    </m:r>
                  </m:oMath>
                </a14:m>
                <a:r>
                  <a:rPr lang="ar-AE" sz="1900" dirty="0"/>
                  <a:t> </a:t>
                </a:r>
                <a:r>
                  <a:rPr lang="en-US" sz="1900" dirty="0"/>
                  <a:t>and </a:t>
                </a:r>
                <a14:m>
                  <m:oMath xmlns:m="http://schemas.openxmlformats.org/officeDocument/2006/math">
                    <m:r>
                      <a:rPr lang="en-US" sz="1900">
                        <a:latin typeface="Cambria Math" panose="02040503050406030204" pitchFamily="18" charset="0"/>
                      </a:rPr>
                      <m:t>(</m:t>
                    </m:r>
                    <m:r>
                      <a:rPr lang="en-US" sz="1900">
                        <a:latin typeface="Cambria Math" panose="02040503050406030204" pitchFamily="18" charset="0"/>
                      </a:rPr>
                      <m:t>𝑇</m:t>
                    </m:r>
                    <m:r>
                      <a:rPr lang="en-US" sz="1900">
                        <a:latin typeface="Cambria Math" panose="02040503050406030204" pitchFamily="18" charset="0"/>
                      </a:rPr>
                      <m:t>,</m:t>
                    </m:r>
                    <m:sSub>
                      <m:sSubPr>
                        <m:ctrlPr>
                          <a:rPr lang="ar-AE" sz="1900">
                            <a:latin typeface="Cambria Math" panose="02040503050406030204" pitchFamily="18" charset="0"/>
                          </a:rPr>
                        </m:ctrlPr>
                      </m:sSubPr>
                      <m:e>
                        <m:r>
                          <a:rPr lang="ar-AE" sz="1900">
                            <a:latin typeface="Cambria Math" panose="02040503050406030204" pitchFamily="18" charset="0"/>
                          </a:rPr>
                          <m:t>𝑎</m:t>
                        </m:r>
                      </m:e>
                      <m:sub>
                        <m:r>
                          <a:rPr lang="ar-AE" sz="1900">
                            <a:latin typeface="Cambria Math" panose="02040503050406030204" pitchFamily="18" charset="0"/>
                          </a:rPr>
                          <m:t>𝑖</m:t>
                        </m:r>
                      </m:sub>
                    </m:sSub>
                    <m:r>
                      <a:rPr lang="ar-AE" sz="1900">
                        <a:latin typeface="Cambria Math" panose="02040503050406030204" pitchFamily="18" charset="0"/>
                      </a:rPr>
                      <m:t>)</m:t>
                    </m:r>
                  </m:oMath>
                </a14:m>
                <a:r>
                  <a:rPr lang="ar-AE" sz="1900" dirty="0"/>
                  <a:t> </a:t>
                </a:r>
                <a:r>
                  <a:rPr lang="en-US" sz="1900" dirty="0"/>
                  <a:t>force every </a:t>
                </a:r>
                <a14:m>
                  <m:oMath xmlns:m="http://schemas.openxmlformats.org/officeDocument/2006/math">
                    <m:sSub>
                      <m:sSubPr>
                        <m:ctrlPr>
                          <a:rPr lang="ar-AE" sz="1900">
                            <a:latin typeface="Cambria Math" panose="02040503050406030204" pitchFamily="18" charset="0"/>
                          </a:rPr>
                        </m:ctrlPr>
                      </m:sSubPr>
                      <m:e>
                        <m:r>
                          <a:rPr lang="ar-AE" sz="1900">
                            <a:latin typeface="Cambria Math" panose="02040503050406030204" pitchFamily="18" charset="0"/>
                          </a:rPr>
                          <m:t>𝑎</m:t>
                        </m:r>
                      </m:e>
                      <m:sub>
                        <m:r>
                          <a:rPr lang="ar-AE" sz="1900">
                            <a:latin typeface="Cambria Math" panose="02040503050406030204" pitchFamily="18" charset="0"/>
                          </a:rPr>
                          <m:t>𝑖</m:t>
                        </m:r>
                      </m:sub>
                    </m:sSub>
                  </m:oMath>
                </a14:m>
                <a:r>
                  <a:rPr lang="ar-AE" sz="1900" dirty="0"/>
                  <a:t> </a:t>
                </a:r>
                <a:r>
                  <a:rPr lang="en-US" sz="1900" dirty="0"/>
                  <a:t>to color </a:t>
                </a:r>
                <a14:m>
                  <m:oMath xmlns:m="http://schemas.openxmlformats.org/officeDocument/2006/math">
                    <m:r>
                      <a:rPr lang="en-US" sz="1900">
                        <a:latin typeface="Cambria Math" panose="02040503050406030204" pitchFamily="18" charset="0"/>
                      </a:rPr>
                      <m:t>𝐵</m:t>
                    </m:r>
                  </m:oMath>
                </a14:m>
                <a:r>
                  <a:rPr lang="en-US" sz="1900" dirty="0"/>
                  <a:t>.</a:t>
                </a:r>
              </a:p>
              <a:p>
                <a:pPr lvl="0">
                  <a:spcAft>
                    <a:spcPts val="650"/>
                  </a:spcAft>
                </a:pPr>
                <a:endParaRPr lang="en-US" sz="1900" dirty="0"/>
              </a:p>
              <a:p>
                <a:pPr lvl="0">
                  <a:spcAft>
                    <a:spcPts val="650"/>
                  </a:spcAft>
                </a:pPr>
                <a:r>
                  <a:rPr lang="en-US" sz="1900" b="1" dirty="0"/>
                  <a:t>Then the path breaks</a:t>
                </a:r>
              </a:p>
              <a:p>
                <a:pPr lvl="0">
                  <a:spcAft>
                    <a:spcPts val="650"/>
                  </a:spcAft>
                </a:pPr>
                <a:r>
                  <a:rPr lang="en-US" sz="1900" dirty="0"/>
                  <a:t>Each </a:t>
                </a:r>
                <a14:m>
                  <m:oMath xmlns:m="http://schemas.openxmlformats.org/officeDocument/2006/math">
                    <m:sSub>
                      <m:sSubPr>
                        <m:ctrlPr>
                          <a:rPr lang="ar-AE" sz="1900">
                            <a:latin typeface="Cambria Math" panose="02040503050406030204" pitchFamily="18" charset="0"/>
                          </a:rPr>
                        </m:ctrlPr>
                      </m:sSubPr>
                      <m:e>
                        <m:r>
                          <a:rPr lang="ar-AE" sz="1900">
                            <a:latin typeface="Cambria Math" panose="02040503050406030204" pitchFamily="18" charset="0"/>
                          </a:rPr>
                          <m:t>𝑏</m:t>
                        </m:r>
                      </m:e>
                      <m:sub>
                        <m:r>
                          <a:rPr lang="ar-AE" sz="1900">
                            <a:latin typeface="Cambria Math" panose="02040503050406030204" pitchFamily="18" charset="0"/>
                          </a:rPr>
                          <m:t>𝑖</m:t>
                        </m:r>
                      </m:sub>
                    </m:sSub>
                  </m:oMath>
                </a14:m>
                <a:r>
                  <a:rPr lang="ar-AE" sz="1900" dirty="0"/>
                  <a:t> </a:t>
                </a:r>
                <a:r>
                  <a:rPr lang="en-US" sz="1900" dirty="0"/>
                  <a:t>can use only </a:t>
                </a:r>
                <a14:m>
                  <m:oMath xmlns:m="http://schemas.openxmlformats.org/officeDocument/2006/math">
                    <m:r>
                      <a:rPr lang="en-US" sz="1900">
                        <a:latin typeface="Cambria Math" panose="02040503050406030204" pitchFamily="18" charset="0"/>
                      </a:rPr>
                      <m:t>𝑇</m:t>
                    </m:r>
                  </m:oMath>
                </a14:m>
                <a:r>
                  <a:rPr lang="en-US" sz="1900" dirty="0"/>
                  <a:t> or </a:t>
                </a:r>
                <a14:m>
                  <m:oMath xmlns:m="http://schemas.openxmlformats.org/officeDocument/2006/math">
                    <m:r>
                      <a:rPr lang="en-US" sz="1900">
                        <a:latin typeface="Cambria Math" panose="02040503050406030204" pitchFamily="18" charset="0"/>
                      </a:rPr>
                      <m:t>𝐹</m:t>
                    </m:r>
                  </m:oMath>
                </a14:m>
                <a:r>
                  <a:rPr lang="en-US" sz="1900" dirty="0"/>
                  <a:t>. Along</a:t>
                </a:r>
              </a:p>
              <a:p>
                <a:pPr lvl="0">
                  <a:spcAft>
                    <a:spcPts val="650"/>
                  </a:spcAft>
                </a:pPr>
                <a14:m>
                  <m:oMathPara xmlns:m="http://schemas.openxmlformats.org/officeDocument/2006/math">
                    <m:oMathParaPr>
                      <m:jc m:val="center"/>
                    </m:oMathParaPr>
                    <m:oMath>
                      <m:r>
                        <a:rPr lang="en-US" sz="1900">
                          <a:latin typeface="Cambria Math" panose="02040503050406030204" pitchFamily="18" charset="0"/>
                        </a:rPr>
                        <m:t>𝑇</m:t>
                      </m:r>
                      <m:r>
                        <a:rPr lang="en-US" sz="1900">
                          <a:latin typeface="Cambria Math" panose="02040503050406030204" pitchFamily="18" charset="0"/>
                        </a:rPr>
                        <m:t>−</m:t>
                      </m:r>
                      <m:sSub>
                        <m:sSubPr>
                          <m:ctrlPr>
                            <a:rPr lang="ar-AE" sz="1900">
                              <a:latin typeface="Cambria Math" panose="02040503050406030204" pitchFamily="18" charset="0"/>
                            </a:rPr>
                          </m:ctrlPr>
                        </m:sSubPr>
                        <m:e>
                          <m:r>
                            <a:rPr lang="ar-AE" sz="1900">
                              <a:latin typeface="Cambria Math" panose="02040503050406030204" pitchFamily="18" charset="0"/>
                            </a:rPr>
                            <m:t>𝑏</m:t>
                          </m:r>
                        </m:e>
                        <m:sub>
                          <m:r>
                            <a:rPr lang="ar-AE" sz="1900">
                              <a:latin typeface="Cambria Math" panose="02040503050406030204" pitchFamily="18" charset="0"/>
                            </a:rPr>
                            <m:t>1</m:t>
                          </m:r>
                        </m:sub>
                      </m:sSub>
                      <m:r>
                        <a:rPr lang="ar-AE" sz="1900">
                          <a:latin typeface="Cambria Math" panose="02040503050406030204" pitchFamily="18" charset="0"/>
                        </a:rPr>
                        <m:t>−</m:t>
                      </m:r>
                      <m:sSub>
                        <m:sSubPr>
                          <m:ctrlPr>
                            <a:rPr lang="ar-AE" sz="1900">
                              <a:latin typeface="Cambria Math" panose="02040503050406030204" pitchFamily="18" charset="0"/>
                            </a:rPr>
                          </m:ctrlPr>
                        </m:sSubPr>
                        <m:e>
                          <m:r>
                            <a:rPr lang="ar-AE" sz="1900">
                              <a:latin typeface="Cambria Math" panose="02040503050406030204" pitchFamily="18" charset="0"/>
                            </a:rPr>
                            <m:t>𝑏</m:t>
                          </m:r>
                        </m:e>
                        <m:sub>
                          <m:r>
                            <a:rPr lang="ar-AE" sz="1900">
                              <a:latin typeface="Cambria Math" panose="02040503050406030204" pitchFamily="18" charset="0"/>
                            </a:rPr>
                            <m:t>2</m:t>
                          </m:r>
                        </m:sub>
                      </m:sSub>
                      <m:r>
                        <a:rPr lang="ar-AE" sz="1900">
                          <a:latin typeface="Cambria Math" panose="02040503050406030204" pitchFamily="18" charset="0"/>
                        </a:rPr>
                        <m:t>−</m:t>
                      </m:r>
                      <m:sSub>
                        <m:sSubPr>
                          <m:ctrlPr>
                            <a:rPr lang="ar-AE" sz="1900">
                              <a:latin typeface="Cambria Math" panose="02040503050406030204" pitchFamily="18" charset="0"/>
                            </a:rPr>
                          </m:ctrlPr>
                        </m:sSubPr>
                        <m:e>
                          <m:r>
                            <a:rPr lang="ar-AE" sz="1900">
                              <a:latin typeface="Cambria Math" panose="02040503050406030204" pitchFamily="18" charset="0"/>
                            </a:rPr>
                            <m:t>𝑏</m:t>
                          </m:r>
                        </m:e>
                        <m:sub>
                          <m:r>
                            <a:rPr lang="ar-AE" sz="1900">
                              <a:latin typeface="Cambria Math" panose="02040503050406030204" pitchFamily="18" charset="0"/>
                            </a:rPr>
                            <m:t>3</m:t>
                          </m:r>
                        </m:sub>
                      </m:sSub>
                      <m:r>
                        <a:rPr lang="ar-AE" sz="1900">
                          <a:latin typeface="Cambria Math" panose="02040503050406030204" pitchFamily="18" charset="0"/>
                        </a:rPr>
                        <m:t>−</m:t>
                      </m:r>
                      <m:r>
                        <a:rPr lang="ar-AE" sz="1900">
                          <a:latin typeface="Cambria Math" panose="02040503050406030204" pitchFamily="18" charset="0"/>
                        </a:rPr>
                        <m:t>𝐹</m:t>
                      </m:r>
                      <m:r>
                        <a:rPr lang="ar-AE" sz="1900">
                          <a:latin typeface="Cambria Math" panose="02040503050406030204" pitchFamily="18" charset="0"/>
                        </a:rPr>
                        <m:t>,</m:t>
                      </m:r>
                    </m:oMath>
                  </m:oMathPara>
                </a14:m>
                <a:endParaRPr lang="ar-AE" sz="1900" dirty="0"/>
              </a:p>
              <a:p>
                <a:pPr lvl="0">
                  <a:spcAft>
                    <a:spcPts val="650"/>
                  </a:spcAft>
                </a:pPr>
                <a:r>
                  <a:rPr lang="en-US" sz="1900" dirty="0"/>
                  <a:t>the colors must alternate </a:t>
                </a:r>
                <a14:m>
                  <m:oMath xmlns:m="http://schemas.openxmlformats.org/officeDocument/2006/math">
                    <m:r>
                      <a:rPr lang="en-US" sz="1900">
                        <a:latin typeface="Cambria Math" panose="02040503050406030204" pitchFamily="18" charset="0"/>
                      </a:rPr>
                      <m:t>𝐹</m:t>
                    </m:r>
                    <m:r>
                      <a:rPr lang="en-US" sz="1900">
                        <a:latin typeface="Cambria Math" panose="02040503050406030204" pitchFamily="18" charset="0"/>
                      </a:rPr>
                      <m:t>,</m:t>
                    </m:r>
                    <m:r>
                      <a:rPr lang="en-US" sz="1900">
                        <a:latin typeface="Cambria Math" panose="02040503050406030204" pitchFamily="18" charset="0"/>
                      </a:rPr>
                      <m:t>𝑇</m:t>
                    </m:r>
                    <m:r>
                      <a:rPr lang="en-US" sz="1900">
                        <a:latin typeface="Cambria Math" panose="02040503050406030204" pitchFamily="18" charset="0"/>
                      </a:rPr>
                      <m:t>,</m:t>
                    </m:r>
                    <m:r>
                      <a:rPr lang="en-US" sz="1900">
                        <a:latin typeface="Cambria Math" panose="02040503050406030204" pitchFamily="18" charset="0"/>
                      </a:rPr>
                      <m:t>𝐹</m:t>
                    </m:r>
                  </m:oMath>
                </a14:m>
                <a:r>
                  <a:rPr lang="en-US" sz="1900" dirty="0"/>
                  <a:t>. The final edge joins two </a:t>
                </a:r>
                <a14:m>
                  <m:oMath xmlns:m="http://schemas.openxmlformats.org/officeDocument/2006/math">
                    <m:r>
                      <a:rPr lang="en-US" sz="1900">
                        <a:latin typeface="Cambria Math" panose="02040503050406030204" pitchFamily="18" charset="0"/>
                      </a:rPr>
                      <m:t>𝐹</m:t>
                    </m:r>
                  </m:oMath>
                </a14:m>
                <a:r>
                  <a:rPr lang="en-US" sz="1900" dirty="0"/>
                  <a:t> vertices. That is illegal.</a:t>
                </a:r>
              </a:p>
            </p:txBody>
          </p:sp>
        </mc:Choice>
        <mc:Fallback>
          <p:sp>
            <p:nvSpPr>
              <p:cNvPr id="3" name="Content Placeholder 2">
                <a:extLst>
                  <a:ext uri="{FF2B5EF4-FFF2-40B4-BE49-F238E27FC236}">
                    <a16:creationId xmlns:a16="http://schemas.microsoft.com/office/drawing/2014/main" id="{0D801E99-DDDE-998F-ABC7-39AF781AB909}"/>
                  </a:ext>
                </a:extLst>
              </p:cNvPr>
              <p:cNvSpPr>
                <a:spLocks noGrp="1" noRot="1" noChangeAspect="1" noMove="1" noResize="1" noEditPoints="1" noAdjustHandles="1" noChangeArrowheads="1" noChangeShapeType="1" noTextEdit="1"/>
              </p:cNvSpPr>
              <p:nvPr/>
            </p:nvSpPr>
            <p:spPr>
              <a:xfrm>
                <a:off x="365760" y="1051560"/>
                <a:ext cx="3545058" cy="5303520"/>
              </a:xfrm>
              <a:blipFill>
                <a:blip r:embed="rId3"/>
                <a:stretch>
                  <a:fillRect/>
                </a:stretch>
              </a:blipFill>
            </p:spPr>
            <p:txBody>
              <a:bodyPr/>
              <a:lstStyle/>
              <a:p>
                <a:r>
                  <a:rPr lang="en-US">
                    <a:noFill/>
                  </a:rPr>
                  <a:t> </a:t>
                </a:r>
              </a:p>
            </p:txBody>
          </p:sp>
        </mc:Fallback>
      </mc:AlternateContent>
      <p:pic>
        <p:nvPicPr>
          <p:cNvPr id="4" name="Picture 1" descr="editable_assets/diagram-12-1.png">
            <a:extLst>
              <a:ext uri="{FF2B5EF4-FFF2-40B4-BE49-F238E27FC236}">
                <a16:creationId xmlns:a16="http://schemas.microsoft.com/office/drawing/2014/main" id="{667028E9-7CC0-70F6-C1FD-34AE81E5E734}"/>
              </a:ext>
            </a:extLst>
          </p:cNvPr>
          <p:cNvPicPr>
            <a:picLocks noGrp="1" noChangeAspect="1"/>
          </p:cNvPicPr>
          <p:nvPr/>
        </p:nvPicPr>
        <p:blipFill>
          <a:blip r:embed="rId4"/>
          <a:srcRect l="12223" t="14110" r="12223" b="6258"/>
          <a:stretch>
            <a:fillRect/>
          </a:stretch>
        </p:blipFill>
        <p:spPr bwMode="auto">
          <a:xfrm>
            <a:off x="4526280" y="1280160"/>
            <a:ext cx="4247098" cy="3511296"/>
          </a:xfrm>
          <a:prstGeom prst="rect">
            <a:avLst/>
          </a:prstGeom>
          <a:noFill/>
          <a:ln w="9525">
            <a:noFill/>
            <a:headEnd/>
            <a:tailEnd/>
          </a:ln>
        </p:spPr>
      </p:pic>
      <p:sp>
        <p:nvSpPr>
          <p:cNvPr id="5" name="Content Placeholder 2">
            <a:extLst>
              <a:ext uri="{FF2B5EF4-FFF2-40B4-BE49-F238E27FC236}">
                <a16:creationId xmlns:a16="http://schemas.microsoft.com/office/drawing/2014/main" id="{D4BC6D95-85A4-7F6B-43C8-EC07C6F5BCAF}"/>
              </a:ext>
            </a:extLst>
          </p:cNvPr>
          <p:cNvSpPr>
            <a:spLocks noGrp="1"/>
          </p:cNvSpPr>
          <p:nvPr/>
        </p:nvSpPr>
        <p:spPr>
          <a:xfrm>
            <a:off x="4572000" y="5230368"/>
            <a:ext cx="4206239" cy="411480"/>
          </a:xfrm>
        </p:spPr>
        <p:txBody>
          <a:bodyPr wrap="square" lIns="0" tIns="0" rIns="0" bIns="0" anchor="t">
            <a:noAutofit/>
          </a:bodyPr>
          <a:lstStyle>
            <a:lvl1pPr>
              <a:defRPr sz="1400">
                <a:latin typeface="Times New Roman"/>
              </a:defRPr>
            </a:lvl1pPr>
            <a:lvl2pPr>
              <a:defRPr sz="1400">
                <a:latin typeface="Times New Roman"/>
              </a:defRPr>
            </a:lvl2pPr>
            <a:lvl3pPr>
              <a:defRPr sz="1400">
                <a:latin typeface="Times New Roman"/>
              </a:defRPr>
            </a:lvl3pPr>
            <a:lvl4pPr>
              <a:defRPr sz="1400">
                <a:latin typeface="Times New Roman"/>
              </a:defRPr>
            </a:lvl4pPr>
            <a:lvl5pPr>
              <a:defRPr sz="1400">
                <a:latin typeface="Times New Roman"/>
              </a:defRPr>
            </a:lvl5pPr>
            <a:lvl6pPr>
              <a:defRPr sz="1400">
                <a:latin typeface="Times New Roman"/>
              </a:defRPr>
            </a:lvl6pPr>
            <a:lvl7pPr>
              <a:defRPr sz="1400">
                <a:latin typeface="Times New Roman"/>
              </a:defRPr>
            </a:lvl7pPr>
            <a:lvl8pPr>
              <a:defRPr sz="1400">
                <a:latin typeface="Times New Roman"/>
              </a:defRPr>
            </a:lvl8pPr>
            <a:lvl9pPr>
              <a:defRPr sz="1400">
                <a:latin typeface="Times New Roman"/>
              </a:defRPr>
            </a:lvl9pPr>
          </a:lstStyle>
          <a:p>
            <a:pPr marL="0" lvl="0" indent="0" algn="ctr">
              <a:spcAft>
                <a:spcPts val="400"/>
              </a:spcAft>
              <a:buNone/>
            </a:pPr>
            <a:r>
              <a:rPr sz="1400" dirty="0">
                <a:latin typeface="Times New Roman"/>
              </a:rPr>
              <a:t>Full clause gadget plus palette.</a:t>
            </a:r>
          </a:p>
        </p:txBody>
      </p:sp>
    </p:spTree>
    <p:extLst>
      <p:ext uri="{BB962C8B-B14F-4D97-AF65-F5344CB8AC3E}">
        <p14:creationId xmlns:p14="http://schemas.microsoft.com/office/powerpoint/2010/main" val="541380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228600" y="128016"/>
            <a:ext cx="8686800" cy="713232"/>
          </a:xfrm>
        </p:spPr>
        <p:txBody>
          <a:bodyPr wrap="square" lIns="0" tIns="0" rIns="0" bIns="0" anchor="t">
            <a:noAutofit/>
          </a:bodyPr>
          <a:lstStyle>
            <a:lvl1pPr>
              <a:defRPr sz="2350" b="1">
                <a:solidFill>
                  <a:srgbClr val="3333B2"/>
                </a:solidFill>
                <a:latin typeface="Times New Roman"/>
              </a:defRPr>
            </a:lvl1pPr>
            <a:lvl2pPr>
              <a:defRPr sz="2350" b="1">
                <a:solidFill>
                  <a:srgbClr val="3333B2"/>
                </a:solidFill>
                <a:latin typeface="Times New Roman"/>
              </a:defRPr>
            </a:lvl2pPr>
            <a:lvl3pPr>
              <a:defRPr sz="2350" b="1">
                <a:solidFill>
                  <a:srgbClr val="3333B2"/>
                </a:solidFill>
                <a:latin typeface="Times New Roman"/>
              </a:defRPr>
            </a:lvl3pPr>
            <a:lvl4pPr>
              <a:defRPr sz="2350" b="1">
                <a:solidFill>
                  <a:srgbClr val="3333B2"/>
                </a:solidFill>
                <a:latin typeface="Times New Roman"/>
              </a:defRPr>
            </a:lvl4pPr>
            <a:lvl5pPr>
              <a:defRPr sz="2350" b="1">
                <a:solidFill>
                  <a:srgbClr val="3333B2"/>
                </a:solidFill>
                <a:latin typeface="Times New Roman"/>
              </a:defRPr>
            </a:lvl5pPr>
            <a:lvl6pPr>
              <a:defRPr sz="2350" b="1">
                <a:solidFill>
                  <a:srgbClr val="3333B2"/>
                </a:solidFill>
                <a:latin typeface="Times New Roman"/>
              </a:defRPr>
            </a:lvl6pPr>
            <a:lvl7pPr>
              <a:defRPr sz="2350" b="1">
                <a:solidFill>
                  <a:srgbClr val="3333B2"/>
                </a:solidFill>
                <a:latin typeface="Times New Roman"/>
              </a:defRPr>
            </a:lvl7pPr>
            <a:lvl8pPr>
              <a:defRPr sz="2350" b="1">
                <a:solidFill>
                  <a:srgbClr val="3333B2"/>
                </a:solidFill>
                <a:latin typeface="Times New Roman"/>
              </a:defRPr>
            </a:lvl8pPr>
            <a:lvl9pPr>
              <a:defRPr sz="2350" b="1">
                <a:solidFill>
                  <a:srgbClr val="3333B2"/>
                </a:solidFill>
                <a:latin typeface="Times New Roman"/>
              </a:defRPr>
            </a:lvl9pPr>
          </a:lstStyle>
          <a:p>
            <a:pPr marL="0" lvl="0" indent="0">
              <a:spcAft>
                <a:spcPts val="650"/>
              </a:spcAft>
              <a:buNone/>
            </a:pPr>
            <a:r>
              <a:rPr sz="2350" b="1">
                <a:solidFill>
                  <a:srgbClr val="3333B2"/>
                </a:solidFill>
                <a:latin typeface="Times New Roman"/>
              </a:rPr>
              <a:t>Why the Clause Gadget Encodes OR: Possible Case</a:t>
            </a:r>
          </a:p>
        </p:txBody>
      </p:sp>
      <p:pic>
        <p:nvPicPr>
          <p:cNvPr id="4" name="Picture 1" descr="editable_assets/diagram-13-1.png"/>
          <p:cNvPicPr>
            <a:picLocks noGrp="1" noChangeAspect="1"/>
          </p:cNvPicPr>
          <p:nvPr/>
        </p:nvPicPr>
        <p:blipFill>
          <a:blip r:embed="rId3"/>
          <a:srcRect l="12223" t="14110" r="12223" b="6258"/>
          <a:stretch>
            <a:fillRect/>
          </a:stretch>
        </p:blipFill>
        <p:spPr bwMode="auto">
          <a:xfrm>
            <a:off x="4526280" y="1280160"/>
            <a:ext cx="4247099" cy="3511296"/>
          </a:xfrm>
          <a:prstGeom prst="rect">
            <a:avLst/>
          </a:prstGeom>
          <a:noFill/>
          <a:ln w="9525">
            <a:noFill/>
            <a:headEnd/>
            <a:tailEnd/>
          </a:ln>
        </p:spPr>
      </p:pic>
      <p:sp>
        <p:nvSpPr>
          <p:cNvPr id="5" name="Content Placeholder 2"/>
          <p:cNvSpPr>
            <a:spLocks noGrp="1"/>
          </p:cNvSpPr>
          <p:nvPr/>
        </p:nvSpPr>
        <p:spPr>
          <a:xfrm>
            <a:off x="4567140" y="5230368"/>
            <a:ext cx="4206239" cy="411480"/>
          </a:xfrm>
        </p:spPr>
        <p:txBody>
          <a:bodyPr wrap="square" lIns="0" tIns="0" rIns="0" bIns="0" anchor="t">
            <a:noAutofit/>
          </a:bodyPr>
          <a:lstStyle>
            <a:lvl1pPr>
              <a:defRPr sz="1400">
                <a:latin typeface="Times New Roman"/>
              </a:defRPr>
            </a:lvl1pPr>
            <a:lvl2pPr>
              <a:defRPr sz="1400">
                <a:latin typeface="Times New Roman"/>
              </a:defRPr>
            </a:lvl2pPr>
            <a:lvl3pPr>
              <a:defRPr sz="1400">
                <a:latin typeface="Times New Roman"/>
              </a:defRPr>
            </a:lvl3pPr>
            <a:lvl4pPr>
              <a:defRPr sz="1400">
                <a:latin typeface="Times New Roman"/>
              </a:defRPr>
            </a:lvl4pPr>
            <a:lvl5pPr>
              <a:defRPr sz="1400">
                <a:latin typeface="Times New Roman"/>
              </a:defRPr>
            </a:lvl5pPr>
            <a:lvl6pPr>
              <a:defRPr sz="1400">
                <a:latin typeface="Times New Roman"/>
              </a:defRPr>
            </a:lvl6pPr>
            <a:lvl7pPr>
              <a:defRPr sz="1400">
                <a:latin typeface="Times New Roman"/>
              </a:defRPr>
            </a:lvl7pPr>
            <a:lvl8pPr>
              <a:defRPr sz="1400">
                <a:latin typeface="Times New Roman"/>
              </a:defRPr>
            </a:lvl8pPr>
            <a:lvl9pPr>
              <a:defRPr sz="1400">
                <a:latin typeface="Times New Roman"/>
              </a:defRPr>
            </a:lvl9pPr>
          </a:lstStyle>
          <a:p>
            <a:pPr marL="0" lvl="0" indent="0" algn="ctr">
              <a:spcAft>
                <a:spcPts val="400"/>
              </a:spcAft>
              <a:buNone/>
            </a:pPr>
            <a:r>
              <a:rPr sz="1400" dirty="0">
                <a:latin typeface="Times New Roman"/>
              </a:rPr>
              <a:t>Full clause gadget plus palette.</a:t>
            </a:r>
          </a:p>
        </p:txBody>
      </p:sp>
      <mc:AlternateContent xmlns:mc="http://schemas.openxmlformats.org/markup-compatibility/2006">
        <mc:Choice xmlns:a14="http://schemas.microsoft.com/office/drawing/2010/main" Requires="a14">
          <p:sp>
            <p:nvSpPr>
              <p:cNvPr id="7" name="Content Placeholder 2">
                <a:extLst>
                  <a:ext uri="{FF2B5EF4-FFF2-40B4-BE49-F238E27FC236}">
                    <a16:creationId xmlns:a16="http://schemas.microsoft.com/office/drawing/2014/main" id="{B0B2B0AB-1394-403E-1609-5122049699E3}"/>
                  </a:ext>
                </a:extLst>
              </p:cNvPr>
              <p:cNvSpPr>
                <a:spLocks noGrp="1"/>
              </p:cNvSpPr>
              <p:nvPr/>
            </p:nvSpPr>
            <p:spPr>
              <a:xfrm>
                <a:off x="365760" y="1051560"/>
                <a:ext cx="3545058" cy="5303520"/>
              </a:xfrm>
            </p:spPr>
            <p:txBody>
              <a:bodyPr wrap="square" lIns="0" tIns="0" rIns="0" bIns="0" anchor="t">
                <a:noAutofit/>
              </a:bodyPr>
              <a:lstStyle>
                <a:lvl1pPr>
                  <a:defRPr sz="1800">
                    <a:latin typeface="Times New Roman"/>
                  </a:defRPr>
                </a:lvl1pPr>
                <a:lvl2pPr>
                  <a:defRPr sz="1800">
                    <a:latin typeface="Times New Roman"/>
                  </a:defRPr>
                </a:lvl2pPr>
                <a:lvl3pPr>
                  <a:defRPr sz="1800">
                    <a:latin typeface="Times New Roman"/>
                  </a:defRPr>
                </a:lvl3pPr>
                <a:lvl4pPr>
                  <a:defRPr sz="1800">
                    <a:latin typeface="Times New Roman"/>
                  </a:defRPr>
                </a:lvl4pPr>
                <a:lvl5pPr>
                  <a:defRPr sz="1800">
                    <a:latin typeface="Times New Roman"/>
                  </a:defRPr>
                </a:lvl5pPr>
                <a:lvl6pPr>
                  <a:defRPr sz="1800">
                    <a:latin typeface="Times New Roman"/>
                  </a:defRPr>
                </a:lvl6pPr>
                <a:lvl7pPr>
                  <a:defRPr sz="1800">
                    <a:latin typeface="Times New Roman"/>
                  </a:defRPr>
                </a:lvl7pPr>
                <a:lvl8pPr>
                  <a:defRPr sz="1800">
                    <a:latin typeface="Times New Roman"/>
                  </a:defRPr>
                </a:lvl8pPr>
                <a:lvl9pPr>
                  <a:defRPr sz="1800">
                    <a:latin typeface="Times New Roman"/>
                  </a:defRPr>
                </a:lvl9pPr>
              </a:lstStyle>
              <a:p>
                <a:pPr lvl="0">
                  <a:spcAft>
                    <a:spcPts val="400"/>
                  </a:spcAft>
                </a:pPr>
                <a:r>
                  <a:rPr lang="en-US" sz="1900" b="1" dirty="0"/>
                  <a:t>At least one input is </a:t>
                </a:r>
                <a14:m>
                  <m:oMath xmlns:m="http://schemas.openxmlformats.org/officeDocument/2006/math">
                    <m:r>
                      <a:rPr lang="en-US" sz="1900">
                        <a:latin typeface="Cambria Math" panose="02040503050406030204" pitchFamily="18" charset="0"/>
                      </a:rPr>
                      <m:t>𝑇</m:t>
                    </m:r>
                  </m:oMath>
                </a14:m>
                <a:endParaRPr lang="en-US" sz="1900" b="1" dirty="0"/>
              </a:p>
              <a:p>
                <a:pPr lvl="0">
                  <a:spcAft>
                    <a:spcPts val="400"/>
                  </a:spcAft>
                </a:pPr>
                <a:r>
                  <a:rPr lang="en-US" sz="1900" dirty="0"/>
                  <a:t>Suppose </a:t>
                </a:r>
                <a14:m>
                  <m:oMath xmlns:m="http://schemas.openxmlformats.org/officeDocument/2006/math">
                    <m:sSub>
                      <m:sSubPr>
                        <m:ctrlPr>
                          <a:rPr lang="ar-AE" sz="1900">
                            <a:latin typeface="Cambria Math" panose="02040503050406030204" pitchFamily="18" charset="0"/>
                          </a:rPr>
                        </m:ctrlPr>
                      </m:sSubPr>
                      <m:e>
                        <m:r>
                          <m:rPr>
                            <m:sty m:val="p"/>
                          </m:rPr>
                          <a:rPr lang="ar-AE" sz="1900">
                            <a:latin typeface="Cambria Math" panose="02040503050406030204" pitchFamily="18" charset="0"/>
                          </a:rPr>
                          <m:t>ℓ</m:t>
                        </m:r>
                      </m:e>
                      <m:sub>
                        <m:r>
                          <a:rPr lang="ar-AE" sz="1900">
                            <a:latin typeface="Cambria Math" panose="02040503050406030204" pitchFamily="18" charset="0"/>
                          </a:rPr>
                          <m:t>3</m:t>
                        </m:r>
                      </m:sub>
                    </m:sSub>
                    <m:r>
                      <a:rPr lang="ar-AE" sz="1900">
                        <a:latin typeface="Cambria Math" panose="02040503050406030204" pitchFamily="18" charset="0"/>
                      </a:rPr>
                      <m:t>=</m:t>
                    </m:r>
                    <m:r>
                      <a:rPr lang="ar-AE" sz="1900">
                        <a:latin typeface="Cambria Math" panose="02040503050406030204" pitchFamily="18" charset="0"/>
                      </a:rPr>
                      <m:t>𝑇</m:t>
                    </m:r>
                  </m:oMath>
                </a14:m>
                <a:r>
                  <a:rPr lang="ar-AE" sz="1900" dirty="0"/>
                  <a:t>. </a:t>
                </a:r>
                <a:r>
                  <a:rPr lang="en-US" sz="1900" dirty="0"/>
                  <a:t>Choose</a:t>
                </a:r>
              </a:p>
              <a:p>
                <a:pPr lvl="0">
                  <a:spcAft>
                    <a:spcPts val="400"/>
                  </a:spcAft>
                </a:pPr>
                <a14:m>
                  <m:oMathPara xmlns:m="http://schemas.openxmlformats.org/officeDocument/2006/math">
                    <m:oMathParaPr>
                      <m:jc m:val="center"/>
                    </m:oMathParaPr>
                    <m:oMath>
                      <m:sSub>
                        <m:sSubPr>
                          <m:ctrlPr>
                            <a:rPr lang="ar-AE" sz="1900">
                              <a:latin typeface="Cambria Math" panose="02040503050406030204" pitchFamily="18" charset="0"/>
                            </a:rPr>
                          </m:ctrlPr>
                        </m:sSubPr>
                        <m:e>
                          <m:r>
                            <a:rPr lang="ar-AE" sz="1900">
                              <a:latin typeface="Cambria Math" panose="02040503050406030204" pitchFamily="18" charset="0"/>
                            </a:rPr>
                            <m:t>𝑎</m:t>
                          </m:r>
                        </m:e>
                        <m:sub>
                          <m:r>
                            <a:rPr lang="ar-AE" sz="1900">
                              <a:latin typeface="Cambria Math" panose="02040503050406030204" pitchFamily="18" charset="0"/>
                            </a:rPr>
                            <m:t>3</m:t>
                          </m:r>
                        </m:sub>
                      </m:sSub>
                      <m:r>
                        <a:rPr lang="ar-AE" sz="1900">
                          <a:latin typeface="Cambria Math" panose="02040503050406030204" pitchFamily="18" charset="0"/>
                        </a:rPr>
                        <m:t>=</m:t>
                      </m:r>
                      <m:r>
                        <a:rPr lang="ar-AE" sz="1900">
                          <a:latin typeface="Cambria Math" panose="02040503050406030204" pitchFamily="18" charset="0"/>
                        </a:rPr>
                        <m:t>𝐹</m:t>
                      </m:r>
                      <m:r>
                        <a:rPr lang="ar-AE" sz="1900">
                          <a:latin typeface="Cambria Math" panose="02040503050406030204" pitchFamily="18" charset="0"/>
                        </a:rPr>
                        <m:t>,  </m:t>
                      </m:r>
                      <m:sSub>
                        <m:sSubPr>
                          <m:ctrlPr>
                            <a:rPr lang="ar-AE" sz="1900">
                              <a:latin typeface="Cambria Math" panose="02040503050406030204" pitchFamily="18" charset="0"/>
                            </a:rPr>
                          </m:ctrlPr>
                        </m:sSubPr>
                        <m:e>
                          <m:r>
                            <a:rPr lang="ar-AE" sz="1900">
                              <a:latin typeface="Cambria Math" panose="02040503050406030204" pitchFamily="18" charset="0"/>
                            </a:rPr>
                            <m:t>𝑏</m:t>
                          </m:r>
                        </m:e>
                        <m:sub>
                          <m:r>
                            <a:rPr lang="ar-AE" sz="1900">
                              <a:latin typeface="Cambria Math" panose="02040503050406030204" pitchFamily="18" charset="0"/>
                            </a:rPr>
                            <m:t>3</m:t>
                          </m:r>
                        </m:sub>
                      </m:sSub>
                      <m:r>
                        <a:rPr lang="ar-AE" sz="1900">
                          <a:latin typeface="Cambria Math" panose="02040503050406030204" pitchFamily="18" charset="0"/>
                        </a:rPr>
                        <m:t>=</m:t>
                      </m:r>
                      <m:r>
                        <a:rPr lang="ar-AE" sz="1900">
                          <a:latin typeface="Cambria Math" panose="02040503050406030204" pitchFamily="18" charset="0"/>
                        </a:rPr>
                        <m:t>𝐵</m:t>
                      </m:r>
                      <m:r>
                        <a:rPr lang="ar-AE" sz="1900">
                          <a:latin typeface="Cambria Math" panose="02040503050406030204" pitchFamily="18" charset="0"/>
                        </a:rPr>
                        <m:t>.</m:t>
                      </m:r>
                    </m:oMath>
                  </m:oMathPara>
                </a14:m>
                <a:endParaRPr lang="ar-AE" sz="1900" dirty="0"/>
              </a:p>
              <a:p>
                <a:pPr lvl="0">
                  <a:spcAft>
                    <a:spcPts val="400"/>
                  </a:spcAft>
                </a:pPr>
                <a:r>
                  <a:rPr lang="en-US" sz="1900" dirty="0"/>
                  <a:t>For the other two false inputs, </a:t>
                </a:r>
              </a:p>
              <a:p>
                <a:pPr lvl="0">
                  <a:spcAft>
                    <a:spcPts val="400"/>
                  </a:spcAft>
                </a:pPr>
                <a:r>
                  <a:rPr lang="en-US" sz="1900" dirty="0"/>
                  <a:t>keep </a:t>
                </a:r>
                <a14:m>
                  <m:oMath xmlns:m="http://schemas.openxmlformats.org/officeDocument/2006/math">
                    <m:sSub>
                      <m:sSubPr>
                        <m:ctrlPr>
                          <a:rPr lang="ar-AE" sz="1900">
                            <a:latin typeface="Cambria Math" panose="02040503050406030204" pitchFamily="18" charset="0"/>
                          </a:rPr>
                        </m:ctrlPr>
                      </m:sSubPr>
                      <m:e>
                        <m:r>
                          <a:rPr lang="ar-AE" sz="1900">
                            <a:latin typeface="Cambria Math" panose="02040503050406030204" pitchFamily="18" charset="0"/>
                          </a:rPr>
                          <m:t>𝑎</m:t>
                        </m:r>
                      </m:e>
                      <m:sub>
                        <m:r>
                          <a:rPr lang="ar-AE" sz="1900">
                            <a:latin typeface="Cambria Math" panose="02040503050406030204" pitchFamily="18" charset="0"/>
                          </a:rPr>
                          <m:t>1</m:t>
                        </m:r>
                      </m:sub>
                    </m:sSub>
                    <m:r>
                      <a:rPr lang="ar-AE" sz="1900">
                        <a:latin typeface="Cambria Math" panose="02040503050406030204" pitchFamily="18" charset="0"/>
                      </a:rPr>
                      <m:t>=</m:t>
                    </m:r>
                    <m:sSub>
                      <m:sSubPr>
                        <m:ctrlPr>
                          <a:rPr lang="ar-AE" sz="1900">
                            <a:latin typeface="Cambria Math" panose="02040503050406030204" pitchFamily="18" charset="0"/>
                          </a:rPr>
                        </m:ctrlPr>
                      </m:sSubPr>
                      <m:e>
                        <m:r>
                          <a:rPr lang="ar-AE" sz="1900">
                            <a:latin typeface="Cambria Math" panose="02040503050406030204" pitchFamily="18" charset="0"/>
                          </a:rPr>
                          <m:t>𝑎</m:t>
                        </m:r>
                      </m:e>
                      <m:sub>
                        <m:r>
                          <a:rPr lang="ar-AE" sz="1900">
                            <a:latin typeface="Cambria Math" panose="02040503050406030204" pitchFamily="18" charset="0"/>
                          </a:rPr>
                          <m:t>2</m:t>
                        </m:r>
                      </m:sub>
                    </m:sSub>
                    <m:r>
                      <a:rPr lang="ar-AE" sz="1900">
                        <a:latin typeface="Cambria Math" panose="02040503050406030204" pitchFamily="18" charset="0"/>
                      </a:rPr>
                      <m:t>=</m:t>
                    </m:r>
                    <m:r>
                      <a:rPr lang="ar-AE" sz="1900">
                        <a:latin typeface="Cambria Math" panose="02040503050406030204" pitchFamily="18" charset="0"/>
                      </a:rPr>
                      <m:t>𝐵</m:t>
                    </m:r>
                  </m:oMath>
                </a14:m>
                <a:r>
                  <a:rPr lang="ar-AE" sz="1900" dirty="0"/>
                  <a:t>.</a:t>
                </a:r>
              </a:p>
            </p:txBody>
          </p:sp>
        </mc:Choice>
        <mc:Fallback>
          <p:sp>
            <p:nvSpPr>
              <p:cNvPr id="7" name="Content Placeholder 2">
                <a:extLst>
                  <a:ext uri="{FF2B5EF4-FFF2-40B4-BE49-F238E27FC236}">
                    <a16:creationId xmlns:a16="http://schemas.microsoft.com/office/drawing/2014/main" id="{B0B2B0AB-1394-403E-1609-5122049699E3}"/>
                  </a:ext>
                </a:extLst>
              </p:cNvPr>
              <p:cNvSpPr>
                <a:spLocks noGrp="1" noRot="1" noChangeAspect="1" noMove="1" noResize="1" noEditPoints="1" noAdjustHandles="1" noChangeArrowheads="1" noChangeShapeType="1" noTextEdit="1"/>
              </p:cNvSpPr>
              <p:nvPr/>
            </p:nvSpPr>
            <p:spPr>
              <a:xfrm>
                <a:off x="365760" y="1051560"/>
                <a:ext cx="3545058" cy="5303520"/>
              </a:xfrm>
              <a:blipFill>
                <a:blip r:embed="rId4"/>
                <a:stretch>
                  <a:fillRect/>
                </a:stretch>
              </a:blipFill>
            </p:spPr>
            <p:txBody>
              <a:bodyPr/>
              <a:lstStyle/>
              <a:p>
                <a:r>
                  <a:rPr lang="en-US">
                    <a:noFill/>
                  </a:rPr>
                  <a:t> </a:t>
                </a:r>
              </a:p>
            </p:txBody>
          </p:sp>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D776F-FFB1-5B18-0CB9-D98C1C199F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892CCA-04C4-AA94-7A2B-3E76A62D351D}"/>
              </a:ext>
            </a:extLst>
          </p:cNvPr>
          <p:cNvSpPr>
            <a:spLocks noGrp="1"/>
          </p:cNvSpPr>
          <p:nvPr/>
        </p:nvSpPr>
        <p:spPr>
          <a:xfrm>
            <a:off x="228600" y="128016"/>
            <a:ext cx="8686800" cy="713232"/>
          </a:xfrm>
        </p:spPr>
        <p:txBody>
          <a:bodyPr wrap="square" lIns="0" tIns="0" rIns="0" bIns="0" anchor="t">
            <a:noAutofit/>
          </a:bodyPr>
          <a:lstStyle>
            <a:lvl1pPr>
              <a:defRPr sz="2350" b="1">
                <a:solidFill>
                  <a:srgbClr val="3333B2"/>
                </a:solidFill>
                <a:latin typeface="Times New Roman"/>
              </a:defRPr>
            </a:lvl1pPr>
            <a:lvl2pPr>
              <a:defRPr sz="2350" b="1">
                <a:solidFill>
                  <a:srgbClr val="3333B2"/>
                </a:solidFill>
                <a:latin typeface="Times New Roman"/>
              </a:defRPr>
            </a:lvl2pPr>
            <a:lvl3pPr>
              <a:defRPr sz="2350" b="1">
                <a:solidFill>
                  <a:srgbClr val="3333B2"/>
                </a:solidFill>
                <a:latin typeface="Times New Roman"/>
              </a:defRPr>
            </a:lvl3pPr>
            <a:lvl4pPr>
              <a:defRPr sz="2350" b="1">
                <a:solidFill>
                  <a:srgbClr val="3333B2"/>
                </a:solidFill>
                <a:latin typeface="Times New Roman"/>
              </a:defRPr>
            </a:lvl4pPr>
            <a:lvl5pPr>
              <a:defRPr sz="2350" b="1">
                <a:solidFill>
                  <a:srgbClr val="3333B2"/>
                </a:solidFill>
                <a:latin typeface="Times New Roman"/>
              </a:defRPr>
            </a:lvl5pPr>
            <a:lvl6pPr>
              <a:defRPr sz="2350" b="1">
                <a:solidFill>
                  <a:srgbClr val="3333B2"/>
                </a:solidFill>
                <a:latin typeface="Times New Roman"/>
              </a:defRPr>
            </a:lvl6pPr>
            <a:lvl7pPr>
              <a:defRPr sz="2350" b="1">
                <a:solidFill>
                  <a:srgbClr val="3333B2"/>
                </a:solidFill>
                <a:latin typeface="Times New Roman"/>
              </a:defRPr>
            </a:lvl7pPr>
            <a:lvl8pPr>
              <a:defRPr sz="2350" b="1">
                <a:solidFill>
                  <a:srgbClr val="3333B2"/>
                </a:solidFill>
                <a:latin typeface="Times New Roman"/>
              </a:defRPr>
            </a:lvl8pPr>
            <a:lvl9pPr>
              <a:defRPr sz="2350" b="1">
                <a:solidFill>
                  <a:srgbClr val="3333B2"/>
                </a:solidFill>
                <a:latin typeface="Times New Roman"/>
              </a:defRPr>
            </a:lvl9pPr>
          </a:lstStyle>
          <a:p>
            <a:pPr marL="0" lvl="0" indent="0">
              <a:spcAft>
                <a:spcPts val="650"/>
              </a:spcAft>
              <a:buNone/>
            </a:pPr>
            <a:r>
              <a:rPr sz="2350" b="1">
                <a:solidFill>
                  <a:srgbClr val="3333B2"/>
                </a:solidFill>
                <a:latin typeface="Times New Roman"/>
              </a:rPr>
              <a:t>Why the Clause Gadget Encodes OR: Possible Case</a:t>
            </a:r>
          </a:p>
        </p:txBody>
      </p:sp>
      <p:pic>
        <p:nvPicPr>
          <p:cNvPr id="4" name="Picture 1" descr="editable_assets/diagram-13-1.png">
            <a:extLst>
              <a:ext uri="{FF2B5EF4-FFF2-40B4-BE49-F238E27FC236}">
                <a16:creationId xmlns:a16="http://schemas.microsoft.com/office/drawing/2014/main" id="{4505833B-3BED-516B-9930-6E517F288F65}"/>
              </a:ext>
            </a:extLst>
          </p:cNvPr>
          <p:cNvPicPr>
            <a:picLocks noGrp="1" noChangeAspect="1"/>
          </p:cNvPicPr>
          <p:nvPr/>
        </p:nvPicPr>
        <p:blipFill>
          <a:blip r:embed="rId3"/>
          <a:srcRect l="12223" t="14110" r="12223" b="6258"/>
          <a:stretch>
            <a:fillRect/>
          </a:stretch>
        </p:blipFill>
        <p:spPr bwMode="auto">
          <a:xfrm>
            <a:off x="4526280" y="1280160"/>
            <a:ext cx="4247099" cy="3511296"/>
          </a:xfrm>
          <a:prstGeom prst="rect">
            <a:avLst/>
          </a:prstGeom>
          <a:noFill/>
          <a:ln w="9525">
            <a:noFill/>
            <a:headEnd/>
            <a:tailEnd/>
          </a:ln>
        </p:spPr>
      </p:pic>
      <p:sp>
        <p:nvSpPr>
          <p:cNvPr id="5" name="Content Placeholder 2">
            <a:extLst>
              <a:ext uri="{FF2B5EF4-FFF2-40B4-BE49-F238E27FC236}">
                <a16:creationId xmlns:a16="http://schemas.microsoft.com/office/drawing/2014/main" id="{F8FEFB0E-584A-D08D-58DE-63DE9CA6003A}"/>
              </a:ext>
            </a:extLst>
          </p:cNvPr>
          <p:cNvSpPr>
            <a:spLocks noGrp="1"/>
          </p:cNvSpPr>
          <p:nvPr/>
        </p:nvSpPr>
        <p:spPr>
          <a:xfrm>
            <a:off x="4567140" y="5230368"/>
            <a:ext cx="4206239" cy="411480"/>
          </a:xfrm>
        </p:spPr>
        <p:txBody>
          <a:bodyPr wrap="square" lIns="0" tIns="0" rIns="0" bIns="0" anchor="t">
            <a:noAutofit/>
          </a:bodyPr>
          <a:lstStyle>
            <a:lvl1pPr>
              <a:defRPr sz="1400">
                <a:latin typeface="Times New Roman"/>
              </a:defRPr>
            </a:lvl1pPr>
            <a:lvl2pPr>
              <a:defRPr sz="1400">
                <a:latin typeface="Times New Roman"/>
              </a:defRPr>
            </a:lvl2pPr>
            <a:lvl3pPr>
              <a:defRPr sz="1400">
                <a:latin typeface="Times New Roman"/>
              </a:defRPr>
            </a:lvl3pPr>
            <a:lvl4pPr>
              <a:defRPr sz="1400">
                <a:latin typeface="Times New Roman"/>
              </a:defRPr>
            </a:lvl4pPr>
            <a:lvl5pPr>
              <a:defRPr sz="1400">
                <a:latin typeface="Times New Roman"/>
              </a:defRPr>
            </a:lvl5pPr>
            <a:lvl6pPr>
              <a:defRPr sz="1400">
                <a:latin typeface="Times New Roman"/>
              </a:defRPr>
            </a:lvl6pPr>
            <a:lvl7pPr>
              <a:defRPr sz="1400">
                <a:latin typeface="Times New Roman"/>
              </a:defRPr>
            </a:lvl7pPr>
            <a:lvl8pPr>
              <a:defRPr sz="1400">
                <a:latin typeface="Times New Roman"/>
              </a:defRPr>
            </a:lvl8pPr>
            <a:lvl9pPr>
              <a:defRPr sz="1400">
                <a:latin typeface="Times New Roman"/>
              </a:defRPr>
            </a:lvl9pPr>
          </a:lstStyle>
          <a:p>
            <a:pPr marL="0" lvl="0" indent="0" algn="ctr">
              <a:spcAft>
                <a:spcPts val="400"/>
              </a:spcAft>
              <a:buNone/>
            </a:pPr>
            <a:r>
              <a:rPr sz="1400" dirty="0">
                <a:latin typeface="Times New Roman"/>
              </a:rPr>
              <a:t>Full clause gadget plus palette.</a:t>
            </a:r>
          </a:p>
        </p:txBody>
      </p:sp>
      <mc:AlternateContent xmlns:mc="http://schemas.openxmlformats.org/markup-compatibility/2006">
        <mc:Choice xmlns:a14="http://schemas.microsoft.com/office/drawing/2010/main" Requires="a14">
          <p:sp>
            <p:nvSpPr>
              <p:cNvPr id="7" name="Content Placeholder 2">
                <a:extLst>
                  <a:ext uri="{FF2B5EF4-FFF2-40B4-BE49-F238E27FC236}">
                    <a16:creationId xmlns:a16="http://schemas.microsoft.com/office/drawing/2014/main" id="{2106865E-B338-DD03-C24D-0B7680B69A90}"/>
                  </a:ext>
                </a:extLst>
              </p:cNvPr>
              <p:cNvSpPr>
                <a:spLocks noGrp="1"/>
              </p:cNvSpPr>
              <p:nvPr/>
            </p:nvSpPr>
            <p:spPr>
              <a:xfrm>
                <a:off x="365760" y="1051560"/>
                <a:ext cx="3545058" cy="5303520"/>
              </a:xfrm>
            </p:spPr>
            <p:txBody>
              <a:bodyPr wrap="square" lIns="0" tIns="0" rIns="0" bIns="0" anchor="t">
                <a:noAutofit/>
              </a:bodyPr>
              <a:lstStyle>
                <a:lvl1pPr>
                  <a:defRPr sz="1800">
                    <a:latin typeface="Times New Roman"/>
                  </a:defRPr>
                </a:lvl1pPr>
                <a:lvl2pPr>
                  <a:defRPr sz="1800">
                    <a:latin typeface="Times New Roman"/>
                  </a:defRPr>
                </a:lvl2pPr>
                <a:lvl3pPr>
                  <a:defRPr sz="1800">
                    <a:latin typeface="Times New Roman"/>
                  </a:defRPr>
                </a:lvl3pPr>
                <a:lvl4pPr>
                  <a:defRPr sz="1800">
                    <a:latin typeface="Times New Roman"/>
                  </a:defRPr>
                </a:lvl4pPr>
                <a:lvl5pPr>
                  <a:defRPr sz="1800">
                    <a:latin typeface="Times New Roman"/>
                  </a:defRPr>
                </a:lvl5pPr>
                <a:lvl6pPr>
                  <a:defRPr sz="1800">
                    <a:latin typeface="Times New Roman"/>
                  </a:defRPr>
                </a:lvl6pPr>
                <a:lvl7pPr>
                  <a:defRPr sz="1800">
                    <a:latin typeface="Times New Roman"/>
                  </a:defRPr>
                </a:lvl7pPr>
                <a:lvl8pPr>
                  <a:defRPr sz="1800">
                    <a:latin typeface="Times New Roman"/>
                  </a:defRPr>
                </a:lvl8pPr>
                <a:lvl9pPr>
                  <a:defRPr sz="1800">
                    <a:latin typeface="Times New Roman"/>
                  </a:defRPr>
                </a:lvl9pPr>
              </a:lstStyle>
              <a:p>
                <a:pPr lvl="0">
                  <a:spcAft>
                    <a:spcPts val="400"/>
                  </a:spcAft>
                </a:pPr>
                <a:r>
                  <a:rPr lang="en-US" sz="1900" b="1" dirty="0"/>
                  <a:t>At least one input is </a:t>
                </a:r>
                <a14:m>
                  <m:oMath xmlns:m="http://schemas.openxmlformats.org/officeDocument/2006/math">
                    <m:r>
                      <a:rPr lang="en-US" sz="1900">
                        <a:latin typeface="Cambria Math" panose="02040503050406030204" pitchFamily="18" charset="0"/>
                      </a:rPr>
                      <m:t>𝑇</m:t>
                    </m:r>
                  </m:oMath>
                </a14:m>
                <a:endParaRPr lang="en-US" sz="1900" b="1" dirty="0"/>
              </a:p>
              <a:p>
                <a:pPr lvl="0">
                  <a:spcAft>
                    <a:spcPts val="400"/>
                  </a:spcAft>
                </a:pPr>
                <a:r>
                  <a:rPr lang="en-US" sz="1900" dirty="0"/>
                  <a:t>Suppose </a:t>
                </a:r>
                <a14:m>
                  <m:oMath xmlns:m="http://schemas.openxmlformats.org/officeDocument/2006/math">
                    <m:sSub>
                      <m:sSubPr>
                        <m:ctrlPr>
                          <a:rPr lang="ar-AE" sz="1900">
                            <a:latin typeface="Cambria Math" panose="02040503050406030204" pitchFamily="18" charset="0"/>
                          </a:rPr>
                        </m:ctrlPr>
                      </m:sSubPr>
                      <m:e>
                        <m:r>
                          <m:rPr>
                            <m:sty m:val="p"/>
                          </m:rPr>
                          <a:rPr lang="ar-AE" sz="1900">
                            <a:latin typeface="Cambria Math" panose="02040503050406030204" pitchFamily="18" charset="0"/>
                          </a:rPr>
                          <m:t>ℓ</m:t>
                        </m:r>
                      </m:e>
                      <m:sub>
                        <m:r>
                          <a:rPr lang="ar-AE" sz="1900">
                            <a:latin typeface="Cambria Math" panose="02040503050406030204" pitchFamily="18" charset="0"/>
                          </a:rPr>
                          <m:t>3</m:t>
                        </m:r>
                      </m:sub>
                    </m:sSub>
                    <m:r>
                      <a:rPr lang="ar-AE" sz="1900">
                        <a:latin typeface="Cambria Math" panose="02040503050406030204" pitchFamily="18" charset="0"/>
                      </a:rPr>
                      <m:t>=</m:t>
                    </m:r>
                    <m:r>
                      <a:rPr lang="ar-AE" sz="1900">
                        <a:latin typeface="Cambria Math" panose="02040503050406030204" pitchFamily="18" charset="0"/>
                      </a:rPr>
                      <m:t>𝑇</m:t>
                    </m:r>
                  </m:oMath>
                </a14:m>
                <a:r>
                  <a:rPr lang="ar-AE" sz="1900" dirty="0"/>
                  <a:t>. </a:t>
                </a:r>
                <a:r>
                  <a:rPr lang="en-US" sz="1900" dirty="0"/>
                  <a:t>Choose</a:t>
                </a:r>
              </a:p>
              <a:p>
                <a:pPr lvl="0">
                  <a:spcAft>
                    <a:spcPts val="400"/>
                  </a:spcAft>
                </a:pPr>
                <a14:m>
                  <m:oMathPara xmlns:m="http://schemas.openxmlformats.org/officeDocument/2006/math">
                    <m:oMathParaPr>
                      <m:jc m:val="center"/>
                    </m:oMathParaPr>
                    <m:oMath>
                      <m:sSub>
                        <m:sSubPr>
                          <m:ctrlPr>
                            <a:rPr lang="ar-AE" sz="1900">
                              <a:latin typeface="Cambria Math" panose="02040503050406030204" pitchFamily="18" charset="0"/>
                            </a:rPr>
                          </m:ctrlPr>
                        </m:sSubPr>
                        <m:e>
                          <m:r>
                            <a:rPr lang="ar-AE" sz="1900">
                              <a:latin typeface="Cambria Math" panose="02040503050406030204" pitchFamily="18" charset="0"/>
                            </a:rPr>
                            <m:t>𝑎</m:t>
                          </m:r>
                        </m:e>
                        <m:sub>
                          <m:r>
                            <a:rPr lang="ar-AE" sz="1900">
                              <a:latin typeface="Cambria Math" panose="02040503050406030204" pitchFamily="18" charset="0"/>
                            </a:rPr>
                            <m:t>3</m:t>
                          </m:r>
                        </m:sub>
                      </m:sSub>
                      <m:r>
                        <a:rPr lang="ar-AE" sz="1900">
                          <a:latin typeface="Cambria Math" panose="02040503050406030204" pitchFamily="18" charset="0"/>
                        </a:rPr>
                        <m:t>=</m:t>
                      </m:r>
                      <m:r>
                        <a:rPr lang="ar-AE" sz="1900">
                          <a:latin typeface="Cambria Math" panose="02040503050406030204" pitchFamily="18" charset="0"/>
                        </a:rPr>
                        <m:t>𝐹</m:t>
                      </m:r>
                      <m:r>
                        <a:rPr lang="ar-AE" sz="1900">
                          <a:latin typeface="Cambria Math" panose="02040503050406030204" pitchFamily="18" charset="0"/>
                        </a:rPr>
                        <m:t>,  </m:t>
                      </m:r>
                      <m:sSub>
                        <m:sSubPr>
                          <m:ctrlPr>
                            <a:rPr lang="ar-AE" sz="1900">
                              <a:latin typeface="Cambria Math" panose="02040503050406030204" pitchFamily="18" charset="0"/>
                            </a:rPr>
                          </m:ctrlPr>
                        </m:sSubPr>
                        <m:e>
                          <m:r>
                            <a:rPr lang="ar-AE" sz="1900">
                              <a:latin typeface="Cambria Math" panose="02040503050406030204" pitchFamily="18" charset="0"/>
                            </a:rPr>
                            <m:t>𝑏</m:t>
                          </m:r>
                        </m:e>
                        <m:sub>
                          <m:r>
                            <a:rPr lang="ar-AE" sz="1900">
                              <a:latin typeface="Cambria Math" panose="02040503050406030204" pitchFamily="18" charset="0"/>
                            </a:rPr>
                            <m:t>3</m:t>
                          </m:r>
                        </m:sub>
                      </m:sSub>
                      <m:r>
                        <a:rPr lang="ar-AE" sz="1900">
                          <a:latin typeface="Cambria Math" panose="02040503050406030204" pitchFamily="18" charset="0"/>
                        </a:rPr>
                        <m:t>=</m:t>
                      </m:r>
                      <m:r>
                        <a:rPr lang="ar-AE" sz="1900">
                          <a:latin typeface="Cambria Math" panose="02040503050406030204" pitchFamily="18" charset="0"/>
                        </a:rPr>
                        <m:t>𝐵</m:t>
                      </m:r>
                      <m:r>
                        <a:rPr lang="ar-AE" sz="1900">
                          <a:latin typeface="Cambria Math" panose="02040503050406030204" pitchFamily="18" charset="0"/>
                        </a:rPr>
                        <m:t>.</m:t>
                      </m:r>
                    </m:oMath>
                  </m:oMathPara>
                </a14:m>
                <a:endParaRPr lang="ar-AE" sz="1900" dirty="0"/>
              </a:p>
              <a:p>
                <a:pPr lvl="0">
                  <a:spcAft>
                    <a:spcPts val="400"/>
                  </a:spcAft>
                </a:pPr>
                <a:r>
                  <a:rPr lang="en-US" sz="1900" dirty="0"/>
                  <a:t>For the other two false inputs, </a:t>
                </a:r>
              </a:p>
              <a:p>
                <a:pPr lvl="0">
                  <a:spcAft>
                    <a:spcPts val="400"/>
                  </a:spcAft>
                </a:pPr>
                <a:r>
                  <a:rPr lang="en-US" sz="1900" dirty="0"/>
                  <a:t>keep </a:t>
                </a:r>
                <a14:m>
                  <m:oMath xmlns:m="http://schemas.openxmlformats.org/officeDocument/2006/math">
                    <m:sSub>
                      <m:sSubPr>
                        <m:ctrlPr>
                          <a:rPr lang="ar-AE" sz="1900">
                            <a:latin typeface="Cambria Math" panose="02040503050406030204" pitchFamily="18" charset="0"/>
                          </a:rPr>
                        </m:ctrlPr>
                      </m:sSubPr>
                      <m:e>
                        <m:r>
                          <a:rPr lang="ar-AE" sz="1900">
                            <a:latin typeface="Cambria Math" panose="02040503050406030204" pitchFamily="18" charset="0"/>
                          </a:rPr>
                          <m:t>𝑎</m:t>
                        </m:r>
                      </m:e>
                      <m:sub>
                        <m:r>
                          <a:rPr lang="ar-AE" sz="1900">
                            <a:latin typeface="Cambria Math" panose="02040503050406030204" pitchFamily="18" charset="0"/>
                          </a:rPr>
                          <m:t>1</m:t>
                        </m:r>
                      </m:sub>
                    </m:sSub>
                    <m:r>
                      <a:rPr lang="ar-AE" sz="1900">
                        <a:latin typeface="Cambria Math" panose="02040503050406030204" pitchFamily="18" charset="0"/>
                      </a:rPr>
                      <m:t>=</m:t>
                    </m:r>
                    <m:sSub>
                      <m:sSubPr>
                        <m:ctrlPr>
                          <a:rPr lang="ar-AE" sz="1900">
                            <a:latin typeface="Cambria Math" panose="02040503050406030204" pitchFamily="18" charset="0"/>
                          </a:rPr>
                        </m:ctrlPr>
                      </m:sSubPr>
                      <m:e>
                        <m:r>
                          <a:rPr lang="ar-AE" sz="1900">
                            <a:latin typeface="Cambria Math" panose="02040503050406030204" pitchFamily="18" charset="0"/>
                          </a:rPr>
                          <m:t>𝑎</m:t>
                        </m:r>
                      </m:e>
                      <m:sub>
                        <m:r>
                          <a:rPr lang="ar-AE" sz="1900">
                            <a:latin typeface="Cambria Math" panose="02040503050406030204" pitchFamily="18" charset="0"/>
                          </a:rPr>
                          <m:t>2</m:t>
                        </m:r>
                      </m:sub>
                    </m:sSub>
                    <m:r>
                      <a:rPr lang="ar-AE" sz="1900">
                        <a:latin typeface="Cambria Math" panose="02040503050406030204" pitchFamily="18" charset="0"/>
                      </a:rPr>
                      <m:t>=</m:t>
                    </m:r>
                    <m:r>
                      <a:rPr lang="ar-AE" sz="1900">
                        <a:latin typeface="Cambria Math" panose="02040503050406030204" pitchFamily="18" charset="0"/>
                      </a:rPr>
                      <m:t>𝐵</m:t>
                    </m:r>
                  </m:oMath>
                </a14:m>
                <a:r>
                  <a:rPr lang="ar-AE" sz="1900" dirty="0"/>
                  <a:t>.</a:t>
                </a:r>
              </a:p>
              <a:p>
                <a:pPr lvl="0">
                  <a:spcAft>
                    <a:spcPts val="400"/>
                  </a:spcAft>
                </a:pPr>
                <a:endParaRPr lang="ar-AE" sz="1900" dirty="0"/>
              </a:p>
              <a:p>
                <a:pPr lvl="0">
                  <a:spcAft>
                    <a:spcPts val="400"/>
                  </a:spcAft>
                </a:pPr>
                <a:endParaRPr lang="ar-AE" sz="1900" dirty="0"/>
              </a:p>
              <a:p>
                <a:pPr lvl="0">
                  <a:spcAft>
                    <a:spcPts val="400"/>
                  </a:spcAft>
                </a:pPr>
                <a:r>
                  <a:rPr lang="en-US" sz="1900" b="1" dirty="0"/>
                  <a:t>Legal completion exists</a:t>
                </a:r>
              </a:p>
              <a:p>
                <a:pPr lvl="0">
                  <a:spcAft>
                    <a:spcPts val="400"/>
                  </a:spcAft>
                </a:pPr>
                <a14:m>
                  <m:oMathPara xmlns:m="http://schemas.openxmlformats.org/officeDocument/2006/math">
                    <m:oMathParaPr>
                      <m:jc m:val="center"/>
                    </m:oMathParaPr>
                    <m:oMath>
                      <m:sSub>
                        <m:sSubPr>
                          <m:ctrlPr>
                            <a:rPr lang="ar-AE" sz="1900">
                              <a:latin typeface="Cambria Math" panose="02040503050406030204" pitchFamily="18" charset="0"/>
                            </a:rPr>
                          </m:ctrlPr>
                        </m:sSubPr>
                        <m:e>
                          <m:r>
                            <a:rPr lang="ar-AE" sz="1900">
                              <a:latin typeface="Cambria Math" panose="02040503050406030204" pitchFamily="18" charset="0"/>
                            </a:rPr>
                            <m:t>𝑏</m:t>
                          </m:r>
                        </m:e>
                        <m:sub>
                          <m:r>
                            <a:rPr lang="ar-AE" sz="1900">
                              <a:latin typeface="Cambria Math" panose="02040503050406030204" pitchFamily="18" charset="0"/>
                            </a:rPr>
                            <m:t>1</m:t>
                          </m:r>
                        </m:sub>
                      </m:sSub>
                      <m:r>
                        <a:rPr lang="ar-AE" sz="1900">
                          <a:latin typeface="Cambria Math" panose="02040503050406030204" pitchFamily="18" charset="0"/>
                        </a:rPr>
                        <m:t>=</m:t>
                      </m:r>
                      <m:r>
                        <a:rPr lang="ar-AE" sz="1900">
                          <a:latin typeface="Cambria Math" panose="02040503050406030204" pitchFamily="18" charset="0"/>
                        </a:rPr>
                        <m:t>𝐹</m:t>
                      </m:r>
                      <m:r>
                        <a:rPr lang="ar-AE" sz="1900">
                          <a:latin typeface="Cambria Math" panose="02040503050406030204" pitchFamily="18" charset="0"/>
                        </a:rPr>
                        <m:t>, </m:t>
                      </m:r>
                      <m:sSub>
                        <m:sSubPr>
                          <m:ctrlPr>
                            <a:rPr lang="ar-AE" sz="1900">
                              <a:latin typeface="Cambria Math" panose="02040503050406030204" pitchFamily="18" charset="0"/>
                            </a:rPr>
                          </m:ctrlPr>
                        </m:sSubPr>
                        <m:e>
                          <m:r>
                            <a:rPr lang="ar-AE" sz="1900">
                              <a:latin typeface="Cambria Math" panose="02040503050406030204" pitchFamily="18" charset="0"/>
                            </a:rPr>
                            <m:t>𝑏</m:t>
                          </m:r>
                        </m:e>
                        <m:sub>
                          <m:r>
                            <a:rPr lang="ar-AE" sz="1900">
                              <a:latin typeface="Cambria Math" panose="02040503050406030204" pitchFamily="18" charset="0"/>
                            </a:rPr>
                            <m:t>2</m:t>
                          </m:r>
                        </m:sub>
                      </m:sSub>
                      <m:r>
                        <a:rPr lang="ar-AE" sz="1900">
                          <a:latin typeface="Cambria Math" panose="02040503050406030204" pitchFamily="18" charset="0"/>
                        </a:rPr>
                        <m:t>=</m:t>
                      </m:r>
                      <m:r>
                        <a:rPr lang="ar-AE" sz="1900">
                          <a:latin typeface="Cambria Math" panose="02040503050406030204" pitchFamily="18" charset="0"/>
                        </a:rPr>
                        <m:t>𝑇</m:t>
                      </m:r>
                      <m:r>
                        <a:rPr lang="ar-AE" sz="1900">
                          <a:latin typeface="Cambria Math" panose="02040503050406030204" pitchFamily="18" charset="0"/>
                        </a:rPr>
                        <m:t>, </m:t>
                      </m:r>
                      <m:sSub>
                        <m:sSubPr>
                          <m:ctrlPr>
                            <a:rPr lang="ar-AE" sz="1900">
                              <a:latin typeface="Cambria Math" panose="02040503050406030204" pitchFamily="18" charset="0"/>
                            </a:rPr>
                          </m:ctrlPr>
                        </m:sSubPr>
                        <m:e>
                          <m:r>
                            <a:rPr lang="ar-AE" sz="1900">
                              <a:latin typeface="Cambria Math" panose="02040503050406030204" pitchFamily="18" charset="0"/>
                            </a:rPr>
                            <m:t>𝑏</m:t>
                          </m:r>
                        </m:e>
                        <m:sub>
                          <m:r>
                            <a:rPr lang="ar-AE" sz="1900">
                              <a:latin typeface="Cambria Math" panose="02040503050406030204" pitchFamily="18" charset="0"/>
                            </a:rPr>
                            <m:t>3</m:t>
                          </m:r>
                        </m:sub>
                      </m:sSub>
                      <m:r>
                        <a:rPr lang="ar-AE" sz="1900">
                          <a:latin typeface="Cambria Math" panose="02040503050406030204" pitchFamily="18" charset="0"/>
                        </a:rPr>
                        <m:t>=</m:t>
                      </m:r>
                      <m:r>
                        <a:rPr lang="ar-AE" sz="1900">
                          <a:latin typeface="Cambria Math" panose="02040503050406030204" pitchFamily="18" charset="0"/>
                        </a:rPr>
                        <m:t>𝐵</m:t>
                      </m:r>
                      <m:r>
                        <a:rPr lang="ar-AE" sz="1900">
                          <a:latin typeface="Cambria Math" panose="02040503050406030204" pitchFamily="18" charset="0"/>
                        </a:rPr>
                        <m:t>.</m:t>
                      </m:r>
                    </m:oMath>
                  </m:oMathPara>
                </a14:m>
                <a:endParaRPr lang="ar-AE" sz="1900" b="1" dirty="0"/>
              </a:p>
              <a:p>
                <a:pPr lvl="0">
                  <a:spcAft>
                    <a:spcPts val="400"/>
                  </a:spcAft>
                </a:pPr>
                <a:r>
                  <a:rPr lang="en-US" sz="1900" dirty="0"/>
                  <a:t>Every edge joins differently colored endpoints.</a:t>
                </a:r>
              </a:p>
              <a:p>
                <a:pPr lvl="0">
                  <a:spcAft>
                    <a:spcPts val="400"/>
                  </a:spcAft>
                </a:pPr>
                <a:endParaRPr lang="ar-AE" sz="1900" dirty="0"/>
              </a:p>
            </p:txBody>
          </p:sp>
        </mc:Choice>
        <mc:Fallback>
          <p:sp>
            <p:nvSpPr>
              <p:cNvPr id="7" name="Content Placeholder 2">
                <a:extLst>
                  <a:ext uri="{FF2B5EF4-FFF2-40B4-BE49-F238E27FC236}">
                    <a16:creationId xmlns:a16="http://schemas.microsoft.com/office/drawing/2014/main" id="{2106865E-B338-DD03-C24D-0B7680B69A90}"/>
                  </a:ext>
                </a:extLst>
              </p:cNvPr>
              <p:cNvSpPr>
                <a:spLocks noGrp="1" noRot="1" noChangeAspect="1" noMove="1" noResize="1" noEditPoints="1" noAdjustHandles="1" noChangeArrowheads="1" noChangeShapeType="1" noTextEdit="1"/>
              </p:cNvSpPr>
              <p:nvPr/>
            </p:nvSpPr>
            <p:spPr>
              <a:xfrm>
                <a:off x="365760" y="1051560"/>
                <a:ext cx="3545058" cy="5303520"/>
              </a:xfr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261958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228600" y="128016"/>
            <a:ext cx="8686800" cy="713232"/>
          </a:xfrm>
        </p:spPr>
        <p:txBody>
          <a:bodyPr wrap="square" lIns="0" tIns="0" rIns="0" bIns="0" anchor="t">
            <a:noAutofit/>
          </a:bodyPr>
          <a:lstStyle>
            <a:lvl1pPr>
              <a:defRPr sz="2350" b="1">
                <a:solidFill>
                  <a:srgbClr val="3333B2"/>
                </a:solidFill>
                <a:latin typeface="Times New Roman"/>
              </a:defRPr>
            </a:lvl1pPr>
            <a:lvl2pPr>
              <a:defRPr sz="2350" b="1">
                <a:solidFill>
                  <a:srgbClr val="3333B2"/>
                </a:solidFill>
                <a:latin typeface="Times New Roman"/>
              </a:defRPr>
            </a:lvl2pPr>
            <a:lvl3pPr>
              <a:defRPr sz="2350" b="1">
                <a:solidFill>
                  <a:srgbClr val="3333B2"/>
                </a:solidFill>
                <a:latin typeface="Times New Roman"/>
              </a:defRPr>
            </a:lvl3pPr>
            <a:lvl4pPr>
              <a:defRPr sz="2350" b="1">
                <a:solidFill>
                  <a:srgbClr val="3333B2"/>
                </a:solidFill>
                <a:latin typeface="Times New Roman"/>
              </a:defRPr>
            </a:lvl4pPr>
            <a:lvl5pPr>
              <a:defRPr sz="2350" b="1">
                <a:solidFill>
                  <a:srgbClr val="3333B2"/>
                </a:solidFill>
                <a:latin typeface="Times New Roman"/>
              </a:defRPr>
            </a:lvl5pPr>
            <a:lvl6pPr>
              <a:defRPr sz="2350" b="1">
                <a:solidFill>
                  <a:srgbClr val="3333B2"/>
                </a:solidFill>
                <a:latin typeface="Times New Roman"/>
              </a:defRPr>
            </a:lvl6pPr>
            <a:lvl7pPr>
              <a:defRPr sz="2350" b="1">
                <a:solidFill>
                  <a:srgbClr val="3333B2"/>
                </a:solidFill>
                <a:latin typeface="Times New Roman"/>
              </a:defRPr>
            </a:lvl7pPr>
            <a:lvl8pPr>
              <a:defRPr sz="2350" b="1">
                <a:solidFill>
                  <a:srgbClr val="3333B2"/>
                </a:solidFill>
                <a:latin typeface="Times New Roman"/>
              </a:defRPr>
            </a:lvl8pPr>
            <a:lvl9pPr>
              <a:defRPr sz="2350" b="1">
                <a:solidFill>
                  <a:srgbClr val="3333B2"/>
                </a:solidFill>
                <a:latin typeface="Times New Roman"/>
              </a:defRPr>
            </a:lvl9pPr>
          </a:lstStyle>
          <a:p>
            <a:pPr marL="0" lvl="0" indent="0">
              <a:spcAft>
                <a:spcPts val="650"/>
              </a:spcAft>
              <a:buNone/>
            </a:pPr>
            <a:r>
              <a:rPr sz="2350" b="1">
                <a:solidFill>
                  <a:srgbClr val="3333B2"/>
                </a:solidFill>
                <a:latin typeface="Times New Roman"/>
              </a:rPr>
              <a:t>Evaluating One Complete Formula</a:t>
            </a:r>
          </a:p>
        </p:txBody>
      </p:sp>
      <p:sp>
        <p:nvSpPr>
          <p:cNvPr id="3" name="Content Placeholder 2"/>
          <p:cNvSpPr>
            <a:spLocks noGrp="1"/>
          </p:cNvSpPr>
          <p:nvPr/>
        </p:nvSpPr>
        <p:spPr>
          <a:xfrm>
            <a:off x="457200" y="1097280"/>
            <a:ext cx="8229600" cy="731520"/>
          </a:xfrm>
        </p:spPr>
        <p:txBody>
          <a:bodyPr wrap="square" lIns="0" tIns="0" rIns="0" bIns="0" anchor="t">
            <a:noAutofit/>
          </a:bodyPr>
          <a:lstStyle>
            <a:lvl1pPr>
              <a:defRPr sz="2100">
                <a:latin typeface="Times New Roman"/>
              </a:defRPr>
            </a:lvl1pPr>
            <a:lvl2pPr>
              <a:defRPr sz="2100">
                <a:latin typeface="Times New Roman"/>
              </a:defRPr>
            </a:lvl2pPr>
            <a:lvl3pPr>
              <a:defRPr sz="2100">
                <a:latin typeface="Times New Roman"/>
              </a:defRPr>
            </a:lvl3pPr>
            <a:lvl4pPr>
              <a:defRPr sz="2100">
                <a:latin typeface="Times New Roman"/>
              </a:defRPr>
            </a:lvl4pPr>
            <a:lvl5pPr>
              <a:defRPr sz="2100">
                <a:latin typeface="Times New Roman"/>
              </a:defRPr>
            </a:lvl5pPr>
            <a:lvl6pPr>
              <a:defRPr sz="2100">
                <a:latin typeface="Times New Roman"/>
              </a:defRPr>
            </a:lvl6pPr>
            <a:lvl7pPr>
              <a:defRPr sz="2100">
                <a:latin typeface="Times New Roman"/>
              </a:defRPr>
            </a:lvl7pPr>
            <a:lvl8pPr>
              <a:defRPr sz="2100">
                <a:latin typeface="Times New Roman"/>
              </a:defRPr>
            </a:lvl8pPr>
            <a:lvl9pPr>
              <a:defRPr sz="2100">
                <a:latin typeface="Times New Roman"/>
              </a:defRPr>
            </a:lvl9pPr>
          </a:lstStyle>
          <a:p>
            <a:pPr marL="0" lvl="0" indent="0">
              <a:spcAft>
                <a:spcPts val="650"/>
              </a:spcAft>
              <a:buNone/>
            </a:pPr>
            <a14:m xmlns:a14="http://schemas.microsoft.com/office/drawing/2010/main">
              <m:oMathPara xmlns:m="http://schemas.openxmlformats.org/officeDocument/2006/math">
                <m:oMathParaPr>
                  <m:jc m:val="center"/>
                </m:oMathParaPr>
                <m:oMath>
                  <m:r>
                    <a:rPr>
                      <a:latin typeface="Cambria Math" panose="02040503050406030204" pitchFamily="18" charset="0"/>
                    </a:rPr>
                    <m:t>𝜙</m:t>
                  </m:r>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1</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2</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3</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1</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2</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3</m:t>
                      </m:r>
                    </m:sub>
                  </m:sSub>
                  <m:r>
                    <a:rPr>
                      <a:latin typeface="Cambria Math" panose="02040503050406030204" pitchFamily="18" charset="0"/>
                    </a:rPr>
                    <m:t>).</m:t>
                  </m:r>
                </m:oMath>
              </m:oMathPara>
            </a14:m>
            <a:endParaRPr/>
          </a:p>
        </p:txBody>
      </p:sp>
      <p:sp>
        <p:nvSpPr>
          <p:cNvPr id="4" name="Content Placeholder 2"/>
          <p:cNvSpPr>
            <a:spLocks noGrp="1"/>
          </p:cNvSpPr>
          <p:nvPr/>
        </p:nvSpPr>
        <p:spPr>
          <a:xfrm>
            <a:off x="365760" y="2148840"/>
            <a:ext cx="4069080" cy="3474720"/>
          </a:xfrm>
        </p:spPr>
        <p:txBody>
          <a:bodyPr wrap="square" lIns="0" tIns="0" rIns="0" bIns="0" anchor="t">
            <a:noAutofit/>
          </a:bodyPr>
          <a:lstStyle>
            <a:lvl1pPr>
              <a:defRPr sz="1900">
                <a:latin typeface="Times New Roman"/>
              </a:defRPr>
            </a:lvl1pPr>
            <a:lvl2pPr>
              <a:defRPr sz="1900">
                <a:latin typeface="Times New Roman"/>
              </a:defRPr>
            </a:lvl2pPr>
            <a:lvl3pPr>
              <a:defRPr sz="1900">
                <a:latin typeface="Times New Roman"/>
              </a:defRPr>
            </a:lvl3pPr>
            <a:lvl4pPr>
              <a:defRPr sz="1900">
                <a:latin typeface="Times New Roman"/>
              </a:defRPr>
            </a:lvl4pPr>
            <a:lvl5pPr>
              <a:defRPr sz="1900">
                <a:latin typeface="Times New Roman"/>
              </a:defRPr>
            </a:lvl5pPr>
            <a:lvl6pPr>
              <a:defRPr sz="1900">
                <a:latin typeface="Times New Roman"/>
              </a:defRPr>
            </a:lvl6pPr>
            <a:lvl7pPr>
              <a:defRPr sz="1900">
                <a:latin typeface="Times New Roman"/>
              </a:defRPr>
            </a:lvl7pPr>
            <a:lvl8pPr>
              <a:defRPr sz="1900">
                <a:latin typeface="Times New Roman"/>
              </a:defRPr>
            </a:lvl8pPr>
            <a:lvl9pPr>
              <a:defRPr sz="1900">
                <a:latin typeface="Times New Roman"/>
              </a:defRPr>
            </a:lvl9pPr>
          </a:lstStyle>
          <a:p>
            <a:pPr marL="0" lvl="0" indent="0">
              <a:spcAft>
                <a:spcPts val="650"/>
              </a:spcAft>
              <a:buNone/>
            </a:pPr>
            <a:r>
              <a:rPr sz="1900" b="1" dirty="0">
                <a:latin typeface="Times New Roman"/>
              </a:rPr>
              <a:t>Clause input ports</a:t>
            </a:r>
          </a:p>
          <a:p>
            <a:pPr marL="0" lvl="0" indent="0">
              <a:spcAft>
                <a:spcPts val="650"/>
              </a:spcAft>
              <a:buNone/>
            </a:pPr>
            <a14:m xmlns:a14="http://schemas.microsoft.com/office/drawing/2010/main">
              <m:oMathPara xmlns:m="http://schemas.openxmlformats.org/officeDocument/2006/math">
                <m:oMathParaPr>
                  <m:jc m:val="center"/>
                </m:oMathParaPr>
                <m:oMath>
                  <m:sSub>
                    <m:sSubPr>
                      <m:ctrlPr>
                        <a:rPr>
                          <a:latin typeface="Cambria Math" panose="02040503050406030204" pitchFamily="18" charset="0"/>
                        </a:rPr>
                      </m:ctrlPr>
                    </m:sSubPr>
                    <m:e>
                      <m:r>
                        <a:rPr>
                          <a:latin typeface="Cambria Math" panose="02040503050406030204" pitchFamily="18" charset="0"/>
                        </a:rPr>
                        <m:t>𝐶</m:t>
                      </m:r>
                    </m:e>
                    <m:sub>
                      <m:r>
                        <a:rPr>
                          <a:latin typeface="Cambria Math" panose="02040503050406030204" pitchFamily="18" charset="0"/>
                        </a:rPr>
                        <m:t>1</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1</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2</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3</m:t>
                      </m:r>
                    </m:sub>
                  </m:sSub>
                  <m:r>
                    <a:rPr>
                      <a:latin typeface="Cambria Math" panose="02040503050406030204" pitchFamily="18" charset="0"/>
                    </a:rPr>
                    <m:t>),</m:t>
                  </m:r>
                </m:oMath>
              </m:oMathPara>
            </a14:m>
            <a:endParaRPr sz="1900" b="1" dirty="0">
              <a:latin typeface="Times New Roman"/>
            </a:endParaRPr>
          </a:p>
          <a:p>
            <a:pPr marL="0" lvl="0" indent="0">
              <a:spcAft>
                <a:spcPts val="650"/>
              </a:spcAft>
              <a:buNone/>
            </a:pPr>
            <a14:m xmlns:a14="http://schemas.microsoft.com/office/drawing/2010/main">
              <m:oMathPara xmlns:m="http://schemas.openxmlformats.org/officeDocument/2006/math">
                <m:oMathParaPr>
                  <m:jc m:val="center"/>
                </m:oMathParaPr>
                <m:oMath>
                  <m:sSub>
                    <m:sSubPr>
                      <m:ctrlPr>
                        <a:rPr>
                          <a:latin typeface="Cambria Math" panose="02040503050406030204" pitchFamily="18" charset="0"/>
                        </a:rPr>
                      </m:ctrlPr>
                    </m:sSubPr>
                    <m:e>
                      <m:r>
                        <a:rPr>
                          <a:latin typeface="Cambria Math" panose="02040503050406030204" pitchFamily="18" charset="0"/>
                        </a:rPr>
                        <m:t>𝐶</m:t>
                      </m:r>
                    </m:e>
                    <m:sub>
                      <m:r>
                        <a:rPr>
                          <a:latin typeface="Cambria Math" panose="02040503050406030204" pitchFamily="18" charset="0"/>
                        </a:rPr>
                        <m:t>2</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1</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2</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3</m:t>
                      </m:r>
                    </m:sub>
                  </m:sSub>
                  <m:r>
                    <a:rPr>
                      <a:latin typeface="Cambria Math" panose="02040503050406030204" pitchFamily="18" charset="0"/>
                    </a:rPr>
                    <m:t>).</m:t>
                  </m:r>
                </m:oMath>
              </m:oMathPara>
            </a14:m>
            <a:endParaRPr sz="1900" b="1" dirty="0">
              <a:latin typeface="Times New Roman"/>
            </a:endParaRPr>
          </a:p>
          <a:p>
            <a:pPr marL="0" lvl="0" indent="0">
              <a:spcAft>
                <a:spcPts val="650"/>
              </a:spcAft>
              <a:buNone/>
            </a:pPr>
            <a:r>
              <a:rPr sz="1900" dirty="0">
                <a:latin typeface="Times New Roman"/>
              </a:rPr>
              <a:t>Each clause receives its own six fresh internal vertices.</a:t>
            </a:r>
          </a:p>
        </p:txBody>
      </p:sp>
      <mc:AlternateContent xmlns:mc="http://schemas.openxmlformats.org/markup-compatibility/2006">
        <mc:Choice xmlns:a14="http://schemas.microsoft.com/office/drawing/2010/main" Requires="a14">
          <p:sp>
            <p:nvSpPr>
              <p:cNvPr id="5" name="Content Placeholder 2"/>
              <p:cNvSpPr>
                <a:spLocks noGrp="1"/>
              </p:cNvSpPr>
              <p:nvPr/>
            </p:nvSpPr>
            <p:spPr>
              <a:xfrm>
                <a:off x="4709160" y="2148840"/>
                <a:ext cx="4069080" cy="4297680"/>
              </a:xfrm>
            </p:spPr>
            <p:txBody>
              <a:bodyPr wrap="square" lIns="0" tIns="0" rIns="0" bIns="0" anchor="t">
                <a:noAutofit/>
              </a:bodyPr>
              <a:lstStyle>
                <a:lvl1pPr>
                  <a:defRPr sz="1800">
                    <a:latin typeface="Times New Roman"/>
                  </a:defRPr>
                </a:lvl1pPr>
                <a:lvl2pPr>
                  <a:defRPr sz="1800">
                    <a:latin typeface="Times New Roman"/>
                  </a:defRPr>
                </a:lvl2pPr>
                <a:lvl3pPr>
                  <a:defRPr sz="1800">
                    <a:latin typeface="Times New Roman"/>
                  </a:defRPr>
                </a:lvl3pPr>
                <a:lvl4pPr>
                  <a:defRPr sz="1800">
                    <a:latin typeface="Times New Roman"/>
                  </a:defRPr>
                </a:lvl4pPr>
                <a:lvl5pPr>
                  <a:defRPr sz="1800">
                    <a:latin typeface="Times New Roman"/>
                  </a:defRPr>
                </a:lvl5pPr>
                <a:lvl6pPr>
                  <a:defRPr sz="1800">
                    <a:latin typeface="Times New Roman"/>
                  </a:defRPr>
                </a:lvl6pPr>
                <a:lvl7pPr>
                  <a:defRPr sz="1800">
                    <a:latin typeface="Times New Roman"/>
                  </a:defRPr>
                </a:lvl7pPr>
                <a:lvl8pPr>
                  <a:defRPr sz="1800">
                    <a:latin typeface="Times New Roman"/>
                  </a:defRPr>
                </a:lvl8pPr>
                <a:lvl9pPr>
                  <a:defRPr sz="1800">
                    <a:latin typeface="Times New Roman"/>
                  </a:defRPr>
                </a:lvl9pPr>
              </a:lstStyle>
              <a:p>
                <a:pPr lvl="0">
                  <a:spcAft>
                    <a:spcPts val="650"/>
                  </a:spcAft>
                </a:pPr>
                <a:r>
                  <a:rPr lang="en-US" b="1" dirty="0"/>
                  <a:t>One satisfying assignment</a:t>
                </a:r>
              </a:p>
              <a:p>
                <a:pPr lvl="0">
                  <a:spcAft>
                    <a:spcPts val="650"/>
                  </a:spcAft>
                </a:pPr>
                <a14:m>
                  <m:oMathPara xmlns:m="http://schemas.openxmlformats.org/officeDocument/2006/math">
                    <m:oMathParaPr>
                      <m:jc m:val="center"/>
                    </m:oMathParaPr>
                    <m:oMath>
                      <m:sSub>
                        <m:sSubPr>
                          <m:ctrlPr>
                            <a:rPr lang="ar-AE">
                              <a:latin typeface="Cambria Math" panose="02040503050406030204" pitchFamily="18" charset="0"/>
                            </a:rPr>
                          </m:ctrlPr>
                        </m:sSubPr>
                        <m:e>
                          <m:r>
                            <a:rPr lang="ar-AE">
                              <a:latin typeface="Cambria Math" panose="02040503050406030204" pitchFamily="18" charset="0"/>
                            </a:rPr>
                            <m:t>𝑥</m:t>
                          </m:r>
                        </m:e>
                        <m:sub>
                          <m:r>
                            <a:rPr lang="ar-AE">
                              <a:latin typeface="Cambria Math" panose="02040503050406030204" pitchFamily="18" charset="0"/>
                            </a:rPr>
                            <m:t>1</m:t>
                          </m:r>
                        </m:sub>
                      </m:sSub>
                      <m:r>
                        <a:rPr lang="ar-AE">
                          <a:latin typeface="Cambria Math" panose="02040503050406030204" pitchFamily="18" charset="0"/>
                        </a:rPr>
                        <m:t>=</m:t>
                      </m:r>
                      <m:r>
                        <a:rPr lang="ar-AE">
                          <a:latin typeface="Cambria Math" panose="02040503050406030204" pitchFamily="18" charset="0"/>
                        </a:rPr>
                        <m:t>𝑇</m:t>
                      </m:r>
                      <m:r>
                        <a:rPr lang="ar-AE">
                          <a:latin typeface="Cambria Math" panose="02040503050406030204" pitchFamily="18" charset="0"/>
                        </a:rPr>
                        <m:t>, </m:t>
                      </m:r>
                      <m:sSub>
                        <m:sSubPr>
                          <m:ctrlPr>
                            <a:rPr lang="ar-AE">
                              <a:latin typeface="Cambria Math" panose="02040503050406030204" pitchFamily="18" charset="0"/>
                            </a:rPr>
                          </m:ctrlPr>
                        </m:sSubPr>
                        <m:e>
                          <m:r>
                            <a:rPr lang="ar-AE">
                              <a:latin typeface="Cambria Math" panose="02040503050406030204" pitchFamily="18" charset="0"/>
                            </a:rPr>
                            <m:t>𝑥</m:t>
                          </m:r>
                        </m:e>
                        <m:sub>
                          <m:r>
                            <a:rPr lang="ar-AE">
                              <a:latin typeface="Cambria Math" panose="02040503050406030204" pitchFamily="18" charset="0"/>
                            </a:rPr>
                            <m:t>2</m:t>
                          </m:r>
                        </m:sub>
                      </m:sSub>
                      <m:r>
                        <a:rPr lang="ar-AE">
                          <a:latin typeface="Cambria Math" panose="02040503050406030204" pitchFamily="18" charset="0"/>
                        </a:rPr>
                        <m:t>=</m:t>
                      </m:r>
                      <m:r>
                        <a:rPr lang="ar-AE">
                          <a:latin typeface="Cambria Math" panose="02040503050406030204" pitchFamily="18" charset="0"/>
                        </a:rPr>
                        <m:t>𝑇</m:t>
                      </m:r>
                      <m:r>
                        <a:rPr lang="ar-AE">
                          <a:latin typeface="Cambria Math" panose="02040503050406030204" pitchFamily="18" charset="0"/>
                        </a:rPr>
                        <m:t>, </m:t>
                      </m:r>
                      <m:sSub>
                        <m:sSubPr>
                          <m:ctrlPr>
                            <a:rPr lang="ar-AE">
                              <a:latin typeface="Cambria Math" panose="02040503050406030204" pitchFamily="18" charset="0"/>
                            </a:rPr>
                          </m:ctrlPr>
                        </m:sSubPr>
                        <m:e>
                          <m:r>
                            <a:rPr lang="ar-AE">
                              <a:latin typeface="Cambria Math" panose="02040503050406030204" pitchFamily="18" charset="0"/>
                            </a:rPr>
                            <m:t>𝑥</m:t>
                          </m:r>
                        </m:e>
                        <m:sub>
                          <m:r>
                            <a:rPr lang="ar-AE">
                              <a:latin typeface="Cambria Math" panose="02040503050406030204" pitchFamily="18" charset="0"/>
                            </a:rPr>
                            <m:t>3</m:t>
                          </m:r>
                        </m:sub>
                      </m:sSub>
                      <m:r>
                        <a:rPr lang="ar-AE">
                          <a:latin typeface="Cambria Math" panose="02040503050406030204" pitchFamily="18" charset="0"/>
                        </a:rPr>
                        <m:t>=</m:t>
                      </m:r>
                      <m:r>
                        <a:rPr lang="ar-AE">
                          <a:latin typeface="Cambria Math" panose="02040503050406030204" pitchFamily="18" charset="0"/>
                        </a:rPr>
                        <m:t>𝐹</m:t>
                      </m:r>
                      <m:r>
                        <a:rPr lang="ar-AE">
                          <a:latin typeface="Cambria Math" panose="02040503050406030204" pitchFamily="18" charset="0"/>
                        </a:rPr>
                        <m:t>.</m:t>
                      </m:r>
                    </m:oMath>
                  </m:oMathPara>
                </a14:m>
                <a:endParaRPr lang="ar-AE" b="1" dirty="0"/>
              </a:p>
              <a:p>
                <a:pPr lvl="0">
                  <a:spcAft>
                    <a:spcPts val="650"/>
                  </a:spcAft>
                </a:pPr>
                <a:r>
                  <a:rPr lang="en-US" dirty="0"/>
                  <a:t>Thus</a:t>
                </a:r>
              </a:p>
              <a:p>
                <a:pPr lvl="0">
                  <a:spcAft>
                    <a:spcPts val="650"/>
                  </a:spcAft>
                </a:pPr>
                <a14:m>
                  <m:oMathPara xmlns:m="http://schemas.openxmlformats.org/officeDocument/2006/math">
                    <m:oMathParaPr>
                      <m:jc m:val="center"/>
                    </m:oMathParaPr>
                    <m:oMath>
                      <m:sSub>
                        <m:sSubPr>
                          <m:ctrlPr>
                            <a:rPr lang="ar-AE">
                              <a:latin typeface="Cambria Math" panose="02040503050406030204" pitchFamily="18" charset="0"/>
                            </a:rPr>
                          </m:ctrlPr>
                        </m:sSubPr>
                        <m:e>
                          <m:r>
                            <a:rPr lang="ar-AE">
                              <a:latin typeface="Cambria Math" panose="02040503050406030204" pitchFamily="18" charset="0"/>
                            </a:rPr>
                            <m:t>𝐶</m:t>
                          </m:r>
                        </m:e>
                        <m:sub>
                          <m:r>
                            <a:rPr lang="ar-AE">
                              <a:latin typeface="Cambria Math" panose="02040503050406030204" pitchFamily="18" charset="0"/>
                            </a:rPr>
                            <m:t>1</m:t>
                          </m:r>
                        </m:sub>
                      </m:sSub>
                      <m:r>
                        <a:rPr lang="ar-AE">
                          <a:latin typeface="Cambria Math" panose="02040503050406030204" pitchFamily="18" charset="0"/>
                        </a:rPr>
                        <m:t>=(</m:t>
                      </m:r>
                      <m:r>
                        <a:rPr lang="ar-AE">
                          <a:latin typeface="Cambria Math" panose="02040503050406030204" pitchFamily="18" charset="0"/>
                        </a:rPr>
                        <m:t>𝑇</m:t>
                      </m:r>
                      <m:r>
                        <a:rPr lang="ar-AE">
                          <a:latin typeface="Cambria Math" panose="02040503050406030204" pitchFamily="18" charset="0"/>
                        </a:rPr>
                        <m:t>,</m:t>
                      </m:r>
                      <m:r>
                        <a:rPr lang="ar-AE">
                          <a:latin typeface="Cambria Math" panose="02040503050406030204" pitchFamily="18" charset="0"/>
                        </a:rPr>
                        <m:t>𝐹</m:t>
                      </m:r>
                      <m:r>
                        <a:rPr lang="ar-AE">
                          <a:latin typeface="Cambria Math" panose="02040503050406030204" pitchFamily="18" charset="0"/>
                        </a:rPr>
                        <m:t>,</m:t>
                      </m:r>
                      <m:r>
                        <a:rPr lang="ar-AE">
                          <a:latin typeface="Cambria Math" panose="02040503050406030204" pitchFamily="18" charset="0"/>
                        </a:rPr>
                        <m:t>𝐹</m:t>
                      </m:r>
                      <m:r>
                        <a:rPr lang="ar-AE">
                          <a:latin typeface="Cambria Math" panose="02040503050406030204" pitchFamily="18" charset="0"/>
                        </a:rPr>
                        <m:t>), </m:t>
                      </m:r>
                      <m:sSub>
                        <m:sSubPr>
                          <m:ctrlPr>
                            <a:rPr lang="ar-AE">
                              <a:latin typeface="Cambria Math" panose="02040503050406030204" pitchFamily="18" charset="0"/>
                            </a:rPr>
                          </m:ctrlPr>
                        </m:sSubPr>
                        <m:e>
                          <m:r>
                            <a:rPr lang="ar-AE">
                              <a:latin typeface="Cambria Math" panose="02040503050406030204" pitchFamily="18" charset="0"/>
                            </a:rPr>
                            <m:t>𝐶</m:t>
                          </m:r>
                        </m:e>
                        <m:sub>
                          <m:r>
                            <a:rPr lang="ar-AE">
                              <a:latin typeface="Cambria Math" panose="02040503050406030204" pitchFamily="18" charset="0"/>
                            </a:rPr>
                            <m:t>2</m:t>
                          </m:r>
                        </m:sub>
                      </m:sSub>
                      <m:r>
                        <a:rPr lang="ar-AE">
                          <a:latin typeface="Cambria Math" panose="02040503050406030204" pitchFamily="18" charset="0"/>
                        </a:rPr>
                        <m:t>=(</m:t>
                      </m:r>
                      <m:r>
                        <a:rPr lang="ar-AE">
                          <a:latin typeface="Cambria Math" panose="02040503050406030204" pitchFamily="18" charset="0"/>
                        </a:rPr>
                        <m:t>𝐹</m:t>
                      </m:r>
                      <m:r>
                        <a:rPr lang="ar-AE">
                          <a:latin typeface="Cambria Math" panose="02040503050406030204" pitchFamily="18" charset="0"/>
                        </a:rPr>
                        <m:t>,</m:t>
                      </m:r>
                      <m:r>
                        <a:rPr lang="ar-AE">
                          <a:latin typeface="Cambria Math" panose="02040503050406030204" pitchFamily="18" charset="0"/>
                        </a:rPr>
                        <m:t>𝑇</m:t>
                      </m:r>
                      <m:r>
                        <a:rPr lang="ar-AE">
                          <a:latin typeface="Cambria Math" panose="02040503050406030204" pitchFamily="18" charset="0"/>
                        </a:rPr>
                        <m:t>,</m:t>
                      </m:r>
                      <m:r>
                        <a:rPr lang="ar-AE">
                          <a:latin typeface="Cambria Math" panose="02040503050406030204" pitchFamily="18" charset="0"/>
                        </a:rPr>
                        <m:t>𝑇</m:t>
                      </m:r>
                      <m:r>
                        <a:rPr lang="ar-AE">
                          <a:latin typeface="Cambria Math" panose="02040503050406030204" pitchFamily="18" charset="0"/>
                        </a:rPr>
                        <m:t>).</m:t>
                      </m:r>
                    </m:oMath>
                  </m:oMathPara>
                </a14:m>
                <a:endParaRPr lang="ar-AE" dirty="0"/>
              </a:p>
              <a:p>
                <a:pPr lvl="0">
                  <a:spcAft>
                    <a:spcPts val="650"/>
                  </a:spcAft>
                </a:pPr>
                <a:r>
                  <a:rPr lang="en-US" dirty="0"/>
                  <a:t>Both clause gadgets can be extended.</a:t>
                </a:r>
              </a:p>
              <a:p>
                <a:pPr lvl="0">
                  <a:spcAft>
                    <a:spcPts val="650"/>
                  </a:spcAft>
                </a:pPr>
                <a:endParaRPr lang="en-US" dirty="0"/>
              </a:p>
            </p:txBody>
          </p:sp>
        </mc:Choice>
        <mc:Fallback>
          <p:sp>
            <p:nvSpPr>
              <p:cNvPr id="5" name="Content Placeholder 2"/>
              <p:cNvSpPr>
                <a:spLocks noGrp="1" noRot="1" noChangeAspect="1" noMove="1" noResize="1" noEditPoints="1" noAdjustHandles="1" noChangeArrowheads="1" noChangeShapeType="1" noTextEdit="1"/>
              </p:cNvSpPr>
              <p:nvPr/>
            </p:nvSpPr>
            <p:spPr>
              <a:xfrm>
                <a:off x="4709160" y="2148840"/>
                <a:ext cx="4069080" cy="4297680"/>
              </a:xfrm>
              <a:blipFill>
                <a:blip r:embed="rId3"/>
                <a:stretch>
                  <a:fillRect/>
                </a:stretch>
              </a:blipFill>
            </p:spPr>
            <p:txBody>
              <a:bodyPr/>
              <a:lstStyle/>
              <a:p>
                <a:r>
                  <a:rPr lang="en-US">
                    <a:noFill/>
                  </a:rPr>
                  <a:t> </a:t>
                </a:r>
              </a:p>
            </p:txBody>
          </p:sp>
        </mc:Fallback>
      </mc:AlternateContent>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228600" y="128016"/>
            <a:ext cx="8686800" cy="713232"/>
          </a:xfrm>
        </p:spPr>
        <p:txBody>
          <a:bodyPr wrap="square" lIns="0" tIns="0" rIns="0" bIns="0" anchor="t">
            <a:noAutofit/>
          </a:bodyPr>
          <a:lstStyle>
            <a:lvl1pPr>
              <a:defRPr sz="2350" b="1">
                <a:solidFill>
                  <a:srgbClr val="3333B2"/>
                </a:solidFill>
                <a:latin typeface="Times New Roman"/>
              </a:defRPr>
            </a:lvl1pPr>
            <a:lvl2pPr>
              <a:defRPr sz="2350" b="1">
                <a:solidFill>
                  <a:srgbClr val="3333B2"/>
                </a:solidFill>
                <a:latin typeface="Times New Roman"/>
              </a:defRPr>
            </a:lvl2pPr>
            <a:lvl3pPr>
              <a:defRPr sz="2350" b="1">
                <a:solidFill>
                  <a:srgbClr val="3333B2"/>
                </a:solidFill>
                <a:latin typeface="Times New Roman"/>
              </a:defRPr>
            </a:lvl3pPr>
            <a:lvl4pPr>
              <a:defRPr sz="2350" b="1">
                <a:solidFill>
                  <a:srgbClr val="3333B2"/>
                </a:solidFill>
                <a:latin typeface="Times New Roman"/>
              </a:defRPr>
            </a:lvl4pPr>
            <a:lvl5pPr>
              <a:defRPr sz="2350" b="1">
                <a:solidFill>
                  <a:srgbClr val="3333B2"/>
                </a:solidFill>
                <a:latin typeface="Times New Roman"/>
              </a:defRPr>
            </a:lvl5pPr>
            <a:lvl6pPr>
              <a:defRPr sz="2350" b="1">
                <a:solidFill>
                  <a:srgbClr val="3333B2"/>
                </a:solidFill>
                <a:latin typeface="Times New Roman"/>
              </a:defRPr>
            </a:lvl6pPr>
            <a:lvl7pPr>
              <a:defRPr sz="2350" b="1">
                <a:solidFill>
                  <a:srgbClr val="3333B2"/>
                </a:solidFill>
                <a:latin typeface="Times New Roman"/>
              </a:defRPr>
            </a:lvl7pPr>
            <a:lvl8pPr>
              <a:defRPr sz="2350" b="1">
                <a:solidFill>
                  <a:srgbClr val="3333B2"/>
                </a:solidFill>
                <a:latin typeface="Times New Roman"/>
              </a:defRPr>
            </a:lvl8pPr>
            <a:lvl9pPr>
              <a:defRPr sz="2350" b="1">
                <a:solidFill>
                  <a:srgbClr val="3333B2"/>
                </a:solidFill>
                <a:latin typeface="Times New Roman"/>
              </a:defRPr>
            </a:lvl9pPr>
          </a:lstStyle>
          <a:p>
            <a:pPr marL="0" lvl="0" indent="0">
              <a:spcAft>
                <a:spcPts val="650"/>
              </a:spcAft>
              <a:buNone/>
            </a:pPr>
            <a:r>
              <a:rPr sz="2350" b="1">
                <a:solidFill>
                  <a:srgbClr val="3333B2"/>
                </a:solidFill>
                <a:latin typeface="Times New Roman"/>
              </a:rPr>
              <a:t>Evaluating One Complete Formula</a:t>
            </a:r>
          </a:p>
        </p:txBody>
      </p:sp>
      <p:sp>
        <p:nvSpPr>
          <p:cNvPr id="3" name="Content Placeholder 2"/>
          <p:cNvSpPr>
            <a:spLocks noGrp="1"/>
          </p:cNvSpPr>
          <p:nvPr/>
        </p:nvSpPr>
        <p:spPr>
          <a:xfrm>
            <a:off x="457200" y="1097280"/>
            <a:ext cx="8229600" cy="731520"/>
          </a:xfrm>
        </p:spPr>
        <p:txBody>
          <a:bodyPr wrap="square" lIns="0" tIns="0" rIns="0" bIns="0" anchor="t">
            <a:noAutofit/>
          </a:bodyPr>
          <a:lstStyle>
            <a:lvl1pPr>
              <a:defRPr sz="2100">
                <a:latin typeface="Times New Roman"/>
              </a:defRPr>
            </a:lvl1pPr>
            <a:lvl2pPr>
              <a:defRPr sz="2100">
                <a:latin typeface="Times New Roman"/>
              </a:defRPr>
            </a:lvl2pPr>
            <a:lvl3pPr>
              <a:defRPr sz="2100">
                <a:latin typeface="Times New Roman"/>
              </a:defRPr>
            </a:lvl3pPr>
            <a:lvl4pPr>
              <a:defRPr sz="2100">
                <a:latin typeface="Times New Roman"/>
              </a:defRPr>
            </a:lvl4pPr>
            <a:lvl5pPr>
              <a:defRPr sz="2100">
                <a:latin typeface="Times New Roman"/>
              </a:defRPr>
            </a:lvl5pPr>
            <a:lvl6pPr>
              <a:defRPr sz="2100">
                <a:latin typeface="Times New Roman"/>
              </a:defRPr>
            </a:lvl6pPr>
            <a:lvl7pPr>
              <a:defRPr sz="2100">
                <a:latin typeface="Times New Roman"/>
              </a:defRPr>
            </a:lvl7pPr>
            <a:lvl8pPr>
              <a:defRPr sz="2100">
                <a:latin typeface="Times New Roman"/>
              </a:defRPr>
            </a:lvl8pPr>
            <a:lvl9pPr>
              <a:defRPr sz="2100">
                <a:latin typeface="Times New Roman"/>
              </a:defRPr>
            </a:lvl9pPr>
          </a:lstStyle>
          <a:p>
            <a:pPr marL="0" lvl="0" indent="0">
              <a:spcAft>
                <a:spcPts val="650"/>
              </a:spcAft>
              <a:buNone/>
            </a:pPr>
            <a14:m xmlns:a14="http://schemas.microsoft.com/office/drawing/2010/main">
              <m:oMathPara xmlns:m="http://schemas.openxmlformats.org/officeDocument/2006/math">
                <m:oMathParaPr>
                  <m:jc m:val="center"/>
                </m:oMathParaPr>
                <m:oMath>
                  <m:r>
                    <a:rPr>
                      <a:latin typeface="Cambria Math" panose="02040503050406030204" pitchFamily="18" charset="0"/>
                    </a:rPr>
                    <m:t>𝜙</m:t>
                  </m:r>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1</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2</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3</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1</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2</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3</m:t>
                      </m:r>
                    </m:sub>
                  </m:sSub>
                  <m:r>
                    <a:rPr>
                      <a:latin typeface="Cambria Math" panose="02040503050406030204" pitchFamily="18" charset="0"/>
                    </a:rPr>
                    <m:t>).</m:t>
                  </m:r>
                </m:oMath>
              </m:oMathPara>
            </a14:m>
            <a:endParaRPr/>
          </a:p>
        </p:txBody>
      </p:sp>
      <p:sp>
        <p:nvSpPr>
          <p:cNvPr id="4" name="Content Placeholder 2"/>
          <p:cNvSpPr>
            <a:spLocks noGrp="1"/>
          </p:cNvSpPr>
          <p:nvPr/>
        </p:nvSpPr>
        <p:spPr>
          <a:xfrm>
            <a:off x="365760" y="2148840"/>
            <a:ext cx="4069080" cy="3474720"/>
          </a:xfrm>
        </p:spPr>
        <p:txBody>
          <a:bodyPr wrap="square" lIns="0" tIns="0" rIns="0" bIns="0" anchor="t">
            <a:noAutofit/>
          </a:bodyPr>
          <a:lstStyle>
            <a:lvl1pPr>
              <a:defRPr sz="1900">
                <a:latin typeface="Times New Roman"/>
              </a:defRPr>
            </a:lvl1pPr>
            <a:lvl2pPr>
              <a:defRPr sz="1900">
                <a:latin typeface="Times New Roman"/>
              </a:defRPr>
            </a:lvl2pPr>
            <a:lvl3pPr>
              <a:defRPr sz="1900">
                <a:latin typeface="Times New Roman"/>
              </a:defRPr>
            </a:lvl3pPr>
            <a:lvl4pPr>
              <a:defRPr sz="1900">
                <a:latin typeface="Times New Roman"/>
              </a:defRPr>
            </a:lvl4pPr>
            <a:lvl5pPr>
              <a:defRPr sz="1900">
                <a:latin typeface="Times New Roman"/>
              </a:defRPr>
            </a:lvl5pPr>
            <a:lvl6pPr>
              <a:defRPr sz="1900">
                <a:latin typeface="Times New Roman"/>
              </a:defRPr>
            </a:lvl6pPr>
            <a:lvl7pPr>
              <a:defRPr sz="1900">
                <a:latin typeface="Times New Roman"/>
              </a:defRPr>
            </a:lvl7pPr>
            <a:lvl8pPr>
              <a:defRPr sz="1900">
                <a:latin typeface="Times New Roman"/>
              </a:defRPr>
            </a:lvl8pPr>
            <a:lvl9pPr>
              <a:defRPr sz="1900">
                <a:latin typeface="Times New Roman"/>
              </a:defRPr>
            </a:lvl9pPr>
          </a:lstStyle>
          <a:p>
            <a:pPr marL="0" lvl="0" indent="0">
              <a:spcAft>
                <a:spcPts val="650"/>
              </a:spcAft>
              <a:buNone/>
            </a:pPr>
            <a:r>
              <a:rPr sz="1900" b="1" dirty="0">
                <a:latin typeface="Times New Roman"/>
              </a:rPr>
              <a:t>Clause input ports</a:t>
            </a:r>
          </a:p>
          <a:p>
            <a:pPr marL="0" lvl="0" indent="0">
              <a:spcAft>
                <a:spcPts val="650"/>
              </a:spcAft>
              <a:buNone/>
            </a:pPr>
            <a14:m xmlns:a14="http://schemas.microsoft.com/office/drawing/2010/main">
              <m:oMathPara xmlns:m="http://schemas.openxmlformats.org/officeDocument/2006/math">
                <m:oMathParaPr>
                  <m:jc m:val="center"/>
                </m:oMathParaPr>
                <m:oMath>
                  <m:sSub>
                    <m:sSubPr>
                      <m:ctrlPr>
                        <a:rPr>
                          <a:latin typeface="Cambria Math" panose="02040503050406030204" pitchFamily="18" charset="0"/>
                        </a:rPr>
                      </m:ctrlPr>
                    </m:sSubPr>
                    <m:e>
                      <m:r>
                        <a:rPr>
                          <a:latin typeface="Cambria Math" panose="02040503050406030204" pitchFamily="18" charset="0"/>
                        </a:rPr>
                        <m:t>𝐶</m:t>
                      </m:r>
                    </m:e>
                    <m:sub>
                      <m:r>
                        <a:rPr>
                          <a:latin typeface="Cambria Math" panose="02040503050406030204" pitchFamily="18" charset="0"/>
                        </a:rPr>
                        <m:t>1</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1</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2</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3</m:t>
                      </m:r>
                    </m:sub>
                  </m:sSub>
                  <m:r>
                    <a:rPr>
                      <a:latin typeface="Cambria Math" panose="02040503050406030204" pitchFamily="18" charset="0"/>
                    </a:rPr>
                    <m:t>),</m:t>
                  </m:r>
                </m:oMath>
              </m:oMathPara>
            </a14:m>
            <a:endParaRPr sz="1900" b="1" dirty="0">
              <a:latin typeface="Times New Roman"/>
            </a:endParaRPr>
          </a:p>
          <a:p>
            <a:pPr marL="0" lvl="0" indent="0">
              <a:spcAft>
                <a:spcPts val="650"/>
              </a:spcAft>
              <a:buNone/>
            </a:pPr>
            <a14:m xmlns:a14="http://schemas.microsoft.com/office/drawing/2010/main">
              <m:oMathPara xmlns:m="http://schemas.openxmlformats.org/officeDocument/2006/math">
                <m:oMathParaPr>
                  <m:jc m:val="center"/>
                </m:oMathParaPr>
                <m:oMath>
                  <m:sSub>
                    <m:sSubPr>
                      <m:ctrlPr>
                        <a:rPr>
                          <a:latin typeface="Cambria Math" panose="02040503050406030204" pitchFamily="18" charset="0"/>
                        </a:rPr>
                      </m:ctrlPr>
                    </m:sSubPr>
                    <m:e>
                      <m:r>
                        <a:rPr>
                          <a:latin typeface="Cambria Math" panose="02040503050406030204" pitchFamily="18" charset="0"/>
                        </a:rPr>
                        <m:t>𝐶</m:t>
                      </m:r>
                    </m:e>
                    <m:sub>
                      <m:r>
                        <a:rPr>
                          <a:latin typeface="Cambria Math" panose="02040503050406030204" pitchFamily="18" charset="0"/>
                        </a:rPr>
                        <m:t>2</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1</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2</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3</m:t>
                      </m:r>
                    </m:sub>
                  </m:sSub>
                  <m:r>
                    <a:rPr>
                      <a:latin typeface="Cambria Math" panose="02040503050406030204" pitchFamily="18" charset="0"/>
                    </a:rPr>
                    <m:t>).</m:t>
                  </m:r>
                </m:oMath>
              </m:oMathPara>
            </a14:m>
            <a:endParaRPr sz="1900" b="1" dirty="0">
              <a:latin typeface="Times New Roman"/>
            </a:endParaRPr>
          </a:p>
          <a:p>
            <a:pPr marL="0" lvl="0" indent="0">
              <a:spcAft>
                <a:spcPts val="650"/>
              </a:spcAft>
              <a:buNone/>
            </a:pPr>
            <a:r>
              <a:rPr sz="1900" dirty="0">
                <a:latin typeface="Times New Roman"/>
              </a:rPr>
              <a:t>Each clause receives its own six fresh internal vertices.</a:t>
            </a:r>
          </a:p>
        </p:txBody>
      </p:sp>
      <mc:AlternateContent xmlns:mc="http://schemas.openxmlformats.org/markup-compatibility/2006">
        <mc:Choice xmlns:a14="http://schemas.microsoft.com/office/drawing/2010/main" Requires="a14">
          <p:sp>
            <p:nvSpPr>
              <p:cNvPr id="5" name="Content Placeholder 2"/>
              <p:cNvSpPr>
                <a:spLocks noGrp="1"/>
              </p:cNvSpPr>
              <p:nvPr/>
            </p:nvSpPr>
            <p:spPr>
              <a:xfrm>
                <a:off x="4709160" y="2148840"/>
                <a:ext cx="4069080" cy="4297680"/>
              </a:xfrm>
            </p:spPr>
            <p:txBody>
              <a:bodyPr wrap="square" lIns="0" tIns="0" rIns="0" bIns="0" anchor="t">
                <a:noAutofit/>
              </a:bodyPr>
              <a:lstStyle>
                <a:lvl1pPr>
                  <a:defRPr sz="1800">
                    <a:latin typeface="Times New Roman"/>
                  </a:defRPr>
                </a:lvl1pPr>
                <a:lvl2pPr>
                  <a:defRPr sz="1800">
                    <a:latin typeface="Times New Roman"/>
                  </a:defRPr>
                </a:lvl2pPr>
                <a:lvl3pPr>
                  <a:defRPr sz="1800">
                    <a:latin typeface="Times New Roman"/>
                  </a:defRPr>
                </a:lvl3pPr>
                <a:lvl4pPr>
                  <a:defRPr sz="1800">
                    <a:latin typeface="Times New Roman"/>
                  </a:defRPr>
                </a:lvl4pPr>
                <a:lvl5pPr>
                  <a:defRPr sz="1800">
                    <a:latin typeface="Times New Roman"/>
                  </a:defRPr>
                </a:lvl5pPr>
                <a:lvl6pPr>
                  <a:defRPr sz="1800">
                    <a:latin typeface="Times New Roman"/>
                  </a:defRPr>
                </a:lvl6pPr>
                <a:lvl7pPr>
                  <a:defRPr sz="1800">
                    <a:latin typeface="Times New Roman"/>
                  </a:defRPr>
                </a:lvl7pPr>
                <a:lvl8pPr>
                  <a:defRPr sz="1800">
                    <a:latin typeface="Times New Roman"/>
                  </a:defRPr>
                </a:lvl8pPr>
                <a:lvl9pPr>
                  <a:defRPr sz="1800">
                    <a:latin typeface="Times New Roman"/>
                  </a:defRPr>
                </a:lvl9pPr>
              </a:lstStyle>
              <a:p>
                <a:pPr marL="0" lvl="0" indent="0">
                  <a:spcAft>
                    <a:spcPts val="650"/>
                  </a:spcAft>
                  <a:buNone/>
                </a:pPr>
                <a:r>
                  <a:rPr sz="1800" b="1" dirty="0">
                    <a:latin typeface="Times New Roman"/>
                  </a:rPr>
                  <a:t>One satisfying assignment</a:t>
                </a:r>
              </a:p>
              <a:p>
                <a:pPr marL="0" lvl="0" indent="0">
                  <a:spcAft>
                    <a:spcPts val="650"/>
                  </a:spcAft>
                  <a:buNone/>
                </a:pPr>
                <a14:m>
                  <m:oMathPara xmlns:m="http://schemas.openxmlformats.org/officeDocument/2006/math">
                    <m:oMathParaPr>
                      <m:jc m:val="center"/>
                    </m:oMathParaPr>
                    <m:oMath>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1</m:t>
                          </m:r>
                        </m:sub>
                      </m:sSub>
                      <m:r>
                        <a:rPr>
                          <a:latin typeface="Cambria Math" panose="02040503050406030204" pitchFamily="18" charset="0"/>
                        </a:rPr>
                        <m:t>=</m:t>
                      </m:r>
                      <m:r>
                        <a:rPr>
                          <a:latin typeface="Cambria Math" panose="02040503050406030204" pitchFamily="18" charset="0"/>
                        </a:rPr>
                        <m:t>𝑇</m:t>
                      </m:r>
                      <m:r>
                        <a:rPr>
                          <a:latin typeface="Cambria Math" panose="02040503050406030204" pitchFamily="18" charset="0"/>
                        </a:rPr>
                        <m:t>, </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2</m:t>
                          </m:r>
                        </m:sub>
                      </m:sSub>
                      <m:r>
                        <a:rPr>
                          <a:latin typeface="Cambria Math" panose="02040503050406030204" pitchFamily="18" charset="0"/>
                        </a:rPr>
                        <m:t>=</m:t>
                      </m:r>
                      <m:r>
                        <a:rPr>
                          <a:latin typeface="Cambria Math" panose="02040503050406030204" pitchFamily="18" charset="0"/>
                        </a:rPr>
                        <m:t>𝑇</m:t>
                      </m:r>
                      <m:r>
                        <a:rPr>
                          <a:latin typeface="Cambria Math" panose="02040503050406030204" pitchFamily="18" charset="0"/>
                        </a:rPr>
                        <m:t>, </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3</m:t>
                          </m:r>
                        </m:sub>
                      </m:sSub>
                      <m:r>
                        <a:rPr>
                          <a:latin typeface="Cambria Math" panose="02040503050406030204" pitchFamily="18" charset="0"/>
                        </a:rPr>
                        <m:t>=</m:t>
                      </m:r>
                      <m:r>
                        <a:rPr>
                          <a:latin typeface="Cambria Math" panose="02040503050406030204" pitchFamily="18" charset="0"/>
                        </a:rPr>
                        <m:t>𝐹</m:t>
                      </m:r>
                      <m:r>
                        <a:rPr>
                          <a:latin typeface="Cambria Math" panose="02040503050406030204" pitchFamily="18" charset="0"/>
                        </a:rPr>
                        <m:t>.</m:t>
                      </m:r>
                    </m:oMath>
                  </m:oMathPara>
                </a14:m>
                <a:endParaRPr sz="1800" b="1" dirty="0">
                  <a:latin typeface="Times New Roman"/>
                </a:endParaRPr>
              </a:p>
              <a:p>
                <a:pPr marL="0" lvl="0" indent="0">
                  <a:spcAft>
                    <a:spcPts val="650"/>
                  </a:spcAft>
                  <a:buNone/>
                </a:pPr>
                <a:r>
                  <a:rPr sz="1800" dirty="0">
                    <a:latin typeface="Times New Roman"/>
                  </a:rPr>
                  <a:t>Thus</a:t>
                </a:r>
              </a:p>
              <a:p>
                <a:pPr marL="0" lvl="0" indent="0">
                  <a:spcAft>
                    <a:spcPts val="650"/>
                  </a:spcAft>
                  <a:buNone/>
                </a:pPr>
                <a14:m>
                  <m:oMathPara xmlns:m="http://schemas.openxmlformats.org/officeDocument/2006/math">
                    <m:oMathParaPr>
                      <m:jc m:val="center"/>
                    </m:oMathParaPr>
                    <m:oMath>
                      <m:sSub>
                        <m:sSubPr>
                          <m:ctrlPr>
                            <a:rPr>
                              <a:latin typeface="Cambria Math" panose="02040503050406030204" pitchFamily="18" charset="0"/>
                            </a:rPr>
                          </m:ctrlPr>
                        </m:sSubPr>
                        <m:e>
                          <m:r>
                            <a:rPr>
                              <a:latin typeface="Cambria Math" panose="02040503050406030204" pitchFamily="18" charset="0"/>
                            </a:rPr>
                            <m:t>𝐶</m:t>
                          </m:r>
                        </m:e>
                        <m:sub>
                          <m:r>
                            <a:rPr>
                              <a:latin typeface="Cambria Math" panose="02040503050406030204" pitchFamily="18" charset="0"/>
                            </a:rPr>
                            <m:t>1</m:t>
                          </m:r>
                        </m:sub>
                      </m:sSub>
                      <m:r>
                        <a:rPr>
                          <a:latin typeface="Cambria Math" panose="02040503050406030204" pitchFamily="18" charset="0"/>
                        </a:rPr>
                        <m:t>=(</m:t>
                      </m:r>
                      <m:r>
                        <a:rPr>
                          <a:latin typeface="Cambria Math" panose="02040503050406030204" pitchFamily="18" charset="0"/>
                        </a:rPr>
                        <m:t>𝑇</m:t>
                      </m:r>
                      <m:r>
                        <a:rPr>
                          <a:latin typeface="Cambria Math" panose="02040503050406030204" pitchFamily="18" charset="0"/>
                        </a:rPr>
                        <m:t>,</m:t>
                      </m:r>
                      <m:r>
                        <a:rPr>
                          <a:latin typeface="Cambria Math" panose="02040503050406030204" pitchFamily="18" charset="0"/>
                        </a:rPr>
                        <m:t>𝐹</m:t>
                      </m:r>
                      <m:r>
                        <a:rPr>
                          <a:latin typeface="Cambria Math" panose="02040503050406030204" pitchFamily="18" charset="0"/>
                        </a:rPr>
                        <m:t>,</m:t>
                      </m:r>
                      <m:r>
                        <a:rPr>
                          <a:latin typeface="Cambria Math" panose="02040503050406030204" pitchFamily="18" charset="0"/>
                        </a:rPr>
                        <m:t>𝐹</m:t>
                      </m:r>
                      <m:r>
                        <a:rPr>
                          <a:latin typeface="Cambria Math" panose="02040503050406030204" pitchFamily="18" charset="0"/>
                        </a:rPr>
                        <m:t>), </m:t>
                      </m:r>
                      <m:sSub>
                        <m:sSubPr>
                          <m:ctrlPr>
                            <a:rPr>
                              <a:latin typeface="Cambria Math" panose="02040503050406030204" pitchFamily="18" charset="0"/>
                            </a:rPr>
                          </m:ctrlPr>
                        </m:sSubPr>
                        <m:e>
                          <m:r>
                            <a:rPr>
                              <a:latin typeface="Cambria Math" panose="02040503050406030204" pitchFamily="18" charset="0"/>
                            </a:rPr>
                            <m:t>𝐶</m:t>
                          </m:r>
                        </m:e>
                        <m:sub>
                          <m:r>
                            <a:rPr>
                              <a:latin typeface="Cambria Math" panose="02040503050406030204" pitchFamily="18" charset="0"/>
                            </a:rPr>
                            <m:t>2</m:t>
                          </m:r>
                        </m:sub>
                      </m:sSub>
                      <m:r>
                        <a:rPr>
                          <a:latin typeface="Cambria Math" panose="02040503050406030204" pitchFamily="18" charset="0"/>
                        </a:rPr>
                        <m:t>=(</m:t>
                      </m:r>
                      <m:r>
                        <a:rPr>
                          <a:latin typeface="Cambria Math" panose="02040503050406030204" pitchFamily="18" charset="0"/>
                        </a:rPr>
                        <m:t>𝐹</m:t>
                      </m:r>
                      <m:r>
                        <a:rPr>
                          <a:latin typeface="Cambria Math" panose="02040503050406030204" pitchFamily="18" charset="0"/>
                        </a:rPr>
                        <m:t>,</m:t>
                      </m:r>
                      <m:r>
                        <a:rPr>
                          <a:latin typeface="Cambria Math" panose="02040503050406030204" pitchFamily="18" charset="0"/>
                        </a:rPr>
                        <m:t>𝑇</m:t>
                      </m:r>
                      <m:r>
                        <a:rPr>
                          <a:latin typeface="Cambria Math" panose="02040503050406030204" pitchFamily="18" charset="0"/>
                        </a:rPr>
                        <m:t>,</m:t>
                      </m:r>
                      <m:r>
                        <a:rPr>
                          <a:latin typeface="Cambria Math" panose="02040503050406030204" pitchFamily="18" charset="0"/>
                        </a:rPr>
                        <m:t>𝑇</m:t>
                      </m:r>
                      <m:r>
                        <a:rPr>
                          <a:latin typeface="Cambria Math" panose="02040503050406030204" pitchFamily="18" charset="0"/>
                        </a:rPr>
                        <m:t>).</m:t>
                      </m:r>
                    </m:oMath>
                  </m:oMathPara>
                </a14:m>
                <a:endParaRPr sz="1800" dirty="0">
                  <a:latin typeface="Times New Roman"/>
                </a:endParaRPr>
              </a:p>
              <a:p>
                <a:pPr marL="0" lvl="0" indent="0">
                  <a:spcAft>
                    <a:spcPts val="650"/>
                  </a:spcAft>
                  <a:buNone/>
                </a:pPr>
                <a:r>
                  <a:rPr sz="1800" dirty="0">
                    <a:latin typeface="Times New Roman"/>
                  </a:rPr>
                  <a:t>Both clause gadgets can be extended.</a:t>
                </a:r>
                <a:endParaRPr lang="en-US" sz="1800" dirty="0">
                  <a:latin typeface="Times New Roman"/>
                </a:endParaRPr>
              </a:p>
              <a:p>
                <a:pPr marL="0" lvl="0" indent="0">
                  <a:spcAft>
                    <a:spcPts val="650"/>
                  </a:spcAft>
                  <a:buNone/>
                </a:pPr>
                <a:endParaRPr sz="1800" dirty="0">
                  <a:latin typeface="Times New Roman"/>
                </a:endParaRPr>
              </a:p>
              <a:p>
                <a:pPr marL="0" lvl="0" indent="0">
                  <a:spcAft>
                    <a:spcPts val="650"/>
                  </a:spcAft>
                  <a:buNone/>
                </a:pPr>
                <a:r>
                  <a:rPr sz="1800" b="1" dirty="0">
                    <a:latin typeface="Times New Roman"/>
                  </a:rPr>
                  <a:t>Why it works</a:t>
                </a:r>
              </a:p>
              <a:p>
                <a:pPr marL="0" lvl="0" indent="0">
                  <a:spcAft>
                    <a:spcPts val="650"/>
                  </a:spcAft>
                  <a:buNone/>
                </a:pPr>
                <a:r>
                  <a:rPr sz="1800" dirty="0">
                    <a:latin typeface="Times New Roman"/>
                  </a:rPr>
                  <a:t>Each clause has at least one true input, so each clause gadget admits a legal 3-coloring extension.</a:t>
                </a:r>
              </a:p>
            </p:txBody>
          </p:sp>
        </mc:Choice>
        <mc:Fallback>
          <p:sp>
            <p:nvSpPr>
              <p:cNvPr id="5" name="Content Placeholder 2"/>
              <p:cNvSpPr>
                <a:spLocks noGrp="1" noRot="1" noChangeAspect="1" noMove="1" noResize="1" noEditPoints="1" noAdjustHandles="1" noChangeArrowheads="1" noChangeShapeType="1" noTextEdit="1"/>
              </p:cNvSpPr>
              <p:nvPr/>
            </p:nvSpPr>
            <p:spPr>
              <a:xfrm>
                <a:off x="4709160" y="2148840"/>
                <a:ext cx="4069080" cy="4297680"/>
              </a:xfrm>
              <a:blipFill>
                <a:blip r:embed="rId3"/>
                <a:stretch>
                  <a:fillRect/>
                </a:stretch>
              </a:blipFill>
            </p:spPr>
            <p:txBody>
              <a:bodyPr/>
              <a:lstStyle/>
              <a:p>
                <a:r>
                  <a:rPr lang="en-US">
                    <a:noFill/>
                  </a:rPr>
                  <a:t> </a:t>
                </a:r>
              </a:p>
            </p:txBody>
          </p:sp>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228600" y="128016"/>
            <a:ext cx="8686800" cy="713232"/>
          </a:xfrm>
        </p:spPr>
        <p:txBody>
          <a:bodyPr wrap="square" lIns="0" tIns="0" rIns="0" bIns="0" anchor="t">
            <a:noAutofit/>
          </a:bodyPr>
          <a:lstStyle>
            <a:lvl1pPr>
              <a:defRPr sz="2350" b="1">
                <a:solidFill>
                  <a:srgbClr val="3333B2"/>
                </a:solidFill>
                <a:latin typeface="Times New Roman"/>
              </a:defRPr>
            </a:lvl1pPr>
            <a:lvl2pPr>
              <a:defRPr sz="2350" b="1">
                <a:solidFill>
                  <a:srgbClr val="3333B2"/>
                </a:solidFill>
                <a:latin typeface="Times New Roman"/>
              </a:defRPr>
            </a:lvl2pPr>
            <a:lvl3pPr>
              <a:defRPr sz="2350" b="1">
                <a:solidFill>
                  <a:srgbClr val="3333B2"/>
                </a:solidFill>
                <a:latin typeface="Times New Roman"/>
              </a:defRPr>
            </a:lvl3pPr>
            <a:lvl4pPr>
              <a:defRPr sz="2350" b="1">
                <a:solidFill>
                  <a:srgbClr val="3333B2"/>
                </a:solidFill>
                <a:latin typeface="Times New Roman"/>
              </a:defRPr>
            </a:lvl4pPr>
            <a:lvl5pPr>
              <a:defRPr sz="2350" b="1">
                <a:solidFill>
                  <a:srgbClr val="3333B2"/>
                </a:solidFill>
                <a:latin typeface="Times New Roman"/>
              </a:defRPr>
            </a:lvl5pPr>
            <a:lvl6pPr>
              <a:defRPr sz="2350" b="1">
                <a:solidFill>
                  <a:srgbClr val="3333B2"/>
                </a:solidFill>
                <a:latin typeface="Times New Roman"/>
              </a:defRPr>
            </a:lvl6pPr>
            <a:lvl7pPr>
              <a:defRPr sz="2350" b="1">
                <a:solidFill>
                  <a:srgbClr val="3333B2"/>
                </a:solidFill>
                <a:latin typeface="Times New Roman"/>
              </a:defRPr>
            </a:lvl7pPr>
            <a:lvl8pPr>
              <a:defRPr sz="2350" b="1">
                <a:solidFill>
                  <a:srgbClr val="3333B2"/>
                </a:solidFill>
                <a:latin typeface="Times New Roman"/>
              </a:defRPr>
            </a:lvl8pPr>
            <a:lvl9pPr>
              <a:defRPr sz="2350" b="1">
                <a:solidFill>
                  <a:srgbClr val="3333B2"/>
                </a:solidFill>
                <a:latin typeface="Times New Roman"/>
              </a:defRPr>
            </a:lvl9pPr>
          </a:lstStyle>
          <a:p>
            <a:pPr marL="0" lvl="0" indent="0">
              <a:spcAft>
                <a:spcPts val="650"/>
              </a:spcAft>
              <a:buNone/>
            </a:pPr>
            <a:r>
              <a:rPr sz="2350" b="1">
                <a:solidFill>
                  <a:srgbClr val="3333B2"/>
                </a:solidFill>
                <a:latin typeface="Times New Roman"/>
              </a:rPr>
              <a:t>Assembling the Formula Graph</a:t>
            </a:r>
          </a:p>
        </p:txBody>
      </p:sp>
      <p:pic>
        <p:nvPicPr>
          <p:cNvPr id="3" name="Picture 1" descr="editable_assets/diagram-14-1.png"/>
          <p:cNvPicPr>
            <a:picLocks noGrp="1" noChangeAspect="1"/>
          </p:cNvPicPr>
          <p:nvPr/>
        </p:nvPicPr>
        <p:blipFill>
          <a:blip r:embed="rId3"/>
          <a:srcRect l="2513" t="28174" r="24065" b="522"/>
          <a:stretch>
            <a:fillRect/>
          </a:stretch>
        </p:blipFill>
        <p:spPr bwMode="auto">
          <a:xfrm>
            <a:off x="822960" y="1228356"/>
            <a:ext cx="7498080" cy="4675609"/>
          </a:xfrm>
          <a:prstGeom prst="rect">
            <a:avLst/>
          </a:prstGeom>
          <a:noFill/>
          <a:ln w="9525">
            <a:noFill/>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228600" y="128016"/>
            <a:ext cx="8686800" cy="713232"/>
          </a:xfrm>
        </p:spPr>
        <p:txBody>
          <a:bodyPr wrap="square" lIns="0" tIns="0" rIns="0" bIns="0" anchor="t">
            <a:noAutofit/>
          </a:bodyPr>
          <a:lstStyle>
            <a:lvl1pPr>
              <a:defRPr sz="2350" b="1">
                <a:solidFill>
                  <a:srgbClr val="3333B2"/>
                </a:solidFill>
                <a:latin typeface="Times New Roman"/>
              </a:defRPr>
            </a:lvl1pPr>
            <a:lvl2pPr>
              <a:defRPr sz="2350" b="1">
                <a:solidFill>
                  <a:srgbClr val="3333B2"/>
                </a:solidFill>
                <a:latin typeface="Times New Roman"/>
              </a:defRPr>
            </a:lvl2pPr>
            <a:lvl3pPr>
              <a:defRPr sz="2350" b="1">
                <a:solidFill>
                  <a:srgbClr val="3333B2"/>
                </a:solidFill>
                <a:latin typeface="Times New Roman"/>
              </a:defRPr>
            </a:lvl3pPr>
            <a:lvl4pPr>
              <a:defRPr sz="2350" b="1">
                <a:solidFill>
                  <a:srgbClr val="3333B2"/>
                </a:solidFill>
                <a:latin typeface="Times New Roman"/>
              </a:defRPr>
            </a:lvl4pPr>
            <a:lvl5pPr>
              <a:defRPr sz="2350" b="1">
                <a:solidFill>
                  <a:srgbClr val="3333B2"/>
                </a:solidFill>
                <a:latin typeface="Times New Roman"/>
              </a:defRPr>
            </a:lvl5pPr>
            <a:lvl6pPr>
              <a:defRPr sz="2350" b="1">
                <a:solidFill>
                  <a:srgbClr val="3333B2"/>
                </a:solidFill>
                <a:latin typeface="Times New Roman"/>
              </a:defRPr>
            </a:lvl6pPr>
            <a:lvl7pPr>
              <a:defRPr sz="2350" b="1">
                <a:solidFill>
                  <a:srgbClr val="3333B2"/>
                </a:solidFill>
                <a:latin typeface="Times New Roman"/>
              </a:defRPr>
            </a:lvl7pPr>
            <a:lvl8pPr>
              <a:defRPr sz="2350" b="1">
                <a:solidFill>
                  <a:srgbClr val="3333B2"/>
                </a:solidFill>
                <a:latin typeface="Times New Roman"/>
              </a:defRPr>
            </a:lvl8pPr>
            <a:lvl9pPr>
              <a:defRPr sz="2350" b="1">
                <a:solidFill>
                  <a:srgbClr val="3333B2"/>
                </a:solidFill>
                <a:latin typeface="Times New Roman"/>
              </a:defRPr>
            </a:lvl9pPr>
          </a:lstStyle>
          <a:p>
            <a:pPr marL="0" lvl="0" indent="0">
              <a:spcAft>
                <a:spcPts val="650"/>
              </a:spcAft>
              <a:buNone/>
            </a:pPr>
            <a:r>
              <a:rPr sz="2350" b="1">
                <a:solidFill>
                  <a:srgbClr val="3333B2"/>
                </a:solidFill>
                <a:latin typeface="Times New Roman"/>
              </a:rPr>
              <a:t>Assembling the Formula Graph</a:t>
            </a:r>
          </a:p>
        </p:txBody>
      </p:sp>
      <p:pic>
        <p:nvPicPr>
          <p:cNvPr id="3" name="Picture 1" descr="editable_assets/diagram-14-2.png"/>
          <p:cNvPicPr>
            <a:picLocks noGrp="1" noChangeAspect="1"/>
          </p:cNvPicPr>
          <p:nvPr/>
        </p:nvPicPr>
        <p:blipFill>
          <a:blip r:embed="rId3"/>
          <a:srcRect l="2513" t="28174" r="24065" b="522"/>
          <a:stretch>
            <a:fillRect/>
          </a:stretch>
        </p:blipFill>
        <p:spPr bwMode="auto">
          <a:xfrm>
            <a:off x="822960" y="1228356"/>
            <a:ext cx="7498080" cy="4675609"/>
          </a:xfrm>
          <a:prstGeom prst="rect">
            <a:avLst/>
          </a:prstGeom>
          <a:noFill/>
          <a:ln w="9525">
            <a:noFill/>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228600" y="128016"/>
            <a:ext cx="8686800" cy="713232"/>
          </a:xfrm>
        </p:spPr>
        <p:txBody>
          <a:bodyPr wrap="square" lIns="0" tIns="0" rIns="0" bIns="0" anchor="t">
            <a:noAutofit/>
          </a:bodyPr>
          <a:lstStyle>
            <a:lvl1pPr>
              <a:defRPr sz="2350" b="1">
                <a:solidFill>
                  <a:srgbClr val="3333B2"/>
                </a:solidFill>
                <a:latin typeface="Times New Roman"/>
              </a:defRPr>
            </a:lvl1pPr>
            <a:lvl2pPr>
              <a:defRPr sz="2350" b="1">
                <a:solidFill>
                  <a:srgbClr val="3333B2"/>
                </a:solidFill>
                <a:latin typeface="Times New Roman"/>
              </a:defRPr>
            </a:lvl2pPr>
            <a:lvl3pPr>
              <a:defRPr sz="2350" b="1">
                <a:solidFill>
                  <a:srgbClr val="3333B2"/>
                </a:solidFill>
                <a:latin typeface="Times New Roman"/>
              </a:defRPr>
            </a:lvl3pPr>
            <a:lvl4pPr>
              <a:defRPr sz="2350" b="1">
                <a:solidFill>
                  <a:srgbClr val="3333B2"/>
                </a:solidFill>
                <a:latin typeface="Times New Roman"/>
              </a:defRPr>
            </a:lvl4pPr>
            <a:lvl5pPr>
              <a:defRPr sz="2350" b="1">
                <a:solidFill>
                  <a:srgbClr val="3333B2"/>
                </a:solidFill>
                <a:latin typeface="Times New Roman"/>
              </a:defRPr>
            </a:lvl5pPr>
            <a:lvl6pPr>
              <a:defRPr sz="2350" b="1">
                <a:solidFill>
                  <a:srgbClr val="3333B2"/>
                </a:solidFill>
                <a:latin typeface="Times New Roman"/>
              </a:defRPr>
            </a:lvl6pPr>
            <a:lvl7pPr>
              <a:defRPr sz="2350" b="1">
                <a:solidFill>
                  <a:srgbClr val="3333B2"/>
                </a:solidFill>
                <a:latin typeface="Times New Roman"/>
              </a:defRPr>
            </a:lvl7pPr>
            <a:lvl8pPr>
              <a:defRPr sz="2350" b="1">
                <a:solidFill>
                  <a:srgbClr val="3333B2"/>
                </a:solidFill>
                <a:latin typeface="Times New Roman"/>
              </a:defRPr>
            </a:lvl8pPr>
            <a:lvl9pPr>
              <a:defRPr sz="2350" b="1">
                <a:solidFill>
                  <a:srgbClr val="3333B2"/>
                </a:solidFill>
                <a:latin typeface="Times New Roman"/>
              </a:defRPr>
            </a:lvl9pPr>
          </a:lstStyle>
          <a:p>
            <a:pPr marL="0" lvl="0" indent="0">
              <a:spcAft>
                <a:spcPts val="650"/>
              </a:spcAft>
              <a:buNone/>
            </a:pPr>
            <a:r>
              <a:rPr sz="2350" b="1">
                <a:solidFill>
                  <a:srgbClr val="3333B2"/>
                </a:solidFill>
                <a:latin typeface="Times New Roman"/>
              </a:rPr>
              <a:t>Assembling the Formula Graph</a:t>
            </a:r>
          </a:p>
        </p:txBody>
      </p:sp>
      <p:pic>
        <p:nvPicPr>
          <p:cNvPr id="3" name="Picture 1" descr="editable_assets/diagram-14-3.png"/>
          <p:cNvPicPr>
            <a:picLocks noGrp="1" noChangeAspect="1"/>
          </p:cNvPicPr>
          <p:nvPr/>
        </p:nvPicPr>
        <p:blipFill>
          <a:blip r:embed="rId3"/>
          <a:srcRect l="2513" t="28174" r="24065" b="522"/>
          <a:stretch>
            <a:fillRect/>
          </a:stretch>
        </p:blipFill>
        <p:spPr bwMode="auto">
          <a:xfrm>
            <a:off x="822960" y="1228356"/>
            <a:ext cx="7498080" cy="4675609"/>
          </a:xfrm>
          <a:prstGeom prst="rect">
            <a:avLst/>
          </a:prstGeom>
          <a:noFill/>
          <a:ln w="9525">
            <a:noFill/>
            <a:headEnd/>
            <a:tailEnd/>
          </a:ln>
        </p:spPr>
      </p:pic>
      <p:sp>
        <p:nvSpPr>
          <p:cNvPr id="4" name="Content Placeholder 2"/>
          <p:cNvSpPr>
            <a:spLocks noGrp="1"/>
          </p:cNvSpPr>
          <p:nvPr/>
        </p:nvSpPr>
        <p:spPr>
          <a:xfrm>
            <a:off x="411480" y="6263640"/>
            <a:ext cx="8321040" cy="411480"/>
          </a:xfrm>
        </p:spPr>
        <p:txBody>
          <a:bodyPr wrap="square" lIns="0" tIns="0" rIns="0" bIns="0" anchor="t">
            <a:noAutofit/>
          </a:bodyPr>
          <a:lstStyle>
            <a:lvl1pPr>
              <a:defRPr sz="1700">
                <a:latin typeface="Times New Roman"/>
              </a:defRPr>
            </a:lvl1pPr>
            <a:lvl2pPr>
              <a:defRPr sz="1700">
                <a:latin typeface="Times New Roman"/>
              </a:defRPr>
            </a:lvl2pPr>
            <a:lvl3pPr>
              <a:defRPr sz="1700">
                <a:latin typeface="Times New Roman"/>
              </a:defRPr>
            </a:lvl3pPr>
            <a:lvl4pPr>
              <a:defRPr sz="1700">
                <a:latin typeface="Times New Roman"/>
              </a:defRPr>
            </a:lvl4pPr>
            <a:lvl5pPr>
              <a:defRPr sz="1700">
                <a:latin typeface="Times New Roman"/>
              </a:defRPr>
            </a:lvl5pPr>
            <a:lvl6pPr>
              <a:defRPr sz="1700">
                <a:latin typeface="Times New Roman"/>
              </a:defRPr>
            </a:lvl6pPr>
            <a:lvl7pPr>
              <a:defRPr sz="1700">
                <a:latin typeface="Times New Roman"/>
              </a:defRPr>
            </a:lvl7pPr>
            <a:lvl8pPr>
              <a:defRPr sz="1700">
                <a:latin typeface="Times New Roman"/>
              </a:defRPr>
            </a:lvl8pPr>
            <a:lvl9pPr>
              <a:defRPr sz="1700">
                <a:latin typeface="Times New Roman"/>
              </a:defRPr>
            </a:lvl9pPr>
          </a:lstStyle>
          <a:p>
            <a:pPr marL="0" lvl="0" indent="0" algn="ctr">
              <a:spcAft>
                <a:spcPts val="400"/>
              </a:spcAft>
              <a:buNone/>
            </a:pPr>
            <a:r>
              <a:rPr sz="1700" dirty="0">
                <a:latin typeface="Times New Roman"/>
              </a:rPr>
              <a:t>The palette and literal vertices are shared; each clause has fresh internal vertices.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228600" y="128016"/>
            <a:ext cx="8686800" cy="713232"/>
          </a:xfrm>
        </p:spPr>
        <p:txBody>
          <a:bodyPr wrap="square" lIns="0" tIns="0" rIns="0" bIns="0" anchor="t">
            <a:noAutofit/>
          </a:bodyPr>
          <a:lstStyle>
            <a:lvl1pPr>
              <a:defRPr sz="2350" b="1">
                <a:solidFill>
                  <a:srgbClr val="3333B2"/>
                </a:solidFill>
                <a:latin typeface="Times New Roman"/>
              </a:defRPr>
            </a:lvl1pPr>
            <a:lvl2pPr>
              <a:defRPr sz="2350" b="1">
                <a:solidFill>
                  <a:srgbClr val="3333B2"/>
                </a:solidFill>
                <a:latin typeface="Times New Roman"/>
              </a:defRPr>
            </a:lvl2pPr>
            <a:lvl3pPr>
              <a:defRPr sz="2350" b="1">
                <a:solidFill>
                  <a:srgbClr val="3333B2"/>
                </a:solidFill>
                <a:latin typeface="Times New Roman"/>
              </a:defRPr>
            </a:lvl3pPr>
            <a:lvl4pPr>
              <a:defRPr sz="2350" b="1">
                <a:solidFill>
                  <a:srgbClr val="3333B2"/>
                </a:solidFill>
                <a:latin typeface="Times New Roman"/>
              </a:defRPr>
            </a:lvl4pPr>
            <a:lvl5pPr>
              <a:defRPr sz="2350" b="1">
                <a:solidFill>
                  <a:srgbClr val="3333B2"/>
                </a:solidFill>
                <a:latin typeface="Times New Roman"/>
              </a:defRPr>
            </a:lvl5pPr>
            <a:lvl6pPr>
              <a:defRPr sz="2350" b="1">
                <a:solidFill>
                  <a:srgbClr val="3333B2"/>
                </a:solidFill>
                <a:latin typeface="Times New Roman"/>
              </a:defRPr>
            </a:lvl6pPr>
            <a:lvl7pPr>
              <a:defRPr sz="2350" b="1">
                <a:solidFill>
                  <a:srgbClr val="3333B2"/>
                </a:solidFill>
                <a:latin typeface="Times New Roman"/>
              </a:defRPr>
            </a:lvl7pPr>
            <a:lvl8pPr>
              <a:defRPr sz="2350" b="1">
                <a:solidFill>
                  <a:srgbClr val="3333B2"/>
                </a:solidFill>
                <a:latin typeface="Times New Roman"/>
              </a:defRPr>
            </a:lvl8pPr>
            <a:lvl9pPr>
              <a:defRPr sz="2350" b="1">
                <a:solidFill>
                  <a:srgbClr val="3333B2"/>
                </a:solidFill>
                <a:latin typeface="Times New Roman"/>
              </a:defRPr>
            </a:lvl9pPr>
          </a:lstStyle>
          <a:p>
            <a:pPr marL="0" lvl="0" indent="0">
              <a:spcAft>
                <a:spcPts val="650"/>
              </a:spcAft>
              <a:buNone/>
            </a:pPr>
            <a:r>
              <a:rPr sz="2350" b="1">
                <a:solidFill>
                  <a:srgbClr val="3333B2"/>
                </a:solidFill>
                <a:latin typeface="Times New Roman"/>
              </a:rPr>
              <a:t>Full Construction for the Two Clauses</a:t>
            </a:r>
          </a:p>
        </p:txBody>
      </p:sp>
      <p:pic>
        <p:nvPicPr>
          <p:cNvPr id="3" name="Picture 1" descr="editable_assets/diagram-15-1.png"/>
          <p:cNvPicPr>
            <a:picLocks noGrp="1" noChangeAspect="1"/>
          </p:cNvPicPr>
          <p:nvPr/>
        </p:nvPicPr>
        <p:blipFill>
          <a:blip r:embed="rId3"/>
          <a:srcRect l="1478" t="3068" r="1478" b="909"/>
          <a:stretch>
            <a:fillRect/>
          </a:stretch>
        </p:blipFill>
        <p:spPr bwMode="auto">
          <a:xfrm>
            <a:off x="411480" y="1037180"/>
            <a:ext cx="8321040" cy="4865937"/>
          </a:xfrm>
          <a:prstGeom prst="rect">
            <a:avLst/>
          </a:prstGeom>
          <a:noFill/>
          <a:ln w="9525">
            <a:noFill/>
            <a:headEnd/>
            <a:tailEnd/>
          </a:ln>
        </p:spPr>
      </p:pic>
      <mc:AlternateContent xmlns:mc="http://schemas.openxmlformats.org/markup-compatibility/2006">
        <mc:Choice xmlns:a14="http://schemas.microsoft.com/office/drawing/2010/main" Requires="a14">
          <p:sp>
            <p:nvSpPr>
              <p:cNvPr id="4" name="Content Placeholder 2"/>
              <p:cNvSpPr>
                <a:spLocks noGrp="1"/>
              </p:cNvSpPr>
              <p:nvPr/>
            </p:nvSpPr>
            <p:spPr>
              <a:xfrm>
                <a:off x="411480" y="6080760"/>
                <a:ext cx="8321040" cy="685800"/>
              </a:xfrm>
            </p:spPr>
            <p:txBody>
              <a:bodyPr wrap="square" lIns="0" tIns="0" rIns="0" bIns="0" anchor="t">
                <a:noAutofit/>
              </a:bodyPr>
              <a:lstStyle>
                <a:lvl1pPr>
                  <a:defRPr sz="1500">
                    <a:latin typeface="Times New Roman"/>
                  </a:defRPr>
                </a:lvl1pPr>
                <a:lvl2pPr>
                  <a:defRPr sz="1500">
                    <a:latin typeface="Times New Roman"/>
                  </a:defRPr>
                </a:lvl2pPr>
                <a:lvl3pPr>
                  <a:defRPr sz="1500">
                    <a:latin typeface="Times New Roman"/>
                  </a:defRPr>
                </a:lvl3pPr>
                <a:lvl4pPr>
                  <a:defRPr sz="1500">
                    <a:latin typeface="Times New Roman"/>
                  </a:defRPr>
                </a:lvl4pPr>
                <a:lvl5pPr>
                  <a:defRPr sz="1500">
                    <a:latin typeface="Times New Roman"/>
                  </a:defRPr>
                </a:lvl5pPr>
                <a:lvl6pPr>
                  <a:defRPr sz="1500">
                    <a:latin typeface="Times New Roman"/>
                  </a:defRPr>
                </a:lvl6pPr>
                <a:lvl7pPr>
                  <a:defRPr sz="1500">
                    <a:latin typeface="Times New Roman"/>
                  </a:defRPr>
                </a:lvl7pPr>
                <a:lvl8pPr>
                  <a:defRPr sz="1500">
                    <a:latin typeface="Times New Roman"/>
                  </a:defRPr>
                </a:lvl8pPr>
                <a:lvl9pPr>
                  <a:defRPr sz="1500">
                    <a:latin typeface="Times New Roman"/>
                  </a:defRPr>
                </a:lvl9pPr>
              </a:lstStyle>
              <a:p>
                <a:pPr marL="0" lvl="0" indent="0" algn="ctr">
                  <a:spcAft>
                    <a:spcPts val="400"/>
                  </a:spcAft>
                  <a:buNone/>
                </a:pPr>
                <a:r>
                  <a:rPr sz="1500" dirty="0">
                    <a:latin typeface="Times New Roman"/>
                  </a:rPr>
                  <a:t>Existing literal vertices are reused directly. Only </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𝑎</m:t>
                        </m:r>
                      </m:e>
                      <m:sub>
                        <m:r>
                          <a:rPr>
                            <a:latin typeface="Cambria Math" panose="02040503050406030204" pitchFamily="18" charset="0"/>
                          </a:rPr>
                          <m:t>𝑖</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𝑏</m:t>
                        </m:r>
                      </m:e>
                      <m:sub>
                        <m:r>
                          <a:rPr>
                            <a:latin typeface="Cambria Math" panose="02040503050406030204" pitchFamily="18" charset="0"/>
                          </a:rPr>
                          <m:t>𝑖</m:t>
                        </m:r>
                      </m:sub>
                    </m:sSub>
                  </m:oMath>
                </a14:m>
                <a:r>
                  <a:rPr sz="1500" dirty="0">
                    <a:latin typeface="Times New Roman"/>
                  </a:rPr>
                  <a:t> are new for each clause.</a:t>
                </a:r>
              </a:p>
              <a:p>
                <a:pPr marL="0" lvl="0" indent="0" algn="ctr">
                  <a:spcAft>
                    <a:spcPts val="400"/>
                  </a:spcAft>
                  <a:buNone/>
                </a:pPr>
                <a:r>
                  <a:rPr sz="1500" dirty="0">
                    <a:latin typeface="Times New Roman"/>
                  </a:rPr>
                  <a:t>Blue edges are </a:t>
                </a:r>
                <a14:m>
                  <m:oMath xmlns:m="http://schemas.openxmlformats.org/officeDocument/2006/math">
                    <m:r>
                      <a:rPr>
                        <a:latin typeface="Cambria Math" panose="02040503050406030204" pitchFamily="18" charset="0"/>
                      </a:rPr>
                      <m:t>𝑇</m:t>
                    </m:r>
                  </m:oMath>
                </a14:m>
                <a:r>
                  <a:rPr sz="1500" dirty="0">
                    <a:latin typeface="Times New Roman"/>
                  </a:rPr>
                  <a:t>-links; red edges are links to </a:t>
                </a:r>
                <a14:m>
                  <m:oMath xmlns:m="http://schemas.openxmlformats.org/officeDocument/2006/math">
                    <m:r>
                      <a:rPr>
                        <a:latin typeface="Cambria Math" panose="02040503050406030204" pitchFamily="18" charset="0"/>
                      </a:rPr>
                      <m:t>𝐹</m:t>
                    </m:r>
                  </m:oMath>
                </a14:m>
                <a:r>
                  <a:rPr sz="1500" dirty="0">
                    <a:latin typeface="Times New Roman"/>
                  </a:rPr>
                  <a:t>.</a:t>
                </a:r>
              </a:p>
            </p:txBody>
          </p:sp>
        </mc:Choice>
        <mc:Fallback>
          <p:sp>
            <p:nvSpPr>
              <p:cNvPr id="4" name="Content Placeholder 2"/>
              <p:cNvSpPr>
                <a:spLocks noGrp="1" noRot="1" noChangeAspect="1" noMove="1" noResize="1" noEditPoints="1" noAdjustHandles="1" noChangeArrowheads="1" noChangeShapeType="1" noTextEdit="1"/>
              </p:cNvSpPr>
              <p:nvPr/>
            </p:nvSpPr>
            <p:spPr>
              <a:xfrm>
                <a:off x="411480" y="6080760"/>
                <a:ext cx="8321040" cy="685800"/>
              </a:xfrm>
              <a:blipFill>
                <a:blip r:embed="rId4"/>
                <a:stretch>
                  <a:fillRect/>
                </a:stretch>
              </a:blipFill>
            </p:spPr>
            <p:txBody>
              <a:bodyPr/>
              <a:lstStyle/>
              <a:p>
                <a:r>
                  <a:rPr lang="en-US">
                    <a:noFill/>
                  </a:rPr>
                  <a:t> </a:t>
                </a:r>
              </a:p>
            </p:txBody>
          </p:sp>
        </mc:Fallback>
      </mc:AlternateContent>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228600" y="128016"/>
            <a:ext cx="8686800" cy="713232"/>
          </a:xfrm>
        </p:spPr>
        <p:txBody>
          <a:bodyPr wrap="square" lIns="0" tIns="0" rIns="0" bIns="0" anchor="t">
            <a:noAutofit/>
          </a:bodyPr>
          <a:lstStyle>
            <a:lvl1pPr>
              <a:defRPr sz="2350" b="1">
                <a:solidFill>
                  <a:srgbClr val="3333B2"/>
                </a:solidFill>
                <a:latin typeface="Times New Roman"/>
              </a:defRPr>
            </a:lvl1pPr>
            <a:lvl2pPr>
              <a:defRPr sz="2350" b="1">
                <a:solidFill>
                  <a:srgbClr val="3333B2"/>
                </a:solidFill>
                <a:latin typeface="Times New Roman"/>
              </a:defRPr>
            </a:lvl2pPr>
            <a:lvl3pPr>
              <a:defRPr sz="2350" b="1">
                <a:solidFill>
                  <a:srgbClr val="3333B2"/>
                </a:solidFill>
                <a:latin typeface="Times New Roman"/>
              </a:defRPr>
            </a:lvl3pPr>
            <a:lvl4pPr>
              <a:defRPr sz="2350" b="1">
                <a:solidFill>
                  <a:srgbClr val="3333B2"/>
                </a:solidFill>
                <a:latin typeface="Times New Roman"/>
              </a:defRPr>
            </a:lvl4pPr>
            <a:lvl5pPr>
              <a:defRPr sz="2350" b="1">
                <a:solidFill>
                  <a:srgbClr val="3333B2"/>
                </a:solidFill>
                <a:latin typeface="Times New Roman"/>
              </a:defRPr>
            </a:lvl5pPr>
            <a:lvl6pPr>
              <a:defRPr sz="2350" b="1">
                <a:solidFill>
                  <a:srgbClr val="3333B2"/>
                </a:solidFill>
                <a:latin typeface="Times New Roman"/>
              </a:defRPr>
            </a:lvl6pPr>
            <a:lvl7pPr>
              <a:defRPr sz="2350" b="1">
                <a:solidFill>
                  <a:srgbClr val="3333B2"/>
                </a:solidFill>
                <a:latin typeface="Times New Roman"/>
              </a:defRPr>
            </a:lvl7pPr>
            <a:lvl8pPr>
              <a:defRPr sz="2350" b="1">
                <a:solidFill>
                  <a:srgbClr val="3333B2"/>
                </a:solidFill>
                <a:latin typeface="Times New Roman"/>
              </a:defRPr>
            </a:lvl8pPr>
            <a:lvl9pPr>
              <a:defRPr sz="2350" b="1">
                <a:solidFill>
                  <a:srgbClr val="3333B2"/>
                </a:solidFill>
                <a:latin typeface="Times New Roman"/>
              </a:defRPr>
            </a:lvl9pPr>
          </a:lstStyle>
          <a:p>
            <a:pPr marL="0" lvl="0" indent="0">
              <a:spcAft>
                <a:spcPts val="650"/>
              </a:spcAft>
              <a:buNone/>
            </a:pPr>
            <a:r>
              <a:rPr sz="2350" b="1">
                <a:solidFill>
                  <a:srgbClr val="3333B2"/>
                </a:solidFill>
                <a:latin typeface="Times New Roman"/>
              </a:rPr>
              <a:t>Correctness and Complexity of the Reduction</a:t>
            </a:r>
          </a:p>
        </p:txBody>
      </p:sp>
      <mc:AlternateContent xmlns:mc="http://schemas.openxmlformats.org/markup-compatibility/2006">
        <mc:Choice xmlns:a14="http://schemas.microsoft.com/office/drawing/2010/main" Requires="a14">
          <p:sp>
            <p:nvSpPr>
              <p:cNvPr id="5" name="Content Placeholder 2">
                <a:extLst>
                  <a:ext uri="{FF2B5EF4-FFF2-40B4-BE49-F238E27FC236}">
                    <a16:creationId xmlns:a16="http://schemas.microsoft.com/office/drawing/2014/main" id="{0041B3D1-2800-C0C7-A85D-6F241DC1D8FF}"/>
                  </a:ext>
                </a:extLst>
              </p:cNvPr>
              <p:cNvSpPr>
                <a:spLocks noGrp="1"/>
              </p:cNvSpPr>
              <p:nvPr/>
            </p:nvSpPr>
            <p:spPr>
              <a:xfrm>
                <a:off x="365760" y="1051560"/>
                <a:ext cx="4069080" cy="2560320"/>
              </a:xfrm>
            </p:spPr>
            <p:txBody>
              <a:bodyPr wrap="square" lIns="0" tIns="0" rIns="0" bIns="0" anchor="t">
                <a:noAutofit/>
              </a:bodyPr>
              <a:lstStyle>
                <a:lvl1pPr>
                  <a:defRPr sz="1800">
                    <a:latin typeface="Times New Roman"/>
                  </a:defRPr>
                </a:lvl1pPr>
                <a:lvl2pPr>
                  <a:defRPr sz="1800">
                    <a:latin typeface="Times New Roman"/>
                  </a:defRPr>
                </a:lvl2pPr>
                <a:lvl3pPr>
                  <a:defRPr sz="1800">
                    <a:latin typeface="Times New Roman"/>
                  </a:defRPr>
                </a:lvl3pPr>
                <a:lvl4pPr>
                  <a:defRPr sz="1800">
                    <a:latin typeface="Times New Roman"/>
                  </a:defRPr>
                </a:lvl4pPr>
                <a:lvl5pPr>
                  <a:defRPr sz="1800">
                    <a:latin typeface="Times New Roman"/>
                  </a:defRPr>
                </a:lvl5pPr>
                <a:lvl6pPr>
                  <a:defRPr sz="1800">
                    <a:latin typeface="Times New Roman"/>
                  </a:defRPr>
                </a:lvl6pPr>
                <a:lvl7pPr>
                  <a:defRPr sz="1800">
                    <a:latin typeface="Times New Roman"/>
                  </a:defRPr>
                </a:lvl7pPr>
                <a:lvl8pPr>
                  <a:defRPr sz="1800">
                    <a:latin typeface="Times New Roman"/>
                  </a:defRPr>
                </a:lvl8pPr>
                <a:lvl9pPr>
                  <a:defRPr sz="1800">
                    <a:latin typeface="Times New Roman"/>
                  </a:defRPr>
                </a:lvl9pPr>
              </a:lstStyle>
              <a:p>
                <a:pPr marL="0" lvl="0" indent="0">
                  <a:spcAft>
                    <a:spcPts val="650"/>
                  </a:spcAft>
                  <a:buNone/>
                </a:pPr>
                <a14:m>
                  <m:oMath xmlns:m="http://schemas.openxmlformats.org/officeDocument/2006/math">
                    <m:r>
                      <a:rPr sz="1900" u="sng">
                        <a:latin typeface="Cambria Math" panose="02040503050406030204" pitchFamily="18" charset="0"/>
                      </a:rPr>
                      <m:t>𝜙</m:t>
                    </m:r>
                  </m:oMath>
                </a14:m>
                <a:r>
                  <a:rPr sz="1900" b="1" u="sng" dirty="0"/>
                  <a:t> satisfiable </a:t>
                </a:r>
                <a14:m>
                  <m:oMath xmlns:m="http://schemas.openxmlformats.org/officeDocument/2006/math">
                    <m:r>
                      <a:rPr sz="1900" u="sng">
                        <a:latin typeface="Cambria Math" panose="02040503050406030204" pitchFamily="18" charset="0"/>
                      </a:rPr>
                      <m:t>⇒</m:t>
                    </m:r>
                    <m:sSub>
                      <m:sSubPr>
                        <m:ctrlPr>
                          <a:rPr sz="1900" u="sng">
                            <a:latin typeface="Cambria Math" panose="02040503050406030204" pitchFamily="18" charset="0"/>
                          </a:rPr>
                        </m:ctrlPr>
                      </m:sSubPr>
                      <m:e>
                        <m:r>
                          <a:rPr sz="1900" u="sng">
                            <a:latin typeface="Cambria Math" panose="02040503050406030204" pitchFamily="18" charset="0"/>
                          </a:rPr>
                          <m:t>𝐺</m:t>
                        </m:r>
                      </m:e>
                      <m:sub>
                        <m:r>
                          <a:rPr sz="1900" u="sng">
                            <a:latin typeface="Cambria Math" panose="02040503050406030204" pitchFamily="18" charset="0"/>
                          </a:rPr>
                          <m:t>𝜙</m:t>
                        </m:r>
                      </m:sub>
                    </m:sSub>
                  </m:oMath>
                </a14:m>
                <a:r>
                  <a:rPr sz="1900" b="1" u="sng" dirty="0"/>
                  <a:t> 3-colorable</a:t>
                </a:r>
              </a:p>
              <a:p>
                <a:pPr lvl="0">
                  <a:spcAft>
                    <a:spcPts val="650"/>
                  </a:spcAft>
                </a:pPr>
                <a:r>
                  <a:rPr sz="1900" dirty="0"/>
                  <a:t>Give each literal its truth color.</a:t>
                </a:r>
              </a:p>
              <a:p>
                <a:pPr lvl="0">
                  <a:spcAft>
                    <a:spcPts val="650"/>
                  </a:spcAft>
                </a:pPr>
                <a:r>
                  <a:rPr sz="1900" dirty="0"/>
                  <a:t>Every clause has a true literal.</a:t>
                </a:r>
              </a:p>
              <a:p>
                <a:pPr lvl="0">
                  <a:spcAft>
                    <a:spcPts val="650"/>
                  </a:spcAft>
                </a:pPr>
                <a:r>
                  <a:rPr sz="1900" dirty="0"/>
                  <a:t>Every clause gadget therefore extends to a legal coloring.</a:t>
                </a:r>
              </a:p>
            </p:txBody>
          </p:sp>
        </mc:Choice>
        <mc:Fallback>
          <p:sp>
            <p:nvSpPr>
              <p:cNvPr id="5" name="Content Placeholder 2">
                <a:extLst>
                  <a:ext uri="{FF2B5EF4-FFF2-40B4-BE49-F238E27FC236}">
                    <a16:creationId xmlns:a16="http://schemas.microsoft.com/office/drawing/2014/main" id="{0041B3D1-2800-C0C7-A85D-6F241DC1D8FF}"/>
                  </a:ext>
                </a:extLst>
              </p:cNvPr>
              <p:cNvSpPr>
                <a:spLocks noGrp="1" noRot="1" noChangeAspect="1" noMove="1" noResize="1" noEditPoints="1" noAdjustHandles="1" noChangeArrowheads="1" noChangeShapeType="1" noTextEdit="1"/>
              </p:cNvSpPr>
              <p:nvPr/>
            </p:nvSpPr>
            <p:spPr>
              <a:xfrm>
                <a:off x="365760" y="1051560"/>
                <a:ext cx="4069080" cy="2560320"/>
              </a:xfrm>
              <a:blipFill>
                <a:blip r:embed="rId3"/>
                <a:stretch>
                  <a:fillRect/>
                </a:stretch>
              </a:blipFill>
            </p:spPr>
            <p:txBody>
              <a:bodyPr/>
              <a:lstStyle/>
              <a:p>
                <a:r>
                  <a:rPr lang="en-US">
                    <a:noFill/>
                  </a:rPr>
                  <a:t> </a:t>
                </a:r>
              </a:p>
            </p:txBody>
          </p:sp>
        </mc:Fallback>
      </mc:AlternateContent>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228600" y="128016"/>
            <a:ext cx="8686800" cy="713232"/>
          </a:xfrm>
        </p:spPr>
        <p:txBody>
          <a:bodyPr wrap="square" lIns="0" tIns="0" rIns="0" bIns="0" anchor="t">
            <a:noAutofit/>
          </a:bodyPr>
          <a:lstStyle>
            <a:lvl1pPr>
              <a:defRPr sz="2350" b="1">
                <a:solidFill>
                  <a:srgbClr val="3333B2"/>
                </a:solidFill>
                <a:latin typeface="Times New Roman"/>
              </a:defRPr>
            </a:lvl1pPr>
            <a:lvl2pPr>
              <a:defRPr sz="2350" b="1">
                <a:solidFill>
                  <a:srgbClr val="3333B2"/>
                </a:solidFill>
                <a:latin typeface="Times New Roman"/>
              </a:defRPr>
            </a:lvl2pPr>
            <a:lvl3pPr>
              <a:defRPr sz="2350" b="1">
                <a:solidFill>
                  <a:srgbClr val="3333B2"/>
                </a:solidFill>
                <a:latin typeface="Times New Roman"/>
              </a:defRPr>
            </a:lvl3pPr>
            <a:lvl4pPr>
              <a:defRPr sz="2350" b="1">
                <a:solidFill>
                  <a:srgbClr val="3333B2"/>
                </a:solidFill>
                <a:latin typeface="Times New Roman"/>
              </a:defRPr>
            </a:lvl4pPr>
            <a:lvl5pPr>
              <a:defRPr sz="2350" b="1">
                <a:solidFill>
                  <a:srgbClr val="3333B2"/>
                </a:solidFill>
                <a:latin typeface="Times New Roman"/>
              </a:defRPr>
            </a:lvl5pPr>
            <a:lvl6pPr>
              <a:defRPr sz="2350" b="1">
                <a:solidFill>
                  <a:srgbClr val="3333B2"/>
                </a:solidFill>
                <a:latin typeface="Times New Roman"/>
              </a:defRPr>
            </a:lvl6pPr>
            <a:lvl7pPr>
              <a:defRPr sz="2350" b="1">
                <a:solidFill>
                  <a:srgbClr val="3333B2"/>
                </a:solidFill>
                <a:latin typeface="Times New Roman"/>
              </a:defRPr>
            </a:lvl7pPr>
            <a:lvl8pPr>
              <a:defRPr sz="2350" b="1">
                <a:solidFill>
                  <a:srgbClr val="3333B2"/>
                </a:solidFill>
                <a:latin typeface="Times New Roman"/>
              </a:defRPr>
            </a:lvl8pPr>
            <a:lvl9pPr>
              <a:defRPr sz="2350" b="1">
                <a:solidFill>
                  <a:srgbClr val="3333B2"/>
                </a:solidFill>
                <a:latin typeface="Times New Roman"/>
              </a:defRPr>
            </a:lvl9pPr>
          </a:lstStyle>
          <a:p>
            <a:pPr marL="0" lvl="0" indent="0">
              <a:spcAft>
                <a:spcPts val="650"/>
              </a:spcAft>
              <a:buNone/>
            </a:pPr>
            <a:r>
              <a:rPr sz="2350" b="1">
                <a:solidFill>
                  <a:srgbClr val="3333B2"/>
                </a:solidFill>
                <a:latin typeface="Times New Roman"/>
              </a:rPr>
              <a:t>Correctness and Complexity of the Reduction</a:t>
            </a:r>
          </a:p>
        </p:txBody>
      </p:sp>
      <mc:AlternateContent xmlns:mc="http://schemas.openxmlformats.org/markup-compatibility/2006">
        <mc:Choice xmlns:a14="http://schemas.microsoft.com/office/drawing/2010/main" Requires="a14">
          <p:sp>
            <p:nvSpPr>
              <p:cNvPr id="6" name="Content Placeholder 2">
                <a:extLst>
                  <a:ext uri="{FF2B5EF4-FFF2-40B4-BE49-F238E27FC236}">
                    <a16:creationId xmlns:a16="http://schemas.microsoft.com/office/drawing/2014/main" id="{046F9DD8-66BA-D785-0296-415B55C104C0}"/>
                  </a:ext>
                </a:extLst>
              </p:cNvPr>
              <p:cNvSpPr>
                <a:spLocks noGrp="1"/>
              </p:cNvSpPr>
              <p:nvPr/>
            </p:nvSpPr>
            <p:spPr>
              <a:xfrm>
                <a:off x="365760" y="1051560"/>
                <a:ext cx="4069080" cy="2560320"/>
              </a:xfrm>
            </p:spPr>
            <p:txBody>
              <a:bodyPr wrap="square" lIns="0" tIns="0" rIns="0" bIns="0" anchor="t">
                <a:noAutofit/>
              </a:bodyPr>
              <a:lstStyle>
                <a:lvl1pPr>
                  <a:defRPr sz="1800">
                    <a:latin typeface="Times New Roman"/>
                  </a:defRPr>
                </a:lvl1pPr>
                <a:lvl2pPr>
                  <a:defRPr sz="1800">
                    <a:latin typeface="Times New Roman"/>
                  </a:defRPr>
                </a:lvl2pPr>
                <a:lvl3pPr>
                  <a:defRPr sz="1800">
                    <a:latin typeface="Times New Roman"/>
                  </a:defRPr>
                </a:lvl3pPr>
                <a:lvl4pPr>
                  <a:defRPr sz="1800">
                    <a:latin typeface="Times New Roman"/>
                  </a:defRPr>
                </a:lvl4pPr>
                <a:lvl5pPr>
                  <a:defRPr sz="1800">
                    <a:latin typeface="Times New Roman"/>
                  </a:defRPr>
                </a:lvl5pPr>
                <a:lvl6pPr>
                  <a:defRPr sz="1800">
                    <a:latin typeface="Times New Roman"/>
                  </a:defRPr>
                </a:lvl6pPr>
                <a:lvl7pPr>
                  <a:defRPr sz="1800">
                    <a:latin typeface="Times New Roman"/>
                  </a:defRPr>
                </a:lvl7pPr>
                <a:lvl8pPr>
                  <a:defRPr sz="1800">
                    <a:latin typeface="Times New Roman"/>
                  </a:defRPr>
                </a:lvl8pPr>
                <a:lvl9pPr>
                  <a:defRPr sz="1800">
                    <a:latin typeface="Times New Roman"/>
                  </a:defRPr>
                </a:lvl9pPr>
              </a:lstStyle>
              <a:p>
                <a:pPr marL="0" lvl="0" indent="0">
                  <a:spcAft>
                    <a:spcPts val="650"/>
                  </a:spcAft>
                  <a:buNone/>
                </a:pPr>
                <a14:m>
                  <m:oMath xmlns:m="http://schemas.openxmlformats.org/officeDocument/2006/math">
                    <m:r>
                      <a:rPr sz="1900" u="sng">
                        <a:latin typeface="Cambria Math" panose="02040503050406030204" pitchFamily="18" charset="0"/>
                      </a:rPr>
                      <m:t>𝜙</m:t>
                    </m:r>
                  </m:oMath>
                </a14:m>
                <a:r>
                  <a:rPr sz="1900" b="1" u="sng" dirty="0"/>
                  <a:t> satisfiable </a:t>
                </a:r>
                <a14:m>
                  <m:oMath xmlns:m="http://schemas.openxmlformats.org/officeDocument/2006/math">
                    <m:r>
                      <a:rPr sz="1900" u="sng">
                        <a:latin typeface="Cambria Math" panose="02040503050406030204" pitchFamily="18" charset="0"/>
                      </a:rPr>
                      <m:t>⇒</m:t>
                    </m:r>
                    <m:sSub>
                      <m:sSubPr>
                        <m:ctrlPr>
                          <a:rPr sz="1900" u="sng">
                            <a:latin typeface="Cambria Math" panose="02040503050406030204" pitchFamily="18" charset="0"/>
                          </a:rPr>
                        </m:ctrlPr>
                      </m:sSubPr>
                      <m:e>
                        <m:r>
                          <a:rPr sz="1900" u="sng">
                            <a:latin typeface="Cambria Math" panose="02040503050406030204" pitchFamily="18" charset="0"/>
                          </a:rPr>
                          <m:t>𝐺</m:t>
                        </m:r>
                      </m:e>
                      <m:sub>
                        <m:r>
                          <a:rPr sz="1900" u="sng">
                            <a:latin typeface="Cambria Math" panose="02040503050406030204" pitchFamily="18" charset="0"/>
                          </a:rPr>
                          <m:t>𝜙</m:t>
                        </m:r>
                      </m:sub>
                    </m:sSub>
                  </m:oMath>
                </a14:m>
                <a:r>
                  <a:rPr sz="1900" b="1" u="sng" dirty="0"/>
                  <a:t> 3-colorable</a:t>
                </a:r>
              </a:p>
              <a:p>
                <a:pPr lvl="0">
                  <a:spcAft>
                    <a:spcPts val="650"/>
                  </a:spcAft>
                </a:pPr>
                <a:r>
                  <a:rPr sz="1900" dirty="0"/>
                  <a:t>Give each literal its truth color.</a:t>
                </a:r>
              </a:p>
              <a:p>
                <a:pPr lvl="0">
                  <a:spcAft>
                    <a:spcPts val="650"/>
                  </a:spcAft>
                </a:pPr>
                <a:r>
                  <a:rPr sz="1900" dirty="0"/>
                  <a:t>Every clause has a true literal.</a:t>
                </a:r>
              </a:p>
              <a:p>
                <a:pPr lvl="0">
                  <a:spcAft>
                    <a:spcPts val="650"/>
                  </a:spcAft>
                </a:pPr>
                <a:r>
                  <a:rPr sz="1900" dirty="0"/>
                  <a:t>Every clause gadget therefore extends to a legal coloring.</a:t>
                </a:r>
              </a:p>
            </p:txBody>
          </p:sp>
        </mc:Choice>
        <mc:Fallback>
          <p:sp>
            <p:nvSpPr>
              <p:cNvPr id="6" name="Content Placeholder 2">
                <a:extLst>
                  <a:ext uri="{FF2B5EF4-FFF2-40B4-BE49-F238E27FC236}">
                    <a16:creationId xmlns:a16="http://schemas.microsoft.com/office/drawing/2014/main" id="{046F9DD8-66BA-D785-0296-415B55C104C0}"/>
                  </a:ext>
                </a:extLst>
              </p:cNvPr>
              <p:cNvSpPr>
                <a:spLocks noGrp="1" noRot="1" noChangeAspect="1" noMove="1" noResize="1" noEditPoints="1" noAdjustHandles="1" noChangeArrowheads="1" noChangeShapeType="1" noTextEdit="1"/>
              </p:cNvSpPr>
              <p:nvPr/>
            </p:nvSpPr>
            <p:spPr>
              <a:xfrm>
                <a:off x="365760" y="1051560"/>
                <a:ext cx="4069080" cy="2560320"/>
              </a:xfr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Content Placeholder 2">
                <a:extLst>
                  <a:ext uri="{FF2B5EF4-FFF2-40B4-BE49-F238E27FC236}">
                    <a16:creationId xmlns:a16="http://schemas.microsoft.com/office/drawing/2014/main" id="{EB0BE7AF-4D65-0B1A-D798-888B25AEF37E}"/>
                  </a:ext>
                </a:extLst>
              </p:cNvPr>
              <p:cNvSpPr>
                <a:spLocks noGrp="1"/>
              </p:cNvSpPr>
              <p:nvPr/>
            </p:nvSpPr>
            <p:spPr>
              <a:xfrm>
                <a:off x="4709160" y="1051560"/>
                <a:ext cx="4069080" cy="2560320"/>
              </a:xfrm>
            </p:spPr>
            <p:txBody>
              <a:bodyPr wrap="square" lIns="0" tIns="0" rIns="0" bIns="0" anchor="t">
                <a:noAutofit/>
              </a:bodyPr>
              <a:lstStyle>
                <a:lvl1pPr>
                  <a:defRPr sz="1800">
                    <a:latin typeface="Times New Roman"/>
                  </a:defRPr>
                </a:lvl1pPr>
                <a:lvl2pPr>
                  <a:defRPr sz="1800">
                    <a:latin typeface="Times New Roman"/>
                  </a:defRPr>
                </a:lvl2pPr>
                <a:lvl3pPr>
                  <a:defRPr sz="1800">
                    <a:latin typeface="Times New Roman"/>
                  </a:defRPr>
                </a:lvl3pPr>
                <a:lvl4pPr>
                  <a:defRPr sz="1800">
                    <a:latin typeface="Times New Roman"/>
                  </a:defRPr>
                </a:lvl4pPr>
                <a:lvl5pPr>
                  <a:defRPr sz="1800">
                    <a:latin typeface="Times New Roman"/>
                  </a:defRPr>
                </a:lvl5pPr>
                <a:lvl6pPr>
                  <a:defRPr sz="1800">
                    <a:latin typeface="Times New Roman"/>
                  </a:defRPr>
                </a:lvl6pPr>
                <a:lvl7pPr>
                  <a:defRPr sz="1800">
                    <a:latin typeface="Times New Roman"/>
                  </a:defRPr>
                </a:lvl7pPr>
                <a:lvl8pPr>
                  <a:defRPr sz="1800">
                    <a:latin typeface="Times New Roman"/>
                  </a:defRPr>
                </a:lvl8pPr>
                <a:lvl9pPr>
                  <a:defRPr sz="1800">
                    <a:latin typeface="Times New Roman"/>
                  </a:defRPr>
                </a:lvl9pPr>
              </a:lstStyle>
              <a:p>
                <a:pPr marL="0" lvl="0" indent="0">
                  <a:spcAft>
                    <a:spcPts val="650"/>
                  </a:spcAft>
                  <a:buNone/>
                </a:pPr>
                <a14:m>
                  <m:oMath xmlns:m="http://schemas.openxmlformats.org/officeDocument/2006/math">
                    <m:sSub>
                      <m:sSubPr>
                        <m:ctrlPr>
                          <a:rPr sz="1900" u="sng">
                            <a:latin typeface="Cambria Math" panose="02040503050406030204" pitchFamily="18" charset="0"/>
                          </a:rPr>
                        </m:ctrlPr>
                      </m:sSubPr>
                      <m:e>
                        <m:r>
                          <a:rPr sz="1900" u="sng">
                            <a:latin typeface="Cambria Math" panose="02040503050406030204" pitchFamily="18" charset="0"/>
                          </a:rPr>
                          <m:t>𝐺</m:t>
                        </m:r>
                      </m:e>
                      <m:sub>
                        <m:r>
                          <a:rPr sz="1900" u="sng">
                            <a:latin typeface="Cambria Math" panose="02040503050406030204" pitchFamily="18" charset="0"/>
                          </a:rPr>
                          <m:t>𝜙</m:t>
                        </m:r>
                      </m:sub>
                    </m:sSub>
                  </m:oMath>
                </a14:m>
                <a:r>
                  <a:rPr sz="1900" b="1" u="sng" dirty="0"/>
                  <a:t> 3-colorable </a:t>
                </a:r>
                <a14:m>
                  <m:oMath xmlns:m="http://schemas.openxmlformats.org/officeDocument/2006/math">
                    <m:r>
                      <a:rPr sz="1900" u="sng">
                        <a:latin typeface="Cambria Math" panose="02040503050406030204" pitchFamily="18" charset="0"/>
                      </a:rPr>
                      <m:t>⇒</m:t>
                    </m:r>
                    <m:r>
                      <a:rPr sz="1900" u="sng">
                        <a:latin typeface="Cambria Math" panose="02040503050406030204" pitchFamily="18" charset="0"/>
                      </a:rPr>
                      <m:t>𝜙</m:t>
                    </m:r>
                  </m:oMath>
                </a14:m>
                <a:r>
                  <a:rPr sz="1900" b="1" u="sng" dirty="0"/>
                  <a:t> satisfiable</a:t>
                </a:r>
              </a:p>
              <a:p>
                <a:pPr lvl="0">
                  <a:spcAft>
                    <a:spcPts val="650"/>
                  </a:spcAft>
                </a:pPr>
                <a:r>
                  <a:rPr sz="1900" dirty="0"/>
                  <a:t>Read </a:t>
                </a:r>
                <a14:m>
                  <m:oMath xmlns:m="http://schemas.openxmlformats.org/officeDocument/2006/math">
                    <m:sSub>
                      <m:sSubPr>
                        <m:ctrlPr>
                          <a:rPr sz="1900">
                            <a:latin typeface="Cambria Math" panose="02040503050406030204" pitchFamily="18" charset="0"/>
                          </a:rPr>
                        </m:ctrlPr>
                      </m:sSubPr>
                      <m:e>
                        <m:r>
                          <a:rPr sz="1900">
                            <a:latin typeface="Cambria Math" panose="02040503050406030204" pitchFamily="18" charset="0"/>
                          </a:rPr>
                          <m:t>𝑥</m:t>
                        </m:r>
                      </m:e>
                      <m:sub>
                        <m:r>
                          <a:rPr sz="1900">
                            <a:latin typeface="Cambria Math" panose="02040503050406030204" pitchFamily="18" charset="0"/>
                          </a:rPr>
                          <m:t>𝑖</m:t>
                        </m:r>
                      </m:sub>
                    </m:sSub>
                    <m:r>
                      <a:rPr sz="1900">
                        <a:latin typeface="Cambria Math" panose="02040503050406030204" pitchFamily="18" charset="0"/>
                      </a:rPr>
                      <m:t>=</m:t>
                    </m:r>
                    <m:r>
                      <a:rPr sz="1900">
                        <a:latin typeface="Cambria Math" panose="02040503050406030204" pitchFamily="18" charset="0"/>
                      </a:rPr>
                      <m:t>𝑡𝑟𝑢𝑒</m:t>
                    </m:r>
                  </m:oMath>
                </a14:m>
                <a:r>
                  <a:rPr sz="1900" dirty="0"/>
                  <a:t> exactly when vertex </a:t>
                </a:r>
                <a14:m>
                  <m:oMath xmlns:m="http://schemas.openxmlformats.org/officeDocument/2006/math">
                    <m:sSub>
                      <m:sSubPr>
                        <m:ctrlPr>
                          <a:rPr sz="1900">
                            <a:latin typeface="Cambria Math" panose="02040503050406030204" pitchFamily="18" charset="0"/>
                          </a:rPr>
                        </m:ctrlPr>
                      </m:sSubPr>
                      <m:e>
                        <m:r>
                          <a:rPr sz="1900">
                            <a:latin typeface="Cambria Math" panose="02040503050406030204" pitchFamily="18" charset="0"/>
                          </a:rPr>
                          <m:t>𝑥</m:t>
                        </m:r>
                      </m:e>
                      <m:sub>
                        <m:r>
                          <a:rPr sz="1900">
                            <a:latin typeface="Cambria Math" panose="02040503050406030204" pitchFamily="18" charset="0"/>
                          </a:rPr>
                          <m:t>𝑖</m:t>
                        </m:r>
                      </m:sub>
                    </m:sSub>
                  </m:oMath>
                </a14:m>
                <a:r>
                  <a:rPr sz="1900" dirty="0"/>
                  <a:t> has color </a:t>
                </a:r>
                <a14:m>
                  <m:oMath xmlns:m="http://schemas.openxmlformats.org/officeDocument/2006/math">
                    <m:r>
                      <a:rPr sz="1900">
                        <a:latin typeface="Cambria Math" panose="02040503050406030204" pitchFamily="18" charset="0"/>
                      </a:rPr>
                      <m:t>𝑇</m:t>
                    </m:r>
                  </m:oMath>
                </a14:m>
                <a:r>
                  <a:rPr sz="1900" dirty="0"/>
                  <a:t>.</a:t>
                </a:r>
              </a:p>
              <a:p>
                <a:pPr lvl="0">
                  <a:spcAft>
                    <a:spcPts val="650"/>
                  </a:spcAft>
                </a:pPr>
                <a:r>
                  <a:rPr sz="1900" dirty="0"/>
                  <a:t>Every colorable clause has a </a:t>
                </a:r>
                <a14:m>
                  <m:oMath xmlns:m="http://schemas.openxmlformats.org/officeDocument/2006/math">
                    <m:r>
                      <a:rPr sz="1900">
                        <a:latin typeface="Cambria Math" panose="02040503050406030204" pitchFamily="18" charset="0"/>
                      </a:rPr>
                      <m:t>𝑇</m:t>
                    </m:r>
                  </m:oMath>
                </a14:m>
                <a:r>
                  <a:rPr sz="1900" dirty="0"/>
                  <a:t> input.</a:t>
                </a:r>
              </a:p>
              <a:p>
                <a:pPr lvl="0">
                  <a:spcAft>
                    <a:spcPts val="650"/>
                  </a:spcAft>
                </a:pPr>
                <a:r>
                  <a:rPr sz="1900" dirty="0"/>
                  <a:t>Every clause is therefore satisfied.</a:t>
                </a:r>
              </a:p>
            </p:txBody>
          </p:sp>
        </mc:Choice>
        <mc:Fallback>
          <p:sp>
            <p:nvSpPr>
              <p:cNvPr id="8" name="Content Placeholder 2">
                <a:extLst>
                  <a:ext uri="{FF2B5EF4-FFF2-40B4-BE49-F238E27FC236}">
                    <a16:creationId xmlns:a16="http://schemas.microsoft.com/office/drawing/2014/main" id="{EB0BE7AF-4D65-0B1A-D798-888B25AEF37E}"/>
                  </a:ext>
                </a:extLst>
              </p:cNvPr>
              <p:cNvSpPr>
                <a:spLocks noGrp="1" noRot="1" noChangeAspect="1" noMove="1" noResize="1" noEditPoints="1" noAdjustHandles="1" noChangeArrowheads="1" noChangeShapeType="1" noTextEdit="1"/>
              </p:cNvSpPr>
              <p:nvPr/>
            </p:nvSpPr>
            <p:spPr>
              <a:xfrm>
                <a:off x="4709160" y="1051560"/>
                <a:ext cx="4069080" cy="2560320"/>
              </a:xfrm>
              <a:blipFill>
                <a:blip r:embed="rId4"/>
                <a:stretch>
                  <a:fillRect/>
                </a:stretch>
              </a:blipFill>
            </p:spPr>
            <p:txBody>
              <a:bodyPr/>
              <a:lstStyle/>
              <a:p>
                <a:r>
                  <a:rPr lang="en-US">
                    <a:noFill/>
                  </a:rPr>
                  <a:t> </a:t>
                </a:r>
              </a:p>
            </p:txBody>
          </p:sp>
        </mc:Fallback>
      </mc:AlternateContent>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228600" y="128016"/>
            <a:ext cx="8686800" cy="713232"/>
          </a:xfrm>
        </p:spPr>
        <p:txBody>
          <a:bodyPr wrap="square" lIns="0" tIns="0" rIns="0" bIns="0" anchor="t">
            <a:noAutofit/>
          </a:bodyPr>
          <a:lstStyle>
            <a:lvl1pPr>
              <a:defRPr sz="2350" b="1">
                <a:solidFill>
                  <a:srgbClr val="3333B2"/>
                </a:solidFill>
                <a:latin typeface="Times New Roman"/>
              </a:defRPr>
            </a:lvl1pPr>
            <a:lvl2pPr>
              <a:defRPr sz="2350" b="1">
                <a:solidFill>
                  <a:srgbClr val="3333B2"/>
                </a:solidFill>
                <a:latin typeface="Times New Roman"/>
              </a:defRPr>
            </a:lvl2pPr>
            <a:lvl3pPr>
              <a:defRPr sz="2350" b="1">
                <a:solidFill>
                  <a:srgbClr val="3333B2"/>
                </a:solidFill>
                <a:latin typeface="Times New Roman"/>
              </a:defRPr>
            </a:lvl3pPr>
            <a:lvl4pPr>
              <a:defRPr sz="2350" b="1">
                <a:solidFill>
                  <a:srgbClr val="3333B2"/>
                </a:solidFill>
                <a:latin typeface="Times New Roman"/>
              </a:defRPr>
            </a:lvl4pPr>
            <a:lvl5pPr>
              <a:defRPr sz="2350" b="1">
                <a:solidFill>
                  <a:srgbClr val="3333B2"/>
                </a:solidFill>
                <a:latin typeface="Times New Roman"/>
              </a:defRPr>
            </a:lvl5pPr>
            <a:lvl6pPr>
              <a:defRPr sz="2350" b="1">
                <a:solidFill>
                  <a:srgbClr val="3333B2"/>
                </a:solidFill>
                <a:latin typeface="Times New Roman"/>
              </a:defRPr>
            </a:lvl6pPr>
            <a:lvl7pPr>
              <a:defRPr sz="2350" b="1">
                <a:solidFill>
                  <a:srgbClr val="3333B2"/>
                </a:solidFill>
                <a:latin typeface="Times New Roman"/>
              </a:defRPr>
            </a:lvl7pPr>
            <a:lvl8pPr>
              <a:defRPr sz="2350" b="1">
                <a:solidFill>
                  <a:srgbClr val="3333B2"/>
                </a:solidFill>
                <a:latin typeface="Times New Roman"/>
              </a:defRPr>
            </a:lvl8pPr>
            <a:lvl9pPr>
              <a:defRPr sz="2350" b="1">
                <a:solidFill>
                  <a:srgbClr val="3333B2"/>
                </a:solidFill>
                <a:latin typeface="Times New Roman"/>
              </a:defRPr>
            </a:lvl9pPr>
          </a:lstStyle>
          <a:p>
            <a:pPr marL="0" lvl="0" indent="0">
              <a:spcAft>
                <a:spcPts val="650"/>
              </a:spcAft>
              <a:buNone/>
            </a:pPr>
            <a:r>
              <a:rPr sz="2350" b="1" dirty="0">
                <a:solidFill>
                  <a:srgbClr val="3333B2"/>
                </a:solidFill>
                <a:latin typeface="Times New Roman"/>
              </a:rPr>
              <a:t>Correctness and Complexity of the Reduction</a:t>
            </a:r>
          </a:p>
        </p:txBody>
      </p:sp>
      <mc:AlternateContent xmlns:mc="http://schemas.openxmlformats.org/markup-compatibility/2006">
        <mc:Choice xmlns:a14="http://schemas.microsoft.com/office/drawing/2010/main" Requires="a14">
          <p:sp>
            <p:nvSpPr>
              <p:cNvPr id="3" name="Content Placeholder 2"/>
              <p:cNvSpPr>
                <a:spLocks noGrp="1"/>
              </p:cNvSpPr>
              <p:nvPr/>
            </p:nvSpPr>
            <p:spPr>
              <a:xfrm>
                <a:off x="365760" y="1051560"/>
                <a:ext cx="4069080" cy="2560320"/>
              </a:xfrm>
            </p:spPr>
            <p:txBody>
              <a:bodyPr wrap="square" lIns="0" tIns="0" rIns="0" bIns="0" anchor="t">
                <a:noAutofit/>
              </a:bodyPr>
              <a:lstStyle>
                <a:lvl1pPr>
                  <a:defRPr sz="1800">
                    <a:latin typeface="Times New Roman"/>
                  </a:defRPr>
                </a:lvl1pPr>
                <a:lvl2pPr>
                  <a:defRPr sz="1800">
                    <a:latin typeface="Times New Roman"/>
                  </a:defRPr>
                </a:lvl2pPr>
                <a:lvl3pPr>
                  <a:defRPr sz="1800">
                    <a:latin typeface="Times New Roman"/>
                  </a:defRPr>
                </a:lvl3pPr>
                <a:lvl4pPr>
                  <a:defRPr sz="1800">
                    <a:latin typeface="Times New Roman"/>
                  </a:defRPr>
                </a:lvl4pPr>
                <a:lvl5pPr>
                  <a:defRPr sz="1800">
                    <a:latin typeface="Times New Roman"/>
                  </a:defRPr>
                </a:lvl5pPr>
                <a:lvl6pPr>
                  <a:defRPr sz="1800">
                    <a:latin typeface="Times New Roman"/>
                  </a:defRPr>
                </a:lvl6pPr>
                <a:lvl7pPr>
                  <a:defRPr sz="1800">
                    <a:latin typeface="Times New Roman"/>
                  </a:defRPr>
                </a:lvl7pPr>
                <a:lvl8pPr>
                  <a:defRPr sz="1800">
                    <a:latin typeface="Times New Roman"/>
                  </a:defRPr>
                </a:lvl8pPr>
                <a:lvl9pPr>
                  <a:defRPr sz="1800">
                    <a:latin typeface="Times New Roman"/>
                  </a:defRPr>
                </a:lvl9pPr>
              </a:lstStyle>
              <a:p>
                <a:pPr marL="0" lvl="0" indent="0">
                  <a:spcAft>
                    <a:spcPts val="650"/>
                  </a:spcAft>
                  <a:buNone/>
                </a:pPr>
                <a14:m>
                  <m:oMath xmlns:m="http://schemas.openxmlformats.org/officeDocument/2006/math">
                    <m:r>
                      <a:rPr sz="1900" u="sng">
                        <a:latin typeface="Cambria Math" panose="02040503050406030204" pitchFamily="18" charset="0"/>
                      </a:rPr>
                      <m:t>𝜙</m:t>
                    </m:r>
                  </m:oMath>
                </a14:m>
                <a:r>
                  <a:rPr sz="1900" b="1" u="sng" dirty="0"/>
                  <a:t> satisfiable </a:t>
                </a:r>
                <a14:m>
                  <m:oMath xmlns:m="http://schemas.openxmlformats.org/officeDocument/2006/math">
                    <m:r>
                      <a:rPr sz="1900" u="sng">
                        <a:latin typeface="Cambria Math" panose="02040503050406030204" pitchFamily="18" charset="0"/>
                      </a:rPr>
                      <m:t>⇒</m:t>
                    </m:r>
                    <m:sSub>
                      <m:sSubPr>
                        <m:ctrlPr>
                          <a:rPr sz="1900" u="sng">
                            <a:latin typeface="Cambria Math" panose="02040503050406030204" pitchFamily="18" charset="0"/>
                          </a:rPr>
                        </m:ctrlPr>
                      </m:sSubPr>
                      <m:e>
                        <m:r>
                          <a:rPr sz="1900" u="sng">
                            <a:latin typeface="Cambria Math" panose="02040503050406030204" pitchFamily="18" charset="0"/>
                          </a:rPr>
                          <m:t>𝐺</m:t>
                        </m:r>
                      </m:e>
                      <m:sub>
                        <m:r>
                          <a:rPr sz="1900" u="sng">
                            <a:latin typeface="Cambria Math" panose="02040503050406030204" pitchFamily="18" charset="0"/>
                          </a:rPr>
                          <m:t>𝜙</m:t>
                        </m:r>
                      </m:sub>
                    </m:sSub>
                  </m:oMath>
                </a14:m>
                <a:r>
                  <a:rPr sz="1900" b="1" u="sng" dirty="0"/>
                  <a:t> 3-colorable</a:t>
                </a:r>
              </a:p>
              <a:p>
                <a:pPr lvl="0">
                  <a:spcAft>
                    <a:spcPts val="650"/>
                  </a:spcAft>
                </a:pPr>
                <a:r>
                  <a:rPr sz="1900" dirty="0"/>
                  <a:t>Give each literal its truth color.</a:t>
                </a:r>
              </a:p>
              <a:p>
                <a:pPr lvl="0">
                  <a:spcAft>
                    <a:spcPts val="650"/>
                  </a:spcAft>
                </a:pPr>
                <a:r>
                  <a:rPr sz="1900" dirty="0"/>
                  <a:t>Every clause has a true literal.</a:t>
                </a:r>
              </a:p>
              <a:p>
                <a:pPr lvl="0">
                  <a:spcAft>
                    <a:spcPts val="650"/>
                  </a:spcAft>
                </a:pPr>
                <a:r>
                  <a:rPr sz="1900" dirty="0"/>
                  <a:t>Every clause gadget therefore extends to a legal coloring.</a:t>
                </a:r>
              </a:p>
            </p:txBody>
          </p:sp>
        </mc:Choice>
        <mc:Fallback>
          <p:sp>
            <p:nvSpPr>
              <p:cNvPr id="3" name="Content Placeholder 2"/>
              <p:cNvSpPr>
                <a:spLocks noGrp="1" noRot="1" noChangeAspect="1" noMove="1" noResize="1" noEditPoints="1" noAdjustHandles="1" noChangeArrowheads="1" noChangeShapeType="1" noTextEdit="1"/>
              </p:cNvSpPr>
              <p:nvPr/>
            </p:nvSpPr>
            <p:spPr>
              <a:xfrm>
                <a:off x="365760" y="1051560"/>
                <a:ext cx="4069080" cy="2560320"/>
              </a:xfr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Content Placeholder 2"/>
              <p:cNvSpPr>
                <a:spLocks noGrp="1"/>
              </p:cNvSpPr>
              <p:nvPr/>
            </p:nvSpPr>
            <p:spPr>
              <a:xfrm>
                <a:off x="4709160" y="1051560"/>
                <a:ext cx="4069080" cy="2560320"/>
              </a:xfrm>
            </p:spPr>
            <p:txBody>
              <a:bodyPr wrap="square" lIns="0" tIns="0" rIns="0" bIns="0" anchor="t">
                <a:noAutofit/>
              </a:bodyPr>
              <a:lstStyle>
                <a:lvl1pPr>
                  <a:defRPr sz="1800">
                    <a:latin typeface="Times New Roman"/>
                  </a:defRPr>
                </a:lvl1pPr>
                <a:lvl2pPr>
                  <a:defRPr sz="1800">
                    <a:latin typeface="Times New Roman"/>
                  </a:defRPr>
                </a:lvl2pPr>
                <a:lvl3pPr>
                  <a:defRPr sz="1800">
                    <a:latin typeface="Times New Roman"/>
                  </a:defRPr>
                </a:lvl3pPr>
                <a:lvl4pPr>
                  <a:defRPr sz="1800">
                    <a:latin typeface="Times New Roman"/>
                  </a:defRPr>
                </a:lvl4pPr>
                <a:lvl5pPr>
                  <a:defRPr sz="1800">
                    <a:latin typeface="Times New Roman"/>
                  </a:defRPr>
                </a:lvl5pPr>
                <a:lvl6pPr>
                  <a:defRPr sz="1800">
                    <a:latin typeface="Times New Roman"/>
                  </a:defRPr>
                </a:lvl6pPr>
                <a:lvl7pPr>
                  <a:defRPr sz="1800">
                    <a:latin typeface="Times New Roman"/>
                  </a:defRPr>
                </a:lvl7pPr>
                <a:lvl8pPr>
                  <a:defRPr sz="1800">
                    <a:latin typeface="Times New Roman"/>
                  </a:defRPr>
                </a:lvl8pPr>
                <a:lvl9pPr>
                  <a:defRPr sz="1800">
                    <a:latin typeface="Times New Roman"/>
                  </a:defRPr>
                </a:lvl9pPr>
              </a:lstStyle>
              <a:p>
                <a:pPr marL="0" lvl="0" indent="0">
                  <a:spcAft>
                    <a:spcPts val="650"/>
                  </a:spcAft>
                  <a:buNone/>
                </a:pPr>
                <a14:m>
                  <m:oMath xmlns:m="http://schemas.openxmlformats.org/officeDocument/2006/math">
                    <m:sSub>
                      <m:sSubPr>
                        <m:ctrlPr>
                          <a:rPr sz="1900" u="sng">
                            <a:latin typeface="Cambria Math" panose="02040503050406030204" pitchFamily="18" charset="0"/>
                          </a:rPr>
                        </m:ctrlPr>
                      </m:sSubPr>
                      <m:e>
                        <m:r>
                          <a:rPr sz="1900" u="sng">
                            <a:latin typeface="Cambria Math" panose="02040503050406030204" pitchFamily="18" charset="0"/>
                          </a:rPr>
                          <m:t>𝐺</m:t>
                        </m:r>
                      </m:e>
                      <m:sub>
                        <m:r>
                          <a:rPr sz="1900" u="sng">
                            <a:latin typeface="Cambria Math" panose="02040503050406030204" pitchFamily="18" charset="0"/>
                          </a:rPr>
                          <m:t>𝜙</m:t>
                        </m:r>
                      </m:sub>
                    </m:sSub>
                  </m:oMath>
                </a14:m>
                <a:r>
                  <a:rPr sz="1900" b="1" u="sng" dirty="0"/>
                  <a:t> 3-colorable </a:t>
                </a:r>
                <a14:m>
                  <m:oMath xmlns:m="http://schemas.openxmlformats.org/officeDocument/2006/math">
                    <m:r>
                      <a:rPr sz="1900" u="sng">
                        <a:latin typeface="Cambria Math" panose="02040503050406030204" pitchFamily="18" charset="0"/>
                      </a:rPr>
                      <m:t>⇒</m:t>
                    </m:r>
                    <m:r>
                      <a:rPr sz="1900" u="sng">
                        <a:latin typeface="Cambria Math" panose="02040503050406030204" pitchFamily="18" charset="0"/>
                      </a:rPr>
                      <m:t>𝜙</m:t>
                    </m:r>
                  </m:oMath>
                </a14:m>
                <a:r>
                  <a:rPr sz="1900" b="1" u="sng" dirty="0"/>
                  <a:t> satisfiable</a:t>
                </a:r>
              </a:p>
              <a:p>
                <a:pPr lvl="0">
                  <a:spcAft>
                    <a:spcPts val="650"/>
                  </a:spcAft>
                </a:pPr>
                <a:r>
                  <a:rPr sz="1900" dirty="0"/>
                  <a:t>Read </a:t>
                </a:r>
                <a14:m>
                  <m:oMath xmlns:m="http://schemas.openxmlformats.org/officeDocument/2006/math">
                    <m:sSub>
                      <m:sSubPr>
                        <m:ctrlPr>
                          <a:rPr sz="1900">
                            <a:latin typeface="Cambria Math" panose="02040503050406030204" pitchFamily="18" charset="0"/>
                          </a:rPr>
                        </m:ctrlPr>
                      </m:sSubPr>
                      <m:e>
                        <m:r>
                          <a:rPr sz="1900">
                            <a:latin typeface="Cambria Math" panose="02040503050406030204" pitchFamily="18" charset="0"/>
                          </a:rPr>
                          <m:t>𝑥</m:t>
                        </m:r>
                      </m:e>
                      <m:sub>
                        <m:r>
                          <a:rPr sz="1900">
                            <a:latin typeface="Cambria Math" panose="02040503050406030204" pitchFamily="18" charset="0"/>
                          </a:rPr>
                          <m:t>𝑖</m:t>
                        </m:r>
                      </m:sub>
                    </m:sSub>
                    <m:r>
                      <a:rPr sz="1900">
                        <a:latin typeface="Cambria Math" panose="02040503050406030204" pitchFamily="18" charset="0"/>
                      </a:rPr>
                      <m:t>=</m:t>
                    </m:r>
                    <m:r>
                      <a:rPr sz="1900">
                        <a:latin typeface="Cambria Math" panose="02040503050406030204" pitchFamily="18" charset="0"/>
                      </a:rPr>
                      <m:t>𝑡𝑟𝑢𝑒</m:t>
                    </m:r>
                  </m:oMath>
                </a14:m>
                <a:r>
                  <a:rPr sz="1900" dirty="0"/>
                  <a:t> exactly when vertex </a:t>
                </a:r>
                <a14:m>
                  <m:oMath xmlns:m="http://schemas.openxmlformats.org/officeDocument/2006/math">
                    <m:sSub>
                      <m:sSubPr>
                        <m:ctrlPr>
                          <a:rPr sz="1900">
                            <a:latin typeface="Cambria Math" panose="02040503050406030204" pitchFamily="18" charset="0"/>
                          </a:rPr>
                        </m:ctrlPr>
                      </m:sSubPr>
                      <m:e>
                        <m:r>
                          <a:rPr sz="1900">
                            <a:latin typeface="Cambria Math" panose="02040503050406030204" pitchFamily="18" charset="0"/>
                          </a:rPr>
                          <m:t>𝑥</m:t>
                        </m:r>
                      </m:e>
                      <m:sub>
                        <m:r>
                          <a:rPr sz="1900">
                            <a:latin typeface="Cambria Math" panose="02040503050406030204" pitchFamily="18" charset="0"/>
                          </a:rPr>
                          <m:t>𝑖</m:t>
                        </m:r>
                      </m:sub>
                    </m:sSub>
                  </m:oMath>
                </a14:m>
                <a:r>
                  <a:rPr sz="1900" dirty="0"/>
                  <a:t> has color </a:t>
                </a:r>
                <a14:m>
                  <m:oMath xmlns:m="http://schemas.openxmlformats.org/officeDocument/2006/math">
                    <m:r>
                      <a:rPr sz="1900">
                        <a:latin typeface="Cambria Math" panose="02040503050406030204" pitchFamily="18" charset="0"/>
                      </a:rPr>
                      <m:t>𝑇</m:t>
                    </m:r>
                  </m:oMath>
                </a14:m>
                <a:r>
                  <a:rPr sz="1900" dirty="0"/>
                  <a:t>.</a:t>
                </a:r>
              </a:p>
              <a:p>
                <a:pPr lvl="0">
                  <a:spcAft>
                    <a:spcPts val="650"/>
                  </a:spcAft>
                </a:pPr>
                <a:r>
                  <a:rPr sz="1900" dirty="0"/>
                  <a:t>Every colorable clause has a </a:t>
                </a:r>
                <a14:m>
                  <m:oMath xmlns:m="http://schemas.openxmlformats.org/officeDocument/2006/math">
                    <m:r>
                      <a:rPr sz="1900">
                        <a:latin typeface="Cambria Math" panose="02040503050406030204" pitchFamily="18" charset="0"/>
                      </a:rPr>
                      <m:t>𝑇</m:t>
                    </m:r>
                  </m:oMath>
                </a14:m>
                <a:r>
                  <a:rPr sz="1900" dirty="0"/>
                  <a:t> input.</a:t>
                </a:r>
              </a:p>
              <a:p>
                <a:pPr lvl="0">
                  <a:spcAft>
                    <a:spcPts val="650"/>
                  </a:spcAft>
                </a:pPr>
                <a:r>
                  <a:rPr sz="1900" dirty="0"/>
                  <a:t>Every clause is therefore satisfied.</a:t>
                </a:r>
              </a:p>
            </p:txBody>
          </p:sp>
        </mc:Choice>
        <mc:Fallback>
          <p:sp>
            <p:nvSpPr>
              <p:cNvPr id="4" name="Content Placeholder 2"/>
              <p:cNvSpPr>
                <a:spLocks noGrp="1" noRot="1" noChangeAspect="1" noMove="1" noResize="1" noEditPoints="1" noAdjustHandles="1" noChangeArrowheads="1" noChangeShapeType="1" noTextEdit="1"/>
              </p:cNvSpPr>
              <p:nvPr/>
            </p:nvSpPr>
            <p:spPr>
              <a:xfrm>
                <a:off x="4709160" y="1051560"/>
                <a:ext cx="4069080" cy="2560320"/>
              </a:xfrm>
              <a:blipFill>
                <a:blip r:embed="rId4"/>
                <a:stretch>
                  <a:fillRect/>
                </a:stretch>
              </a:blipFill>
            </p:spPr>
            <p:txBody>
              <a:bodyPr/>
              <a:lstStyle/>
              <a:p>
                <a:r>
                  <a:rPr lang="en-US">
                    <a:noFill/>
                  </a:rPr>
                  <a:t> </a:t>
                </a:r>
              </a:p>
            </p:txBody>
          </p:sp>
        </mc:Fallback>
      </mc:AlternateContent>
      <p:pic>
        <p:nvPicPr>
          <p:cNvPr id="5" name="Picture 1" descr="editable_assets/diagram-16-1.png"/>
          <p:cNvPicPr>
            <a:picLocks noGrp="1" noChangeAspect="1"/>
          </p:cNvPicPr>
          <p:nvPr/>
        </p:nvPicPr>
        <p:blipFill>
          <a:blip r:embed="rId5"/>
          <a:srcRect l="2350" t="9426" r="2350" b="9221"/>
          <a:stretch>
            <a:fillRect/>
          </a:stretch>
        </p:blipFill>
        <p:spPr bwMode="auto">
          <a:xfrm>
            <a:off x="1209219" y="3386797"/>
            <a:ext cx="6725562" cy="1737360"/>
          </a:xfrm>
          <a:prstGeom prst="rect">
            <a:avLst/>
          </a:prstGeom>
          <a:noFill/>
          <a:ln w="9525">
            <a:noFill/>
            <a:headEnd/>
            <a:tailEnd/>
          </a:ln>
        </p:spPr>
      </p:pic>
      <mc:AlternateContent xmlns:mc="http://schemas.openxmlformats.org/markup-compatibility/2006">
        <mc:Choice xmlns:a14="http://schemas.microsoft.com/office/drawing/2010/main" Requires="a14">
          <p:sp>
            <p:nvSpPr>
              <p:cNvPr id="6" name="Content Placeholder 2"/>
              <p:cNvSpPr>
                <a:spLocks noGrp="1"/>
              </p:cNvSpPr>
              <p:nvPr/>
            </p:nvSpPr>
            <p:spPr>
              <a:xfrm>
                <a:off x="457200" y="5352756"/>
                <a:ext cx="8229600" cy="960120"/>
              </a:xfrm>
            </p:spPr>
            <p:txBody>
              <a:bodyPr wrap="square" lIns="0" tIns="0" rIns="0" bIns="0" anchor="t">
                <a:noAutofit/>
              </a:bodyPr>
              <a:lstStyle>
                <a:lvl1pPr>
                  <a:defRPr sz="1700">
                    <a:latin typeface="Times New Roman"/>
                  </a:defRPr>
                </a:lvl1pPr>
                <a:lvl2pPr>
                  <a:defRPr sz="1700">
                    <a:latin typeface="Times New Roman"/>
                  </a:defRPr>
                </a:lvl2pPr>
                <a:lvl3pPr>
                  <a:defRPr sz="1700">
                    <a:latin typeface="Times New Roman"/>
                  </a:defRPr>
                </a:lvl3pPr>
                <a:lvl4pPr>
                  <a:defRPr sz="1700">
                    <a:latin typeface="Times New Roman"/>
                  </a:defRPr>
                </a:lvl4pPr>
                <a:lvl5pPr>
                  <a:defRPr sz="1700">
                    <a:latin typeface="Times New Roman"/>
                  </a:defRPr>
                </a:lvl5pPr>
                <a:lvl6pPr>
                  <a:defRPr sz="1700">
                    <a:latin typeface="Times New Roman"/>
                  </a:defRPr>
                </a:lvl6pPr>
                <a:lvl7pPr>
                  <a:defRPr sz="1700">
                    <a:latin typeface="Times New Roman"/>
                  </a:defRPr>
                </a:lvl7pPr>
                <a:lvl8pPr>
                  <a:defRPr sz="1700">
                    <a:latin typeface="Times New Roman"/>
                  </a:defRPr>
                </a:lvl8pPr>
                <a:lvl9pPr>
                  <a:defRPr sz="1700">
                    <a:latin typeface="Times New Roman"/>
                  </a:defRPr>
                </a:lvl9pPr>
              </a:lstStyle>
              <a:p>
                <a:pPr marL="0" lvl="0" indent="0">
                  <a:spcAft>
                    <a:spcPts val="400"/>
                  </a:spcAft>
                  <a:buNone/>
                </a:pPr>
                <a:r>
                  <a:rPr sz="1700" dirty="0">
                    <a:latin typeface="Times New Roman"/>
                  </a:rPr>
                  <a:t>For </a:t>
                </a:r>
                <a14:m>
                  <m:oMath xmlns:m="http://schemas.openxmlformats.org/officeDocument/2006/math">
                    <m:r>
                      <a:rPr>
                        <a:latin typeface="Cambria Math" panose="02040503050406030204" pitchFamily="18" charset="0"/>
                      </a:rPr>
                      <m:t>𝑛</m:t>
                    </m:r>
                  </m:oMath>
                </a14:m>
                <a:r>
                  <a:rPr sz="1700" dirty="0">
                    <a:latin typeface="Times New Roman"/>
                  </a:rPr>
                  <a:t> variables and </a:t>
                </a:r>
                <a14:m>
                  <m:oMath xmlns:m="http://schemas.openxmlformats.org/officeDocument/2006/math">
                    <m:r>
                      <a:rPr>
                        <a:latin typeface="Cambria Math" panose="02040503050406030204" pitchFamily="18" charset="0"/>
                      </a:rPr>
                      <m:t>𝑚</m:t>
                    </m:r>
                  </m:oMath>
                </a14:m>
                <a:r>
                  <a:rPr sz="1700" dirty="0">
                    <a:latin typeface="Times New Roman"/>
                  </a:rPr>
                  <a:t> clauses:</a:t>
                </a:r>
              </a:p>
              <a:p>
                <a:pPr marL="0" lvl="0" indent="0">
                  <a:spcAft>
                    <a:spcPts val="400"/>
                  </a:spcAft>
                  <a:buNone/>
                </a:pPr>
                <a14:m>
                  <m:oMathPara xmlns:m="http://schemas.openxmlformats.org/officeDocument/2006/math">
                    <m:oMathParaPr>
                      <m:jc m:val="center"/>
                    </m:oMathParaPr>
                    <m:oMath>
                      <m:r>
                        <a:rPr>
                          <a:latin typeface="Cambria Math" panose="02040503050406030204" pitchFamily="18" charset="0"/>
                        </a:rPr>
                        <m:t>|</m:t>
                      </m:r>
                      <m:r>
                        <a:rPr>
                          <a:latin typeface="Cambria Math" panose="02040503050406030204" pitchFamily="18" charset="0"/>
                        </a:rPr>
                        <m:t>𝑉</m:t>
                      </m:r>
                      <m:r>
                        <a:rPr>
                          <a:latin typeface="Cambria Math" panose="02040503050406030204" pitchFamily="18" charset="0"/>
                        </a:rPr>
                        <m:t>|=3+2</m:t>
                      </m:r>
                      <m:r>
                        <a:rPr>
                          <a:latin typeface="Cambria Math" panose="02040503050406030204" pitchFamily="18" charset="0"/>
                        </a:rPr>
                        <m:t>𝑛</m:t>
                      </m:r>
                      <m:r>
                        <a:rPr>
                          <a:latin typeface="Cambria Math" panose="02040503050406030204" pitchFamily="18" charset="0"/>
                        </a:rPr>
                        <m:t>+6</m:t>
                      </m:r>
                      <m:r>
                        <a:rPr>
                          <a:latin typeface="Cambria Math" panose="02040503050406030204" pitchFamily="18" charset="0"/>
                        </a:rPr>
                        <m:t>𝑚</m:t>
                      </m:r>
                      <m:r>
                        <a:rPr>
                          <a:latin typeface="Cambria Math" panose="02040503050406030204" pitchFamily="18" charset="0"/>
                        </a:rPr>
                        <m:t>,  |</m:t>
                      </m:r>
                      <m:r>
                        <a:rPr>
                          <a:latin typeface="Cambria Math" panose="02040503050406030204" pitchFamily="18" charset="0"/>
                        </a:rPr>
                        <m:t>𝐸</m:t>
                      </m:r>
                      <m:r>
                        <a:rPr>
                          <a:latin typeface="Cambria Math" panose="02040503050406030204" pitchFamily="18" charset="0"/>
                        </a:rPr>
                        <m:t>|=3+3</m:t>
                      </m:r>
                      <m:r>
                        <a:rPr>
                          <a:latin typeface="Cambria Math" panose="02040503050406030204" pitchFamily="18" charset="0"/>
                        </a:rPr>
                        <m:t>𝑛</m:t>
                      </m:r>
                      <m:r>
                        <a:rPr>
                          <a:latin typeface="Cambria Math" panose="02040503050406030204" pitchFamily="18" charset="0"/>
                        </a:rPr>
                        <m:t>+13</m:t>
                      </m:r>
                      <m:r>
                        <a:rPr>
                          <a:latin typeface="Cambria Math" panose="02040503050406030204" pitchFamily="18" charset="0"/>
                        </a:rPr>
                        <m:t>𝑚</m:t>
                      </m:r>
                      <m:r>
                        <a:rPr>
                          <a:latin typeface="Cambria Math" panose="02040503050406030204" pitchFamily="18" charset="0"/>
                        </a:rPr>
                        <m:t>.</m:t>
                      </m:r>
                    </m:oMath>
                  </m:oMathPara>
                </a14:m>
                <a:endParaRPr sz="1700" dirty="0">
                  <a:latin typeface="Times New Roman"/>
                </a:endParaRPr>
              </a:p>
              <a:p>
                <a:pPr marL="0" lvl="0" indent="0">
                  <a:spcAft>
                    <a:spcPts val="400"/>
                  </a:spcAft>
                  <a:buNone/>
                </a:pPr>
                <a:r>
                  <a:rPr sz="1700" dirty="0">
                    <a:latin typeface="Times New Roman"/>
                  </a:rPr>
                  <a:t>Enumerating the vertices and edges takes polynomial time.</a:t>
                </a:r>
              </a:p>
            </p:txBody>
          </p:sp>
        </mc:Choice>
        <mc:Fallback>
          <p:sp>
            <p:nvSpPr>
              <p:cNvPr id="6" name="Content Placeholder 2"/>
              <p:cNvSpPr>
                <a:spLocks noGrp="1" noRot="1" noChangeAspect="1" noMove="1" noResize="1" noEditPoints="1" noAdjustHandles="1" noChangeArrowheads="1" noChangeShapeType="1" noTextEdit="1"/>
              </p:cNvSpPr>
              <p:nvPr/>
            </p:nvSpPr>
            <p:spPr>
              <a:xfrm>
                <a:off x="457200" y="5352756"/>
                <a:ext cx="8229600" cy="960120"/>
              </a:xfrm>
              <a:blipFill>
                <a:blip r:embed="rId6"/>
                <a:stretch>
                  <a:fillRect/>
                </a:stretch>
              </a:blipFill>
            </p:spPr>
            <p:txBody>
              <a:bodyPr/>
              <a:lstStyle/>
              <a:p>
                <a:r>
                  <a:rPr lang="en-US">
                    <a:noFill/>
                  </a:rPr>
                  <a:t> </a:t>
                </a:r>
              </a:p>
            </p:txBody>
          </p:sp>
        </mc:Fallback>
      </mc:AlternateContent>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228600" y="128016"/>
            <a:ext cx="8686800" cy="713232"/>
          </a:xfrm>
        </p:spPr>
        <p:txBody>
          <a:bodyPr wrap="square" lIns="0" tIns="0" rIns="0" bIns="0" anchor="t">
            <a:noAutofit/>
          </a:bodyPr>
          <a:lstStyle>
            <a:lvl1pPr>
              <a:defRPr sz="2350" b="1">
                <a:solidFill>
                  <a:srgbClr val="3333B2"/>
                </a:solidFill>
                <a:latin typeface="Times New Roman"/>
              </a:defRPr>
            </a:lvl1pPr>
            <a:lvl2pPr>
              <a:defRPr sz="2350" b="1">
                <a:solidFill>
                  <a:srgbClr val="3333B2"/>
                </a:solidFill>
                <a:latin typeface="Times New Roman"/>
              </a:defRPr>
            </a:lvl2pPr>
            <a:lvl3pPr>
              <a:defRPr sz="2350" b="1">
                <a:solidFill>
                  <a:srgbClr val="3333B2"/>
                </a:solidFill>
                <a:latin typeface="Times New Roman"/>
              </a:defRPr>
            </a:lvl3pPr>
            <a:lvl4pPr>
              <a:defRPr sz="2350" b="1">
                <a:solidFill>
                  <a:srgbClr val="3333B2"/>
                </a:solidFill>
                <a:latin typeface="Times New Roman"/>
              </a:defRPr>
            </a:lvl4pPr>
            <a:lvl5pPr>
              <a:defRPr sz="2350" b="1">
                <a:solidFill>
                  <a:srgbClr val="3333B2"/>
                </a:solidFill>
                <a:latin typeface="Times New Roman"/>
              </a:defRPr>
            </a:lvl5pPr>
            <a:lvl6pPr>
              <a:defRPr sz="2350" b="1">
                <a:solidFill>
                  <a:srgbClr val="3333B2"/>
                </a:solidFill>
                <a:latin typeface="Times New Roman"/>
              </a:defRPr>
            </a:lvl6pPr>
            <a:lvl7pPr>
              <a:defRPr sz="2350" b="1">
                <a:solidFill>
                  <a:srgbClr val="3333B2"/>
                </a:solidFill>
                <a:latin typeface="Times New Roman"/>
              </a:defRPr>
            </a:lvl7pPr>
            <a:lvl8pPr>
              <a:defRPr sz="2350" b="1">
                <a:solidFill>
                  <a:srgbClr val="3333B2"/>
                </a:solidFill>
                <a:latin typeface="Times New Roman"/>
              </a:defRPr>
            </a:lvl8pPr>
            <a:lvl9pPr>
              <a:defRPr sz="2350" b="1">
                <a:solidFill>
                  <a:srgbClr val="3333B2"/>
                </a:solidFill>
                <a:latin typeface="Times New Roman"/>
              </a:defRPr>
            </a:lvl9pPr>
          </a:lstStyle>
          <a:p>
            <a:pPr marL="0" lvl="0" indent="0">
              <a:spcAft>
                <a:spcPts val="650"/>
              </a:spcAft>
              <a:buNone/>
            </a:pPr>
            <a:r>
              <a:rPr sz="2350" b="1">
                <a:solidFill>
                  <a:srgbClr val="3333B2"/>
                </a:solidFill>
                <a:latin typeface="Times New Roman"/>
              </a:rPr>
              <a:t>Takeaway</a:t>
            </a:r>
          </a:p>
        </p:txBody>
      </p:sp>
      <p:pic>
        <p:nvPicPr>
          <p:cNvPr id="3" name="Picture 1" descr="editable_assets/diagram-17-1.png"/>
          <p:cNvPicPr>
            <a:picLocks noGrp="1" noChangeAspect="1"/>
          </p:cNvPicPr>
          <p:nvPr/>
        </p:nvPicPr>
        <p:blipFill>
          <a:blip r:embed="rId3"/>
          <a:srcRect l="2218" t="64202" r="9512" b="5399"/>
          <a:stretch>
            <a:fillRect/>
          </a:stretch>
        </p:blipFill>
        <p:spPr bwMode="auto">
          <a:xfrm>
            <a:off x="548640" y="1521294"/>
            <a:ext cx="8046720" cy="1163652"/>
          </a:xfrm>
          <a:prstGeom prst="rect">
            <a:avLst/>
          </a:prstGeom>
          <a:noFill/>
          <a:ln w="9525">
            <a:noFill/>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228600" y="128016"/>
            <a:ext cx="8686800" cy="713232"/>
          </a:xfrm>
        </p:spPr>
        <p:txBody>
          <a:bodyPr wrap="square" lIns="0" tIns="0" rIns="0" bIns="0" anchor="t">
            <a:noAutofit/>
          </a:bodyPr>
          <a:lstStyle>
            <a:lvl1pPr>
              <a:defRPr sz="2350" b="1">
                <a:solidFill>
                  <a:srgbClr val="3333B2"/>
                </a:solidFill>
                <a:latin typeface="Times New Roman"/>
              </a:defRPr>
            </a:lvl1pPr>
            <a:lvl2pPr>
              <a:defRPr sz="2350" b="1">
                <a:solidFill>
                  <a:srgbClr val="3333B2"/>
                </a:solidFill>
                <a:latin typeface="Times New Roman"/>
              </a:defRPr>
            </a:lvl2pPr>
            <a:lvl3pPr>
              <a:defRPr sz="2350" b="1">
                <a:solidFill>
                  <a:srgbClr val="3333B2"/>
                </a:solidFill>
                <a:latin typeface="Times New Roman"/>
              </a:defRPr>
            </a:lvl3pPr>
            <a:lvl4pPr>
              <a:defRPr sz="2350" b="1">
                <a:solidFill>
                  <a:srgbClr val="3333B2"/>
                </a:solidFill>
                <a:latin typeface="Times New Roman"/>
              </a:defRPr>
            </a:lvl4pPr>
            <a:lvl5pPr>
              <a:defRPr sz="2350" b="1">
                <a:solidFill>
                  <a:srgbClr val="3333B2"/>
                </a:solidFill>
                <a:latin typeface="Times New Roman"/>
              </a:defRPr>
            </a:lvl5pPr>
            <a:lvl6pPr>
              <a:defRPr sz="2350" b="1">
                <a:solidFill>
                  <a:srgbClr val="3333B2"/>
                </a:solidFill>
                <a:latin typeface="Times New Roman"/>
              </a:defRPr>
            </a:lvl6pPr>
            <a:lvl7pPr>
              <a:defRPr sz="2350" b="1">
                <a:solidFill>
                  <a:srgbClr val="3333B2"/>
                </a:solidFill>
                <a:latin typeface="Times New Roman"/>
              </a:defRPr>
            </a:lvl7pPr>
            <a:lvl8pPr>
              <a:defRPr sz="2350" b="1">
                <a:solidFill>
                  <a:srgbClr val="3333B2"/>
                </a:solidFill>
                <a:latin typeface="Times New Roman"/>
              </a:defRPr>
            </a:lvl8pPr>
            <a:lvl9pPr>
              <a:defRPr sz="2350" b="1">
                <a:solidFill>
                  <a:srgbClr val="3333B2"/>
                </a:solidFill>
                <a:latin typeface="Times New Roman"/>
              </a:defRPr>
            </a:lvl9pPr>
          </a:lstStyle>
          <a:p>
            <a:pPr marL="0" lvl="0" indent="0">
              <a:spcAft>
                <a:spcPts val="650"/>
              </a:spcAft>
              <a:buNone/>
            </a:pPr>
            <a:r>
              <a:rPr sz="2350" b="1">
                <a:solidFill>
                  <a:srgbClr val="3333B2"/>
                </a:solidFill>
                <a:latin typeface="Times New Roman"/>
              </a:rPr>
              <a:t>Takeaway</a:t>
            </a:r>
          </a:p>
        </p:txBody>
      </p:sp>
      <p:pic>
        <p:nvPicPr>
          <p:cNvPr id="3" name="Picture 1" descr="editable_assets/diagram-17-2.png"/>
          <p:cNvPicPr>
            <a:picLocks noGrp="1" noChangeAspect="1"/>
          </p:cNvPicPr>
          <p:nvPr/>
        </p:nvPicPr>
        <p:blipFill>
          <a:blip r:embed="rId3"/>
          <a:srcRect l="2218" t="64202" r="9512" b="5399"/>
          <a:stretch>
            <a:fillRect/>
          </a:stretch>
        </p:blipFill>
        <p:spPr bwMode="auto">
          <a:xfrm>
            <a:off x="548640" y="1521294"/>
            <a:ext cx="8046720" cy="1163652"/>
          </a:xfrm>
          <a:prstGeom prst="rect">
            <a:avLst/>
          </a:prstGeom>
          <a:noFill/>
          <a:ln w="9525">
            <a:noFill/>
            <a:headEnd/>
            <a:tailEnd/>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228600" y="128016"/>
            <a:ext cx="8686800" cy="713232"/>
          </a:xfrm>
        </p:spPr>
        <p:txBody>
          <a:bodyPr wrap="square" lIns="0" tIns="0" rIns="0" bIns="0" anchor="t">
            <a:noAutofit/>
          </a:bodyPr>
          <a:lstStyle>
            <a:lvl1pPr>
              <a:defRPr sz="2350" b="1">
                <a:solidFill>
                  <a:srgbClr val="3333B2"/>
                </a:solidFill>
                <a:latin typeface="Times New Roman"/>
              </a:defRPr>
            </a:lvl1pPr>
            <a:lvl2pPr>
              <a:defRPr sz="2350" b="1">
                <a:solidFill>
                  <a:srgbClr val="3333B2"/>
                </a:solidFill>
                <a:latin typeface="Times New Roman"/>
              </a:defRPr>
            </a:lvl2pPr>
            <a:lvl3pPr>
              <a:defRPr sz="2350" b="1">
                <a:solidFill>
                  <a:srgbClr val="3333B2"/>
                </a:solidFill>
                <a:latin typeface="Times New Roman"/>
              </a:defRPr>
            </a:lvl3pPr>
            <a:lvl4pPr>
              <a:defRPr sz="2350" b="1">
                <a:solidFill>
                  <a:srgbClr val="3333B2"/>
                </a:solidFill>
                <a:latin typeface="Times New Roman"/>
              </a:defRPr>
            </a:lvl4pPr>
            <a:lvl5pPr>
              <a:defRPr sz="2350" b="1">
                <a:solidFill>
                  <a:srgbClr val="3333B2"/>
                </a:solidFill>
                <a:latin typeface="Times New Roman"/>
              </a:defRPr>
            </a:lvl5pPr>
            <a:lvl6pPr>
              <a:defRPr sz="2350" b="1">
                <a:solidFill>
                  <a:srgbClr val="3333B2"/>
                </a:solidFill>
                <a:latin typeface="Times New Roman"/>
              </a:defRPr>
            </a:lvl6pPr>
            <a:lvl7pPr>
              <a:defRPr sz="2350" b="1">
                <a:solidFill>
                  <a:srgbClr val="3333B2"/>
                </a:solidFill>
                <a:latin typeface="Times New Roman"/>
              </a:defRPr>
            </a:lvl7pPr>
            <a:lvl8pPr>
              <a:defRPr sz="2350" b="1">
                <a:solidFill>
                  <a:srgbClr val="3333B2"/>
                </a:solidFill>
                <a:latin typeface="Times New Roman"/>
              </a:defRPr>
            </a:lvl8pPr>
            <a:lvl9pPr>
              <a:defRPr sz="2350" b="1">
                <a:solidFill>
                  <a:srgbClr val="3333B2"/>
                </a:solidFill>
                <a:latin typeface="Times New Roman"/>
              </a:defRPr>
            </a:lvl9pPr>
          </a:lstStyle>
          <a:p>
            <a:pPr marL="0" lvl="0" indent="0">
              <a:spcAft>
                <a:spcPts val="650"/>
              </a:spcAft>
              <a:buNone/>
            </a:pPr>
            <a:r>
              <a:rPr sz="2350" b="1">
                <a:solidFill>
                  <a:srgbClr val="3333B2"/>
                </a:solidFill>
                <a:latin typeface="Times New Roman"/>
              </a:rPr>
              <a:t>Takeaway</a:t>
            </a:r>
          </a:p>
        </p:txBody>
      </p:sp>
      <p:pic>
        <p:nvPicPr>
          <p:cNvPr id="3" name="Picture 1" descr="editable_assets/diagram-17-3.png"/>
          <p:cNvPicPr>
            <a:picLocks noGrp="1" noChangeAspect="1"/>
          </p:cNvPicPr>
          <p:nvPr/>
        </p:nvPicPr>
        <p:blipFill>
          <a:blip r:embed="rId3"/>
          <a:srcRect l="2218" t="64202" r="9512" b="5399"/>
          <a:stretch>
            <a:fillRect/>
          </a:stretch>
        </p:blipFill>
        <p:spPr bwMode="auto">
          <a:xfrm>
            <a:off x="548640" y="1521294"/>
            <a:ext cx="8046720" cy="1163652"/>
          </a:xfrm>
          <a:prstGeom prst="rect">
            <a:avLst/>
          </a:prstGeom>
          <a:noFill/>
          <a:ln w="9525">
            <a:noFill/>
            <a:headEnd/>
            <a:tailEn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228600" y="128016"/>
            <a:ext cx="8686800" cy="713232"/>
          </a:xfrm>
        </p:spPr>
        <p:txBody>
          <a:bodyPr wrap="square" lIns="0" tIns="0" rIns="0" bIns="0" anchor="t">
            <a:noAutofit/>
          </a:bodyPr>
          <a:lstStyle>
            <a:lvl1pPr>
              <a:defRPr sz="2350" b="1">
                <a:solidFill>
                  <a:srgbClr val="3333B2"/>
                </a:solidFill>
                <a:latin typeface="Times New Roman"/>
              </a:defRPr>
            </a:lvl1pPr>
            <a:lvl2pPr>
              <a:defRPr sz="2350" b="1">
                <a:solidFill>
                  <a:srgbClr val="3333B2"/>
                </a:solidFill>
                <a:latin typeface="Times New Roman"/>
              </a:defRPr>
            </a:lvl2pPr>
            <a:lvl3pPr>
              <a:defRPr sz="2350" b="1">
                <a:solidFill>
                  <a:srgbClr val="3333B2"/>
                </a:solidFill>
                <a:latin typeface="Times New Roman"/>
              </a:defRPr>
            </a:lvl3pPr>
            <a:lvl4pPr>
              <a:defRPr sz="2350" b="1">
                <a:solidFill>
                  <a:srgbClr val="3333B2"/>
                </a:solidFill>
                <a:latin typeface="Times New Roman"/>
              </a:defRPr>
            </a:lvl4pPr>
            <a:lvl5pPr>
              <a:defRPr sz="2350" b="1">
                <a:solidFill>
                  <a:srgbClr val="3333B2"/>
                </a:solidFill>
                <a:latin typeface="Times New Roman"/>
              </a:defRPr>
            </a:lvl5pPr>
            <a:lvl6pPr>
              <a:defRPr sz="2350" b="1">
                <a:solidFill>
                  <a:srgbClr val="3333B2"/>
                </a:solidFill>
                <a:latin typeface="Times New Roman"/>
              </a:defRPr>
            </a:lvl6pPr>
            <a:lvl7pPr>
              <a:defRPr sz="2350" b="1">
                <a:solidFill>
                  <a:srgbClr val="3333B2"/>
                </a:solidFill>
                <a:latin typeface="Times New Roman"/>
              </a:defRPr>
            </a:lvl7pPr>
            <a:lvl8pPr>
              <a:defRPr sz="2350" b="1">
                <a:solidFill>
                  <a:srgbClr val="3333B2"/>
                </a:solidFill>
                <a:latin typeface="Times New Roman"/>
              </a:defRPr>
            </a:lvl8pPr>
            <a:lvl9pPr>
              <a:defRPr sz="2350" b="1">
                <a:solidFill>
                  <a:srgbClr val="3333B2"/>
                </a:solidFill>
                <a:latin typeface="Times New Roman"/>
              </a:defRPr>
            </a:lvl9pPr>
          </a:lstStyle>
          <a:p>
            <a:pPr marL="0" lvl="0" indent="0">
              <a:spcAft>
                <a:spcPts val="650"/>
              </a:spcAft>
              <a:buNone/>
            </a:pPr>
            <a:r>
              <a:rPr sz="2350" b="1" dirty="0">
                <a:solidFill>
                  <a:srgbClr val="3333B2"/>
                </a:solidFill>
                <a:latin typeface="Times New Roman"/>
              </a:rPr>
              <a:t>Takeaway</a:t>
            </a:r>
          </a:p>
        </p:txBody>
      </p:sp>
      <p:pic>
        <p:nvPicPr>
          <p:cNvPr id="3" name="Picture 1" descr="editable_assets/diagram-17-3.png"/>
          <p:cNvPicPr>
            <a:picLocks noGrp="1" noChangeAspect="1"/>
          </p:cNvPicPr>
          <p:nvPr/>
        </p:nvPicPr>
        <p:blipFill>
          <a:blip r:embed="rId3"/>
          <a:srcRect l="2218" t="64202" r="9512" b="5399"/>
          <a:stretch>
            <a:fillRect/>
          </a:stretch>
        </p:blipFill>
        <p:spPr bwMode="auto">
          <a:xfrm>
            <a:off x="548640" y="1521294"/>
            <a:ext cx="8046720" cy="1163652"/>
          </a:xfrm>
          <a:prstGeom prst="rect">
            <a:avLst/>
          </a:prstGeom>
          <a:noFill/>
          <a:ln w="9525">
            <a:noFill/>
            <a:headEnd/>
            <a:tailEnd/>
          </a:ln>
        </p:spPr>
      </p:pic>
      <mc:AlternateContent xmlns:mc="http://schemas.openxmlformats.org/markup-compatibility/2006">
        <mc:Choice xmlns:a14="http://schemas.microsoft.com/office/drawing/2010/main" Requires="a14">
          <p:sp>
            <p:nvSpPr>
              <p:cNvPr id="4" name="Content Placeholder 2"/>
              <p:cNvSpPr>
                <a:spLocks noGrp="1"/>
              </p:cNvSpPr>
              <p:nvPr/>
            </p:nvSpPr>
            <p:spPr>
              <a:xfrm>
                <a:off x="548640" y="3337560"/>
                <a:ext cx="8046720" cy="2926080"/>
              </a:xfrm>
            </p:spPr>
            <p:txBody>
              <a:bodyPr wrap="square" lIns="0" tIns="0" rIns="0" bIns="0" anchor="t">
                <a:noAutofit/>
              </a:bodyPr>
              <a:lstStyle>
                <a:lvl1pPr>
                  <a:defRPr sz="2100">
                    <a:latin typeface="Times New Roman"/>
                  </a:defRPr>
                </a:lvl1pPr>
                <a:lvl2pPr>
                  <a:defRPr sz="2100">
                    <a:latin typeface="Times New Roman"/>
                  </a:defRPr>
                </a:lvl2pPr>
                <a:lvl3pPr>
                  <a:defRPr sz="2100">
                    <a:latin typeface="Times New Roman"/>
                  </a:defRPr>
                </a:lvl3pPr>
                <a:lvl4pPr>
                  <a:defRPr sz="2100">
                    <a:latin typeface="Times New Roman"/>
                  </a:defRPr>
                </a:lvl4pPr>
                <a:lvl5pPr>
                  <a:defRPr sz="2100">
                    <a:latin typeface="Times New Roman"/>
                  </a:defRPr>
                </a:lvl5pPr>
                <a:lvl6pPr>
                  <a:defRPr sz="2100">
                    <a:latin typeface="Times New Roman"/>
                  </a:defRPr>
                </a:lvl6pPr>
                <a:lvl7pPr>
                  <a:defRPr sz="2100">
                    <a:latin typeface="Times New Roman"/>
                  </a:defRPr>
                </a:lvl7pPr>
                <a:lvl8pPr>
                  <a:defRPr sz="2100">
                    <a:latin typeface="Times New Roman"/>
                  </a:defRPr>
                </a:lvl8pPr>
                <a:lvl9pPr>
                  <a:defRPr sz="2100">
                    <a:latin typeface="Times New Roman"/>
                  </a:defRPr>
                </a:lvl9pPr>
              </a:lstStyle>
              <a:p>
                <a:pPr marL="0" lvl="0" indent="0">
                  <a:spcAft>
                    <a:spcPts val="650"/>
                  </a:spcAft>
                  <a:buNone/>
                </a:pPr>
                <a:r>
                  <a:rPr sz="2100" b="1" dirty="0">
                    <a:latin typeface="Times New Roman"/>
                  </a:rPr>
                  <a:t>One reusable sentence</a:t>
                </a:r>
              </a:p>
              <a:p>
                <a:pPr marL="0" lvl="0" indent="0">
                  <a:spcAft>
                    <a:spcPts val="650"/>
                  </a:spcAft>
                  <a:buNone/>
                </a:pPr>
                <a:r>
                  <a:rPr sz="2100" dirty="0">
                    <a:latin typeface="Times New Roman"/>
                  </a:rPr>
                  <a:t>To prove a target </a:t>
                </a:r>
                <a14:m>
                  <m:oMath xmlns:m="http://schemas.openxmlformats.org/officeDocument/2006/math">
                    <m:r>
                      <a:rPr>
                        <a:latin typeface="Cambria Math" panose="02040503050406030204" pitchFamily="18" charset="0"/>
                      </a:rPr>
                      <m:t>𝐵</m:t>
                    </m:r>
                  </m:oMath>
                </a14:m>
                <a:r>
                  <a:rPr sz="2100" dirty="0">
                    <a:latin typeface="Times New Roman"/>
                  </a:rPr>
                  <a:t> NP-complete, show </a:t>
                </a:r>
                <a14:m>
                  <m:oMath xmlns:m="http://schemas.openxmlformats.org/officeDocument/2006/math">
                    <m:r>
                      <a:rPr>
                        <a:latin typeface="Cambria Math" panose="02040503050406030204" pitchFamily="18" charset="0"/>
                      </a:rPr>
                      <m:t>𝐵</m:t>
                    </m:r>
                    <m:r>
                      <a:rPr>
                        <a:latin typeface="Cambria Math" panose="02040503050406030204" pitchFamily="18" charset="0"/>
                      </a:rPr>
                      <m:t>∈</m:t>
                    </m:r>
                    <m:r>
                      <a:rPr>
                        <a:latin typeface="Cambria Math" panose="02040503050406030204" pitchFamily="18" charset="0"/>
                      </a:rPr>
                      <m:t>𝑁𝑃</m:t>
                    </m:r>
                  </m:oMath>
                </a14:m>
                <a:r>
                  <a:rPr sz="2100" dirty="0">
                    <a:latin typeface="Times New Roman"/>
                  </a:rPr>
                  <a:t> and reduce a known NP-complete problem </a:t>
                </a:r>
                <a14:m>
                  <m:oMath xmlns:m="http://schemas.openxmlformats.org/officeDocument/2006/math">
                    <m:r>
                      <a:rPr>
                        <a:latin typeface="Cambria Math" panose="02040503050406030204" pitchFamily="18" charset="0"/>
                      </a:rPr>
                      <m:t>𝐴</m:t>
                    </m:r>
                  </m:oMath>
                </a14:m>
                <a:r>
                  <a:rPr sz="2100" dirty="0">
                    <a:latin typeface="Times New Roman"/>
                  </a:rPr>
                  <a:t> to </a:t>
                </a:r>
                <a14:m>
                  <m:oMath xmlns:m="http://schemas.openxmlformats.org/officeDocument/2006/math">
                    <m:r>
                      <a:rPr>
                        <a:latin typeface="Cambria Math" panose="02040503050406030204" pitchFamily="18" charset="0"/>
                      </a:rPr>
                      <m:t>𝐵</m:t>
                    </m:r>
                  </m:oMath>
                </a14:m>
                <a:r>
                  <a:rPr sz="2100" dirty="0">
                    <a:latin typeface="Times New Roman"/>
                  </a:rPr>
                  <a:t> in polynomial time while preserving YES/NO answers.</a:t>
                </a:r>
                <a:endParaRPr lang="en-US" sz="2100" dirty="0">
                  <a:latin typeface="Times New Roman"/>
                </a:endParaRPr>
              </a:p>
              <a:p>
                <a:pPr marL="0" lvl="0" indent="0">
                  <a:spcAft>
                    <a:spcPts val="650"/>
                  </a:spcAft>
                  <a:buNone/>
                </a:pPr>
                <a:endParaRPr sz="2100" dirty="0">
                  <a:latin typeface="Times New Roman"/>
                </a:endParaRPr>
              </a:p>
              <a:p>
                <a:pPr marL="0" lvl="0" indent="0" algn="ctr">
                  <a:spcAft>
                    <a:spcPts val="650"/>
                  </a:spcAft>
                  <a:buNone/>
                </a:pPr>
                <a:r>
                  <a:rPr sz="2350" b="1" dirty="0">
                    <a:latin typeface="Times New Roman"/>
                  </a:rPr>
                  <a:t>Questions?</a:t>
                </a:r>
              </a:p>
            </p:txBody>
          </p:sp>
        </mc:Choice>
        <mc:Fallback>
          <p:sp>
            <p:nvSpPr>
              <p:cNvPr id="4" name="Content Placeholder 2"/>
              <p:cNvSpPr>
                <a:spLocks noGrp="1" noRot="1" noChangeAspect="1" noMove="1" noResize="1" noEditPoints="1" noAdjustHandles="1" noChangeArrowheads="1" noChangeShapeType="1" noTextEdit="1"/>
              </p:cNvSpPr>
              <p:nvPr/>
            </p:nvSpPr>
            <p:spPr>
              <a:xfrm>
                <a:off x="548640" y="3337560"/>
                <a:ext cx="8046720" cy="2926080"/>
              </a:xfrm>
              <a:blipFill>
                <a:blip r:embed="rId4"/>
                <a:stretch>
                  <a:fillRect/>
                </a:stretch>
              </a:blipFill>
            </p:spPr>
            <p:txBody>
              <a:bodyPr/>
              <a:lstStyle/>
              <a:p>
                <a:r>
                  <a:rPr lang="en-US">
                    <a:noFill/>
                  </a:rPr>
                  <a:t> </a:t>
                </a:r>
              </a:p>
            </p:txBody>
          </p:sp>
        </mc:Fallback>
      </mc:AlternateContent>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228600" y="128016"/>
            <a:ext cx="8686800" cy="713232"/>
          </a:xfrm>
        </p:spPr>
        <p:txBody>
          <a:bodyPr wrap="square" lIns="0" tIns="0" rIns="0" bIns="0" anchor="t">
            <a:noAutofit/>
          </a:bodyPr>
          <a:lstStyle>
            <a:lvl1pPr>
              <a:defRPr sz="2350" b="1">
                <a:solidFill>
                  <a:srgbClr val="3333B2"/>
                </a:solidFill>
                <a:latin typeface="Times New Roman"/>
              </a:defRPr>
            </a:lvl1pPr>
            <a:lvl2pPr>
              <a:defRPr sz="2350" b="1">
                <a:solidFill>
                  <a:srgbClr val="3333B2"/>
                </a:solidFill>
                <a:latin typeface="Times New Roman"/>
              </a:defRPr>
            </a:lvl2pPr>
            <a:lvl3pPr>
              <a:defRPr sz="2350" b="1">
                <a:solidFill>
                  <a:srgbClr val="3333B2"/>
                </a:solidFill>
                <a:latin typeface="Times New Roman"/>
              </a:defRPr>
            </a:lvl3pPr>
            <a:lvl4pPr>
              <a:defRPr sz="2350" b="1">
                <a:solidFill>
                  <a:srgbClr val="3333B2"/>
                </a:solidFill>
                <a:latin typeface="Times New Roman"/>
              </a:defRPr>
            </a:lvl4pPr>
            <a:lvl5pPr>
              <a:defRPr sz="2350" b="1">
                <a:solidFill>
                  <a:srgbClr val="3333B2"/>
                </a:solidFill>
                <a:latin typeface="Times New Roman"/>
              </a:defRPr>
            </a:lvl5pPr>
            <a:lvl6pPr>
              <a:defRPr sz="2350" b="1">
                <a:solidFill>
                  <a:srgbClr val="3333B2"/>
                </a:solidFill>
                <a:latin typeface="Times New Roman"/>
              </a:defRPr>
            </a:lvl6pPr>
            <a:lvl7pPr>
              <a:defRPr sz="2350" b="1">
                <a:solidFill>
                  <a:srgbClr val="3333B2"/>
                </a:solidFill>
                <a:latin typeface="Times New Roman"/>
              </a:defRPr>
            </a:lvl7pPr>
            <a:lvl8pPr>
              <a:defRPr sz="2350" b="1">
                <a:solidFill>
                  <a:srgbClr val="3333B2"/>
                </a:solidFill>
                <a:latin typeface="Times New Roman"/>
              </a:defRPr>
            </a:lvl8pPr>
            <a:lvl9pPr>
              <a:defRPr sz="2350" b="1">
                <a:solidFill>
                  <a:srgbClr val="3333B2"/>
                </a:solidFill>
                <a:latin typeface="Times New Roman"/>
              </a:defRPr>
            </a:lvl9pPr>
          </a:lstStyle>
          <a:p>
            <a:pPr marL="0" lvl="0" indent="0">
              <a:spcAft>
                <a:spcPts val="650"/>
              </a:spcAft>
              <a:buNone/>
            </a:pPr>
            <a:r>
              <a:rPr sz="2350" b="1">
                <a:solidFill>
                  <a:srgbClr val="3333B2"/>
                </a:solidFill>
                <a:latin typeface="Times New Roman"/>
              </a:rPr>
              <a:t>References</a:t>
            </a:r>
          </a:p>
        </p:txBody>
      </p:sp>
      <p:sp>
        <p:nvSpPr>
          <p:cNvPr id="3" name="Content Placeholder 2"/>
          <p:cNvSpPr>
            <a:spLocks noGrp="1"/>
          </p:cNvSpPr>
          <p:nvPr/>
        </p:nvSpPr>
        <p:spPr>
          <a:xfrm>
            <a:off x="502920" y="1463040"/>
            <a:ext cx="8138160" cy="4480560"/>
          </a:xfrm>
        </p:spPr>
        <p:txBody>
          <a:bodyPr wrap="square" lIns="0" tIns="0" rIns="0" bIns="0" anchor="t">
            <a:noAutofit/>
          </a:bodyPr>
          <a:lstStyle>
            <a:lvl1pPr>
              <a:defRPr sz="2100">
                <a:latin typeface="Times New Roman"/>
              </a:defRPr>
            </a:lvl1pPr>
            <a:lvl2pPr>
              <a:defRPr sz="2100">
                <a:latin typeface="Times New Roman"/>
              </a:defRPr>
            </a:lvl2pPr>
            <a:lvl3pPr>
              <a:defRPr sz="2100">
                <a:latin typeface="Times New Roman"/>
              </a:defRPr>
            </a:lvl3pPr>
            <a:lvl4pPr>
              <a:defRPr sz="2100">
                <a:latin typeface="Times New Roman"/>
              </a:defRPr>
            </a:lvl4pPr>
            <a:lvl5pPr>
              <a:defRPr sz="2100">
                <a:latin typeface="Times New Roman"/>
              </a:defRPr>
            </a:lvl5pPr>
            <a:lvl6pPr>
              <a:defRPr sz="2100">
                <a:latin typeface="Times New Roman"/>
              </a:defRPr>
            </a:lvl6pPr>
            <a:lvl7pPr>
              <a:defRPr sz="2100">
                <a:latin typeface="Times New Roman"/>
              </a:defRPr>
            </a:lvl7pPr>
            <a:lvl8pPr>
              <a:defRPr sz="2100">
                <a:latin typeface="Times New Roman"/>
              </a:defRPr>
            </a:lvl8pPr>
            <a:lvl9pPr>
              <a:defRPr sz="2100">
                <a:latin typeface="Times New Roman"/>
              </a:defRPr>
            </a:lvl9pPr>
          </a:lstStyle>
          <a:p>
            <a:pPr marL="0" lvl="0" indent="0">
              <a:spcAft>
                <a:spcPts val="650"/>
              </a:spcAft>
              <a:buNone/>
            </a:pPr>
            <a:r>
              <a:rPr sz="2100" b="1" dirty="0">
                <a:latin typeface="Times New Roman"/>
              </a:rPr>
              <a:t>Primary references</a:t>
            </a:r>
          </a:p>
          <a:p>
            <a:pPr lvl="0">
              <a:spcAft>
                <a:spcPts val="650"/>
              </a:spcAft>
            </a:pPr>
            <a:r>
              <a:rPr sz="2100" dirty="0">
                <a:latin typeface="Times New Roman"/>
              </a:rPr>
              <a:t>Michael Sipser, </a:t>
            </a:r>
            <a:r>
              <a:rPr sz="2100" i="1" dirty="0">
                <a:latin typeface="Times New Roman"/>
              </a:rPr>
              <a:t>Introduction to the Theory of Computation</a:t>
            </a:r>
            <a:r>
              <a:rPr sz="2100" dirty="0">
                <a:latin typeface="Times New Roman"/>
              </a:rPr>
              <a:t>.</a:t>
            </a:r>
          </a:p>
          <a:p>
            <a:pPr lvl="0">
              <a:spcAft>
                <a:spcPts val="650"/>
              </a:spcAft>
            </a:pPr>
            <a:r>
              <a:rPr sz="2100" dirty="0" err="1">
                <a:latin typeface="Times New Roman"/>
              </a:rPr>
              <a:t>Cormen</a:t>
            </a:r>
            <a:r>
              <a:rPr sz="2100" dirty="0">
                <a:latin typeface="Times New Roman"/>
              </a:rPr>
              <a:t>, </a:t>
            </a:r>
            <a:r>
              <a:rPr sz="2100" dirty="0" err="1">
                <a:latin typeface="Times New Roman"/>
              </a:rPr>
              <a:t>Leiserson</a:t>
            </a:r>
            <a:r>
              <a:rPr sz="2100" dirty="0">
                <a:latin typeface="Times New Roman"/>
              </a:rPr>
              <a:t>, Rivest and Stein, </a:t>
            </a:r>
            <a:r>
              <a:rPr sz="2100" i="1" dirty="0">
                <a:latin typeface="Times New Roman"/>
              </a:rPr>
              <a:t>Introduction to Algorithms</a:t>
            </a:r>
            <a:r>
              <a:rPr sz="2100" dirty="0">
                <a:latin typeface="Times New Roman"/>
              </a:rPr>
              <a:t>.</a:t>
            </a:r>
          </a:p>
          <a:p>
            <a:pPr lvl="0">
              <a:spcAft>
                <a:spcPts val="650"/>
              </a:spcAft>
            </a:pPr>
            <a:r>
              <a:rPr sz="2100" dirty="0">
                <a:latin typeface="Times New Roman"/>
              </a:rPr>
              <a:t>CMU 15-451/651 lecture notes on NP-completeness.</a:t>
            </a:r>
          </a:p>
          <a:p>
            <a:pPr lvl="0">
              <a:spcAft>
                <a:spcPts val="650"/>
              </a:spcAft>
            </a:pPr>
            <a:r>
              <a:rPr sz="2100" dirty="0">
                <a:latin typeface="Times New Roman"/>
              </a:rPr>
              <a:t>Princeton COS 423 lecture notes, </a:t>
            </a:r>
            <a:r>
              <a:rPr sz="2100" i="1" dirty="0">
                <a:latin typeface="Times New Roman"/>
              </a:rPr>
              <a:t>Polynomial-Time Reductions</a:t>
            </a:r>
            <a:r>
              <a:rPr sz="2100" dirty="0">
                <a:latin typeface="Times New Roman"/>
              </a:rPr>
              <a:t>.</a:t>
            </a:r>
          </a:p>
          <a:p>
            <a:pPr marL="0" lvl="0" indent="0">
              <a:spcAft>
                <a:spcPts val="650"/>
              </a:spcAft>
              <a:buNone/>
            </a:pPr>
            <a:r>
              <a:rPr sz="2100" dirty="0">
                <a:latin typeface="Times New Roman"/>
              </a:rPr>
              <a:t>The exact six-vertex clause gadget and its 13-edge construction follow the </a:t>
            </a:r>
            <a:r>
              <a:rPr sz="2100" dirty="0">
                <a:hlinkClick r:id="rId3"/>
              </a:rPr>
              <a:t>Princeton reduction notes</a:t>
            </a:r>
            <a:r>
              <a:rPr sz="2100" dirty="0">
                <a:latin typeface="Times New Roman"/>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Times New Roman"/>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Times New Roman"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4263</Words>
  <Application>Microsoft Office PowerPoint</Application>
  <PresentationFormat>On-screen Show (4:3)</PresentationFormat>
  <Paragraphs>361</Paragraphs>
  <Slides>42</Slides>
  <Notes>42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42</vt:i4>
      </vt:variant>
    </vt:vector>
  </HeadingPairs>
  <TitlesOfParts>
    <vt:vector size="46" baseType="lpstr">
      <vt:lpstr>Arial</vt:lpstr>
      <vt:lpstr>Cambria Math</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2005009 - Ahmmad Nur Swapnil</cp:lastModifiedBy>
  <cp:revision>1</cp:revision>
  <dcterms:created xsi:type="dcterms:W3CDTF">2026-09-07T22:42:02Z</dcterms:created>
  <dcterms:modified xsi:type="dcterms:W3CDTF">2026-09-07T23:20:37Z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config">
    <vt:lpwstr>True</vt:lpwstr>
  </property>
  <property fmtid="{D5CDD505-2E9C-101B-9397-08002B2CF9AE}" pid="3" name="header-includes">
    <vt:lpwstr/>
  </property>
  <property fmtid="{D5CDD505-2E9C-101B-9397-08002B2CF9AE}" pid="4" name="include-after">
    <vt:lpwstr/>
  </property>
  <property fmtid="{D5CDD505-2E9C-101B-9397-08002B2CF9AE}" pid="5" name="include-before">
    <vt:lpwstr/>
  </property>
  <property fmtid="{D5CDD505-2E9C-101B-9397-08002B2CF9AE}" pid="6" name="labels">
    <vt:lpwstr/>
  </property>
  <property fmtid="{D5CDD505-2E9C-101B-9397-08002B2CF9AE}" pid="7" name="toc-title">
    <vt:lpwstr>Table of contents</vt:lpwstr>
  </property>
</Properties>
</file>