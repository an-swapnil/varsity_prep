
<file path=[Content_Types].xml><?xml version="1.0" encoding="utf-8"?>
<ns0:Types xmlns:ns0="http://schemas.openxmlformats.org/package/2006/content-types">
  <ns0:Default Extension="xml" ContentType="application/xml"/>
  <ns0:Default Extension="rels" ContentType="application/vnd.openxmlformats-package.relationships+xml"/>
  <ns0:Default Extension="png" ContentType="image/png"/>
  <ns0:Override PartName="/docProps/app.xml" ContentType="application/vnd.openxmlformats-officedocument.extended-properties+xml"/>
  <ns0:Override PartName="/ppt/slideLayouts/slideLayout1.xml" ContentType="application/vnd.openxmlformats-officedocument.presentationml.slideLayout+xml"/>
  <ns0:Override PartName="/ppt/slideLayouts/slideLayout10.xml" ContentType="application/vnd.openxmlformats-officedocument.presentationml.slideLayout+xml"/>
  <ns0:Override PartName="/ppt/slideLayouts/slideLayout11.xml" ContentType="application/vnd.openxmlformats-officedocument.presentationml.slideLayout+xml"/>
  <ns0:Override PartName="/ppt/slideLayouts/slideLayout2.xml" ContentType="application/vnd.openxmlformats-officedocument.presentationml.slideLayout+xml"/>
  <ns0:Override PartName="/ppt/slideLayouts/slideLayout3.xml" ContentType="application/vnd.openxmlformats-officedocument.presentationml.slideLayout+xml"/>
  <ns0:Override PartName="/ppt/slideLayouts/slideLayout4.xml" ContentType="application/vnd.openxmlformats-officedocument.presentationml.slideLayout+xml"/>
  <ns0:Override PartName="/ppt/slideLayouts/slideLayout5.xml" ContentType="application/vnd.openxmlformats-officedocument.presentationml.slideLayout+xml"/>
  <ns0:Override PartName="/ppt/slideLayouts/slideLayout6.xml" ContentType="application/vnd.openxmlformats-officedocument.presentationml.slideLayout+xml"/>
  <ns0:Override PartName="/ppt/slideLayouts/slideLayout7.xml" ContentType="application/vnd.openxmlformats-officedocument.presentationml.slideLayout+xml"/>
  <ns0:Override PartName="/ppt/slideLayouts/slideLayout8.xml" ContentType="application/vnd.openxmlformats-officedocument.presentationml.slideLayout+xml"/>
  <ns0:Override PartName="/ppt/slideLayouts/slideLayout9.xml" ContentType="application/vnd.openxmlformats-officedocument.presentationml.slideLayout+xml"/>
  <ns0:Override PartName="/ppt/slideMasters/slideMaster1.xml" ContentType="application/vnd.openxmlformats-officedocument.presentationml.slideMaster+xml"/>
  <ns0:Override PartName="/ppt/theme/theme1.xml" ContentType="application/vnd.openxmlformats-officedocument.theme+xml"/>
  <ns0:Override PartName="/ppt/theme/theme2.xml" ContentType="application/vnd.openxmlformats-officedocument.theme+xml"/>
  <ns0:Override PartName="/ppt/presProps.xml" ContentType="application/vnd.openxmlformats-officedocument.presentationml.presProps+xml"/>
  <ns0:Override PartName="/ppt/tableStyles.xml" ContentType="application/vnd.openxmlformats-officedocument.presentationml.tableStyles+xml"/>
  <ns0:Override PartName="/ppt/notesMasters/notesMaster1.xml" ContentType="application/vnd.openxmlformats-officedocument.presentationml.notesMaster+xml"/>
  <ns0:Override PartName="/docProps/core.xml" ContentType="application/vnd.openxmlformats-package.core-properties+xml"/>
  <ns0:Override PartName="/docProps/custom.xml" ContentType="application/vnd.openxmlformats-officedocument.custom-properties+xml"/>
  <ns0:Override PartName="/ppt/presentation.xml" ContentType="application/vnd.openxmlformats-officedocument.presentationml.presentation.main+xml"/>
  <ns0:Override PartName="/ppt/viewProps.xml" ContentType="application/vnd.openxmlformats-officedocument.presentationml.viewProps+xml"/>
  <ns0:Override PartName="/ppt/notesSlides/notesSlide1.xml" ContentType="application/vnd.openxmlformats-officedocument.presentationml.notesSlide+xml"/>
  <ns0:Override PartName="/ppt/notesSlides/notesSlide2.xml" ContentType="application/vnd.openxmlformats-officedocument.presentationml.notesSlide+xml"/>
  <ns0:Override PartName="/ppt/notesSlides/notesSlide3.xml" ContentType="application/vnd.openxmlformats-officedocument.presentationml.notesSlide+xml"/>
  <ns0:Override PartName="/ppt/notesSlides/notesSlide4.xml" ContentType="application/vnd.openxmlformats-officedocument.presentationml.notesSlide+xml"/>
  <ns0:Override PartName="/ppt/notesSlides/notesSlide5.xml" ContentType="application/vnd.openxmlformats-officedocument.presentationml.notesSlide+xml"/>
  <ns0:Override PartName="/ppt/notesSlides/notesSlide6.xml" ContentType="application/vnd.openxmlformats-officedocument.presentationml.notesSlide+xml"/>
  <ns0:Override PartName="/ppt/notesSlides/notesSlide7.xml" ContentType="application/vnd.openxmlformats-officedocument.presentationml.notesSlide+xml"/>
  <ns0:Override PartName="/ppt/notesSlides/notesSlide8.xml" ContentType="application/vnd.openxmlformats-officedocument.presentationml.notesSlide+xml"/>
  <ns0:Override PartName="/ppt/notesSlides/notesSlide9.xml" ContentType="application/vnd.openxmlformats-officedocument.presentationml.notesSlide+xml"/>
  <ns0:Override PartName="/ppt/notesSlides/notesSlide10.xml" ContentType="application/vnd.openxmlformats-officedocument.presentationml.notesSlide+xml"/>
  <ns0:Override PartName="/ppt/notesSlides/notesSlide11.xml" ContentType="application/vnd.openxmlformats-officedocument.presentationml.notesSlide+xml"/>
  <ns0:Override PartName="/ppt/notesSlides/notesSlide12.xml" ContentType="application/vnd.openxmlformats-officedocument.presentationml.notesSlide+xml"/>
  <ns0:Override PartName="/ppt/notesSlides/notesSlide13.xml" ContentType="application/vnd.openxmlformats-officedocument.presentationml.notesSlide+xml"/>
  <ns0:Override PartName="/ppt/notesSlides/notesSlide14.xml" ContentType="application/vnd.openxmlformats-officedocument.presentationml.notesSlide+xml"/>
  <ns0:Override PartName="/ppt/notesSlides/notesSlide15.xml" ContentType="application/vnd.openxmlformats-officedocument.presentationml.notesSlide+xml"/>
  <ns0:Override PartName="/ppt/notesSlides/notesSlide16.xml" ContentType="application/vnd.openxmlformats-officedocument.presentationml.notesSlide+xml"/>
  <ns0:Override PartName="/ppt/notesSlides/notesSlide17.xml" ContentType="application/vnd.openxmlformats-officedocument.presentationml.notesSlide+xml"/>
  <ns0:Override PartName="/ppt/notesSlides/notesSlide18.xml" ContentType="application/vnd.openxmlformats-officedocument.presentationml.notesSlide+xml"/>
  <ns0:Override PartName="/ppt/notesSlides/notesSlide19.xml" ContentType="application/vnd.openxmlformats-officedocument.presentationml.notesSlide+xml"/>
  <ns0:Override PartName="/ppt/notesSlides/notesSlide20.xml" ContentType="application/vnd.openxmlformats-officedocument.presentationml.notesSlide+xml"/>
  <ns0:Override PartName="/ppt/notesSlides/notesSlide21.xml" ContentType="application/vnd.openxmlformats-officedocument.presentationml.notesSlide+xml"/>
  <ns0:Override PartName="/ppt/notesSlides/notesSlide22.xml" ContentType="application/vnd.openxmlformats-officedocument.presentationml.notesSlide+xml"/>
  <ns0:Override PartName="/ppt/notesSlides/notesSlide23.xml" ContentType="application/vnd.openxmlformats-officedocument.presentationml.notesSlide+xml"/>
  <ns0:Override PartName="/ppt/notesSlides/notesSlide24.xml" ContentType="application/vnd.openxmlformats-officedocument.presentationml.notesSlide+xml"/>
  <ns0:Override PartName="/ppt/notesSlides/notesSlide25.xml" ContentType="application/vnd.openxmlformats-officedocument.presentationml.notesSlide+xml"/>
  <ns0:Override PartName="/ppt/notesSlides/notesSlide26.xml" ContentType="application/vnd.openxmlformats-officedocument.presentationml.notesSlide+xml"/>
  <ns0:Override PartName="/ppt/notesSlides/notesSlide27.xml" ContentType="application/vnd.openxmlformats-officedocument.presentationml.notesSlide+xml"/>
  <ns0:Override PartName="/ppt/notesSlides/notesSlide28.xml" ContentType="application/vnd.openxmlformats-officedocument.presentationml.notesSlide+xml"/>
  <ns0:Override PartName="/ppt/notesSlides/notesSlide29.xml" ContentType="application/vnd.openxmlformats-officedocument.presentationml.notesSlide+xml"/>
  <ns0:Override PartName="/ppt/notesSlides/notesSlide30.xml" ContentType="application/vnd.openxmlformats-officedocument.presentationml.notesSlide+xml"/>
  <ns0:Override PartName="/ppt/notesSlides/notesSlide31.xml" ContentType="application/vnd.openxmlformats-officedocument.presentationml.notesSlide+xml"/>
  <ns0:Override PartName="/ppt/notesSlides/notesSlide32.xml" ContentType="application/vnd.openxmlformats-officedocument.presentationml.notesSlide+xml"/>
  <ns0:Override PartName="/ppt/notesSlides/notesSlide33.xml" ContentType="application/vnd.openxmlformats-officedocument.presentationml.notesSlide+xml"/>
  <ns0:Override PartName="/ppt/notesSlides/notesSlide34.xml" ContentType="application/vnd.openxmlformats-officedocument.presentationml.notesSlide+xml"/>
  <ns0:Override PartName="/ppt/notesSlides/notesSlide35.xml" ContentType="application/vnd.openxmlformats-officedocument.presentationml.notesSlide+xml"/>
  <ns0:Override PartName="/ppt/notesSlides/notesSlide36.xml" ContentType="application/vnd.openxmlformats-officedocument.presentationml.notesSlide+xml"/>
  <ns0:Override PartName="/ppt/notesSlides/notesSlide37.xml" ContentType="application/vnd.openxmlformats-officedocument.presentationml.notesSlide+xml"/>
  <ns0:Override PartName="/ppt/notesSlides/notesSlide38.xml" ContentType="application/vnd.openxmlformats-officedocument.presentationml.notesSlide+xml"/>
  <ns0:Override PartName="/ppt/notesSlides/notesSlide39.xml" ContentType="application/vnd.openxmlformats-officedocument.presentationml.notesSlide+xml"/>
  <ns0:Override PartName="/ppt/notesSlides/notesSlide40.xml" ContentType="application/vnd.openxmlformats-officedocument.presentationml.notesSlide+xml"/>
  <ns0:Override PartName="/ppt/notesSlides/notesSlide41.xml" ContentType="application/vnd.openxmlformats-officedocument.presentationml.notesSlide+xml"/>
  <ns0:Override PartName="/ppt/notesSlides/notesSlide42.xml" ContentType="application/vnd.openxmlformats-officedocument.presentationml.notesSlide+xml"/>
  <ns0:Override PartName="/ppt/notesSlides/notesSlide43.xml" ContentType="application/vnd.openxmlformats-officedocument.presentationml.notesSlide+xml"/>
  <ns0:Override PartName="/ppt/notesSlides/notesSlide44.xml" ContentType="application/vnd.openxmlformats-officedocument.presentationml.notesSlide+xml"/>
  <ns0:Override PartName="/ppt/slides/slide1.xml" ContentType="application/vnd.openxmlformats-officedocument.presentationml.slide+xml"/>
  <ns0:Override PartName="/ppt/slides/slide2.xml" ContentType="application/vnd.openxmlformats-officedocument.presentationml.slide+xml"/>
  <ns0:Override PartName="/ppt/slides/slide3.xml" ContentType="application/vnd.openxmlformats-officedocument.presentationml.slide+xml"/>
  <ns0:Override PartName="/ppt/slides/slide4.xml" ContentType="application/vnd.openxmlformats-officedocument.presentationml.slide+xml"/>
  <ns0:Override PartName="/ppt/slides/slide5.xml" ContentType="application/vnd.openxmlformats-officedocument.presentationml.slide+xml"/>
  <ns0:Override PartName="/ppt/slides/slide6.xml" ContentType="application/vnd.openxmlformats-officedocument.presentationml.slide+xml"/>
  <ns0:Override PartName="/ppt/slides/slide7.xml" ContentType="application/vnd.openxmlformats-officedocument.presentationml.slide+xml"/>
  <ns0:Override PartName="/ppt/slides/slide8.xml" ContentType="application/vnd.openxmlformats-officedocument.presentationml.slide+xml"/>
  <ns0:Override PartName="/ppt/slides/slide9.xml" ContentType="application/vnd.openxmlformats-officedocument.presentationml.slide+xml"/>
  <ns0:Override PartName="/ppt/slides/slide10.xml" ContentType="application/vnd.openxmlformats-officedocument.presentationml.slide+xml"/>
  <ns0:Override PartName="/ppt/slides/slide11.xml" ContentType="application/vnd.openxmlformats-officedocument.presentationml.slide+xml"/>
  <ns0:Override PartName="/ppt/slides/slide12.xml" ContentType="application/vnd.openxmlformats-officedocument.presentationml.slide+xml"/>
  <ns0:Override PartName="/ppt/slides/slide13.xml" ContentType="application/vnd.openxmlformats-officedocument.presentationml.slide+xml"/>
  <ns0:Override PartName="/ppt/slides/slide14.xml" ContentType="application/vnd.openxmlformats-officedocument.presentationml.slide+xml"/>
  <ns0:Override PartName="/ppt/slides/slide15.xml" ContentType="application/vnd.openxmlformats-officedocument.presentationml.slide+xml"/>
  <ns0:Override PartName="/ppt/slides/slide16.xml" ContentType="application/vnd.openxmlformats-officedocument.presentationml.slide+xml"/>
  <ns0:Override PartName="/ppt/slides/slide17.xml" ContentType="application/vnd.openxmlformats-officedocument.presentationml.slide+xml"/>
  <ns0:Override PartName="/ppt/slides/slide18.xml" ContentType="application/vnd.openxmlformats-officedocument.presentationml.slide+xml"/>
  <ns0:Override PartName="/ppt/slides/slide19.xml" ContentType="application/vnd.openxmlformats-officedocument.presentationml.slide+xml"/>
  <ns0:Override PartName="/ppt/slides/slide20.xml" ContentType="application/vnd.openxmlformats-officedocument.presentationml.slide+xml"/>
  <ns0:Override PartName="/ppt/slides/slide21.xml" ContentType="application/vnd.openxmlformats-officedocument.presentationml.slide+xml"/>
  <ns0:Override PartName="/ppt/slides/slide22.xml" ContentType="application/vnd.openxmlformats-officedocument.presentationml.slide+xml"/>
  <ns0:Override PartName="/ppt/slides/slide23.xml" ContentType="application/vnd.openxmlformats-officedocument.presentationml.slide+xml"/>
  <ns0:Override PartName="/ppt/slides/slide24.xml" ContentType="application/vnd.openxmlformats-officedocument.presentationml.slide+xml"/>
  <ns0:Override PartName="/ppt/slides/slide25.xml" ContentType="application/vnd.openxmlformats-officedocument.presentationml.slide+xml"/>
  <ns0:Override PartName="/ppt/slides/slide26.xml" ContentType="application/vnd.openxmlformats-officedocument.presentationml.slide+xml"/>
  <ns0:Override PartName="/ppt/slides/slide27.xml" ContentType="application/vnd.openxmlformats-officedocument.presentationml.slide+xml"/>
  <ns0:Override PartName="/ppt/slides/slide28.xml" ContentType="application/vnd.openxmlformats-officedocument.presentationml.slide+xml"/>
  <ns0:Override PartName="/ppt/slides/slide29.xml" ContentType="application/vnd.openxmlformats-officedocument.presentationml.slide+xml"/>
  <ns0:Override PartName="/ppt/slides/slide30.xml" ContentType="application/vnd.openxmlformats-officedocument.presentationml.slide+xml"/>
  <ns0:Override PartName="/ppt/slides/slide31.xml" ContentType="application/vnd.openxmlformats-officedocument.presentationml.slide+xml"/>
  <ns0:Override PartName="/ppt/slides/slide32.xml" ContentType="application/vnd.openxmlformats-officedocument.presentationml.slide+xml"/>
  <ns0:Override PartName="/ppt/slides/slide33.xml" ContentType="application/vnd.openxmlformats-officedocument.presentationml.slide+xml"/>
  <ns0:Override PartName="/ppt/slides/slide34.xml" ContentType="application/vnd.openxmlformats-officedocument.presentationml.slide+xml"/>
  <ns0:Override PartName="/ppt/slides/slide35.xml" ContentType="application/vnd.openxmlformats-officedocument.presentationml.slide+xml"/>
  <ns0:Override PartName="/ppt/slides/slide36.xml" ContentType="application/vnd.openxmlformats-officedocument.presentationml.slide+xml"/>
  <ns0:Override PartName="/ppt/slides/slide37.xml" ContentType="application/vnd.openxmlformats-officedocument.presentationml.slide+xml"/>
  <ns0:Override PartName="/ppt/slides/slide38.xml" ContentType="application/vnd.openxmlformats-officedocument.presentationml.slide+xml"/>
  <ns0:Override PartName="/ppt/slides/slide39.xml" ContentType="application/vnd.openxmlformats-officedocument.presentationml.slide+xml"/>
  <ns0:Override PartName="/ppt/slides/slide40.xml" ContentType="application/vnd.openxmlformats-officedocument.presentationml.slide+xml"/>
  <ns0:Override PartName="/ppt/slides/slide41.xml" ContentType="application/vnd.openxmlformats-officedocument.presentationml.slide+xml"/>
  <ns0:Override PartName="/ppt/slides/slide42.xml" ContentType="application/vnd.openxmlformats-officedocument.presentationml.slide+xml"/>
  <ns0:Override PartName="/ppt/slides/slide43.xml" ContentType="application/vnd.openxmlformats-officedocument.presentationml.slide+xml"/>
  <ns0:Override PartName="/ppt/slides/slide44.xml" ContentType="application/vnd.openxmlformats-officedocument.presentationml.slide+xml"/>
</ns0: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ns3="http://schemas.microsoft.com/office/powerpoint/2012/main" xmlns:p="http://schemas.openxmlformats.org/presentationml/2006/main" xmlns:r="http://schemas.openxmlformats.org/officeDocument/2006/relationships" autoCompressPictures="0" saveSubsetFonts="1">
  <p:sldMasterIdLst>
    <p:sldMasterId id="2147483648" r:id="rId1"/>
  </p:sldMasterIdLst>
  <p:notesMasterIdLst>
    <p:notesMasterId r:id="rId160"/>
  </p:notesMasterIdLst>
  <p:sldIdLst>
    <p:sldId r:id="rIdEditable1" id="256"/>
    <p:sldId r:id="rIdEditable2" id="257"/>
    <p:sldId r:id="rIdEditable3" id="258"/>
    <p:sldId r:id="rIdEditable4" id="259"/>
    <p:sldId r:id="rIdEditable5" id="260"/>
    <p:sldId r:id="rIdEditable6" id="261"/>
    <p:sldId r:id="rIdEditable7" id="262"/>
    <p:sldId r:id="rIdEditable8" id="263"/>
    <p:sldId r:id="rIdEditable9" id="264"/>
    <p:sldId r:id="rIdEditable10" id="265"/>
    <p:sldId r:id="rIdEditable11" id="266"/>
    <p:sldId r:id="rIdEditable12" id="267"/>
    <p:sldId r:id="rIdEditable13" id="268"/>
    <p:sldId r:id="rIdEditable14" id="269"/>
    <p:sldId r:id="rIdEditable15" id="270"/>
    <p:sldId r:id="rIdEditable16" id="271"/>
    <p:sldId r:id="rIdEditable17" id="272"/>
    <p:sldId r:id="rIdEditable18" id="273"/>
    <p:sldId r:id="rIdEditable19" id="274"/>
    <p:sldId r:id="rIdEditable20" id="275"/>
    <p:sldId r:id="rIdEditable21" id="276"/>
    <p:sldId r:id="rIdEditable22" id="277"/>
    <p:sldId r:id="rIdEditable23" id="278"/>
    <p:sldId r:id="rIdEditable24" id="279"/>
    <p:sldId r:id="rIdEditable25" id="280"/>
    <p:sldId r:id="rIdEditable26" id="281"/>
    <p:sldId r:id="rIdEditable27" id="282"/>
    <p:sldId r:id="rIdEditable28" id="283"/>
    <p:sldId r:id="rIdEditable29" id="284"/>
    <p:sldId r:id="rIdEditable30" id="285"/>
    <p:sldId r:id="rIdEditable31" id="286"/>
    <p:sldId r:id="rIdEditable32" id="287"/>
    <p:sldId r:id="rIdEditable33" id="288"/>
    <p:sldId r:id="rIdEditable34" id="289"/>
    <p:sldId r:id="rIdEditable35" id="290"/>
    <p:sldId r:id="rIdEditable36" id="291"/>
    <p:sldId r:id="rIdEditable37" id="292"/>
    <p:sldId r:id="rIdEditable38" id="293"/>
    <p:sldId r:id="rIdEditable39" id="294"/>
    <p:sldId r:id="rIdEditable40" id="295"/>
    <p:sldId r:id="rIdEditable41" id="296"/>
    <p:sldId r:id="rIdEditable42" id="297"/>
    <p:sldId r:id="rIdEditable43" id="298"/>
    <p:sldId r:id="rIdEditable44" id="299"/>
  </p:sldIdLst>
  <p:sldSz cx="9144000" cy="6858000" type="screen4x3"/>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ns3:sldGuideLst>
        <ns3:guide id="1" orient="horz" pos="1620" userDrawn="1">
          <ns3:clr>
            <a:srgbClr val="A4A3A4"/>
          </ns3:clr>
        </ns3:guide>
        <ns3:guide id="2" pos="2880" userDrawn="1">
          <ns3:clr>
            <a:srgbClr val="A4A3A4"/>
          </ns3:clr>
        </ns3:guide>
      </ns3: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ns0:Relationships xmlns:ns0="http://schemas.openxmlformats.org/package/2006/relationships"><ns0:Relationship Id="rId160" Type="http://schemas.openxmlformats.org/officeDocument/2006/relationships/notesMaster" Target="notesMasters/notesMaster1.xml" /><ns0:Relationship Id="rId162" Type="http://schemas.openxmlformats.org/officeDocument/2006/relationships/viewProps" Target="viewProps.xml" /><ns0:Relationship Id="rId161" Type="http://schemas.openxmlformats.org/officeDocument/2006/relationships/presProps" Target="presProps.xml" /><ns0:Relationship Id="rId1" Type="http://schemas.openxmlformats.org/officeDocument/2006/relationships/slideMaster" Target="slideMasters/slideMaster1.xml" /><ns0:Relationship Id="rId164" Type="http://schemas.openxmlformats.org/officeDocument/2006/relationships/tableStyles" Target="tableStyles.xml" /><ns0:Relationship Id="rId163" Type="http://schemas.openxmlformats.org/officeDocument/2006/relationships/theme" Target="theme/theme1.xml" /><ns0:Relationship Id="rIdEditable1" Type="http://schemas.openxmlformats.org/officeDocument/2006/relationships/slide" Target="slides/slide1.xml" /><ns0:Relationship Id="rIdEditable2" Type="http://schemas.openxmlformats.org/officeDocument/2006/relationships/slide" Target="slides/slide2.xml" /><ns0:Relationship Id="rIdEditable3" Type="http://schemas.openxmlformats.org/officeDocument/2006/relationships/slide" Target="slides/slide3.xml" /><ns0:Relationship Id="rIdEditable4" Type="http://schemas.openxmlformats.org/officeDocument/2006/relationships/slide" Target="slides/slide4.xml" /><ns0:Relationship Id="rIdEditable5" Type="http://schemas.openxmlformats.org/officeDocument/2006/relationships/slide" Target="slides/slide5.xml" /><ns0:Relationship Id="rIdEditable6" Type="http://schemas.openxmlformats.org/officeDocument/2006/relationships/slide" Target="slides/slide6.xml" /><ns0:Relationship Id="rIdEditable7" Type="http://schemas.openxmlformats.org/officeDocument/2006/relationships/slide" Target="slides/slide7.xml" /><ns0:Relationship Id="rIdEditable8" Type="http://schemas.openxmlformats.org/officeDocument/2006/relationships/slide" Target="slides/slide8.xml" /><ns0:Relationship Id="rIdEditable9" Type="http://schemas.openxmlformats.org/officeDocument/2006/relationships/slide" Target="slides/slide9.xml" /><ns0:Relationship Id="rIdEditable10" Type="http://schemas.openxmlformats.org/officeDocument/2006/relationships/slide" Target="slides/slide10.xml" /><ns0:Relationship Id="rIdEditable11" Type="http://schemas.openxmlformats.org/officeDocument/2006/relationships/slide" Target="slides/slide11.xml" /><ns0:Relationship Id="rIdEditable12" Type="http://schemas.openxmlformats.org/officeDocument/2006/relationships/slide" Target="slides/slide12.xml" /><ns0:Relationship Id="rIdEditable13" Type="http://schemas.openxmlformats.org/officeDocument/2006/relationships/slide" Target="slides/slide13.xml" /><ns0:Relationship Id="rIdEditable14" Type="http://schemas.openxmlformats.org/officeDocument/2006/relationships/slide" Target="slides/slide14.xml" /><ns0:Relationship Id="rIdEditable15" Type="http://schemas.openxmlformats.org/officeDocument/2006/relationships/slide" Target="slides/slide15.xml" /><ns0:Relationship Id="rIdEditable16" Type="http://schemas.openxmlformats.org/officeDocument/2006/relationships/slide" Target="slides/slide16.xml" /><ns0:Relationship Id="rIdEditable17" Type="http://schemas.openxmlformats.org/officeDocument/2006/relationships/slide" Target="slides/slide17.xml" /><ns0:Relationship Id="rIdEditable18" Type="http://schemas.openxmlformats.org/officeDocument/2006/relationships/slide" Target="slides/slide18.xml" /><ns0:Relationship Id="rIdEditable19" Type="http://schemas.openxmlformats.org/officeDocument/2006/relationships/slide" Target="slides/slide19.xml" /><ns0:Relationship Id="rIdEditable20" Type="http://schemas.openxmlformats.org/officeDocument/2006/relationships/slide" Target="slides/slide20.xml" /><ns0:Relationship Id="rIdEditable21" Type="http://schemas.openxmlformats.org/officeDocument/2006/relationships/slide" Target="slides/slide21.xml" /><ns0:Relationship Id="rIdEditable22" Type="http://schemas.openxmlformats.org/officeDocument/2006/relationships/slide" Target="slides/slide22.xml" /><ns0:Relationship Id="rIdEditable23" Type="http://schemas.openxmlformats.org/officeDocument/2006/relationships/slide" Target="slides/slide23.xml" /><ns0:Relationship Id="rIdEditable24" Type="http://schemas.openxmlformats.org/officeDocument/2006/relationships/slide" Target="slides/slide24.xml" /><ns0:Relationship Id="rIdEditable25" Type="http://schemas.openxmlformats.org/officeDocument/2006/relationships/slide" Target="slides/slide25.xml" /><ns0:Relationship Id="rIdEditable26" Type="http://schemas.openxmlformats.org/officeDocument/2006/relationships/slide" Target="slides/slide26.xml" /><ns0:Relationship Id="rIdEditable27" Type="http://schemas.openxmlformats.org/officeDocument/2006/relationships/slide" Target="slides/slide27.xml" /><ns0:Relationship Id="rIdEditable28" Type="http://schemas.openxmlformats.org/officeDocument/2006/relationships/slide" Target="slides/slide28.xml" /><ns0:Relationship Id="rIdEditable29" Type="http://schemas.openxmlformats.org/officeDocument/2006/relationships/slide" Target="slides/slide29.xml" /><ns0:Relationship Id="rIdEditable30" Type="http://schemas.openxmlformats.org/officeDocument/2006/relationships/slide" Target="slides/slide30.xml" /><ns0:Relationship Id="rIdEditable31" Type="http://schemas.openxmlformats.org/officeDocument/2006/relationships/slide" Target="slides/slide31.xml" /><ns0:Relationship Id="rIdEditable32" Type="http://schemas.openxmlformats.org/officeDocument/2006/relationships/slide" Target="slides/slide32.xml" /><ns0:Relationship Id="rIdEditable33" Type="http://schemas.openxmlformats.org/officeDocument/2006/relationships/slide" Target="slides/slide33.xml" /><ns0:Relationship Id="rIdEditable34" Type="http://schemas.openxmlformats.org/officeDocument/2006/relationships/slide" Target="slides/slide34.xml" /><ns0:Relationship Id="rIdEditable35" Type="http://schemas.openxmlformats.org/officeDocument/2006/relationships/slide" Target="slides/slide35.xml" /><ns0:Relationship Id="rIdEditable36" Type="http://schemas.openxmlformats.org/officeDocument/2006/relationships/slide" Target="slides/slide36.xml" /><ns0:Relationship Id="rIdEditable37" Type="http://schemas.openxmlformats.org/officeDocument/2006/relationships/slide" Target="slides/slide37.xml" /><ns0:Relationship Id="rIdEditable38" Type="http://schemas.openxmlformats.org/officeDocument/2006/relationships/slide" Target="slides/slide38.xml" /><ns0:Relationship Id="rIdEditable39" Type="http://schemas.openxmlformats.org/officeDocument/2006/relationships/slide" Target="slides/slide39.xml" /><ns0:Relationship Id="rIdEditable40" Type="http://schemas.openxmlformats.org/officeDocument/2006/relationships/slide" Target="slides/slide40.xml" /><ns0:Relationship Id="rIdEditable41" Type="http://schemas.openxmlformats.org/officeDocument/2006/relationships/slide" Target="slides/slide41.xml" /><ns0:Relationship Id="rIdEditable42" Type="http://schemas.openxmlformats.org/officeDocument/2006/relationships/slide" Target="slides/slide42.xml" /><ns0:Relationship Id="rIdEditable43" Type="http://schemas.openxmlformats.org/officeDocument/2006/relationships/slide" Target="slides/slide43.xml" /><ns0:Relationship Id="rIdEditable44" Type="http://schemas.openxmlformats.org/officeDocument/2006/relationships/slide" Target="slides/slide44.xml" /></ns0: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ns0:Relationships xmlns:ns0="http://schemas.openxmlformats.org/package/2006/relationships"><ns0:Relationship Id="rId2" Type="http://schemas.openxmlformats.org/officeDocument/2006/relationships/slide" Target="../slides/slide1.xml" /><ns0:Relationship Id="rId1" Type="http://schemas.openxmlformats.org/officeDocument/2006/relationships/notesMaster" Target="../notesMasters/notesMaster1.xml" /></ns0:Relationships>
</file>

<file path=ppt/notesSlides/_rels/notesSlide2.xml.rels><?xml version='1.0' encoding='utf-8'?>
<ns0:Relationships xmlns:ns0="http://schemas.openxmlformats.org/package/2006/relationships"><ns0:Relationship Id="rId2" Type="http://schemas.openxmlformats.org/officeDocument/2006/relationships/slide" Target="../slides/slide2.xml" /><ns0:Relationship Id="rId1" Type="http://schemas.openxmlformats.org/officeDocument/2006/relationships/notesMaster" Target="../notesMasters/notesMaster1.xml" /></ns0:Relationships>
</file>

<file path=ppt/notesSlides/_rels/notesSlide3.xml.rels><?xml version='1.0' encoding='utf-8'?>
<ns0:Relationships xmlns:ns0="http://schemas.openxmlformats.org/package/2006/relationships"><ns0:Relationship Id="rId2" Type="http://schemas.openxmlformats.org/officeDocument/2006/relationships/slide" Target="../slides/slide3.xml" /><ns0:Relationship Id="rId1" Type="http://schemas.openxmlformats.org/officeDocument/2006/relationships/notesMaster" Target="../notesMasters/notesMaster1.xml" /></ns0:Relationships>
</file>

<file path=ppt/notesSlides/_rels/notesSlide4.xml.rels><?xml version='1.0' encoding='utf-8'?>
<ns0:Relationships xmlns:ns0="http://schemas.openxmlformats.org/package/2006/relationships"><ns0:Relationship Id="rId2" Type="http://schemas.openxmlformats.org/officeDocument/2006/relationships/slide" Target="../slides/slide4.xml" /><ns0:Relationship Id="rId1" Type="http://schemas.openxmlformats.org/officeDocument/2006/relationships/notesMaster" Target="../notesMasters/notesMaster1.xml" /></ns0:Relationships>
</file>

<file path=ppt/notesSlides/_rels/notesSlide5.xml.rels><?xml version='1.0' encoding='utf-8'?>
<ns0:Relationships xmlns:ns0="http://schemas.openxmlformats.org/package/2006/relationships"><ns0:Relationship Id="rId2" Type="http://schemas.openxmlformats.org/officeDocument/2006/relationships/slide" Target="../slides/slide5.xml" /><ns0:Relationship Id="rId1" Type="http://schemas.openxmlformats.org/officeDocument/2006/relationships/notesMaster" Target="../notesMasters/notesMaster1.xml" /></ns0:Relationships>
</file>

<file path=ppt/notesSlides/_rels/notesSlide6.xml.rels><?xml version='1.0' encoding='utf-8'?>
<ns0:Relationships xmlns:ns0="http://schemas.openxmlformats.org/package/2006/relationships"><ns0:Relationship Id="rId2" Type="http://schemas.openxmlformats.org/officeDocument/2006/relationships/slide" Target="../slides/slide6.xml" /><ns0:Relationship Id="rId1" Type="http://schemas.openxmlformats.org/officeDocument/2006/relationships/notesMaster" Target="../notesMasters/notesMaster1.xml" /></ns0:Relationships>
</file>

<file path=ppt/notesSlides/_rels/notesSlide7.xml.rels><?xml version='1.0' encoding='utf-8'?>
<ns0:Relationships xmlns:ns0="http://schemas.openxmlformats.org/package/2006/relationships"><ns0:Relationship Id="rId2" Type="http://schemas.openxmlformats.org/officeDocument/2006/relationships/slide" Target="../slides/slide7.xml" /><ns0:Relationship Id="rId1" Type="http://schemas.openxmlformats.org/officeDocument/2006/relationships/notesMaster" Target="../notesMasters/notesMaster1.xml" /></ns0:Relationships>
</file>

<file path=ppt/notesSlides/_rels/notesSlide8.xml.rels><?xml version='1.0' encoding='utf-8'?>
<ns0:Relationships xmlns:ns0="http://schemas.openxmlformats.org/package/2006/relationships"><ns0:Relationship Id="rId2" Type="http://schemas.openxmlformats.org/officeDocument/2006/relationships/slide" Target="../slides/slide8.xml" /><ns0:Relationship Id="rId1" Type="http://schemas.openxmlformats.org/officeDocument/2006/relationships/notesMaster" Target="../notesMasters/notesMaster1.xml" /></ns0:Relationships>
</file>

<file path=ppt/notesSlides/_rels/notesSlide9.xml.rels><?xml version='1.0' encoding='utf-8'?>
<ns0:Relationships xmlns:ns0="http://schemas.openxmlformats.org/package/2006/relationships"><ns0:Relationship Id="rId2" Type="http://schemas.openxmlformats.org/officeDocument/2006/relationships/slide" Target="../slides/slide9.xml" /><ns0:Relationship Id="rId1" Type="http://schemas.openxmlformats.org/officeDocument/2006/relationships/notesMaster" Target="../notesMasters/notesMaster1.xml" /></ns0:Relationships>
</file>

<file path=ppt/notesSlides/_rels/notesSlide10.xml.rels><?xml version='1.0' encoding='utf-8'?>
<ns0:Relationships xmlns:ns0="http://schemas.openxmlformats.org/package/2006/relationships"><ns0:Relationship Id="rId2" Type="http://schemas.openxmlformats.org/officeDocument/2006/relationships/slide" Target="../slides/slide10.xml" /><ns0:Relationship Id="rId1" Type="http://schemas.openxmlformats.org/officeDocument/2006/relationships/notesMaster" Target="../notesMasters/notesMaster1.xml" /></ns0:Relationships>
</file>

<file path=ppt/notesSlides/_rels/notesSlide11.xml.rels><?xml version='1.0' encoding='utf-8'?>
<ns0:Relationships xmlns:ns0="http://schemas.openxmlformats.org/package/2006/relationships"><ns0:Relationship Id="rId2" Type="http://schemas.openxmlformats.org/officeDocument/2006/relationships/slide" Target="../slides/slide11.xml" /><ns0:Relationship Id="rId1" Type="http://schemas.openxmlformats.org/officeDocument/2006/relationships/notesMaster" Target="../notesMasters/notesMaster1.xml" /></ns0:Relationships>
</file>

<file path=ppt/notesSlides/_rels/notesSlide12.xml.rels><?xml version='1.0' encoding='utf-8'?>
<ns0:Relationships xmlns:ns0="http://schemas.openxmlformats.org/package/2006/relationships"><ns0:Relationship Id="rId2" Type="http://schemas.openxmlformats.org/officeDocument/2006/relationships/slide" Target="../slides/slide12.xml" /><ns0:Relationship Id="rId1" Type="http://schemas.openxmlformats.org/officeDocument/2006/relationships/notesMaster" Target="../notesMasters/notesMaster1.xml" /></ns0:Relationships>
</file>

<file path=ppt/notesSlides/_rels/notesSlide13.xml.rels><?xml version='1.0' encoding='utf-8'?>
<ns0:Relationships xmlns:ns0="http://schemas.openxmlformats.org/package/2006/relationships"><ns0:Relationship Id="rId2" Type="http://schemas.openxmlformats.org/officeDocument/2006/relationships/slide" Target="../slides/slide13.xml" /><ns0:Relationship Id="rId1" Type="http://schemas.openxmlformats.org/officeDocument/2006/relationships/notesMaster" Target="../notesMasters/notesMaster1.xml" /></ns0:Relationships>
</file>

<file path=ppt/notesSlides/_rels/notesSlide14.xml.rels><?xml version='1.0' encoding='utf-8'?>
<ns0:Relationships xmlns:ns0="http://schemas.openxmlformats.org/package/2006/relationships"><ns0:Relationship Id="rId2" Type="http://schemas.openxmlformats.org/officeDocument/2006/relationships/slide" Target="../slides/slide14.xml" /><ns0:Relationship Id="rId1" Type="http://schemas.openxmlformats.org/officeDocument/2006/relationships/notesMaster" Target="../notesMasters/notesMaster1.xml" /></ns0:Relationships>
</file>

<file path=ppt/notesSlides/_rels/notesSlide15.xml.rels><?xml version='1.0' encoding='utf-8'?>
<ns0:Relationships xmlns:ns0="http://schemas.openxmlformats.org/package/2006/relationships"><ns0:Relationship Id="rId2" Type="http://schemas.openxmlformats.org/officeDocument/2006/relationships/slide" Target="../slides/slide15.xml" /><ns0:Relationship Id="rId1" Type="http://schemas.openxmlformats.org/officeDocument/2006/relationships/notesMaster" Target="../notesMasters/notesMaster1.xml" /></ns0:Relationships>
</file>

<file path=ppt/notesSlides/_rels/notesSlide16.xml.rels><?xml version='1.0' encoding='utf-8'?>
<ns0:Relationships xmlns:ns0="http://schemas.openxmlformats.org/package/2006/relationships"><ns0:Relationship Id="rId2" Type="http://schemas.openxmlformats.org/officeDocument/2006/relationships/slide" Target="../slides/slide16.xml" /><ns0:Relationship Id="rId1" Type="http://schemas.openxmlformats.org/officeDocument/2006/relationships/notesMaster" Target="../notesMasters/notesMaster1.xml" /></ns0:Relationships>
</file>

<file path=ppt/notesSlides/_rels/notesSlide17.xml.rels><?xml version='1.0' encoding='utf-8'?>
<ns0:Relationships xmlns:ns0="http://schemas.openxmlformats.org/package/2006/relationships"><ns0:Relationship Id="rId2" Type="http://schemas.openxmlformats.org/officeDocument/2006/relationships/slide" Target="../slides/slide17.xml" /><ns0:Relationship Id="rId1" Type="http://schemas.openxmlformats.org/officeDocument/2006/relationships/notesMaster" Target="../notesMasters/notesMaster1.xml" /></ns0:Relationships>
</file>

<file path=ppt/notesSlides/_rels/notesSlide18.xml.rels><?xml version='1.0' encoding='utf-8'?>
<ns0:Relationships xmlns:ns0="http://schemas.openxmlformats.org/package/2006/relationships"><ns0:Relationship Id="rId2" Type="http://schemas.openxmlformats.org/officeDocument/2006/relationships/slide" Target="../slides/slide18.xml" /><ns0:Relationship Id="rId1" Type="http://schemas.openxmlformats.org/officeDocument/2006/relationships/notesMaster" Target="../notesMasters/notesMaster1.xml" /></ns0:Relationships>
</file>

<file path=ppt/notesSlides/_rels/notesSlide19.xml.rels><?xml version='1.0' encoding='utf-8'?>
<ns0:Relationships xmlns:ns0="http://schemas.openxmlformats.org/package/2006/relationships"><ns0:Relationship Id="rId2" Type="http://schemas.openxmlformats.org/officeDocument/2006/relationships/slide" Target="../slides/slide19.xml" /><ns0:Relationship Id="rId1" Type="http://schemas.openxmlformats.org/officeDocument/2006/relationships/notesMaster" Target="../notesMasters/notesMaster1.xml" /></ns0:Relationships>
</file>

<file path=ppt/notesSlides/_rels/notesSlide20.xml.rels><?xml version='1.0' encoding='utf-8'?>
<ns0:Relationships xmlns:ns0="http://schemas.openxmlformats.org/package/2006/relationships"><ns0:Relationship Id="rId2" Type="http://schemas.openxmlformats.org/officeDocument/2006/relationships/slide" Target="../slides/slide20.xml" /><ns0:Relationship Id="rId1" Type="http://schemas.openxmlformats.org/officeDocument/2006/relationships/notesMaster" Target="../notesMasters/notesMaster1.xml" /></ns0:Relationships>
</file>

<file path=ppt/notesSlides/_rels/notesSlide21.xml.rels><?xml version='1.0' encoding='utf-8'?>
<ns0:Relationships xmlns:ns0="http://schemas.openxmlformats.org/package/2006/relationships"><ns0:Relationship Id="rId2" Type="http://schemas.openxmlformats.org/officeDocument/2006/relationships/slide" Target="../slides/slide21.xml" /><ns0:Relationship Id="rId1" Type="http://schemas.openxmlformats.org/officeDocument/2006/relationships/notesMaster" Target="../notesMasters/notesMaster1.xml" /></ns0:Relationships>
</file>

<file path=ppt/notesSlides/_rels/notesSlide22.xml.rels><?xml version='1.0' encoding='utf-8'?>
<ns0:Relationships xmlns:ns0="http://schemas.openxmlformats.org/package/2006/relationships"><ns0:Relationship Id="rId2" Type="http://schemas.openxmlformats.org/officeDocument/2006/relationships/slide" Target="../slides/slide22.xml" /><ns0:Relationship Id="rId1" Type="http://schemas.openxmlformats.org/officeDocument/2006/relationships/notesMaster" Target="../notesMasters/notesMaster1.xml" /></ns0:Relationships>
</file>

<file path=ppt/notesSlides/_rels/notesSlide23.xml.rels><?xml version='1.0' encoding='utf-8'?>
<ns0:Relationships xmlns:ns0="http://schemas.openxmlformats.org/package/2006/relationships"><ns0:Relationship Id="rId2" Type="http://schemas.openxmlformats.org/officeDocument/2006/relationships/slide" Target="../slides/slide23.xml" /><ns0:Relationship Id="rId1" Type="http://schemas.openxmlformats.org/officeDocument/2006/relationships/notesMaster" Target="../notesMasters/notesMaster1.xml" /></ns0:Relationships>
</file>

<file path=ppt/notesSlides/_rels/notesSlide24.xml.rels><?xml version='1.0' encoding='utf-8'?>
<ns0:Relationships xmlns:ns0="http://schemas.openxmlformats.org/package/2006/relationships"><ns0:Relationship Id="rId2" Type="http://schemas.openxmlformats.org/officeDocument/2006/relationships/slide" Target="../slides/slide24.xml" /><ns0:Relationship Id="rId1" Type="http://schemas.openxmlformats.org/officeDocument/2006/relationships/notesMaster" Target="../notesMasters/notesMaster1.xml" /></ns0:Relationships>
</file>

<file path=ppt/notesSlides/_rels/notesSlide25.xml.rels><?xml version='1.0' encoding='utf-8'?>
<ns0:Relationships xmlns:ns0="http://schemas.openxmlformats.org/package/2006/relationships"><ns0:Relationship Id="rId2" Type="http://schemas.openxmlformats.org/officeDocument/2006/relationships/slide" Target="../slides/slide25.xml" /><ns0:Relationship Id="rId1" Type="http://schemas.openxmlformats.org/officeDocument/2006/relationships/notesMaster" Target="../notesMasters/notesMaster1.xml" /></ns0:Relationships>
</file>

<file path=ppt/notesSlides/_rels/notesSlide26.xml.rels><?xml version='1.0' encoding='utf-8'?>
<ns0:Relationships xmlns:ns0="http://schemas.openxmlformats.org/package/2006/relationships"><ns0:Relationship Id="rId2" Type="http://schemas.openxmlformats.org/officeDocument/2006/relationships/slide" Target="../slides/slide26.xml" /><ns0:Relationship Id="rId1" Type="http://schemas.openxmlformats.org/officeDocument/2006/relationships/notesMaster" Target="../notesMasters/notesMaster1.xml" /></ns0:Relationships>
</file>

<file path=ppt/notesSlides/_rels/notesSlide27.xml.rels><?xml version='1.0' encoding='utf-8'?>
<ns0:Relationships xmlns:ns0="http://schemas.openxmlformats.org/package/2006/relationships"><ns0:Relationship Id="rId2" Type="http://schemas.openxmlformats.org/officeDocument/2006/relationships/slide" Target="../slides/slide27.xml" /><ns0:Relationship Id="rId1" Type="http://schemas.openxmlformats.org/officeDocument/2006/relationships/notesMaster" Target="../notesMasters/notesMaster1.xml" /></ns0:Relationships>
</file>

<file path=ppt/notesSlides/_rels/notesSlide28.xml.rels><?xml version='1.0' encoding='utf-8'?>
<ns0:Relationships xmlns:ns0="http://schemas.openxmlformats.org/package/2006/relationships"><ns0:Relationship Id="rId2" Type="http://schemas.openxmlformats.org/officeDocument/2006/relationships/slide" Target="../slides/slide28.xml" /><ns0:Relationship Id="rId1" Type="http://schemas.openxmlformats.org/officeDocument/2006/relationships/notesMaster" Target="../notesMasters/notesMaster1.xml" /></ns0:Relationships>
</file>

<file path=ppt/notesSlides/_rels/notesSlide29.xml.rels><?xml version='1.0' encoding='utf-8'?>
<ns0:Relationships xmlns:ns0="http://schemas.openxmlformats.org/package/2006/relationships"><ns0:Relationship Id="rId2" Type="http://schemas.openxmlformats.org/officeDocument/2006/relationships/slide" Target="../slides/slide29.xml" /><ns0:Relationship Id="rId1" Type="http://schemas.openxmlformats.org/officeDocument/2006/relationships/notesMaster" Target="../notesMasters/notesMaster1.xml" /></ns0:Relationships>
</file>

<file path=ppt/notesSlides/_rels/notesSlide30.xml.rels><?xml version='1.0' encoding='utf-8'?>
<ns0:Relationships xmlns:ns0="http://schemas.openxmlformats.org/package/2006/relationships"><ns0:Relationship Id="rId2" Type="http://schemas.openxmlformats.org/officeDocument/2006/relationships/slide" Target="../slides/slide30.xml" /><ns0:Relationship Id="rId1" Type="http://schemas.openxmlformats.org/officeDocument/2006/relationships/notesMaster" Target="../notesMasters/notesMaster1.xml" /></ns0:Relationships>
</file>

<file path=ppt/notesSlides/_rels/notesSlide31.xml.rels><?xml version='1.0' encoding='utf-8'?>
<ns0:Relationships xmlns:ns0="http://schemas.openxmlformats.org/package/2006/relationships"><ns0:Relationship Id="rId2" Type="http://schemas.openxmlformats.org/officeDocument/2006/relationships/slide" Target="../slides/slide31.xml" /><ns0:Relationship Id="rId1" Type="http://schemas.openxmlformats.org/officeDocument/2006/relationships/notesMaster" Target="../notesMasters/notesMaster1.xml" /></ns0:Relationships>
</file>

<file path=ppt/notesSlides/_rels/notesSlide32.xml.rels><?xml version='1.0' encoding='utf-8'?>
<ns0:Relationships xmlns:ns0="http://schemas.openxmlformats.org/package/2006/relationships"><ns0:Relationship Id="rId2" Type="http://schemas.openxmlformats.org/officeDocument/2006/relationships/slide" Target="../slides/slide32.xml" /><ns0:Relationship Id="rId1" Type="http://schemas.openxmlformats.org/officeDocument/2006/relationships/notesMaster" Target="../notesMasters/notesMaster1.xml" /></ns0:Relationships>
</file>

<file path=ppt/notesSlides/_rels/notesSlide33.xml.rels><?xml version='1.0' encoding='utf-8'?>
<ns0:Relationships xmlns:ns0="http://schemas.openxmlformats.org/package/2006/relationships"><ns0:Relationship Id="rId2" Type="http://schemas.openxmlformats.org/officeDocument/2006/relationships/slide" Target="../slides/slide33.xml" /><ns0:Relationship Id="rId1" Type="http://schemas.openxmlformats.org/officeDocument/2006/relationships/notesMaster" Target="../notesMasters/notesMaster1.xml" /></ns0:Relationships>
</file>

<file path=ppt/notesSlides/_rels/notesSlide34.xml.rels><?xml version='1.0' encoding='utf-8'?>
<ns0:Relationships xmlns:ns0="http://schemas.openxmlformats.org/package/2006/relationships"><ns0:Relationship Id="rId2" Type="http://schemas.openxmlformats.org/officeDocument/2006/relationships/slide" Target="../slides/slide34.xml" /><ns0:Relationship Id="rId1" Type="http://schemas.openxmlformats.org/officeDocument/2006/relationships/notesMaster" Target="../notesMasters/notesMaster1.xml" /></ns0:Relationships>
</file>

<file path=ppt/notesSlides/_rels/notesSlide35.xml.rels><?xml version='1.0' encoding='utf-8'?>
<ns0:Relationships xmlns:ns0="http://schemas.openxmlformats.org/package/2006/relationships"><ns0:Relationship Id="rId2" Type="http://schemas.openxmlformats.org/officeDocument/2006/relationships/slide" Target="../slides/slide35.xml" /><ns0:Relationship Id="rId1" Type="http://schemas.openxmlformats.org/officeDocument/2006/relationships/notesMaster" Target="../notesMasters/notesMaster1.xml" /></ns0:Relationships>
</file>

<file path=ppt/notesSlides/_rels/notesSlide36.xml.rels><?xml version='1.0' encoding='utf-8'?>
<ns0:Relationships xmlns:ns0="http://schemas.openxmlformats.org/package/2006/relationships"><ns0:Relationship Id="rId2" Type="http://schemas.openxmlformats.org/officeDocument/2006/relationships/slide" Target="../slides/slide36.xml" /><ns0:Relationship Id="rId1" Type="http://schemas.openxmlformats.org/officeDocument/2006/relationships/notesMaster" Target="../notesMasters/notesMaster1.xml" /></ns0:Relationships>
</file>

<file path=ppt/notesSlides/_rels/notesSlide37.xml.rels><?xml version='1.0' encoding='utf-8'?>
<ns0:Relationships xmlns:ns0="http://schemas.openxmlformats.org/package/2006/relationships"><ns0:Relationship Id="rId2" Type="http://schemas.openxmlformats.org/officeDocument/2006/relationships/slide" Target="../slides/slide37.xml" /><ns0:Relationship Id="rId1" Type="http://schemas.openxmlformats.org/officeDocument/2006/relationships/notesMaster" Target="../notesMasters/notesMaster1.xml" /></ns0:Relationships>
</file>

<file path=ppt/notesSlides/_rels/notesSlide38.xml.rels><?xml version='1.0' encoding='utf-8'?>
<ns0:Relationships xmlns:ns0="http://schemas.openxmlformats.org/package/2006/relationships"><ns0:Relationship Id="rId2" Type="http://schemas.openxmlformats.org/officeDocument/2006/relationships/slide" Target="../slides/slide38.xml" /><ns0:Relationship Id="rId1" Type="http://schemas.openxmlformats.org/officeDocument/2006/relationships/notesMaster" Target="../notesMasters/notesMaster1.xml" /></ns0:Relationships>
</file>

<file path=ppt/notesSlides/_rels/notesSlide39.xml.rels><?xml version='1.0' encoding='utf-8'?>
<ns0:Relationships xmlns:ns0="http://schemas.openxmlformats.org/package/2006/relationships"><ns0:Relationship Id="rId2" Type="http://schemas.openxmlformats.org/officeDocument/2006/relationships/slide" Target="../slides/slide39.xml" /><ns0:Relationship Id="rId1" Type="http://schemas.openxmlformats.org/officeDocument/2006/relationships/notesMaster" Target="../notesMasters/notesMaster1.xml" /></ns0:Relationships>
</file>

<file path=ppt/notesSlides/_rels/notesSlide40.xml.rels><?xml version='1.0' encoding='utf-8'?>
<ns0:Relationships xmlns:ns0="http://schemas.openxmlformats.org/package/2006/relationships"><ns0:Relationship Id="rId2" Type="http://schemas.openxmlformats.org/officeDocument/2006/relationships/slide" Target="../slides/slide40.xml" /><ns0:Relationship Id="rId1" Type="http://schemas.openxmlformats.org/officeDocument/2006/relationships/notesMaster" Target="../notesMasters/notesMaster1.xml" /></ns0:Relationships>
</file>

<file path=ppt/notesSlides/_rels/notesSlide41.xml.rels><?xml version='1.0' encoding='utf-8'?>
<ns0:Relationships xmlns:ns0="http://schemas.openxmlformats.org/package/2006/relationships"><ns0:Relationship Id="rId2" Type="http://schemas.openxmlformats.org/officeDocument/2006/relationships/slide" Target="../slides/slide41.xml" /><ns0:Relationship Id="rId1" Type="http://schemas.openxmlformats.org/officeDocument/2006/relationships/notesMaster" Target="../notesMasters/notesMaster1.xml" /></ns0:Relationships>
</file>

<file path=ppt/notesSlides/_rels/notesSlide42.xml.rels><?xml version='1.0' encoding='utf-8'?>
<ns0:Relationships xmlns:ns0="http://schemas.openxmlformats.org/package/2006/relationships"><ns0:Relationship Id="rId2" Type="http://schemas.openxmlformats.org/officeDocument/2006/relationships/slide" Target="../slides/slide42.xml" /><ns0:Relationship Id="rId1" Type="http://schemas.openxmlformats.org/officeDocument/2006/relationships/notesMaster" Target="../notesMasters/notesMaster1.xml" /></ns0:Relationships>
</file>

<file path=ppt/notesSlides/_rels/notesSlide43.xml.rels><?xml version='1.0' encoding='utf-8'?>
<ns0:Relationships xmlns:ns0="http://schemas.openxmlformats.org/package/2006/relationships"><ns0:Relationship Id="rId2" Type="http://schemas.openxmlformats.org/officeDocument/2006/relationships/slide" Target="../slides/slide43.xml" /><ns0:Relationship Id="rId1" Type="http://schemas.openxmlformats.org/officeDocument/2006/relationships/notesMaster" Target="../notesMasters/notesMaster1.xml" /></ns0:Relationships>
</file>

<file path=ppt/notesSlides/_rels/notesSlide44.xml.rels><?xml version='1.0' encoding='utf-8'?>
<ns0:Relationships xmlns:ns0="http://schemas.openxmlformats.org/package/2006/relationships"><ns0:Relationship Id="rId2" Type="http://schemas.openxmlformats.org/officeDocument/2006/relationships/slide" Target="../slides/slide44.xml" /><ns0:Relationship Id="rId1" Type="http://schemas.openxmlformats.org/officeDocument/2006/relationships/notesMaster" Target="../notesMasters/notesMaster1.xml" /></ns0: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1/16, 0:00–0:10. Introduce yourself and the learning objective. This is a rehearsed overview for students familiar with basic graphs, Boolean logic and polynomial time. The main text, tables and equations in this version are editable PowerPoint objects. Text inside the original TikZ figures is part of those images.</a:t>
            </a:r>
          </a:p>
        </p:txBody>
      </p:sp>
      <p:sp>
        <p:nvSpPr>
          <p:cNvPr id="4" name="Slide Number Placeholder 3"/>
          <p:cNvSpPr>
            <a:spLocks noGrp="1"/>
          </p:cNvSpPr>
          <p:nvPr>
            <p:ph type="sldNum" sz="quarter" idx="10"/>
          </p:nvPr>
        </p:nvSpPr>
        <p:spPr/>
        <p:txBody>
          <a:bodyPr/>
          <a:lstStyle/>
          <a:p>
            <a:fld id="{18BDFEC3-8487-43E8-A154-7C12CBC1FFF2}" type="slidenum">
              <a:rPr lang="en-US"/>
              <a:t>1</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2/16, 0:10–0:30 across all reveals. Distinguish solving, verifying and comparing. Preview the direction: a known hard problem reduces to the new target.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2/16, 0:10–0:30 across all reveals. Distinguish solving, verifying and comparing. Preview the direction: a known hard problem reduces to the new target.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2/16, 0:10–0:30 across all reveals. Distinguish solving, verifying and comparing. Preview the direction: a known hard problem reduces to the new target.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3/16, 0:30–1:05. Explain the formula verbally: a YES instance has a short accepting certificate, and a NO instance has none. A verifier checks the color domain as well as the edges. The solver can ignore a certificate, proving P is contained in NP.</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3/16, 0:30–1:05. Explain the formula verbally: a YES instance has a short accepting certificate, and a NO instance has none. A verifier checks the color domain as well as the edges. The solver can ignore a certificate, proving P is contained in NP.</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3/16, 0:30–1:05. Explain the formula verbally: a YES instance has a short accepting certificate, and a NO instance has none. A verifier checks the color domain as well as the edges. The solver can ignore a certificate, proving P is contained in NP.</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4/16, 1:05–1:40. Point at the intersection. NP-hardness does not imply membership in NP. NP-completeness does not prove that a polynomial algorithm is impossible; P versus NP remains open.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4/16, 1:05–1:40. Point at the intersection. NP-hardness does not imply membership in NP. NP-completeness does not prove that a polynomial algorithm is impossible; P versus NP remains open.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5/16, 1:40–2:20. Demonstrate both a YES and a NO instance. Doubling a binary integer is linear in its bit length. The reduction transforms instances without solving the hard source instance.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5/16, 1:40–2:20. Demonstrate both a YES and a NO instance. Doubling a binary integer is linear in its bit length. The reduction transforms instances without solving the hard source instance.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5/16, 1:40–2:20. Demonstrate both a YES and a NO instance. Doubling a binary integer is linear in its bit length. The reduction transforms instances without solving the hard source instance.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6/16, 2:20–2:45. Both obligations are necessary. Reducing an easy problem to B alone does not establish NP-hardness. The displayed implication requires A to be NP-hard.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6/16, 2:20–2:45. Both obligations are necessary. Reducing an easy problem to B alone does not establish NP-hardness. The displayed implication requires A to be NP-hard.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6/16, 2:20–2:45. Both obligations are necessary. Reducing an easy problem to B alone does not establish NP-hardness. The displayed implication requires A to be NP-hard.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7/16, 2:45–3:10. State the two decision questions before showing the construction. The translator builds the graph without knowing a satisfying assignment.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7/16, 2:45–3:10. State the two decision questions before showing the construction. The translator builds the graph without knowing a satisfying assignment.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7/16, 2:45–3:10. State the two decision questions before showing the construction. The translator builds the graph without knowing a satisfying assignment.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8/16, 3:10–3:40. Ask which color the negated variable must take once xi=T. The names T/F/B are relative to the palette; the physical paint colors can be permuted.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8/16, 3:10–3:40. Ask which color the negated variable must take once xi=T. The names T/F/B are relative to the palette; the physical paint colors can be permuted.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9/16, 3:40–4:20 across four reveals. Show the vertices, literal arms, T links, and forcing path in order. Literal vertices already connect to B, so their fixed colors are T/F. Line crossings without a vertex circle are not junctions. The fixed palette edges still exist even when omitted here. The gadget’s result is extendability, not an output vertex color.</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9/16, 3:40–4:20 across four reveals. Show the vertices, literal arms, T links, and forcing path in order. Literal vertices already connect to B, so their fixed colors are T/F. Line crossings without a vertex circle are not junctions. The fixed palette edges still exist even when omitted here. The gadget’s result is extendability, not an output vertex color.</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9/16, 3:40–4:20 across four reveals. Show the vertices, literal arms, T links, and forcing path in order. Literal vertices already connect to B, so their fixed colors are T/F. Line crossings without a vertex circle are not junctions. The fixed palette edges still exist even when omitted here. The gadget’s result is extendability, not an output vertex color.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9/16, 3:40–4:20 across four reveals. Show the vertices, literal arms, T links, and forcing path in order. Literal vertices already connect to B, so their fixed colors are T/F. Line crossings without a vertex circle are not junctions. The fixed palette edges still exist even when omitted here. The gadget’s result is extendability, not an output vertex color.</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10/16, 4:20–4:55. Trace the all-false conflict before the successful case. Choose only one true input to supply the B-colored b vertex. The other a vertices can all be B even if their literals are also true. The three witness rows cover every satisfying pattern. The image on the left is a forced failed coloring, not a legal coloring.</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10/16, 4:20–4:55. Trace the all-false conflict before the successful case. Choose only one true input to supply the B-colored b vertex. The other a vertices can all be B even if their literals are also true. The three witness rows cover every satisfying pattern. The image on the left is a forced failed coloring, not a legal coloring.</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10/16, 4:20–4:55. Trace the all-false conflict before the successful case. Choose only one true input to supply the B-colored b vertex. The other a vertices can all be B even if their literals are also true. The three witness rows cover every satisfying pattern. The image on the left is a forced failed coloring, not a legal coloring.</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11/16, 4:55–5:15. Evaluate both clauses. This assignment is a demonstration after graph construction; the reduction does not need to find it.</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11/16, 4:55–5:15. Evaluate both clauses. This assignment is a demonstration after graph construction; the reduction does not need to find it.</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11/16, 4:55–5:15. Evaluate both clauses. This assignment is a demonstration after graph construction; the reduction does not need to find it.</a:t>
            </a:r>
          </a:p>
        </p:txBody>
      </p:sp>
      <p:sp>
        <p:nvSpPr>
          <p:cNvPr id="4" name="Slide Number Placeholder 3"/>
          <p:cNvSpPr>
            <a:spLocks noGrp="1"/>
          </p:cNvSpPr>
          <p:nvPr>
            <p:ph type="sldNum" sz="quarter" idx="10"/>
          </p:nvPr>
        </p:nvSpPr>
        <p:spPr/>
        <p:txBody>
          <a:bodyPr/>
          <a:lstStyle/>
          <a:p>
            <a:fld id="{18BDFEC3-8487-43E8-A154-7C12CBC1FFF2}" type="slidenum">
              <a:rPr lang="en-US"/>
              <a:t>115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12/16, 5:15–5:40. This is an assembly schematic: the boxes represent copies of the exact gadget already proved. Shared literals enforce a consistent assignment across clauses. Each copy also uses palette T and F. No edges between distinct clauses’ internal vertices are needed.</a:t>
            </a:r>
          </a:p>
        </p:txBody>
      </p:sp>
      <p:sp>
        <p:nvSpPr>
          <p:cNvPr id="4" name="Slide Number Placeholder 3"/>
          <p:cNvSpPr>
            <a:spLocks noGrp="1"/>
          </p:cNvSpPr>
          <p:nvPr>
            <p:ph type="sldNum" sz="quarter" idx="10"/>
          </p:nvPr>
        </p:nvSpPr>
        <p:spPr/>
        <p:txBody>
          <a:bodyPr/>
          <a:lstStyle/>
          <a:p>
            <a:fld id="{18BDFEC3-8487-43E8-A154-7C12CBC1FFF2}" type="slidenum">
              <a:rPr lang="en-US"/>
              <a:t>119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12/16, 5:15–5:40. This is an assembly schematic: the boxes represent copies of the exact gadget already proved. Shared literals enforce a consistent assignment across clauses. Each copy also uses palette T and F. No edges between distinct clauses’ internal vertices are needed.</a:t>
            </a:r>
          </a:p>
        </p:txBody>
      </p:sp>
      <p:sp>
        <p:nvSpPr>
          <p:cNvPr id="4" name="Slide Number Placeholder 3"/>
          <p:cNvSpPr>
            <a:spLocks noGrp="1"/>
          </p:cNvSpPr>
          <p:nvPr>
            <p:ph type="sldNum" sz="quarter" idx="10"/>
          </p:nvPr>
        </p:nvSpPr>
        <p:spPr/>
        <p:txBody>
          <a:bodyPr/>
          <a:lstStyle/>
          <a:p>
            <a:fld id="{18BDFEC3-8487-43E8-A154-7C12CBC1FFF2}" type="slidenum">
              <a:rPr lang="en-US"/>
              <a:t>121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12/16, 5:15–5:40. This is an assembly schematic: the boxes represent copies of the exact gadget already proved. Shared literals enforce a consistent assignment across clauses. Each copy also uses palette T and F. No edges between distinct clauses’ internal vertices are needed.</a:t>
            </a:r>
          </a:p>
        </p:txBody>
      </p:sp>
      <p:sp>
        <p:nvSpPr>
          <p:cNvPr id="4" name="Slide Number Placeholder 3"/>
          <p:cNvSpPr>
            <a:spLocks noGrp="1"/>
          </p:cNvSpPr>
          <p:nvPr>
            <p:ph type="sldNum" sz="quarter" idx="10"/>
          </p:nvPr>
        </p:nvSpPr>
        <p:spPr/>
        <p:txBody>
          <a:bodyPr/>
          <a:lstStyle/>
          <a:p>
            <a:fld id="{18BDFEC3-8487-43E8-A154-7C12CBC1FFF2}" type="slidenum">
              <a:rPr lang="en-US"/>
              <a:t>123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13/16, 5:40–6:20. State both directions, then the counts. Palette: three vertices/edges. Each variable: two vertices and three edges. Each clause: six vertices and thirteen edges. Verification is O(V+E); with NP-hardness this proves 3-COLOR NP-complete. Linear many graph records can require logarithmic-size vertex indices in a bit encoding.</a:t>
            </a:r>
          </a:p>
        </p:txBody>
      </p:sp>
      <p:sp>
        <p:nvSpPr>
          <p:cNvPr id="4" name="Slide Number Placeholder 3"/>
          <p:cNvSpPr>
            <a:spLocks noGrp="1"/>
          </p:cNvSpPr>
          <p:nvPr>
            <p:ph type="sldNum" sz="quarter" idx="10"/>
          </p:nvPr>
        </p:nvSpPr>
        <p:spPr/>
        <p:txBody>
          <a:bodyPr/>
          <a:lstStyle/>
          <a:p>
            <a:fld id="{18BDFEC3-8487-43E8-A154-7C12CBC1FFF2}" type="slidenum">
              <a:rPr lang="en-US"/>
              <a:t>126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13/16, 5:40–6:20. State both directions, then the counts. Palette: three vertices/edges. Each variable: two vertices and three edges. Each clause: six vertices and thirteen edges. Verification is O(V+E); with NP-hardness this proves 3-COLOR NP-complete. Linear many graph records can require logarithmic-size vertex indices in a bit encoding.</a:t>
            </a:r>
          </a:p>
        </p:txBody>
      </p:sp>
      <p:sp>
        <p:nvSpPr>
          <p:cNvPr id="4" name="Slide Number Placeholder 3"/>
          <p:cNvSpPr>
            <a:spLocks noGrp="1"/>
          </p:cNvSpPr>
          <p:nvPr>
            <p:ph type="sldNum" sz="quarter" idx="10"/>
          </p:nvPr>
        </p:nvSpPr>
        <p:spPr/>
        <p:txBody>
          <a:bodyPr/>
          <a:lstStyle/>
          <a:p>
            <a:fld id="{18BDFEC3-8487-43E8-A154-7C12CBC1FFF2}" type="slidenum">
              <a:rPr lang="en-US"/>
              <a:t>128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13/16, 5:40–6:20. State both directions, then the counts. Palette: three vertices/edges. Each variable: two vertices and three edges. Each clause: six vertices and thirteen edges. Verification is O(V+E); with NP-hardness this proves 3-COLOR NP-complete. Linear many graph records can require logarithmic-size vertex indices in a bit encoding.</a:t>
            </a:r>
          </a:p>
        </p:txBody>
      </p:sp>
      <p:sp>
        <p:nvSpPr>
          <p:cNvPr id="4" name="Slide Number Placeholder 3"/>
          <p:cNvSpPr>
            <a:spLocks noGrp="1"/>
          </p:cNvSpPr>
          <p:nvPr>
            <p:ph type="sldNum" sz="quarter" idx="10"/>
          </p:nvPr>
        </p:nvSpPr>
        <p:spPr/>
        <p:txBody>
          <a:bodyPr/>
          <a:lstStyle/>
          <a:p>
            <a:fld id="{18BDFEC3-8487-43E8-A154-7C12CBC1FFF2}" type="slidenum">
              <a:rPr lang="en-US"/>
              <a:t>131</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14/16, 6:20–6:40. Give this only a brief explanation. No intraclause edges means an m-clique must contain exactly one vertex from each clause. The highlighted clique chooses x1 from C1, x2 from C2 and x1 from C3. The two x1 occurrences are distinct vertices and compatible. In the reverse direction choose one true literal per satisfied clause. CLIQUE membership in NP follows by checking the selected vertices’ pairwise edges.</a:t>
            </a:r>
          </a:p>
        </p:txBody>
      </p:sp>
      <p:sp>
        <p:nvSpPr>
          <p:cNvPr id="4" name="Slide Number Placeholder 3"/>
          <p:cNvSpPr>
            <a:spLocks noGrp="1"/>
          </p:cNvSpPr>
          <p:nvPr>
            <p:ph type="sldNum" sz="quarter" idx="10"/>
          </p:nvPr>
        </p:nvSpPr>
        <p:spPr/>
        <p:txBody>
          <a:bodyPr/>
          <a:lstStyle/>
          <a:p>
            <a:fld id="{18BDFEC3-8487-43E8-A154-7C12CBC1FFF2}" type="slidenum">
              <a:rPr lang="en-US"/>
              <a:t>136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14/16, 6:20–6:40. Give this only a brief explanation. No intraclause edges means an m-clique must contain exactly one vertex from each clause. The highlighted clique chooses x1 from C1, x2 from C2 and x1 from C3. The two x1 occurrences are distinct vertices and compatible. In the reverse direction choose one true literal per satisfied clause. CLIQUE membership in NP follows by checking the selected vertices’ pairwise edges.</a:t>
            </a:r>
          </a:p>
        </p:txBody>
      </p:sp>
      <p:sp>
        <p:nvSpPr>
          <p:cNvPr id="4" name="Slide Number Placeholder 3"/>
          <p:cNvSpPr>
            <a:spLocks noGrp="1"/>
          </p:cNvSpPr>
          <p:nvPr>
            <p:ph type="sldNum" sz="quarter" idx="10"/>
          </p:nvPr>
        </p:nvSpPr>
        <p:spPr/>
        <p:txBody>
          <a:bodyPr/>
          <a:lstStyle/>
          <a:p>
            <a:fld id="{18BDFEC3-8487-43E8-A154-7C12CBC1FFF2}" type="slidenum">
              <a:rPr lang="en-US"/>
              <a:t>139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14/16, 6:20–6:40. Give this only a brief explanation. No intraclause edges means an m-clique must contain exactly one vertex from each clause. The highlighted clique chooses x1 from C1, x2 from C2 and x1 from C3. The two x1 occurrences are distinct vertices and compatible. In the reverse direction choose one true literal per satisfied clause. CLIQUE membership in NP follows by checking the selected vertices’ pairwise edges.</a:t>
            </a:r>
          </a:p>
        </p:txBody>
      </p:sp>
      <p:sp>
        <p:nvSpPr>
          <p:cNvPr id="4" name="Slide Number Placeholder 3"/>
          <p:cNvSpPr>
            <a:spLocks noGrp="1"/>
          </p:cNvSpPr>
          <p:nvPr>
            <p:ph type="sldNum" sz="quarter" idx="10"/>
          </p:nvPr>
        </p:nvSpPr>
        <p:spPr/>
        <p:txBody>
          <a:bodyPr/>
          <a:lstStyle/>
          <a:p>
            <a:fld id="{18BDFEC3-8487-43E8-A154-7C12CBC1FFF2}" type="slidenum">
              <a:rPr lang="en-US"/>
              <a:t>143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15/16, 6:40–6:55. End with the proof recipe. If time permits, ask students which reduction direction proves B hard: A to B or B to A? Answer: known-hard A to target B.</a:t>
            </a:r>
          </a:p>
        </p:txBody>
      </p:sp>
      <p:sp>
        <p:nvSpPr>
          <p:cNvPr id="4" name="Slide Number Placeholder 3"/>
          <p:cNvSpPr>
            <a:spLocks noGrp="1"/>
          </p:cNvSpPr>
          <p:nvPr>
            <p:ph type="sldNum" sz="quarter" idx="10"/>
          </p:nvPr>
        </p:nvSpPr>
        <p:spPr/>
        <p:txBody>
          <a:bodyPr/>
          <a:lstStyle/>
          <a:p>
            <a:fld id="{18BDFEC3-8487-43E8-A154-7C12CBC1FFF2}" type="slidenum">
              <a:rPr lang="en-US"/>
              <a:t>148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15/16, 6:40–6:55. End with the proof recipe. If time permits, ask students which reduction direction proves B hard: A to B or B to A? Answer: known-hard A to target B.</a:t>
            </a:r>
          </a:p>
        </p:txBody>
      </p:sp>
      <p:sp>
        <p:nvSpPr>
          <p:cNvPr id="4" name="Slide Number Placeholder 3"/>
          <p:cNvSpPr>
            <a:spLocks noGrp="1"/>
          </p:cNvSpPr>
          <p:nvPr>
            <p:ph type="sldNum" sz="quarter" idx="10"/>
          </p:nvPr>
        </p:nvSpPr>
        <p:spPr/>
        <p:txBody>
          <a:bodyPr/>
          <a:lstStyle/>
          <a:p>
            <a:fld id="{18BDFEC3-8487-43E8-A154-7C12CBC1FFF2}" type="slidenum">
              <a:rPr lang="en-US"/>
              <a:t>150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15/16, 6:40–6:55. End with the proof recipe. If time permits, ask students which reduction direction proves B hard: A to B or B to A? Answer: known-hard A to target B.</a:t>
            </a:r>
          </a:p>
        </p:txBody>
      </p:sp>
      <p:sp>
        <p:nvSpPr>
          <p:cNvPr id="4" name="Slide Number Placeholder 3"/>
          <p:cNvSpPr>
            <a:spLocks noGrp="1"/>
          </p:cNvSpPr>
          <p:nvPr>
            <p:ph type="sldNum" sz="quarter" idx="10"/>
          </p:nvPr>
        </p:nvSpPr>
        <p:spPr/>
        <p:txBody>
          <a:bodyPr/>
          <a:lstStyle/>
          <a:p>
            <a:fld id="{18BDFEC3-8487-43E8-A154-7C12CBC1FFF2}" type="slidenum">
              <a:rPr lang="en-US"/>
              <a:t>152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15/16, 6:40–6:55. End with the proof recipe. If time permits, ask students which reduction direction proves B hard: A to B or B to A? Answer: known-hard A to target B.</a:t>
            </a:r>
          </a:p>
        </p:txBody>
      </p:sp>
      <p:sp>
        <p:nvSpPr>
          <p:cNvPr id="4" name="Slide Number Placeholder 3"/>
          <p:cNvSpPr>
            <a:spLocks noGrp="1"/>
          </p:cNvSpPr>
          <p:nvPr>
            <p:ph type="sldNum" sz="quarter" idx="10"/>
          </p:nvPr>
        </p:nvSpPr>
        <p:spPr/>
        <p:txBody>
          <a:bodyPr/>
          <a:lstStyle/>
          <a:p>
            <a:fld id="{18BDFEC3-8487-43E8-A154-7C12CBC1FFF2}" type="slidenum">
              <a:rPr lang="en-US"/>
              <a:t>154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16/16, 6:55–7:00. Acknowledge the sources; do not read the bibliography aloud. Timing is across all reveals within each frame and leaves no discussion time. Allow substantially longer for a full first lesson.</a:t>
            </a:r>
          </a:p>
        </p:txBody>
      </p:sp>
      <p:sp>
        <p:nvSpPr>
          <p:cNvPr id="4" name="Slide Number Placeholder 3"/>
          <p:cNvSpPr>
            <a:spLocks noGrp="1"/>
          </p:cNvSpPr>
          <p:nvPr>
            <p:ph type="sldNum" sz="quarter" idx="10"/>
          </p:nvPr>
        </p:nvSpPr>
        <p:spPr/>
        <p:txBody>
          <a:bodyPr/>
          <a:lstStyle/>
          <a:p>
            <a:fld id="{18BDFEC3-8487-43E8-A154-7C12CBC1FFF2}" type="slidenum">
              <a:rPr lang="en-US"/>
              <a:t>157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ns2="http://schemas.microsoft.com/office/powerpoint/2010/main"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Subtitle 2"/>
          <p:cNvSpPr>
            <a:spLocks noGrp="1"/>
          </p:cNvSpPr>
          <p:nvPr>
            <p:ph type="subTitle" idx="1"/>
          </p:nvPr>
        </p:nvSpPr>
        <p:spPr>
          <a:xfrm>
            <a:off x="347472" y="950976"/>
            <a:ext cx="84490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r>
              <a:rPr lang="en-US"/>
              <a:t>Click to edit Master subtitle style</a:t>
            </a:r>
          </a:p>
        </p:txBody>
      </p:sp>
      <p:sp>
        <p:nvSpPr>
          <p:cNvPr id="4" name="Date Placeholder 3"/>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6" name="Slide Number Placeholder 5"/>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1444357513"/>
      </p:ext>
    </p:extLst>
  </p:cSld>
  <p:clrMapOvr>
    <a:masterClrMapping/>
  </p:clrMapOvr>
</p:sldLayout>
</file>

<file path=ppt/slideLayouts/slideLayout2.xml><?xml version="1.0" encoding="utf-8"?>
<p:sldLayout xmlns:a="http://schemas.openxmlformats.org/drawingml/2006/main" xmlns:ns2="http://schemas.microsoft.com/office/powerpoint/2010/main"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Content Placeholder 2"/>
          <p:cNvSpPr>
            <a:spLocks noGrp="1"/>
          </p:cNvSpPr>
          <p:nvPr>
            <p:ph idx="1"/>
          </p:nvPr>
        </p:nvSpPr>
        <p:spPr>
          <a:xfrm>
            <a:off x="347472" y="950976"/>
            <a:ext cx="84490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6" name="Slide Number Placeholder 5"/>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338346009"/>
      </p:ext>
    </p:extLst>
  </p:cSld>
  <p:clrMapOvr>
    <a:masterClrMapping/>
  </p:clrMapOvr>
</p:sldLayout>
</file>

<file path=ppt/slideLayouts/slideLayout3.xml><?xml version="1.0" encoding="utf-8"?>
<p:sldLayout xmlns:a="http://schemas.openxmlformats.org/drawingml/2006/main" xmlns:ns2="http://schemas.microsoft.com/office/powerpoint/2010/main"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Text Placeholder 2"/>
          <p:cNvSpPr>
            <a:spLocks noGrp="1"/>
          </p:cNvSpPr>
          <p:nvPr>
            <p:ph type="body" idx="1"/>
          </p:nvPr>
        </p:nvSpPr>
        <p:spPr>
          <a:xfrm>
            <a:off x="347472" y="950976"/>
            <a:ext cx="84490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p:txBody>
      </p:sp>
      <p:sp>
        <p:nvSpPr>
          <p:cNvPr id="4" name="Date Placeholder 3"/>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6" name="Slide Number Placeholder 5"/>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1073069076"/>
      </p:ext>
    </p:extLst>
  </p:cSld>
  <p:clrMapOvr>
    <a:masterClrMapping/>
  </p:clrMapOvr>
</p:sldLayout>
</file>

<file path=ppt/slideLayouts/slideLayout4.xml><?xml version="1.0" encoding="utf-8"?>
<p:sldLayout xmlns:a="http://schemas.openxmlformats.org/drawingml/2006/main" xmlns:ns2="http://schemas.microsoft.com/office/powerpoint/2010/main"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Content Placeholder 2"/>
          <p:cNvSpPr>
            <a:spLocks noGrp="1"/>
          </p:cNvSpPr>
          <p:nvPr>
            <p:ph sz="half" idx="1"/>
          </p:nvPr>
        </p:nvSpPr>
        <p:spPr>
          <a:xfrm>
            <a:off x="347472" y="950976"/>
            <a:ext cx="41056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90872" y="950976"/>
            <a:ext cx="41056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7" name="Slide Number Placeholder 6"/>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2619886245"/>
      </p:ext>
    </p:extLst>
  </p:cSld>
  <p:clrMapOvr>
    <a:masterClrMapping/>
  </p:clrMapOvr>
</p:sldLayout>
</file>

<file path=ppt/slideLayouts/slideLayout5.xml><?xml version="1.0" encoding="utf-8"?>
<p:sldLayout xmlns:a="http://schemas.openxmlformats.org/drawingml/2006/main" xmlns:ns2="http://schemas.microsoft.com/office/powerpoint/2010/main"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Text Placeholder 2"/>
          <p:cNvSpPr>
            <a:spLocks noGrp="1"/>
          </p:cNvSpPr>
          <p:nvPr>
            <p:ph type="body" idx="1"/>
          </p:nvPr>
        </p:nvSpPr>
        <p:spPr>
          <a:xfrm>
            <a:off x="347472" y="950976"/>
            <a:ext cx="41056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p:txBody>
      </p:sp>
      <p:sp>
        <p:nvSpPr>
          <p:cNvPr id="4" name="Content Placeholder 3"/>
          <p:cNvSpPr>
            <a:spLocks noGrp="1"/>
          </p:cNvSpPr>
          <p:nvPr>
            <p:ph sz="half" idx="2"/>
          </p:nvPr>
        </p:nvSpPr>
        <p:spPr>
          <a:xfrm>
            <a:off x="4690872" y="950976"/>
            <a:ext cx="41056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472" y="950976"/>
            <a:ext cx="41056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p:txBody>
      </p:sp>
      <p:sp>
        <p:nvSpPr>
          <p:cNvPr id="6" name="Content Placeholder 5"/>
          <p:cNvSpPr>
            <a:spLocks noGrp="1"/>
          </p:cNvSpPr>
          <p:nvPr>
            <p:ph sz="quarter" idx="4"/>
          </p:nvPr>
        </p:nvSpPr>
        <p:spPr>
          <a:xfrm>
            <a:off x="4690872" y="950976"/>
            <a:ext cx="41056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9" name="Slide Number Placeholder 8"/>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2535793967"/>
      </p:ext>
    </p:extLst>
  </p:cSld>
  <p:clrMapOvr>
    <a:masterClrMapping/>
  </p:clrMapOvr>
</p:sldLayout>
</file>

<file path=ppt/slideLayouts/slideLayout6.xml><?xml version="1.0" encoding="utf-8"?>
<p:sldLayout xmlns:a="http://schemas.openxmlformats.org/drawingml/2006/main" xmlns:ns2="http://schemas.microsoft.com/office/powerpoint/2010/main"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Date Placeholder 2"/>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5" name="Slide Number Placeholder 4"/>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3472721253"/>
      </p:ext>
    </p:extLst>
  </p:cSld>
  <p:clrMapOvr>
    <a:masterClrMapping/>
  </p:clrMapOvr>
</p:sldLayout>
</file>

<file path=ppt/slideLayouts/slideLayout7.xml><?xml version="1.0" encoding="utf-8"?>
<p:sldLayout xmlns:a="http://schemas.openxmlformats.org/drawingml/2006/main" xmlns:ns2="http://schemas.microsoft.com/office/powerpoint/2010/main"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4" name="Slide Number Placeholder 3"/>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2130901097"/>
      </p:ext>
    </p:extLst>
  </p:cSld>
  <p:clrMapOvr>
    <a:masterClrMapping/>
  </p:clrMapOvr>
</p:sldLayout>
</file>

<file path=ppt/slideLayouts/slideLayout8.xml><?xml version="1.0" encoding="utf-8"?>
<p:sldLayout xmlns:a="http://schemas.openxmlformats.org/drawingml/2006/main" xmlns:ns2="http://schemas.microsoft.com/office/powerpoint/2010/main"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Content Placeholder 2"/>
          <p:cNvSpPr>
            <a:spLocks noGrp="1"/>
          </p:cNvSpPr>
          <p:nvPr>
            <p:ph idx="1"/>
          </p:nvPr>
        </p:nvSpPr>
        <p:spPr>
          <a:xfrm>
            <a:off x="347472" y="950976"/>
            <a:ext cx="84490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7472" y="950976"/>
            <a:ext cx="84490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p:txBody>
      </p:sp>
      <p:sp>
        <p:nvSpPr>
          <p:cNvPr id="5" name="Date Placeholder 4"/>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7" name="Slide Number Placeholder 6"/>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3540895647"/>
      </p:ext>
    </p:extLst>
  </p:cSld>
  <p:clrMapOvr>
    <a:masterClrMapping/>
  </p:clrMapOvr>
</p:sldLayout>
</file>

<file path=ppt/slideLayouts/slideLayout9.xml><?xml version="1.0" encoding="utf-8"?>
<p:sldLayout xmlns:a="http://schemas.openxmlformats.org/drawingml/2006/main" xmlns:ns2="http://schemas.microsoft.com/office/powerpoint/2010/main"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4" name="Text Placeholder 3"/>
          <p:cNvSpPr>
            <a:spLocks noGrp="1"/>
          </p:cNvSpPr>
          <p:nvPr>
            <p:ph type="body" sz="half" idx="2"/>
          </p:nvPr>
        </p:nvSpPr>
        <p:spPr>
          <a:xfrm>
            <a:off x="347472" y="950976"/>
            <a:ext cx="8449056" cy="54406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p:txBody>
      </p:sp>
      <p:sp>
        <p:nvSpPr>
          <p:cNvPr id="5" name="Date Placeholder 4"/>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7" name="Slide Number Placeholder 6"/>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3566899855"/>
      </p:ext>
    </p:extLst>
  </p:cSld>
  <p:clrMapOvr>
    <a:masterClrMapping/>
  </p:clrMapOvr>
</p:sldLayout>
</file>

<file path=ppt/slideLayouts/slideLayout10.xml><?xml version="1.0" encoding="utf-8"?>
<p:sldLayout xmlns:a="http://schemas.openxmlformats.org/drawingml/2006/main" xmlns:ns2="http://schemas.microsoft.com/office/powerpoint/2010/main"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228600" y="109728"/>
            <a:ext cx="8686800" cy="640080"/>
          </a:xfrm>
        </p:spPr>
        <p:txBody>
          <a:bodyPr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Vertical Text Placeholder 2"/>
          <p:cNvSpPr>
            <a:spLocks noGrp="1"/>
          </p:cNvSpPr>
          <p:nvPr>
            <p:ph type="body" orient="vert" idx="1"/>
          </p:nvPr>
        </p:nvSpPr>
        <p:spPr>
          <a:xfrm>
            <a:off x="347472" y="950976"/>
            <a:ext cx="8449056" cy="5440680"/>
          </a:xfrm>
        </p:spPr>
        <p:txBody>
          <a:bodyPr vert="eaVert"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6" name="Slide Number Placeholder 5"/>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313914798"/>
      </p:ext>
    </p:extLst>
  </p:cSld>
  <p:clrMapOvr>
    <a:masterClrMapping/>
  </p:clrMapOvr>
</p:sldLayout>
</file>

<file path=ppt/slideLayouts/slideLayout11.xml><?xml version="1.0" encoding="utf-8"?>
<p:sldLayout xmlns:a="http://schemas.openxmlformats.org/drawingml/2006/main" xmlns:ns2="http://schemas.microsoft.com/office/powerpoint/2010/main"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28600" y="109728"/>
            <a:ext cx="8686800" cy="640080"/>
          </a:xfrm>
        </p:spPr>
        <p:txBody>
          <a:bodyPr vert="eaVert" anchor="t" lIns="0" rIns="0" tIns="0" bIns="0"/>
          <a:lstStyle>
            <a:lvl1pPr algn="l">
              <a:defRPr sz="2350" b="1">
                <a:solidFill>
                  <a:srgbClr val="3333B2"/>
                </a:solidFill>
                <a:latin typeface="Times New Roman"/>
              </a:defRPr>
            </a:lvl1pPr>
            <a:lvl2pPr algn="l">
              <a:defRPr sz="2350" b="1">
                <a:solidFill>
                  <a:srgbClr val="3333B2"/>
                </a:solidFill>
                <a:latin typeface="Times New Roman"/>
              </a:defRPr>
            </a:lvl2pPr>
            <a:lvl3pPr algn="l">
              <a:defRPr sz="2350" b="1">
                <a:solidFill>
                  <a:srgbClr val="3333B2"/>
                </a:solidFill>
                <a:latin typeface="Times New Roman"/>
              </a:defRPr>
            </a:lvl3pPr>
            <a:lvl4pPr algn="l">
              <a:defRPr sz="2350" b="1">
                <a:solidFill>
                  <a:srgbClr val="3333B2"/>
                </a:solidFill>
                <a:latin typeface="Times New Roman"/>
              </a:defRPr>
            </a:lvl4pPr>
            <a:lvl5pPr algn="l">
              <a:defRPr sz="2350" b="1">
                <a:solidFill>
                  <a:srgbClr val="3333B2"/>
                </a:solidFill>
                <a:latin typeface="Times New Roman"/>
              </a:defRPr>
            </a:lvl5pPr>
            <a:lvl6pPr algn="l">
              <a:defRPr sz="2350" b="1">
                <a:solidFill>
                  <a:srgbClr val="3333B2"/>
                </a:solidFill>
                <a:latin typeface="Times New Roman"/>
              </a:defRPr>
            </a:lvl6pPr>
            <a:lvl7pPr algn="l">
              <a:defRPr sz="2350" b="1">
                <a:solidFill>
                  <a:srgbClr val="3333B2"/>
                </a:solidFill>
                <a:latin typeface="Times New Roman"/>
              </a:defRPr>
            </a:lvl7pPr>
            <a:lvl8pPr algn="l">
              <a:defRPr sz="2350" b="1">
                <a:solidFill>
                  <a:srgbClr val="3333B2"/>
                </a:solidFill>
                <a:latin typeface="Times New Roman"/>
              </a:defRPr>
            </a:lvl8pPr>
            <a:lvl9pPr algn="l">
              <a:defRPr sz="2350" b="1">
                <a:solidFill>
                  <a:srgbClr val="3333B2"/>
                </a:solidFill>
                <a:latin typeface="Times New Roman"/>
              </a:defRPr>
            </a:lvl9pPr>
          </a:lstStyle>
          <a:p>
            <a:r>
              <a:rPr lang="en-US"/>
              <a:t>Click to edit Master title style</a:t>
            </a:r>
          </a:p>
        </p:txBody>
      </p:sp>
      <p:sp>
        <p:nvSpPr>
          <p:cNvPr id="3" name="Vertical Text Placeholder 2"/>
          <p:cNvSpPr>
            <a:spLocks noGrp="1"/>
          </p:cNvSpPr>
          <p:nvPr>
            <p:ph type="body" orient="vert" idx="1"/>
          </p:nvPr>
        </p:nvSpPr>
        <p:spPr>
          <a:xfrm>
            <a:off x="347472" y="950976"/>
            <a:ext cx="8449056" cy="5440680"/>
          </a:xfrm>
        </p:spPr>
        <p:txBody>
          <a:bodyPr vert="eaVert"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a:xfrm>
            <a:off x="365760" y="6519672"/>
            <a:ext cx="68580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6" name="Slide Number Placeholder 5"/>
          <p:cNvSpPr>
            <a:spLocks noGrp="1"/>
          </p:cNvSpPr>
          <p:nvPr>
            <p:ph type="sldNum" sz="quarter" idx="12"/>
          </p:nvPr>
        </p:nvSpPr>
        <p:spPr>
          <a:xfrm>
            <a:off x="8046720" y="6519672"/>
            <a:ext cx="914400" cy="182880"/>
          </a:xfrm>
        </p:spPr>
        <p:txBody>
          <a:bodyPr anchor="t" lIns="0" rIns="0" tIns="0" bIns="0"/>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ns2="http://schemas.microsoft.com/office/powerpoint/2010/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8600" y="109728"/>
            <a:ext cx="8686800" cy="640080"/>
          </a:xfrm>
          <a:prstGeom prst="rect">
            <a:avLst/>
          </a:prstGeom>
        </p:spPr>
        <p:txBody>
          <a:bodyPr anchor="t" bIns="0" lIns="0" rIns="0" rtlCol="0" tIns="0" vert="horz">
            <a:normAutofit/>
          </a:bodyPr>
          <a:lstStyle>
            <a:lvl1pPr algn="l">
              <a:defRPr b="1" sz="2350">
                <a:solidFill>
                  <a:srgbClr val="3333B2"/>
                </a:solidFill>
                <a:latin typeface="Times New Roman"/>
              </a:defRPr>
            </a:lvl1pPr>
            <a:lvl2pPr algn="l">
              <a:defRPr b="1" sz="2350">
                <a:solidFill>
                  <a:srgbClr val="3333B2"/>
                </a:solidFill>
                <a:latin typeface="Times New Roman"/>
              </a:defRPr>
            </a:lvl2pPr>
            <a:lvl3pPr algn="l">
              <a:defRPr b="1" sz="2350">
                <a:solidFill>
                  <a:srgbClr val="3333B2"/>
                </a:solidFill>
                <a:latin typeface="Times New Roman"/>
              </a:defRPr>
            </a:lvl3pPr>
            <a:lvl4pPr algn="l">
              <a:defRPr b="1" sz="2350">
                <a:solidFill>
                  <a:srgbClr val="3333B2"/>
                </a:solidFill>
                <a:latin typeface="Times New Roman"/>
              </a:defRPr>
            </a:lvl4pPr>
            <a:lvl5pPr algn="l">
              <a:defRPr b="1" sz="2350">
                <a:solidFill>
                  <a:srgbClr val="3333B2"/>
                </a:solidFill>
                <a:latin typeface="Times New Roman"/>
              </a:defRPr>
            </a:lvl5pPr>
            <a:lvl6pPr algn="l">
              <a:defRPr b="1" sz="2350">
                <a:solidFill>
                  <a:srgbClr val="3333B2"/>
                </a:solidFill>
                <a:latin typeface="Times New Roman"/>
              </a:defRPr>
            </a:lvl6pPr>
            <a:lvl7pPr algn="l">
              <a:defRPr b="1" sz="2350">
                <a:solidFill>
                  <a:srgbClr val="3333B2"/>
                </a:solidFill>
                <a:latin typeface="Times New Roman"/>
              </a:defRPr>
            </a:lvl7pPr>
            <a:lvl8pPr algn="l">
              <a:defRPr b="1" sz="2350">
                <a:solidFill>
                  <a:srgbClr val="3333B2"/>
                </a:solidFill>
                <a:latin typeface="Times New Roman"/>
              </a:defRPr>
            </a:lvl8pPr>
            <a:lvl9pPr algn="l">
              <a:defRPr b="1" sz="2350">
                <a:solidFill>
                  <a:srgbClr val="3333B2"/>
                </a:solidFill>
                <a:latin typeface="Times New Roman"/>
              </a:defRPr>
            </a:lvl9pPr>
          </a:lstStyle>
          <a:p>
            <a:r>
              <a:rPr lang="en-US"/>
              <a:t>Click to edit Master title style</a:t>
            </a:r>
          </a:p>
        </p:txBody>
      </p:sp>
      <p:sp>
        <p:nvSpPr>
          <p:cNvPr id="3" name="Text Placeholder 2"/>
          <p:cNvSpPr>
            <a:spLocks noGrp="1"/>
          </p:cNvSpPr>
          <p:nvPr>
            <p:ph idx="1" type="body"/>
          </p:nvPr>
        </p:nvSpPr>
        <p:spPr>
          <a:xfrm>
            <a:off x="347472" y="950976"/>
            <a:ext cx="8449056" cy="5440680"/>
          </a:xfrm>
          <a:prstGeom prst="rect">
            <a:avLst/>
          </a:prstGeom>
        </p:spPr>
        <p:txBody>
          <a:bodyPr anchor="t" bIns="0" lIns="0" rIns="0" rtlCol="0" tIns="0" vert="horz">
            <a:normAutofit/>
          </a:bodyPr>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365760" y="6519672"/>
            <a:ext cx="6858000" cy="182880"/>
          </a:xfrm>
          <a:prstGeom prst="rect">
            <a:avLst/>
          </a:prstGeom>
        </p:spPr>
        <p:txBody>
          <a:bodyPr anchor="t" bIns="0" lIns="0" rIns="0" rtlCol="0" tIns="0" vert="horz"/>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65760" y="6519672"/>
            <a:ext cx="6858000" cy="182880"/>
          </a:xfrm>
          <a:prstGeom prst="rect">
            <a:avLst/>
          </a:prstGeom>
        </p:spPr>
        <p:txBody>
          <a:bodyPr anchor="t" bIns="0" lIns="0" rIns="0" rtlCol="0" tIns="0" vert="horz"/>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endParaRPr lang="en-US"/>
          </a:p>
        </p:txBody>
      </p:sp>
      <p:sp>
        <p:nvSpPr>
          <p:cNvPr id="6" name="Slide Number Placeholder 5"/>
          <p:cNvSpPr>
            <a:spLocks noGrp="1"/>
          </p:cNvSpPr>
          <p:nvPr>
            <p:ph idx="4" sz="quarter" type="sldNum"/>
          </p:nvPr>
        </p:nvSpPr>
        <p:spPr>
          <a:xfrm>
            <a:off x="8046720" y="6519672"/>
            <a:ext cx="914400" cy="182880"/>
          </a:xfrm>
          <a:prstGeom prst="rect">
            <a:avLst/>
          </a:prstGeom>
        </p:spPr>
        <p:txBody>
          <a:bodyPr anchor="t" bIns="0" lIns="0" rIns="0" rtlCol="0" tIns="0" vert="horz"/>
          <a:lstStyle>
            <a:lvl1pPr algn="l">
              <a:defRPr sz="1800">
                <a:latin typeface="Times New Roman"/>
              </a:defRPr>
            </a:lvl1pPr>
            <a:lvl2pPr algn="l">
              <a:defRPr sz="1800">
                <a:latin typeface="Times New Roman"/>
              </a:defRPr>
            </a:lvl2pPr>
            <a:lvl3pPr algn="l">
              <a:defRPr sz="1800">
                <a:latin typeface="Times New Roman"/>
              </a:defRPr>
            </a:lvl3pPr>
            <a:lvl4pPr algn="l">
              <a:defRPr sz="1800">
                <a:latin typeface="Times New Roman"/>
              </a:defRPr>
            </a:lvl4pPr>
            <a:lvl5pPr algn="l">
              <a:defRPr sz="1800">
                <a:latin typeface="Times New Roman"/>
              </a:defRPr>
            </a:lvl5pPr>
            <a:lvl6pPr algn="l">
              <a:defRPr sz="1800">
                <a:latin typeface="Times New Roman"/>
              </a:defRPr>
            </a:lvl6pPr>
            <a:lvl7pPr algn="l">
              <a:defRPr sz="1800">
                <a:latin typeface="Times New Roman"/>
              </a:defRPr>
            </a:lvl7pPr>
            <a:lvl8pPr algn="l">
              <a:defRPr sz="1800">
                <a:latin typeface="Times New Roman"/>
              </a:defRPr>
            </a:lvl8pPr>
            <a:lvl9pPr algn="l">
              <a:defRPr sz="1800">
                <a:latin typeface="Times New Roman"/>
              </a:defRPr>
            </a:lvl9pPr>
          </a:lstStyle>
          <a:p>
            <a:fld id="{C5EF2332-01BF-834F-8236-50238282D533}" type="slidenum">
              <a:rPr lang="en-US" smtClean="0"/>
              <a:t>‹#›</a:t>
            </a:fld>
            <a:endParaRPr lang="en-US"/>
          </a:p>
        </p:txBody>
      </p:sp>
    </p:spTree>
    <p:extLst>
      <p:ext uri="{BB962C8B-B14F-4D97-AF65-F5344CB8AC3E}">
        <ns2:creationId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buNone/>
        <a:defRPr kern="1200" sz="2350">
          <a:solidFill>
            <a:schemeClr val="tx1"/>
          </a:solidFill>
          <a:latin typeface="+mj-lt"/>
          <a:ea typeface="+mj-ea"/>
          <a:cs typeface="+mj-cs"/>
        </a:defRPr>
        <a:spcBef>
          <a:spcPts val="500"/>
        </a:spcBef>
      </a:lvl1pPr>
    </p:titleStyle>
    <p:bodyStyle>
      <a:lvl1pPr algn="l" defTabSz="342900" eaLnBrk="1" hangingPunct="1" indent="-342900" latinLnBrk="0" marL="342900" rtl="0">
        <a:buFont typeface="Arial"/>
        <a:buChar char="•"/>
        <a:defRPr kern="1200" sz="1800">
          <a:solidFill>
            <a:schemeClr val="tx1"/>
          </a:solidFill>
          <a:latin typeface="+mn-lt"/>
          <a:ea typeface="+mn-ea"/>
          <a:cs typeface="+mn-cs"/>
        </a:defRPr>
        <a:spcBef>
          <a:spcPts val="500"/>
        </a:spcBef>
      </a:lvl1pPr>
      <a:lvl2pPr algn="l" defTabSz="342900" eaLnBrk="1" hangingPunct="1" indent="-342900" latinLnBrk="0" marL="685800" rtl="0">
        <a:buFont typeface="Arial"/>
        <a:buChar char="–"/>
        <a:defRPr kern="1200" sz="1800">
          <a:solidFill>
            <a:schemeClr val="tx1"/>
          </a:solidFill>
          <a:latin typeface="+mn-lt"/>
          <a:ea typeface="+mn-ea"/>
          <a:cs typeface="+mn-cs"/>
        </a:defRPr>
        <a:spcBef>
          <a:spcPts val="500"/>
        </a:spcBef>
      </a:lvl2pPr>
      <a:lvl3pPr algn="l" defTabSz="342900" eaLnBrk="1" hangingPunct="1" indent="-342900" latinLnBrk="0" marL="1028700" rtl="0">
        <a:buFont typeface="Arial"/>
        <a:buChar char="•"/>
        <a:defRPr kern="1200" sz="1800">
          <a:solidFill>
            <a:schemeClr val="tx1"/>
          </a:solidFill>
          <a:latin typeface="+mn-lt"/>
          <a:ea typeface="+mn-ea"/>
          <a:cs typeface="+mn-cs"/>
        </a:defRPr>
        <a:spcBef>
          <a:spcPts val="500"/>
        </a:spcBef>
      </a:lvl3pPr>
      <a:lvl4pPr algn="l" defTabSz="342900" eaLnBrk="1" hangingPunct="1" indent="-342900" latinLnBrk="0" marL="1371600" rtl="0">
        <a:buFont typeface="Arial"/>
        <a:buChar char="–"/>
        <a:defRPr kern="1200" sz="1800">
          <a:solidFill>
            <a:schemeClr val="tx1"/>
          </a:solidFill>
          <a:latin typeface="+mn-lt"/>
          <a:ea typeface="+mn-ea"/>
          <a:cs typeface="+mn-cs"/>
        </a:defRPr>
        <a:spcBef>
          <a:spcPts val="500"/>
        </a:spcBef>
      </a:lvl4pPr>
      <a:lvl5pPr algn="l" defTabSz="342900" eaLnBrk="1" hangingPunct="1" indent="-342900" latinLnBrk="0" marL="1714500" rtl="0">
        <a:buFont typeface="Arial"/>
        <a:buChar char="»"/>
        <a:defRPr kern="1200" sz="1800">
          <a:solidFill>
            <a:schemeClr val="tx1"/>
          </a:solidFill>
          <a:latin typeface="+mn-lt"/>
          <a:ea typeface="+mn-ea"/>
          <a:cs typeface="+mn-cs"/>
        </a:defRPr>
        <a:spcBef>
          <a:spcPts val="500"/>
        </a:spcBef>
      </a:lvl5pPr>
      <a:lvl6pPr algn="l" defTabSz="342900" eaLnBrk="1" hangingPunct="1" indent="-342900" latinLnBrk="0" marL="2057400" rtl="0">
        <a:buFont typeface="Arial"/>
        <a:buChar char="•"/>
        <a:defRPr kern="1200" sz="1800">
          <a:solidFill>
            <a:schemeClr val="tx1"/>
          </a:solidFill>
          <a:latin typeface="+mn-lt"/>
          <a:ea typeface="+mn-ea"/>
          <a:cs typeface="+mn-cs"/>
        </a:defRPr>
        <a:spcBef>
          <a:spcPts val="500"/>
        </a:spcBef>
      </a:lvl6pPr>
      <a:lvl7pPr algn="l" defTabSz="342900" eaLnBrk="1" hangingPunct="1" indent="-342900" latinLnBrk="0" marL="2400300" rtl="0">
        <a:buFont typeface="Arial"/>
        <a:buChar char="•"/>
        <a:defRPr kern="1200" sz="1800">
          <a:solidFill>
            <a:schemeClr val="tx1"/>
          </a:solidFill>
          <a:latin typeface="+mn-lt"/>
          <a:ea typeface="+mn-ea"/>
          <a:cs typeface="+mn-cs"/>
        </a:defRPr>
        <a:spcBef>
          <a:spcPts val="500"/>
        </a:spcBef>
      </a:lvl7pPr>
      <a:lvl8pPr algn="l" defTabSz="342900" eaLnBrk="1" hangingPunct="1" indent="-342900" latinLnBrk="0" marL="2743200" rtl="0">
        <a:buFont typeface="Arial"/>
        <a:buChar char="•"/>
        <a:defRPr kern="1200" sz="1800">
          <a:solidFill>
            <a:schemeClr val="tx1"/>
          </a:solidFill>
          <a:latin typeface="+mn-lt"/>
          <a:ea typeface="+mn-ea"/>
          <a:cs typeface="+mn-cs"/>
        </a:defRPr>
        <a:spcBef>
          <a:spcPts val="500"/>
        </a:spcBef>
      </a:lvl8pPr>
      <a:lvl9pPr algn="l" defTabSz="342900" eaLnBrk="1" hangingPunct="1" indent="-342900" latinLnBrk="0" marL="3086100" rtl="0">
        <a:buFont typeface="Arial"/>
        <a:buChar char="•"/>
        <a:defRPr kern="1200" sz="1800">
          <a:solidFill>
            <a:schemeClr val="tx1"/>
          </a:solidFill>
          <a:latin typeface="+mn-lt"/>
          <a:ea typeface="+mn-ea"/>
          <a:cs typeface="+mn-cs"/>
        </a:defRPr>
        <a:spcBef>
          <a:spcPts val="500"/>
        </a:spcBef>
      </a:lvl9pPr>
    </p:bodyStyle>
    <p:otherStyle>
      <a:defPPr>
        <a:defRPr lang="en-US" sz="1800"/>
        <a:spcBef>
          <a:spcPts val="500"/>
        </a:spcBef>
      </a:defPPr>
      <a:lvl1pPr algn="l" defTabSz="342900" eaLnBrk="1" hangingPunct="1" latinLnBrk="0" marL="0" rtl="0">
        <a:defRPr kern="1200" sz="1800">
          <a:solidFill>
            <a:schemeClr val="tx1"/>
          </a:solidFill>
          <a:latin typeface="+mn-lt"/>
          <a:ea typeface="+mn-ea"/>
          <a:cs typeface="+mn-cs"/>
        </a:defRPr>
        <a:spcBef>
          <a:spcPts val="500"/>
        </a:spcBef>
      </a:lvl1pPr>
      <a:lvl2pPr algn="l" defTabSz="342900" eaLnBrk="1" hangingPunct="1" latinLnBrk="0" marL="342900" rtl="0">
        <a:defRPr kern="1200" sz="1800">
          <a:solidFill>
            <a:schemeClr val="tx1"/>
          </a:solidFill>
          <a:latin typeface="+mn-lt"/>
          <a:ea typeface="+mn-ea"/>
          <a:cs typeface="+mn-cs"/>
        </a:defRPr>
        <a:spcBef>
          <a:spcPts val="500"/>
        </a:spcBef>
      </a:lvl2pPr>
      <a:lvl3pPr algn="l" defTabSz="342900" eaLnBrk="1" hangingPunct="1" latinLnBrk="0" marL="685800" rtl="0">
        <a:defRPr kern="1200" sz="1800">
          <a:solidFill>
            <a:schemeClr val="tx1"/>
          </a:solidFill>
          <a:latin typeface="+mn-lt"/>
          <a:ea typeface="+mn-ea"/>
          <a:cs typeface="+mn-cs"/>
        </a:defRPr>
        <a:spcBef>
          <a:spcPts val="500"/>
        </a:spcBef>
      </a:lvl3pPr>
      <a:lvl4pPr algn="l" defTabSz="342900" eaLnBrk="1" hangingPunct="1" latinLnBrk="0" marL="1028700" rtl="0">
        <a:defRPr kern="1200" sz="1800">
          <a:solidFill>
            <a:schemeClr val="tx1"/>
          </a:solidFill>
          <a:latin typeface="+mn-lt"/>
          <a:ea typeface="+mn-ea"/>
          <a:cs typeface="+mn-cs"/>
        </a:defRPr>
        <a:spcBef>
          <a:spcPts val="500"/>
        </a:spcBef>
      </a:lvl4pPr>
      <a:lvl5pPr algn="l" defTabSz="342900" eaLnBrk="1" hangingPunct="1" latinLnBrk="0" marL="1371600" rtl="0">
        <a:defRPr kern="1200" sz="1800">
          <a:solidFill>
            <a:schemeClr val="tx1"/>
          </a:solidFill>
          <a:latin typeface="+mn-lt"/>
          <a:ea typeface="+mn-ea"/>
          <a:cs typeface="+mn-cs"/>
        </a:defRPr>
        <a:spcBef>
          <a:spcPts val="500"/>
        </a:spcBef>
      </a:lvl5pPr>
      <a:lvl6pPr algn="l" defTabSz="342900" eaLnBrk="1" hangingPunct="1" latinLnBrk="0" marL="1714500" rtl="0">
        <a:defRPr kern="1200" sz="1800">
          <a:solidFill>
            <a:schemeClr val="tx1"/>
          </a:solidFill>
          <a:latin typeface="+mn-lt"/>
          <a:ea typeface="+mn-ea"/>
          <a:cs typeface="+mn-cs"/>
        </a:defRPr>
        <a:spcBef>
          <a:spcPts val="500"/>
        </a:spcBef>
      </a:lvl6pPr>
      <a:lvl7pPr algn="l" defTabSz="342900" eaLnBrk="1" hangingPunct="1" latinLnBrk="0" marL="2057400" rtl="0">
        <a:defRPr kern="1200" sz="1800">
          <a:solidFill>
            <a:schemeClr val="tx1"/>
          </a:solidFill>
          <a:latin typeface="+mn-lt"/>
          <a:ea typeface="+mn-ea"/>
          <a:cs typeface="+mn-cs"/>
        </a:defRPr>
        <a:spcBef>
          <a:spcPts val="500"/>
        </a:spcBef>
      </a:lvl7pPr>
      <a:lvl8pPr algn="l" defTabSz="342900" eaLnBrk="1" hangingPunct="1" latinLnBrk="0" marL="2400300" rtl="0">
        <a:defRPr kern="1200" sz="1800">
          <a:solidFill>
            <a:schemeClr val="tx1"/>
          </a:solidFill>
          <a:latin typeface="+mn-lt"/>
          <a:ea typeface="+mn-ea"/>
          <a:cs typeface="+mn-cs"/>
        </a:defRPr>
        <a:spcBef>
          <a:spcPts val="500"/>
        </a:spcBef>
      </a:lvl8pPr>
      <a:lvl9pPr algn="l" defTabSz="342900" eaLnBrk="1" hangingPunct="1" latinLnBrk="0" marL="2743200" rtl="0">
        <a:defRPr kern="1200" sz="1800">
          <a:solidFill>
            <a:schemeClr val="tx1"/>
          </a:solidFill>
          <a:latin typeface="+mn-lt"/>
          <a:ea typeface="+mn-ea"/>
          <a:cs typeface="+mn-cs"/>
        </a:defRPr>
        <a:spcBef>
          <a:spcPts val="500"/>
        </a:spcBef>
      </a:lvl9pPr>
    </p:otherStyle>
  </p:txStyles>
</p:sldMaster>
</file>

<file path=ppt/slides/_rels/slide1.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xml" /></ns0:Relationships>
</file>

<file path=ppt/slides/_rels/slide2.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xml" /><ns0:Relationship Id="rId3" Type="http://schemas.openxmlformats.org/officeDocument/2006/relationships/image" Target="../media/image1.png" /></ns0:Relationships>
</file>

<file path=ppt/slides/_rels/slide3.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xml" /><ns0:Relationship Id="rId3" Type="http://schemas.openxmlformats.org/officeDocument/2006/relationships/image" Target="../media/image1.png" /></ns0:Relationships>
</file>

<file path=ppt/slides/_rels/slide4.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4.xml" /><ns0:Relationship Id="rId3" Type="http://schemas.openxmlformats.org/officeDocument/2006/relationships/image" Target="../media/image1.png" /><ns0:Relationship Id="rId4" Type="http://schemas.openxmlformats.org/officeDocument/2006/relationships/image" Target="../media/image2.png" /></ns0:Relationships>
</file>

<file path=ppt/slides/_rels/slide5.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5.xml" /><ns0:Relationship Id="rId3" Type="http://schemas.openxmlformats.org/officeDocument/2006/relationships/image" Target="../media/image3.png" /></ns0: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6.xml" /><ns0:Relationship Id="rId3" Type="http://schemas.openxmlformats.org/officeDocument/2006/relationships/image" Target="../media/image3.png" /><ns0:Relationship Id="rId4" Type="http://schemas.openxmlformats.org/officeDocument/2006/relationships/image" Target="../media/image4.png" /></ns0:Relationships>
</file>

<file path=ppt/slides/_rels/slide7.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7.xml" /><ns0:Relationship Id="rId3" Type="http://schemas.openxmlformats.org/officeDocument/2006/relationships/image" Target="../media/image3.png" /><ns0:Relationship Id="rId4" Type="http://schemas.openxmlformats.org/officeDocument/2006/relationships/image" Target="../media/image4.png" /></ns0:Relationships>
</file>

<file path=ppt/slides/_rels/slide8.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8.xml" /></ns0:Relationships>
</file>

<file path=ppt/slides/_rels/slide9.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9.xml" /><ns0:Relationship Id="rId3" Type="http://schemas.openxmlformats.org/officeDocument/2006/relationships/image" Target="../media/image5.png" /></ns0:Relationships>
</file>

<file path=ppt/slides/_rels/slide10.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0.xml" /><ns0:Relationship Id="rId3" Type="http://schemas.openxmlformats.org/officeDocument/2006/relationships/image" Target="../media/image6.png" /></ns0:Relationships>
</file>

<file path=ppt/slides/_rels/slide11.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1.xml" /><ns0:Relationship Id="rId3" Type="http://schemas.openxmlformats.org/officeDocument/2006/relationships/image" Target="../media/image6.png" /></ns0:Relationships>
</file>

<file path=ppt/slides/_rels/slide12.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2.xml" /><ns0:Relationship Id="rId3" Type="http://schemas.openxmlformats.org/officeDocument/2006/relationships/image" Target="../media/image6.png" /></ns0:Relationships>
</file>

<file path=ppt/slides/_rels/slide13.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3.xml" /></ns0:Relationships>
</file>

<file path=ppt/slides/_rels/slide14.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4.xml" /></ns0:Relationships>
</file>

<file path=ppt/slides/_rels/slide15.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5.xml" /><ns0:Relationship Id="rId3" Type="http://schemas.openxmlformats.org/officeDocument/2006/relationships/image" Target="../media/image7.png" /></ns0:Relationships>
</file>

<file path=ppt/slides/_rels/slide16.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6.xml" /></ns0:Relationships>
</file>

<file path=ppt/slides/_rels/slide17.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7.xml" /><ns0:Relationship Id="rId3" Type="http://schemas.openxmlformats.org/officeDocument/2006/relationships/image" Target="../media/image8.png" /></ns0:Relationships>
</file>

<file path=ppt/slides/_rels/slide18.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8.xml" /><ns0:Relationship Id="rId3" Type="http://schemas.openxmlformats.org/officeDocument/2006/relationships/image" Target="../media/image8.png" /></ns0:Relationships>
</file>

<file path=ppt/slides/_rels/slide19.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9.xml" /><ns0:Relationship Id="rId3" Type="http://schemas.openxmlformats.org/officeDocument/2006/relationships/image" Target="../media/image9.png" /></ns0:Relationships>
</file>

<file path=ppt/slides/_rels/slide20.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0.xml" /><ns0:Relationship Id="rId3" Type="http://schemas.openxmlformats.org/officeDocument/2006/relationships/image" Target="../media/image9.png" /><ns0:Relationship Id="rId4" Type="http://schemas.openxmlformats.org/officeDocument/2006/relationships/image" Target="../media/image10.png" /></ns0:Relationships>
</file>

<file path=ppt/slides/_rels/slide21.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1.xml" /><ns0:Relationship Id="rId3" Type="http://schemas.openxmlformats.org/officeDocument/2006/relationships/image" Target="../media/image11.png" /></ns0:Relationships>
</file>

<file path=ppt/slides/_rels/slide22.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2.xml" /><ns0:Relationship Id="rId3" Type="http://schemas.openxmlformats.org/officeDocument/2006/relationships/image" Target="../media/image12.png" /></ns0:Relationships>
</file>

<file path=ppt/slides/_rels/slide23.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3.xml" /><ns0:Relationship Id="rId3" Type="http://schemas.openxmlformats.org/officeDocument/2006/relationships/image" Target="../media/image13.png" /></ns0:Relationships>
</file>

<file path=ppt/slides/_rels/slide24.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4.xml" /><ns0:Relationship Id="rId3" Type="http://schemas.openxmlformats.org/officeDocument/2006/relationships/image" Target="../media/image14.png" /></ns0:Relationships>
</file>

<file path=ppt/slides/_rels/slide25.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5.xml" /><ns0:Relationship Id="rId3" Type="http://schemas.openxmlformats.org/officeDocument/2006/relationships/image" Target="../media/image15.png" /></ns0:Relationships>
</file>

<file path=ppt/slides/_rels/slide26.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6.xml" /><ns0:Relationship Id="rId3" Type="http://schemas.openxmlformats.org/officeDocument/2006/relationships/image" Target="../media/image15.png" /><ns0:Relationship Id="rId4" Type="http://schemas.openxmlformats.org/officeDocument/2006/relationships/image" Target="../media/image16.png" /></ns0:Relationships>
</file>

<file path=ppt/slides/_rels/slide27.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7.xml" /><ns0:Relationship Id="rId3" Type="http://schemas.openxmlformats.org/officeDocument/2006/relationships/image" Target="../media/image15.png" /><ns0:Relationship Id="rId4" Type="http://schemas.openxmlformats.org/officeDocument/2006/relationships/image" Target="../media/image16.png" /></ns0:Relationships>
</file>

<file path=ppt/slides/_rels/slide28.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8.xml" /></ns0:Relationships>
</file>

<file path=ppt/slides/_rels/slide29.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29.xml" /></ns0:Relationships>
</file>

<file path=ppt/slides/_rels/slide30.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0.xml" /></ns0:Relationships>
</file>

<file path=ppt/slides/_rels/slide31.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1.xml" /><ns0:Relationship Id="rId3" Type="http://schemas.openxmlformats.org/officeDocument/2006/relationships/image" Target="../media/image17.png" /></ns0:Relationships>
</file>

<file path=ppt/slides/_rels/slide32.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2.xml" /><ns0:Relationship Id="rId3" Type="http://schemas.openxmlformats.org/officeDocument/2006/relationships/image" Target="../media/image18.png" /></ns0:Relationships>
</file>

<file path=ppt/slides/_rels/slide33.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3.xml" /><ns0:Relationship Id="rId3" Type="http://schemas.openxmlformats.org/officeDocument/2006/relationships/image" Target="../media/image19.png" /></ns0:Relationships>
</file>

<file path=ppt/slides/_rels/slide34.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4.xml" /></ns0:Relationships>
</file>

<file path=ppt/slides/_rels/slide35.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5.xml" /></ns0:Relationships>
</file>

<file path=ppt/slides/_rels/slide36.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6.xml" /><ns0:Relationship Id="rId3" Type="http://schemas.openxmlformats.org/officeDocument/2006/relationships/image" Target="../media/image20.png" /></ns0:Relationships>
</file>

<file path=ppt/slides/_rels/slide37.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7.xml" /></ns0:Relationships>
</file>

<file path=ppt/slides/_rels/slide38.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8.xml" /><ns0:Relationship Id="rId3" Type="http://schemas.openxmlformats.org/officeDocument/2006/relationships/image" Target="../media/image21.png" /></ns0:Relationships>
</file>

<file path=ppt/slides/_rels/slide39.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39.xml" /><ns0:Relationship Id="rId3" Type="http://schemas.openxmlformats.org/officeDocument/2006/relationships/image" Target="../media/image22.png" /></ns0:Relationships>
</file>

<file path=ppt/slides/_rels/slide40.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40.xml" /><ns0:Relationship Id="rId3" Type="http://schemas.openxmlformats.org/officeDocument/2006/relationships/image" Target="../media/image23.png" /></ns0:Relationships>
</file>

<file path=ppt/slides/_rels/slide41.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41.xml" /><ns0:Relationship Id="rId3" Type="http://schemas.openxmlformats.org/officeDocument/2006/relationships/image" Target="../media/image24.png" /></ns0:Relationships>
</file>

<file path=ppt/slides/_rels/slide42.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42.xml" /><ns0:Relationship Id="rId3" Type="http://schemas.openxmlformats.org/officeDocument/2006/relationships/image" Target="../media/image25.png" /></ns0:Relationships>
</file>

<file path=ppt/slides/_rels/slide43.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43.xml" /><ns0:Relationship Id="rId3" Type="http://schemas.openxmlformats.org/officeDocument/2006/relationships/image" Target="../media/image25.png" /></ns0:Relationships>
</file>

<file path=ppt/slides/_rels/slide44.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44.xml" /><ns0:Relationship Id="rId3" Type="http://schemas.openxmlformats.org/officeDocument/2006/relationships/hyperlink" Target="https://www.cs.princeton.edu/~wayne/cs423/lectures/reductions-poly-4up.pdf" TargetMode="External" /></ns0:Relationships>
</file>

<file path=ppt/slides/slide1.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914400"/>
            <a:ext cx="8686800" cy="822960"/>
          </a:xfrm>
        </p:spPr>
        <p:txBody>
          <a:bodyPr lIns="0" rIns="0" tIns="0" bIns="0" anchor="t" wrap="square">
            <a:noAutofit/>
          </a:bodyPr>
          <a:lstStyle>
            <a:lvl1pPr>
              <a:defRPr sz="2500" b="1">
                <a:solidFill>
                  <a:srgbClr val="3333B2"/>
                </a:solidFill>
                <a:latin typeface="Times New Roman"/>
              </a:defRPr>
            </a:lvl1pPr>
            <a:lvl2pPr>
              <a:defRPr sz="2500" b="1">
                <a:solidFill>
                  <a:srgbClr val="3333B2"/>
                </a:solidFill>
                <a:latin typeface="Times New Roman"/>
              </a:defRPr>
            </a:lvl2pPr>
            <a:lvl3pPr>
              <a:defRPr sz="2500" b="1">
                <a:solidFill>
                  <a:srgbClr val="3333B2"/>
                </a:solidFill>
                <a:latin typeface="Times New Roman"/>
              </a:defRPr>
            </a:lvl3pPr>
            <a:lvl4pPr>
              <a:defRPr sz="2500" b="1">
                <a:solidFill>
                  <a:srgbClr val="3333B2"/>
                </a:solidFill>
                <a:latin typeface="Times New Roman"/>
              </a:defRPr>
            </a:lvl4pPr>
            <a:lvl5pPr>
              <a:defRPr sz="2500" b="1">
                <a:solidFill>
                  <a:srgbClr val="3333B2"/>
                </a:solidFill>
                <a:latin typeface="Times New Roman"/>
              </a:defRPr>
            </a:lvl5pPr>
            <a:lvl6pPr>
              <a:defRPr sz="2500" b="1">
                <a:solidFill>
                  <a:srgbClr val="3333B2"/>
                </a:solidFill>
                <a:latin typeface="Times New Roman"/>
              </a:defRPr>
            </a:lvl6pPr>
            <a:lvl7pPr>
              <a:defRPr sz="2500" b="1">
                <a:solidFill>
                  <a:srgbClr val="3333B2"/>
                </a:solidFill>
                <a:latin typeface="Times New Roman"/>
              </a:defRPr>
            </a:lvl7pPr>
            <a:lvl8pPr>
              <a:defRPr sz="2500" b="1">
                <a:solidFill>
                  <a:srgbClr val="3333B2"/>
                </a:solidFill>
                <a:latin typeface="Times New Roman"/>
              </a:defRPr>
            </a:lvl8pPr>
            <a:lvl9pPr>
              <a:defRPr sz="2500" b="1">
                <a:solidFill>
                  <a:srgbClr val="3333B2"/>
                </a:solidFill>
                <a:latin typeface="Times New Roman"/>
              </a:defRPr>
            </a:lvl9pPr>
          </a:lstStyle>
          <a:p>
            <a:pPr lvl="0" indent="0" marL="0" algn="ctr">
              <a:spcAft>
                <a:spcPts val="650"/>
              </a:spcAft>
              <a:buNone/>
            </a:pPr>
            <a:r>
              <a:rPr sz="2500" b="1">
                <a:solidFill>
                  <a:srgbClr val="3333B2"/>
                </a:solidFill>
                <a:latin typeface="Times New Roman"/>
              </a:rPr>
              <a:t>NP-Completeness and Reduction Techniques</a:t>
            </a:r>
          </a:p>
        </p:txBody>
      </p:sp>
      <p:sp>
        <p:nvSpPr>
          <p:cNvPr id="3" name="Content Placeholder 2"/>
          <p:cNvSpPr>
            <a:spLocks noGrp="1"/>
          </p:cNvSpPr>
          <p:nvPr/>
        </p:nvSpPr>
        <p:spPr>
          <a:xfrm>
            <a:off x="502920" y="1965960"/>
            <a:ext cx="8138160" cy="3840480"/>
          </a:xfrm>
        </p:spPr>
        <p:txBody>
          <a:bodyPr lIns="0" rIns="0" tIns="0" bIns="0" anchor="t" wrap="square">
            <a:noAutofit/>
          </a:bodyPr>
          <a:lstStyle>
            <a:lvl1pPr>
              <a:defRPr sz="2000">
                <a:latin typeface="Times New Roman"/>
              </a:defRPr>
            </a:lvl1pPr>
            <a:lvl2pPr>
              <a:defRPr sz="2000">
                <a:latin typeface="Times New Roman"/>
              </a:defRPr>
            </a:lvl2pPr>
            <a:lvl3pPr>
              <a:defRPr sz="2000">
                <a:latin typeface="Times New Roman"/>
              </a:defRPr>
            </a:lvl3pPr>
            <a:lvl4pPr>
              <a:defRPr sz="2000">
                <a:latin typeface="Times New Roman"/>
              </a:defRPr>
            </a:lvl4pPr>
            <a:lvl5pPr>
              <a:defRPr sz="2000">
                <a:latin typeface="Times New Roman"/>
              </a:defRPr>
            </a:lvl5pPr>
            <a:lvl6pPr>
              <a:defRPr sz="2000">
                <a:latin typeface="Times New Roman"/>
              </a:defRPr>
            </a:lvl6pPr>
            <a:lvl7pPr>
              <a:defRPr sz="2000">
                <a:latin typeface="Times New Roman"/>
              </a:defRPr>
            </a:lvl7pPr>
            <a:lvl8pPr>
              <a:defRPr sz="2000">
                <a:latin typeface="Times New Roman"/>
              </a:defRPr>
            </a:lvl8pPr>
            <a:lvl9pPr>
              <a:defRPr sz="2000">
                <a:latin typeface="Times New Roman"/>
              </a:defRPr>
            </a:lvl9pPr>
          </a:lstStyle>
          <a:p>
            <a:pPr lvl="0" indent="0" marL="0" algn="ctr">
              <a:spcAft>
                <a:spcPts val="650"/>
              </a:spcAft>
              <a:buNone/>
            </a:pPr>
            <a:r>
              <a:rPr b="1" sz="2000">
                <a:latin typeface="Times New Roman"/>
              </a:rPr>
              <a:t>How Efficient Transformations Prove Computational Hardness</a:t>
            </a:r>
          </a:p>
          <a:p>
            <a:pPr lvl="0" indent="0" marL="0" algn="ctr">
              <a:spcAft>
                <a:spcPts val="650"/>
              </a:spcAft>
              <a:buNone/>
            </a:pPr>
            <a:r>
              <a:rPr sz="2000">
                <a:latin typeface="Times New Roman"/>
              </a:rPr>
              <a:t>Most. Sonia Khatun</a:t>
            </a:r>
          </a:p>
          <a:p>
            <a:pPr lvl="0" indent="0" marL="0" algn="ctr">
              <a:spcAft>
                <a:spcPts val="650"/>
              </a:spcAft>
              <a:buNone/>
            </a:pPr>
            <a:r>
              <a:rPr sz="2000">
                <a:latin typeface="Times New Roman"/>
              </a:rPr>
              <a:t>BSc in Department of Computer Science and Engineering</a:t>
            </a:r>
            <a:br/>
            <a:r>
              <a:rPr sz="2000">
                <a:latin typeface="Times New Roman"/>
              </a:rPr>
              <a:t>Bangladesh University of Engineering and Technology (BUET)</a:t>
            </a:r>
          </a:p>
          <a:p>
            <a:pPr lvl="0" indent="0" marL="0" algn="ctr">
              <a:spcAft>
                <a:spcPts val="650"/>
              </a:spcAft>
              <a:buNone/>
            </a:pPr>
            <a:r>
              <a:rPr b="1" sz="2000">
                <a:latin typeface="Times New Roman"/>
              </a:rPr>
              <a:t>Demo Lecture for the Position of Lecturer</a:t>
            </a:r>
            <a:br/>
            <a:r>
              <a:rPr sz="2000">
                <a:latin typeface="Times New Roman"/>
              </a:rPr>
              <a:t>Department of Computer Science and Engineering</a:t>
            </a:r>
            <a:br/>
            <a:r>
              <a:rPr sz="2000">
                <a:latin typeface="Times New Roman"/>
              </a:rPr>
              <a:t>Green University of Bangladesh</a:t>
            </a:r>
          </a:p>
        </p:txBody>
      </p:sp>
    </p:spTree>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Why Do We Need NP-Completeness?</a:t>
            </a:r>
          </a:p>
        </p:txBody>
      </p:sp>
      <p:pic>
        <p:nvPicPr>
          <p:cNvPr descr="editable_assets/diagram-01-1.png" id="3" name="Picture 1"/>
          <p:cNvPicPr>
            <a:picLocks noGrp="1" noChangeAspect="1"/>
          </p:cNvPicPr>
          <p:nvPr/>
        </p:nvPicPr>
        <p:blipFill>
          <a:blip r:embed="rId3"/>
          <a:srcRect l="2397" t="13814" r="2397" b="13514"/>
          <a:stretch>
            <a:fillRect/>
          </a:stretch>
        </p:blipFill>
        <p:spPr bwMode="auto">
          <a:xfrm>
            <a:off x="411480" y="1323428"/>
            <a:ext cx="8321040" cy="1102185"/>
          </a:xfrm>
          <a:prstGeom prst="rect">
            <a:avLst/>
          </a:prstGeom>
          <a:noFill/>
          <a:ln w="9525">
            <a:noFill/>
            <a:headEnd/>
            <a:tailEnd/>
          </a:ln>
        </p:spPr>
      </p:pic>
    </p:spTree>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Why Do We Need NP-Completeness?</a:t>
            </a:r>
          </a:p>
        </p:txBody>
      </p:sp>
      <p:pic>
        <p:nvPicPr>
          <p:cNvPr descr="editable_assets/diagram-01-1.png" id="3" name="Picture 1"/>
          <p:cNvPicPr>
            <a:picLocks noGrp="1" noChangeAspect="1"/>
          </p:cNvPicPr>
          <p:nvPr/>
        </p:nvPicPr>
        <p:blipFill>
          <a:blip r:embed="rId3"/>
          <a:srcRect l="2397" t="13814" r="2397" b="13514"/>
          <a:stretch>
            <a:fillRect/>
          </a:stretch>
        </p:blipFill>
        <p:spPr bwMode="auto">
          <a:xfrm>
            <a:off x="411480" y="1323428"/>
            <a:ext cx="8321040" cy="1102185"/>
          </a:xfrm>
          <a:prstGeom prst="rect">
            <a:avLst/>
          </a:prstGeom>
          <a:noFill/>
          <a:ln w="9525">
            <a:noFill/>
            <a:headEnd/>
            <a:tailEnd/>
          </a:ln>
        </p:spPr>
      </p:pic>
      <p:sp>
        <p:nvSpPr>
          <p:cNvPr id="4" name="Content Placeholder 2"/>
          <p:cNvSpPr>
            <a:spLocks noGrp="1"/>
          </p:cNvSpPr>
          <p:nvPr/>
        </p:nvSpPr>
        <p:spPr>
          <a:xfrm>
            <a:off x="548640" y="2788920"/>
            <a:ext cx="8046720" cy="1143000"/>
          </a:xfrm>
        </p:spPr>
        <p:txBody>
          <a:bodyPr lIns="0" rIns="0" tIns="0" bIns="0" anchor="t" wrap="square">
            <a:noAutofit/>
          </a:bodyPr>
          <a:lstStyle>
            <a:lvl1pPr>
              <a:defRPr sz="2100">
                <a:latin typeface="Times New Roman"/>
              </a:defRPr>
            </a:lvl1pPr>
            <a:lvl2pPr>
              <a:defRPr sz="2100">
                <a:latin typeface="Times New Roman"/>
              </a:defRPr>
            </a:lvl2pPr>
            <a:lvl3pPr>
              <a:defRPr sz="2100">
                <a:latin typeface="Times New Roman"/>
              </a:defRPr>
            </a:lvl3pPr>
            <a:lvl4pPr>
              <a:defRPr sz="2100">
                <a:latin typeface="Times New Roman"/>
              </a:defRPr>
            </a:lvl4pPr>
            <a:lvl5pPr>
              <a:defRPr sz="2100">
                <a:latin typeface="Times New Roman"/>
              </a:defRPr>
            </a:lvl5pPr>
            <a:lvl6pPr>
              <a:defRPr sz="2100">
                <a:latin typeface="Times New Roman"/>
              </a:defRPr>
            </a:lvl6pPr>
            <a:lvl7pPr>
              <a:defRPr sz="2100">
                <a:latin typeface="Times New Roman"/>
              </a:defRPr>
            </a:lvl7pPr>
            <a:lvl8pPr>
              <a:defRPr sz="2100">
                <a:latin typeface="Times New Roman"/>
              </a:defRPr>
            </a:lvl8pPr>
            <a:lvl9pPr>
              <a:defRPr sz="2100">
                <a:latin typeface="Times New Roman"/>
              </a:defRPr>
            </a:lvl9pPr>
          </a:lstStyle>
          <a:p>
            <a:pPr lvl="0" indent="0" marL="0">
              <a:spcAft>
                <a:spcPts val="650"/>
              </a:spcAft>
              <a:buNone/>
            </a:pPr>
            <a:r>
              <a:rPr b="1" sz="2100">
                <a:latin typeface="Times New Roman"/>
              </a:rPr>
              <a:t>The central proof question</a:t>
            </a:r>
          </a:p>
          <a:p>
            <a:pPr lvl="0" indent="0" marL="0">
              <a:spcAft>
                <a:spcPts val="650"/>
              </a:spcAft>
              <a:buNone/>
            </a:pPr>
            <a:r>
              <a:rPr sz="2100">
                <a:latin typeface="Times New Roman"/>
              </a:rPr>
              <a:t>How can we transfer the known hardness of one problem to a new problem?</a:t>
            </a:r>
          </a:p>
        </p:txBody>
      </p:sp>
    </p:spTree>
  </p:cSld>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Why Do We Need NP-Completeness?</a:t>
            </a:r>
          </a:p>
        </p:txBody>
      </p:sp>
      <p:pic>
        <p:nvPicPr>
          <p:cNvPr descr="editable_assets/diagram-01-1.png" id="3" name="Picture 1"/>
          <p:cNvPicPr>
            <a:picLocks noGrp="1" noChangeAspect="1"/>
          </p:cNvPicPr>
          <p:nvPr/>
        </p:nvPicPr>
        <p:blipFill>
          <a:blip r:embed="rId3"/>
          <a:srcRect l="2397" t="13814" r="2397" b="13514"/>
          <a:stretch>
            <a:fillRect/>
          </a:stretch>
        </p:blipFill>
        <p:spPr bwMode="auto">
          <a:xfrm>
            <a:off x="411480" y="1323428"/>
            <a:ext cx="8321040" cy="1102185"/>
          </a:xfrm>
          <a:prstGeom prst="rect">
            <a:avLst/>
          </a:prstGeom>
          <a:noFill/>
          <a:ln w="9525">
            <a:noFill/>
            <a:headEnd/>
            <a:tailEnd/>
          </a:ln>
        </p:spPr>
      </p:pic>
      <p:sp>
        <p:nvSpPr>
          <p:cNvPr id="4" name="Content Placeholder 2"/>
          <p:cNvSpPr>
            <a:spLocks noGrp="1"/>
          </p:cNvSpPr>
          <p:nvPr/>
        </p:nvSpPr>
        <p:spPr>
          <a:xfrm>
            <a:off x="548640" y="2788920"/>
            <a:ext cx="8046720" cy="1143000"/>
          </a:xfrm>
        </p:spPr>
        <p:txBody>
          <a:bodyPr lIns="0" rIns="0" tIns="0" bIns="0" anchor="t" wrap="square">
            <a:noAutofit/>
          </a:bodyPr>
          <a:lstStyle>
            <a:lvl1pPr>
              <a:defRPr sz="2100">
                <a:latin typeface="Times New Roman"/>
              </a:defRPr>
            </a:lvl1pPr>
            <a:lvl2pPr>
              <a:defRPr sz="2100">
                <a:latin typeface="Times New Roman"/>
              </a:defRPr>
            </a:lvl2pPr>
            <a:lvl3pPr>
              <a:defRPr sz="2100">
                <a:latin typeface="Times New Roman"/>
              </a:defRPr>
            </a:lvl3pPr>
            <a:lvl4pPr>
              <a:defRPr sz="2100">
                <a:latin typeface="Times New Roman"/>
              </a:defRPr>
            </a:lvl4pPr>
            <a:lvl5pPr>
              <a:defRPr sz="2100">
                <a:latin typeface="Times New Roman"/>
              </a:defRPr>
            </a:lvl5pPr>
            <a:lvl6pPr>
              <a:defRPr sz="2100">
                <a:latin typeface="Times New Roman"/>
              </a:defRPr>
            </a:lvl6pPr>
            <a:lvl7pPr>
              <a:defRPr sz="2100">
                <a:latin typeface="Times New Roman"/>
              </a:defRPr>
            </a:lvl7pPr>
            <a:lvl8pPr>
              <a:defRPr sz="2100">
                <a:latin typeface="Times New Roman"/>
              </a:defRPr>
            </a:lvl8pPr>
            <a:lvl9pPr>
              <a:defRPr sz="2100">
                <a:latin typeface="Times New Roman"/>
              </a:defRPr>
            </a:lvl9pPr>
          </a:lstStyle>
          <a:p>
            <a:pPr lvl="0" indent="0" marL="0">
              <a:spcAft>
                <a:spcPts val="650"/>
              </a:spcAft>
              <a:buNone/>
            </a:pPr>
            <a:r>
              <a:rPr b="1" sz="2100">
                <a:latin typeface="Times New Roman"/>
              </a:rPr>
              <a:t>The central proof question</a:t>
            </a:r>
          </a:p>
          <a:p>
            <a:pPr lvl="0" indent="0" marL="0">
              <a:spcAft>
                <a:spcPts val="650"/>
              </a:spcAft>
              <a:buNone/>
            </a:pPr>
            <a:r>
              <a:rPr sz="2100">
                <a:latin typeface="Times New Roman"/>
              </a:rPr>
              <a:t>How can we transfer the known hardness of one problem to a new problem?</a:t>
            </a:r>
          </a:p>
        </p:txBody>
      </p:sp>
      <p:pic>
        <p:nvPicPr>
          <p:cNvPr descr="editable_assets/diagram-02-1.png" id="5" name="Picture 1"/>
          <p:cNvPicPr>
            <a:picLocks noGrp="1" noChangeAspect="1"/>
          </p:cNvPicPr>
          <p:nvPr/>
        </p:nvPicPr>
        <p:blipFill>
          <a:blip r:embed="rId4"/>
          <a:srcRect l="3660" t="2620" r="3660" b="19651"/>
          <a:stretch>
            <a:fillRect/>
          </a:stretch>
        </p:blipFill>
        <p:spPr bwMode="auto">
          <a:xfrm>
            <a:off x="1430034" y="4160520"/>
            <a:ext cx="6283931" cy="960120"/>
          </a:xfrm>
          <a:prstGeom prst="rect">
            <a:avLst/>
          </a:prstGeom>
          <a:noFill/>
          <a:ln w="9525">
            <a:noFill/>
            <a:headEnd/>
            <a:tailEnd/>
          </a:ln>
        </p:spPr>
      </p:pic>
      <p:sp>
        <p:nvSpPr>
          <p:cNvPr id="6" name="Content Placeholder 2"/>
          <p:cNvSpPr>
            <a:spLocks noGrp="1"/>
          </p:cNvSpPr>
          <p:nvPr/>
        </p:nvSpPr>
        <p:spPr>
          <a:xfrm>
            <a:off x="548640" y="5486400"/>
            <a:ext cx="8046720" cy="502920"/>
          </a:xfrm>
        </p:spPr>
        <p:txBody>
          <a:bodyPr lIns="0" rIns="0" tIns="0" bIns="0" anchor="t" wrap="square">
            <a:noAutofit/>
          </a:bodyPr>
          <a:lstStyle>
            <a:lvl1pPr>
              <a:defRPr sz="1500">
                <a:latin typeface="Times New Roman"/>
              </a:defRPr>
            </a:lvl1pPr>
            <a:lvl2pPr>
              <a:defRPr sz="1500">
                <a:latin typeface="Times New Roman"/>
              </a:defRPr>
            </a:lvl2pPr>
            <a:lvl3pPr>
              <a:defRPr sz="1500">
                <a:latin typeface="Times New Roman"/>
              </a:defRPr>
            </a:lvl3pPr>
            <a:lvl4pPr>
              <a:defRPr sz="1500">
                <a:latin typeface="Times New Roman"/>
              </a:defRPr>
            </a:lvl4pPr>
            <a:lvl5pPr>
              <a:defRPr sz="1500">
                <a:latin typeface="Times New Roman"/>
              </a:defRPr>
            </a:lvl5pPr>
            <a:lvl6pPr>
              <a:defRPr sz="1500">
                <a:latin typeface="Times New Roman"/>
              </a:defRPr>
            </a:lvl6pPr>
            <a:lvl7pPr>
              <a:defRPr sz="1500">
                <a:latin typeface="Times New Roman"/>
              </a:defRPr>
            </a:lvl7pPr>
            <a:lvl8pPr>
              <a:defRPr sz="1500">
                <a:latin typeface="Times New Roman"/>
              </a:defRPr>
            </a:lvl8pPr>
            <a:lvl9pPr>
              <a:defRPr sz="1500">
                <a:latin typeface="Times New Roman"/>
              </a:defRPr>
            </a:lvl9pPr>
          </a:lstStyle>
          <a:p>
            <a:pPr lvl="0" indent="0" marL="0">
              <a:spcAft>
                <a:spcPts val="400"/>
              </a:spcAft>
              <a:buNone/>
            </a:pPr>
            <a:r>
              <a:rPr sz="1500">
                <a:latin typeface="Times New Roman"/>
              </a:rPr>
              <a:t>The dotted arrows show the learning sequence, not set containment.</a:t>
            </a:r>
          </a:p>
        </p:txBody>
      </p:sp>
    </p:spTree>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Start with P and NP</a:t>
            </a:r>
          </a:p>
        </p:txBody>
      </p:sp>
      <p:sp>
        <p:nvSpPr>
          <p:cNvPr id="3" name="Content Placeholder 2"/>
          <p:cNvSpPr>
            <a:spLocks noGrp="1"/>
          </p:cNvSpPr>
          <p:nvPr/>
        </p:nvSpPr>
        <p:spPr>
          <a:xfrm>
            <a:off x="365760" y="960120"/>
            <a:ext cx="4069080" cy="11887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P: solve efficiently</a:t>
            </a:r>
          </a:p>
          <a:p>
            <a:pPr lvl="0" indent="0" marL="0">
              <a:spcAft>
                <a:spcPts val="650"/>
              </a:spcAft>
              <a:buNone/>
            </a:pPr>
            <a:r>
              <a:rPr sz="1800">
                <a:latin typeface="Times New Roman"/>
              </a:rPr>
              <a:t>Decision problems solvable by a deterministic algorithm in polynomial time.</a:t>
            </a:r>
          </a:p>
        </p:txBody>
      </p:sp>
      <p:pic>
        <p:nvPicPr>
          <p:cNvPr descr="editable_assets/diagram-03-1.png" id="4" name="Picture 1"/>
          <p:cNvPicPr>
            <a:picLocks noGrp="1" noChangeAspect="1"/>
          </p:cNvPicPr>
          <p:nvPr/>
        </p:nvPicPr>
        <p:blipFill>
          <a:blip r:embed="rId3"/>
          <a:srcRect l="9434" t="8614" r="9434" b="8614"/>
          <a:stretch>
            <a:fillRect/>
          </a:stretch>
        </p:blipFill>
        <p:spPr bwMode="auto">
          <a:xfrm>
            <a:off x="1651195" y="2286000"/>
            <a:ext cx="1361049" cy="1554480"/>
          </a:xfrm>
          <a:prstGeom prst="rect">
            <a:avLst/>
          </a:prstGeom>
          <a:noFill/>
          <a:ln w="9525">
            <a:noFill/>
            <a:headEnd/>
            <a:tailEnd/>
          </a:ln>
        </p:spPr>
      </p:pic>
      <p:sp>
        <p:nvSpPr>
          <p:cNvPr id="5" name="Content Placeholder 2"/>
          <p:cNvSpPr>
            <a:spLocks noGrp="1"/>
          </p:cNvSpPr>
          <p:nvPr/>
        </p:nvSpPr>
        <p:spPr>
          <a:xfrm>
            <a:off x="365760" y="4160520"/>
            <a:ext cx="4069080" cy="2057400"/>
          </a:xfrm>
        </p:spPr>
        <p:txBody>
          <a:bodyPr lIns="0" rIns="0" tIns="0" bIns="0" anchor="t" wrap="square">
            <a:noAutofit/>
          </a:bodyPr>
          <a:lstStyle>
            <a:lvl1pPr>
              <a:defRPr sz="1700">
                <a:latin typeface="Times New Roman"/>
              </a:defRPr>
            </a:lvl1pPr>
            <a:lvl2pPr>
              <a:defRPr sz="1700">
                <a:latin typeface="Times New Roman"/>
              </a:defRPr>
            </a:lvl2pPr>
            <a:lvl3pPr>
              <a:defRPr sz="1700">
                <a:latin typeface="Times New Roman"/>
              </a:defRPr>
            </a:lvl3pPr>
            <a:lvl4pPr>
              <a:defRPr sz="1700">
                <a:latin typeface="Times New Roman"/>
              </a:defRPr>
            </a:lvl4pPr>
            <a:lvl5pPr>
              <a:defRPr sz="1700">
                <a:latin typeface="Times New Roman"/>
              </a:defRPr>
            </a:lvl5pPr>
            <a:lvl6pPr>
              <a:defRPr sz="1700">
                <a:latin typeface="Times New Roman"/>
              </a:defRPr>
            </a:lvl6pPr>
            <a:lvl7pPr>
              <a:defRPr sz="1700">
                <a:latin typeface="Times New Roman"/>
              </a:defRPr>
            </a:lvl7pPr>
            <a:lvl8pPr>
              <a:defRPr sz="1700">
                <a:latin typeface="Times New Roman"/>
              </a:defRPr>
            </a:lvl8pPr>
            <a:lvl9pPr>
              <a:defRPr sz="1700">
                <a:latin typeface="Times New Roman"/>
              </a:defRPr>
            </a:lvl9pPr>
          </a:lstStyle>
          <a:p>
            <a:pPr lvl="0" indent="0" marL="0">
              <a:spcAft>
                <a:spcPts val="400"/>
              </a:spcAft>
              <a:buNone/>
            </a:pPr>
            <a:r>
              <a:rPr sz="1700">
                <a:latin typeface="Times New Roman"/>
              </a:rPr>
              <a:t>Example: reachability can be solved by BFS or DFS.</a:t>
            </a:r>
          </a:p>
        </p:txBody>
      </p:sp>
    </p:spTree>
  </p:cSld>
</p:sld>
</file>

<file path=ppt/slides/slide6.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Start with P and NP</a:t>
            </a:r>
          </a:p>
        </p:txBody>
      </p:sp>
      <p:sp>
        <p:nvSpPr>
          <p:cNvPr id="3" name="Content Placeholder 2"/>
          <p:cNvSpPr>
            <a:spLocks noGrp="1"/>
          </p:cNvSpPr>
          <p:nvPr/>
        </p:nvSpPr>
        <p:spPr>
          <a:xfrm>
            <a:off x="365760" y="960120"/>
            <a:ext cx="4069080" cy="11887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P: solve efficiently</a:t>
            </a:r>
          </a:p>
          <a:p>
            <a:pPr lvl="0" indent="0" marL="0">
              <a:spcAft>
                <a:spcPts val="650"/>
              </a:spcAft>
              <a:buNone/>
            </a:pPr>
            <a:r>
              <a:rPr sz="1800">
                <a:latin typeface="Times New Roman"/>
              </a:rPr>
              <a:t>Decision problems solvable by a deterministic algorithm in polynomial time.</a:t>
            </a:r>
          </a:p>
        </p:txBody>
      </p:sp>
      <p:pic>
        <p:nvPicPr>
          <p:cNvPr descr="editable_assets/diagram-03-1.png" id="4" name="Picture 1"/>
          <p:cNvPicPr>
            <a:picLocks noGrp="1" noChangeAspect="1"/>
          </p:cNvPicPr>
          <p:nvPr/>
        </p:nvPicPr>
        <p:blipFill>
          <a:blip r:embed="rId3"/>
          <a:srcRect l="9434" t="8614" r="9434" b="8614"/>
          <a:stretch>
            <a:fillRect/>
          </a:stretch>
        </p:blipFill>
        <p:spPr bwMode="auto">
          <a:xfrm>
            <a:off x="1651195" y="2286000"/>
            <a:ext cx="1361049" cy="1554480"/>
          </a:xfrm>
          <a:prstGeom prst="rect">
            <a:avLst/>
          </a:prstGeom>
          <a:noFill/>
          <a:ln w="9525">
            <a:noFill/>
            <a:headEnd/>
            <a:tailEnd/>
          </a:ln>
        </p:spPr>
      </p:pic>
      <p:sp>
        <p:nvSpPr>
          <p:cNvPr id="5" name="Content Placeholder 2"/>
          <p:cNvSpPr>
            <a:spLocks noGrp="1"/>
          </p:cNvSpPr>
          <p:nvPr/>
        </p:nvSpPr>
        <p:spPr>
          <a:xfrm>
            <a:off x="365760" y="4160520"/>
            <a:ext cx="4069080" cy="2057400"/>
          </a:xfrm>
        </p:spPr>
        <p:txBody>
          <a:bodyPr lIns="0" rIns="0" tIns="0" bIns="0" anchor="t" wrap="square">
            <a:noAutofit/>
          </a:bodyPr>
          <a:lstStyle>
            <a:lvl1pPr>
              <a:defRPr sz="1700">
                <a:latin typeface="Times New Roman"/>
              </a:defRPr>
            </a:lvl1pPr>
            <a:lvl2pPr>
              <a:defRPr sz="1700">
                <a:latin typeface="Times New Roman"/>
              </a:defRPr>
            </a:lvl2pPr>
            <a:lvl3pPr>
              <a:defRPr sz="1700">
                <a:latin typeface="Times New Roman"/>
              </a:defRPr>
            </a:lvl3pPr>
            <a:lvl4pPr>
              <a:defRPr sz="1700">
                <a:latin typeface="Times New Roman"/>
              </a:defRPr>
            </a:lvl4pPr>
            <a:lvl5pPr>
              <a:defRPr sz="1700">
                <a:latin typeface="Times New Roman"/>
              </a:defRPr>
            </a:lvl5pPr>
            <a:lvl6pPr>
              <a:defRPr sz="1700">
                <a:latin typeface="Times New Roman"/>
              </a:defRPr>
            </a:lvl6pPr>
            <a:lvl7pPr>
              <a:defRPr sz="1700">
                <a:latin typeface="Times New Roman"/>
              </a:defRPr>
            </a:lvl7pPr>
            <a:lvl8pPr>
              <a:defRPr sz="1700">
                <a:latin typeface="Times New Roman"/>
              </a:defRPr>
            </a:lvl8pPr>
            <a:lvl9pPr>
              <a:defRPr sz="1700">
                <a:latin typeface="Times New Roman"/>
              </a:defRPr>
            </a:lvl9pPr>
          </a:lstStyle>
          <a:p>
            <a:pPr lvl="0" indent="0" marL="0">
              <a:spcAft>
                <a:spcPts val="400"/>
              </a:spcAft>
              <a:buNone/>
            </a:pPr>
            <a:r>
              <a:rPr sz="1700">
                <a:latin typeface="Times New Roman"/>
              </a:rPr>
              <a:t>Example: reachability can be solved by BFS or DFS.</a:t>
            </a:r>
          </a:p>
        </p:txBody>
      </p:sp>
      <mc:AlternateContent>
        <mc:Choice Requires="a14">
          <p:sp>
            <p:nvSpPr>
              <p:cNvPr id="6" name="Content Placeholder 2"/>
              <p:cNvSpPr>
                <a:spLocks noGrp="1"/>
              </p:cNvSpPr>
              <p:nvPr/>
            </p:nvSpPr>
            <p:spPr>
              <a:xfrm>
                <a:off x="4709160" y="960120"/>
                <a:ext cx="4069080" cy="178308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NP: verify efficiently</a:t>
                </a:r>
              </a:p>
              <a:p>
                <a:pPr lvl="0" indent="0" marL="0">
                  <a:spcAft>
                    <a:spcPts val="650"/>
                  </a:spcAft>
                  <a:buNone/>
                </a:pPr>
                <a:r>
                  <a:rPr sz="1800">
                    <a:latin typeface="Times New Roman"/>
                  </a:rPr>
                  <a:t>There are a polynomial-time verifier </a:t>
                </a:r>
                <a14:m>
                  <m:oMath>
                    <m:r>
                      <m:t>V</m:t>
                    </m:r>
                  </m:oMath>
                </a14:m>
                <a:r>
                  <a:rPr sz="1800">
                    <a:latin typeface="Times New Roman"/>
                  </a:rPr>
                  <a:t> and polynomial </a:t>
                </a:r>
                <a14:m>
                  <m:oMath>
                    <m:r>
                      <m:t>p</m:t>
                    </m:r>
                  </m:oMath>
                </a14:m>
                <a:r>
                  <a:rPr sz="1800">
                    <a:latin typeface="Times New Roman"/>
                  </a:rPr>
                  <a:t> such that</a:t>
                </a:r>
              </a:p>
              <a:p>
                <a:pPr lvl="0" indent="0" marL="0">
                  <a:spcAft>
                    <a:spcPts val="650"/>
                  </a:spcAft>
                  <a:buNone/>
                </a:pPr>
                <a14:m>
                  <m:oMathPara>
                    <m:oMathParaPr>
                      <m:jc m:val="center"/>
                    </m:oMathParaPr>
                    <m:oMath>
                      <m:r>
                        <m:t>x</m:t>
                      </m:r>
                      <m:r>
                        <m:rPr>
                          <m:sty m:val="p"/>
                        </m:rPr>
                        <m:t>∈</m:t>
                      </m:r>
                      <m:r>
                        <m:t>L</m:t>
                      </m:r>
                      <m:r>
                        <m:rPr>
                          <m:sty m:val="p"/>
                        </m:rPr>
                        <m:t>⇔</m:t>
                      </m:r>
                      <m:r>
                        <m:rPr>
                          <m:sty m:val="p"/>
                        </m:rPr>
                        <m:t>∃</m:t>
                      </m:r>
                      <m:r>
                        <m:t>c</m:t>
                      </m:r>
                      <m:r>
                        <m:rPr>
                          <m:sty m:val="p"/>
                        </m:rPr>
                        <m:t>:</m:t>
                      </m:r>
                      <m:r>
                        <m:t> </m:t>
                      </m:r>
                      <m:m>
                        <m:mPr>
                          <m:baseJc m:val="center"/>
                          <m:plcHide m:val="on"/>
                          <m:mcs>
                            <m:mc>
                              <m:mcPr>
                                <m:mcJc m:val="left"/>
                                <m:count m:val="1"/>
                              </m:mcPr>
                            </m:mc>
                          </m:mcs>
                        </m:mPr>
                        <m:mr>
                          <m:e>
                            <m:r>
                              <m:rPr>
                                <m:sty m:val="p"/>
                              </m:rPr>
                              <m:t>|</m:t>
                            </m:r>
                            <m:r>
                              <m:t>c</m:t>
                            </m:r>
                            <m:r>
                              <m:rPr>
                                <m:sty m:val="p"/>
                              </m:rPr>
                              <m:t>|</m:t>
                            </m:r>
                            <m:r>
                              <m:rPr>
                                <m:sty m:val="p"/>
                              </m:rPr>
                              <m:t>≤</m:t>
                            </m:r>
                            <m:r>
                              <m:t>p</m:t>
                            </m:r>
                            <m:r>
                              <m:rPr>
                                <m:sty m:val="p"/>
                              </m:rPr>
                              <m:t>(</m:t>
                            </m:r>
                            <m:r>
                              <m:rPr>
                                <m:sty m:val="p"/>
                              </m:rPr>
                              <m:t>|</m:t>
                            </m:r>
                            <m:r>
                              <m:t>x</m:t>
                            </m:r>
                            <m:r>
                              <m:rPr>
                                <m:sty m:val="p"/>
                              </m:rPr>
                              <m:t>|</m:t>
                            </m:r>
                            <m:r>
                              <m:rPr>
                                <m:sty m:val="p"/>
                              </m:rPr>
                              <m:t>)</m:t>
                            </m:r>
                            <m:r>
                              <m:rPr>
                                <m:sty m:val="p"/>
                              </m:rPr>
                              <m:t>,</m:t>
                            </m:r>
                          </m:e>
                        </m:mr>
                        <m:mr>
                          <m:e>
                            <m:r>
                              <m:t>V</m:t>
                            </m:r>
                            <m:r>
                              <m:rPr>
                                <m:sty m:val="p"/>
                              </m:rPr>
                              <m:t>(</m:t>
                            </m:r>
                            <m:r>
                              <m:t>x</m:t>
                            </m:r>
                            <m:r>
                              <m:rPr>
                                <m:sty m:val="p"/>
                              </m:rPr>
                              <m:t>,</m:t>
                            </m:r>
                            <m:r>
                              <m:t>c</m:t>
                            </m:r>
                            <m:r>
                              <m:rPr>
                                <m:sty m:val="p"/>
                              </m:rPr>
                              <m:t>)</m:t>
                            </m:r>
                            <m:r>
                              <m:rPr>
                                <m:sty m:val="p"/>
                              </m:rPr>
                              <m:t>=</m:t>
                            </m:r>
                            <m:r>
                              <m:t>1</m:t>
                            </m:r>
                            <m:r>
                              <m:rPr>
                                <m:sty m:val="p"/>
                              </m:rPr>
                              <m:t>.</m:t>
                            </m:r>
                          </m:e>
                        </m:mr>
                      </m:m>
                    </m:oMath>
                  </m:oMathPara>
                </a14:m>
              </a:p>
            </p:txBody>
          </p:sp>
        </mc:Choice>
      </mc:AlternateContent>
      <p:pic>
        <p:nvPicPr>
          <p:cNvPr descr="editable_assets/diagram-04-1.png" id="7" name="Picture 1"/>
          <p:cNvPicPr>
            <a:picLocks noGrp="1" noChangeAspect="1"/>
          </p:cNvPicPr>
          <p:nvPr/>
        </p:nvPicPr>
        <p:blipFill>
          <a:blip r:embed="rId4"/>
          <a:srcRect l="8380" t="8427" r="8380" b="8614"/>
          <a:stretch>
            <a:fillRect/>
          </a:stretch>
        </p:blipFill>
        <p:spPr bwMode="auto">
          <a:xfrm>
            <a:off x="5982508" y="2834640"/>
            <a:ext cx="1522383" cy="1508760"/>
          </a:xfrm>
          <a:prstGeom prst="rect">
            <a:avLst/>
          </a:prstGeom>
          <a:noFill/>
          <a:ln w="9525">
            <a:noFill/>
            <a:headEnd/>
            <a:tailEnd/>
          </a:ln>
        </p:spPr>
      </p:pic>
      <mc:AlternateContent>
        <mc:Choice Requires="a14">
          <p:sp>
            <p:nvSpPr>
              <p:cNvPr id="8" name="Content Placeholder 2"/>
              <p:cNvSpPr>
                <a:spLocks noGrp="1"/>
              </p:cNvSpPr>
              <p:nvPr/>
            </p:nvSpPr>
            <p:spPr>
              <a:xfrm>
                <a:off x="4709160" y="4526280"/>
                <a:ext cx="4069080" cy="1874520"/>
              </a:xfrm>
            </p:spPr>
            <p: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spcAft>
                    <a:spcPts val="400"/>
                  </a:spcAft>
                  <a:buNone/>
                </a:pPr>
                <a:r>
                  <a:rPr sz="1600">
                    <a:latin typeface="Times New Roman"/>
                  </a:rPr>
                  <a:t>For 3-COLOR, </a:t>
                </a:r>
                <a14:m>
                  <m:oMath>
                    <m:r>
                      <m:t>c</m:t>
                    </m:r>
                  </m:oMath>
                </a14:m>
                <a:r>
                  <a:rPr sz="1600">
                    <a:latin typeface="Times New Roman"/>
                  </a:rPr>
                  <a:t> assigns one of three colors to every vertex; check every edge.</a:t>
                </a:r>
              </a:p>
            </p:txBody>
          </p:sp>
        </mc:Choice>
      </mc:AlternateContent>
    </p:spTree>
  </p:cSld>
</p:sld>
</file>

<file path=ppt/slides/slide7.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Start with P and NP</a:t>
            </a:r>
          </a:p>
        </p:txBody>
      </p:sp>
      <p:sp>
        <p:nvSpPr>
          <p:cNvPr id="3" name="Content Placeholder 2"/>
          <p:cNvSpPr>
            <a:spLocks noGrp="1"/>
          </p:cNvSpPr>
          <p:nvPr/>
        </p:nvSpPr>
        <p:spPr>
          <a:xfrm>
            <a:off x="365760" y="960120"/>
            <a:ext cx="4069080" cy="11887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P: solve efficiently</a:t>
            </a:r>
          </a:p>
          <a:p>
            <a:pPr lvl="0" indent="0" marL="0">
              <a:spcAft>
                <a:spcPts val="650"/>
              </a:spcAft>
              <a:buNone/>
            </a:pPr>
            <a:r>
              <a:rPr sz="1800">
                <a:latin typeface="Times New Roman"/>
              </a:rPr>
              <a:t>Decision problems solvable by a deterministic algorithm in polynomial time.</a:t>
            </a:r>
          </a:p>
        </p:txBody>
      </p:sp>
      <p:pic>
        <p:nvPicPr>
          <p:cNvPr descr="editable_assets/diagram-03-1.png" id="4" name="Picture 1"/>
          <p:cNvPicPr>
            <a:picLocks noGrp="1" noChangeAspect="1"/>
          </p:cNvPicPr>
          <p:nvPr/>
        </p:nvPicPr>
        <p:blipFill>
          <a:blip r:embed="rId3"/>
          <a:srcRect l="9434" t="8614" r="9434" b="8614"/>
          <a:stretch>
            <a:fillRect/>
          </a:stretch>
        </p:blipFill>
        <p:spPr bwMode="auto">
          <a:xfrm>
            <a:off x="1651195" y="2286000"/>
            <a:ext cx="1361049" cy="1554480"/>
          </a:xfrm>
          <a:prstGeom prst="rect">
            <a:avLst/>
          </a:prstGeom>
          <a:noFill/>
          <a:ln w="9525">
            <a:noFill/>
            <a:headEnd/>
            <a:tailEnd/>
          </a:ln>
        </p:spPr>
      </p:pic>
      <mc:AlternateContent>
        <mc:Choice Requires="a14">
          <p:sp>
            <p:nvSpPr>
              <p:cNvPr id="5" name="Content Placeholder 2"/>
              <p:cNvSpPr>
                <a:spLocks noGrp="1"/>
              </p:cNvSpPr>
              <p:nvPr/>
            </p:nvSpPr>
            <p:spPr>
              <a:xfrm>
                <a:off x="365760" y="4160520"/>
                <a:ext cx="4069080" cy="2057400"/>
              </a:xfrm>
            </p:spPr>
            <p:txBody>
              <a:bodyPr lIns="0" rIns="0" tIns="0" bIns="0" anchor="t" wrap="square">
                <a:noAutofit/>
              </a:bodyPr>
              <a:lstStyle>
                <a:lvl1pPr>
                  <a:defRPr sz="1700">
                    <a:latin typeface="Times New Roman"/>
                  </a:defRPr>
                </a:lvl1pPr>
                <a:lvl2pPr>
                  <a:defRPr sz="1700">
                    <a:latin typeface="Times New Roman"/>
                  </a:defRPr>
                </a:lvl2pPr>
                <a:lvl3pPr>
                  <a:defRPr sz="1700">
                    <a:latin typeface="Times New Roman"/>
                  </a:defRPr>
                </a:lvl3pPr>
                <a:lvl4pPr>
                  <a:defRPr sz="1700">
                    <a:latin typeface="Times New Roman"/>
                  </a:defRPr>
                </a:lvl4pPr>
                <a:lvl5pPr>
                  <a:defRPr sz="1700">
                    <a:latin typeface="Times New Roman"/>
                  </a:defRPr>
                </a:lvl5pPr>
                <a:lvl6pPr>
                  <a:defRPr sz="1700">
                    <a:latin typeface="Times New Roman"/>
                  </a:defRPr>
                </a:lvl6pPr>
                <a:lvl7pPr>
                  <a:defRPr sz="1700">
                    <a:latin typeface="Times New Roman"/>
                  </a:defRPr>
                </a:lvl7pPr>
                <a:lvl8pPr>
                  <a:defRPr sz="1700">
                    <a:latin typeface="Times New Roman"/>
                  </a:defRPr>
                </a:lvl8pPr>
                <a:lvl9pPr>
                  <a:defRPr sz="1700">
                    <a:latin typeface="Times New Roman"/>
                  </a:defRPr>
                </a:lvl9pPr>
              </a:lstStyle>
              <a:p>
                <a:pPr lvl="0" indent="0" marL="0">
                  <a:spcAft>
                    <a:spcPts val="400"/>
                  </a:spcAft>
                  <a:buNone/>
                </a:pPr>
                <a:r>
                  <a:rPr sz="1700">
                    <a:latin typeface="Times New Roman"/>
                  </a:rPr>
                  <a:t>Example: reachability can be solved by BFS or DFS.</a:t>
                </a:r>
              </a:p>
              <a:p>
                <a:pPr lvl="0" indent="0" marL="0">
                  <a:spcAft>
                    <a:spcPts val="400"/>
                  </a:spcAft>
                  <a:buNone/>
                </a:pPr>
                <a14:m>
                  <m:oMath>
                    <m:r>
                      <m:t>P</m:t>
                    </m:r>
                    <m:r>
                      <m:rPr>
                        <m:sty m:val="p"/>
                      </m:rPr>
                      <m:t>⊆</m:t>
                    </m:r>
                    <m:r>
                      <m:t>N</m:t>
                    </m:r>
                    <m:r>
                      <m:t>P</m:t>
                    </m:r>
                  </m:oMath>
                </a14:m>
                <a:r>
                  <a:rPr sz="1700">
                    <a:latin typeface="Times New Roman"/>
                  </a:rPr>
                  <a:t>: a polynomial-time solver can serve as a verifier and ignore the certificate.</a:t>
                </a:r>
              </a:p>
            </p:txBody>
          </p:sp>
        </mc:Choice>
      </mc:AlternateContent>
      <mc:AlternateContent>
        <mc:Choice Requires="a14">
          <p:sp>
            <p:nvSpPr>
              <p:cNvPr id="6" name="Content Placeholder 2"/>
              <p:cNvSpPr>
                <a:spLocks noGrp="1"/>
              </p:cNvSpPr>
              <p:nvPr/>
            </p:nvSpPr>
            <p:spPr>
              <a:xfrm>
                <a:off x="4709160" y="960120"/>
                <a:ext cx="4069080" cy="178308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NP: verify efficiently</a:t>
                </a:r>
              </a:p>
              <a:p>
                <a:pPr lvl="0" indent="0" marL="0">
                  <a:spcAft>
                    <a:spcPts val="650"/>
                  </a:spcAft>
                  <a:buNone/>
                </a:pPr>
                <a:r>
                  <a:rPr sz="1800">
                    <a:latin typeface="Times New Roman"/>
                  </a:rPr>
                  <a:t>There are a polynomial-time verifier </a:t>
                </a:r>
                <a14:m>
                  <m:oMath>
                    <m:r>
                      <m:t>V</m:t>
                    </m:r>
                  </m:oMath>
                </a14:m>
                <a:r>
                  <a:rPr sz="1800">
                    <a:latin typeface="Times New Roman"/>
                  </a:rPr>
                  <a:t> and polynomial </a:t>
                </a:r>
                <a14:m>
                  <m:oMath>
                    <m:r>
                      <m:t>p</m:t>
                    </m:r>
                  </m:oMath>
                </a14:m>
                <a:r>
                  <a:rPr sz="1800">
                    <a:latin typeface="Times New Roman"/>
                  </a:rPr>
                  <a:t> such that</a:t>
                </a:r>
              </a:p>
              <a:p>
                <a:pPr lvl="0" indent="0" marL="0">
                  <a:spcAft>
                    <a:spcPts val="650"/>
                  </a:spcAft>
                  <a:buNone/>
                </a:pPr>
                <a14:m>
                  <m:oMathPara>
                    <m:oMathParaPr>
                      <m:jc m:val="center"/>
                    </m:oMathParaPr>
                    <m:oMath>
                      <m:r>
                        <m:t>x</m:t>
                      </m:r>
                      <m:r>
                        <m:rPr>
                          <m:sty m:val="p"/>
                        </m:rPr>
                        <m:t>∈</m:t>
                      </m:r>
                      <m:r>
                        <m:t>L</m:t>
                      </m:r>
                      <m:r>
                        <m:rPr>
                          <m:sty m:val="p"/>
                        </m:rPr>
                        <m:t>⇔</m:t>
                      </m:r>
                      <m:r>
                        <m:rPr>
                          <m:sty m:val="p"/>
                        </m:rPr>
                        <m:t>∃</m:t>
                      </m:r>
                      <m:r>
                        <m:t>c</m:t>
                      </m:r>
                      <m:r>
                        <m:rPr>
                          <m:sty m:val="p"/>
                        </m:rPr>
                        <m:t>:</m:t>
                      </m:r>
                      <m:r>
                        <m:t> </m:t>
                      </m:r>
                      <m:m>
                        <m:mPr>
                          <m:baseJc m:val="center"/>
                          <m:plcHide m:val="on"/>
                          <m:mcs>
                            <m:mc>
                              <m:mcPr>
                                <m:mcJc m:val="left"/>
                                <m:count m:val="1"/>
                              </m:mcPr>
                            </m:mc>
                          </m:mcs>
                        </m:mPr>
                        <m:mr>
                          <m:e>
                            <m:r>
                              <m:rPr>
                                <m:sty m:val="p"/>
                              </m:rPr>
                              <m:t>|</m:t>
                            </m:r>
                            <m:r>
                              <m:t>c</m:t>
                            </m:r>
                            <m:r>
                              <m:rPr>
                                <m:sty m:val="p"/>
                              </m:rPr>
                              <m:t>|</m:t>
                            </m:r>
                            <m:r>
                              <m:rPr>
                                <m:sty m:val="p"/>
                              </m:rPr>
                              <m:t>≤</m:t>
                            </m:r>
                            <m:r>
                              <m:t>p</m:t>
                            </m:r>
                            <m:r>
                              <m:rPr>
                                <m:sty m:val="p"/>
                              </m:rPr>
                              <m:t>(</m:t>
                            </m:r>
                            <m:r>
                              <m:rPr>
                                <m:sty m:val="p"/>
                              </m:rPr>
                              <m:t>|</m:t>
                            </m:r>
                            <m:r>
                              <m:t>x</m:t>
                            </m:r>
                            <m:r>
                              <m:rPr>
                                <m:sty m:val="p"/>
                              </m:rPr>
                              <m:t>|</m:t>
                            </m:r>
                            <m:r>
                              <m:rPr>
                                <m:sty m:val="p"/>
                              </m:rPr>
                              <m:t>)</m:t>
                            </m:r>
                            <m:r>
                              <m:rPr>
                                <m:sty m:val="p"/>
                              </m:rPr>
                              <m:t>,</m:t>
                            </m:r>
                          </m:e>
                        </m:mr>
                        <m:mr>
                          <m:e>
                            <m:r>
                              <m:t>V</m:t>
                            </m:r>
                            <m:r>
                              <m:rPr>
                                <m:sty m:val="p"/>
                              </m:rPr>
                              <m:t>(</m:t>
                            </m:r>
                            <m:r>
                              <m:t>x</m:t>
                            </m:r>
                            <m:r>
                              <m:rPr>
                                <m:sty m:val="p"/>
                              </m:rPr>
                              <m:t>,</m:t>
                            </m:r>
                            <m:r>
                              <m:t>c</m:t>
                            </m:r>
                            <m:r>
                              <m:rPr>
                                <m:sty m:val="p"/>
                              </m:rPr>
                              <m:t>)</m:t>
                            </m:r>
                            <m:r>
                              <m:rPr>
                                <m:sty m:val="p"/>
                              </m:rPr>
                              <m:t>=</m:t>
                            </m:r>
                            <m:r>
                              <m:t>1</m:t>
                            </m:r>
                            <m:r>
                              <m:rPr>
                                <m:sty m:val="p"/>
                              </m:rPr>
                              <m:t>.</m:t>
                            </m:r>
                          </m:e>
                        </m:mr>
                      </m:m>
                    </m:oMath>
                  </m:oMathPara>
                </a14:m>
              </a:p>
            </p:txBody>
          </p:sp>
        </mc:Choice>
      </mc:AlternateContent>
      <p:pic>
        <p:nvPicPr>
          <p:cNvPr descr="editable_assets/diagram-04-1.png" id="7" name="Picture 1"/>
          <p:cNvPicPr>
            <a:picLocks noGrp="1" noChangeAspect="1"/>
          </p:cNvPicPr>
          <p:nvPr/>
        </p:nvPicPr>
        <p:blipFill>
          <a:blip r:embed="rId4"/>
          <a:srcRect l="8380" t="8427" r="8380" b="8614"/>
          <a:stretch>
            <a:fillRect/>
          </a:stretch>
        </p:blipFill>
        <p:spPr bwMode="auto">
          <a:xfrm>
            <a:off x="5982508" y="2834640"/>
            <a:ext cx="1522383" cy="1508760"/>
          </a:xfrm>
          <a:prstGeom prst="rect">
            <a:avLst/>
          </a:prstGeom>
          <a:noFill/>
          <a:ln w="9525">
            <a:noFill/>
            <a:headEnd/>
            <a:tailEnd/>
          </a:ln>
        </p:spPr>
      </p:pic>
      <mc:AlternateContent>
        <mc:Choice Requires="a14">
          <p:sp>
            <p:nvSpPr>
              <p:cNvPr id="8" name="Content Placeholder 2"/>
              <p:cNvSpPr>
                <a:spLocks noGrp="1"/>
              </p:cNvSpPr>
              <p:nvPr/>
            </p:nvSpPr>
            <p:spPr>
              <a:xfrm>
                <a:off x="4709160" y="4526280"/>
                <a:ext cx="4069080" cy="1874520"/>
              </a:xfrm>
            </p:spPr>
            <p: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spcAft>
                    <a:spcPts val="400"/>
                  </a:spcAft>
                  <a:buNone/>
                </a:pPr>
                <a:r>
                  <a:rPr sz="1600">
                    <a:latin typeface="Times New Roman"/>
                  </a:rPr>
                  <a:t>For 3-COLOR, </a:t>
                </a:r>
                <a14:m>
                  <m:oMath>
                    <m:r>
                      <m:t>c</m:t>
                    </m:r>
                  </m:oMath>
                </a14:m>
                <a:r>
                  <a:rPr sz="1600">
                    <a:latin typeface="Times New Roman"/>
                  </a:rPr>
                  <a:t> assigns one of three colors to every vertex; check every edge.</a:t>
                </a:r>
              </a:p>
              <a:p>
                <a:pPr lvl="0" indent="0" marL="0">
                  <a:spcAft>
                    <a:spcPts val="400"/>
                  </a:spcAft>
                  <a:buNone/>
                </a:pPr>
                <a:r>
                  <a:rPr sz="1600">
                    <a:latin typeface="Times New Roman"/>
                  </a:rPr>
                  <a:t>NP means </a:t>
                </a:r>
                <a:r>
                  <a:rPr b="1" sz="1600">
                    <a:latin typeface="Times New Roman"/>
                  </a:rPr>
                  <a:t>nondeterministic polynomial time</a:t>
                </a:r>
                <a:r>
                  <a:rPr sz="1600">
                    <a:latin typeface="Times New Roman"/>
                  </a:rPr>
                  <a:t>, not “non-polynomial.” Whether </a:t>
                </a:r>
                <a14:m>
                  <m:oMath>
                    <m:r>
                      <m:t>P</m:t>
                    </m:r>
                    <m:r>
                      <m:rPr>
                        <m:sty m:val="p"/>
                      </m:rPr>
                      <m:t>=</m:t>
                    </m:r>
                    <m:r>
                      <m:t>N</m:t>
                    </m:r>
                    <m:r>
                      <m:t>P</m:t>
                    </m:r>
                  </m:oMath>
                </a14:m>
                <a:r>
                  <a:rPr sz="1600">
                    <a:latin typeface="Times New Roman"/>
                  </a:rPr>
                  <a:t> is open.</a:t>
                </a:r>
              </a:p>
            </p:txBody>
          </p:sp>
        </mc:Choice>
      </mc:AlternateContent>
    </p:spTree>
  </p:cSld>
</p:sld>
</file>

<file path=ppt/slides/slide8.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From NP-Hard to NP-Complete</a:t>
            </a:r>
          </a:p>
        </p:txBody>
      </p:sp>
      <mc:AlternateContent>
        <mc:Choice Requires="a14">
          <p:sp>
            <p:nvSpPr>
              <p:cNvPr id="3" name="Content Placeholder 2"/>
              <p:cNvSpPr>
                <a:spLocks noGrp="1"/>
              </p:cNvSpPr>
              <p:nvPr/>
            </p:nvSpPr>
            <p:spPr>
              <a:xfrm>
                <a:off x="365760" y="1051560"/>
                <a:ext cx="4114800" cy="53035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NP-hard: hard for all of NP</a:t>
                </a:r>
              </a:p>
              <a:p>
                <a:pPr lvl="0" indent="0" marL="0">
                  <a:spcAft>
                    <a:spcPts val="650"/>
                  </a:spcAft>
                  <a:buNone/>
                </a:pPr>
                <a:r>
                  <a:rPr sz="1800">
                    <a:latin typeface="Times New Roman"/>
                  </a:rPr>
                  <a:t>A problem </a:t>
                </a:r>
                <a14:m>
                  <m:oMath>
                    <m:r>
                      <m:t>H</m:t>
                    </m:r>
                  </m:oMath>
                </a14:m>
                <a:r>
                  <a:rPr sz="1800">
                    <a:latin typeface="Times New Roman"/>
                  </a:rPr>
                  <a:t> is NP-hard if</a:t>
                </a:r>
              </a:p>
              <a:p>
                <a:pPr lvl="0" indent="0" marL="0">
                  <a:spcAft>
                    <a:spcPts val="650"/>
                  </a:spcAft>
                  <a:buNone/>
                </a:pPr>
                <a14:m>
                  <m:oMathPara>
                    <m:oMathParaPr>
                      <m:jc m:val="center"/>
                    </m:oMathParaPr>
                    <m:oMath>
                      <m:r>
                        <m:rPr>
                          <m:sty m:val="p"/>
                        </m:rPr>
                        <m:t>∀</m:t>
                      </m:r>
                      <m:r>
                        <m:t>L</m:t>
                      </m:r>
                      <m:r>
                        <m:rPr>
                          <m:sty m:val="p"/>
                        </m:rPr>
                        <m:t>∈</m:t>
                      </m:r>
                      <m:r>
                        <m:t>N</m:t>
                      </m:r>
                      <m:r>
                        <m:t>P</m:t>
                      </m:r>
                      <m:r>
                        <m:rPr>
                          <m:sty m:val="p"/>
                        </m:rPr>
                        <m:t>,</m:t>
                      </m:r>
                      <m:r>
                        <m:t>  </m:t>
                      </m:r>
                      <m:r>
                        <m:t>L</m:t>
                      </m:r>
                      <m:sSub>
                        <m:e>
                          <m:r>
                            <m:rPr>
                              <m:sty m:val="p"/>
                            </m:rPr>
                            <m:t>≤</m:t>
                          </m:r>
                        </m:e>
                        <m:sub>
                          <m:r>
                            <m:t>p</m:t>
                          </m:r>
                        </m:sub>
                      </m:sSub>
                      <m:r>
                        <m:t>H</m:t>
                      </m:r>
                      <m:r>
                        <m:rPr>
                          <m:sty m:val="p"/>
                        </m:rPr>
                        <m:t>.</m:t>
                      </m:r>
                    </m:oMath>
                  </m:oMathPara>
                </a14:m>
              </a:p>
              <a:p>
                <a:pPr lvl="0" indent="0" marL="0">
                  <a:spcAft>
                    <a:spcPts val="650"/>
                  </a:spcAft>
                  <a:buNone/>
                </a:pPr>
                <a14:m>
                  <m:oMath>
                    <m:r>
                      <m:t>L</m:t>
                    </m:r>
                    <m:sSub>
                      <m:e>
                        <m:r>
                          <m:rPr>
                            <m:sty m:val="p"/>
                          </m:rPr>
                          <m:t>≤</m:t>
                        </m:r>
                      </m:e>
                      <m:sub>
                        <m:r>
                          <m:t>p</m:t>
                        </m:r>
                      </m:sub>
                    </m:sSub>
                    <m:r>
                      <m:t>H</m:t>
                    </m:r>
                  </m:oMath>
                </a14:m>
                <a:r>
                  <a:rPr sz="1800">
                    <a:latin typeface="Times New Roman"/>
                  </a:rPr>
                  <a:t> means an efficient, answer-preserving translation from </a:t>
                </a:r>
                <a14:m>
                  <m:oMath>
                    <m:r>
                      <m:t>L</m:t>
                    </m:r>
                  </m:oMath>
                </a14:m>
                <a:r>
                  <a:rPr sz="1800">
                    <a:latin typeface="Times New Roman"/>
                  </a:rPr>
                  <a:t> to </a:t>
                </a:r>
                <a14:m>
                  <m:oMath>
                    <m:r>
                      <m:t>H</m:t>
                    </m:r>
                  </m:oMath>
                </a14:m>
                <a:r>
                  <a:rPr sz="1800">
                    <a:latin typeface="Times New Roman"/>
                  </a:rPr>
                  <a:t>. An NP-hard problem need not itself belong to NP.</a:t>
                </a:r>
              </a:p>
              <a:p>
                <a:pPr lvl="0" indent="0" marL="0">
                  <a:spcAft>
                    <a:spcPts val="650"/>
                  </a:spcAft>
                  <a:buNone/>
                </a:pPr>
                <a:r>
                  <a:rPr b="1" sz="1800">
                    <a:latin typeface="Times New Roman"/>
                  </a:rPr>
                  <a:t>NP-complete: both properties</a:t>
                </a:r>
              </a:p>
              <a:p>
                <a:pPr lvl="0" indent="0" marL="0">
                  <a:spcAft>
                    <a:spcPts val="650"/>
                  </a:spcAft>
                  <a:buNone/>
                </a:pPr>
                <a14:m>
                  <m:oMathPara>
                    <m:oMathParaPr>
                      <m:jc m:val="center"/>
                    </m:oMathParaPr>
                    <m:oMath>
                      <m:r>
                        <m:t>H</m:t>
                      </m:r>
                      <m:r>
                        <m:rPr>
                          <m:sty m:val="p"/>
                        </m:rPr>
                        <m:t>∈</m:t>
                      </m:r>
                      <m:r>
                        <m:t>N</m:t>
                      </m:r>
                      <m:r>
                        <m:t>P</m:t>
                      </m:r>
                      <m:r>
                        <m:t> </m:t>
                      </m:r>
                      <m:r>
                        <m:rPr>
                          <m:nor/>
                          <m:sty m:val="p"/>
                        </m:rPr>
                        <m:t>and</m:t>
                      </m:r>
                      <m:r>
                        <m:t> </m:t>
                      </m:r>
                      <m:r>
                        <m:t>H</m:t>
                      </m:r>
                      <m:r>
                        <m:rPr>
                          <m:nor/>
                          <m:sty m:val="p"/>
                        </m:rPr>
                        <m:t> is NP-hard</m:t>
                      </m:r>
                      <m:r>
                        <m:rPr>
                          <m:sty m:val="p"/>
                        </m:rPr>
                        <m:t>.</m:t>
                      </m:r>
                    </m:oMath>
                  </m:oMathPara>
                </a14:m>
              </a:p>
              <a:p>
                <a:pPr lvl="0" indent="0" marL="0">
                  <a:spcAft>
                    <a:spcPts val="650"/>
                  </a:spcAft>
                  <a:buNone/>
                </a:pPr>
                <a:r>
                  <a:rPr sz="1800">
                    <a:latin typeface="Times New Roman"/>
                  </a:rPr>
                  <a:t>These are the hardest efficiently verifiable decision problems.</a:t>
                </a:r>
              </a:p>
            </p:txBody>
          </p:sp>
        </mc:Choice>
      </mc:AlternateContent>
    </p:spTree>
  </p:cSld>
</p:sld>
</file>

<file path=ppt/slides/slide9.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From NP-Hard to NP-Complete</a:t>
            </a:r>
          </a:p>
        </p:txBody>
      </p:sp>
      <mc:AlternateContent>
        <mc:Choice Requires="a14">
          <p:sp>
            <p:nvSpPr>
              <p:cNvPr id="3" name="Content Placeholder 2"/>
              <p:cNvSpPr>
                <a:spLocks noGrp="1"/>
              </p:cNvSpPr>
              <p:nvPr/>
            </p:nvSpPr>
            <p:spPr>
              <a:xfrm>
                <a:off x="365760" y="1051560"/>
                <a:ext cx="4114800" cy="53035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NP-hard: hard for all of NP</a:t>
                </a:r>
              </a:p>
              <a:p>
                <a:pPr lvl="0" indent="0" marL="0">
                  <a:spcAft>
                    <a:spcPts val="650"/>
                  </a:spcAft>
                  <a:buNone/>
                </a:pPr>
                <a:r>
                  <a:rPr sz="1800">
                    <a:latin typeface="Times New Roman"/>
                  </a:rPr>
                  <a:t>A problem </a:t>
                </a:r>
                <a14:m>
                  <m:oMath>
                    <m:r>
                      <m:t>H</m:t>
                    </m:r>
                  </m:oMath>
                </a14:m>
                <a:r>
                  <a:rPr sz="1800">
                    <a:latin typeface="Times New Roman"/>
                  </a:rPr>
                  <a:t> is NP-hard if</a:t>
                </a:r>
              </a:p>
              <a:p>
                <a:pPr lvl="0" indent="0" marL="0">
                  <a:spcAft>
                    <a:spcPts val="650"/>
                  </a:spcAft>
                  <a:buNone/>
                </a:pPr>
                <a14:m>
                  <m:oMathPara>
                    <m:oMathParaPr>
                      <m:jc m:val="center"/>
                    </m:oMathParaPr>
                    <m:oMath>
                      <m:r>
                        <m:rPr>
                          <m:sty m:val="p"/>
                        </m:rPr>
                        <m:t>∀</m:t>
                      </m:r>
                      <m:r>
                        <m:t>L</m:t>
                      </m:r>
                      <m:r>
                        <m:rPr>
                          <m:sty m:val="p"/>
                        </m:rPr>
                        <m:t>∈</m:t>
                      </m:r>
                      <m:r>
                        <m:t>N</m:t>
                      </m:r>
                      <m:r>
                        <m:t>P</m:t>
                      </m:r>
                      <m:r>
                        <m:rPr>
                          <m:sty m:val="p"/>
                        </m:rPr>
                        <m:t>,</m:t>
                      </m:r>
                      <m:r>
                        <m:t>  </m:t>
                      </m:r>
                      <m:r>
                        <m:t>L</m:t>
                      </m:r>
                      <m:sSub>
                        <m:e>
                          <m:r>
                            <m:rPr>
                              <m:sty m:val="p"/>
                            </m:rPr>
                            <m:t>≤</m:t>
                          </m:r>
                        </m:e>
                        <m:sub>
                          <m:r>
                            <m:t>p</m:t>
                          </m:r>
                        </m:sub>
                      </m:sSub>
                      <m:r>
                        <m:t>H</m:t>
                      </m:r>
                      <m:r>
                        <m:rPr>
                          <m:sty m:val="p"/>
                        </m:rPr>
                        <m:t>.</m:t>
                      </m:r>
                    </m:oMath>
                  </m:oMathPara>
                </a14:m>
              </a:p>
              <a:p>
                <a:pPr lvl="0" indent="0" marL="0">
                  <a:spcAft>
                    <a:spcPts val="650"/>
                  </a:spcAft>
                  <a:buNone/>
                </a:pPr>
                <a14:m>
                  <m:oMath>
                    <m:r>
                      <m:t>L</m:t>
                    </m:r>
                    <m:sSub>
                      <m:e>
                        <m:r>
                          <m:rPr>
                            <m:sty m:val="p"/>
                          </m:rPr>
                          <m:t>≤</m:t>
                        </m:r>
                      </m:e>
                      <m:sub>
                        <m:r>
                          <m:t>p</m:t>
                        </m:r>
                      </m:sub>
                    </m:sSub>
                    <m:r>
                      <m:t>H</m:t>
                    </m:r>
                  </m:oMath>
                </a14:m>
                <a:r>
                  <a:rPr sz="1800">
                    <a:latin typeface="Times New Roman"/>
                  </a:rPr>
                  <a:t> means an efficient, answer-preserving translation from </a:t>
                </a:r>
                <a14:m>
                  <m:oMath>
                    <m:r>
                      <m:t>L</m:t>
                    </m:r>
                  </m:oMath>
                </a14:m>
                <a:r>
                  <a:rPr sz="1800">
                    <a:latin typeface="Times New Roman"/>
                  </a:rPr>
                  <a:t> to </a:t>
                </a:r>
                <a14:m>
                  <m:oMath>
                    <m:r>
                      <m:t>H</m:t>
                    </m:r>
                  </m:oMath>
                </a14:m>
                <a:r>
                  <a:rPr sz="1800">
                    <a:latin typeface="Times New Roman"/>
                  </a:rPr>
                  <a:t>. An NP-hard problem need not itself belong to NP.</a:t>
                </a:r>
              </a:p>
              <a:p>
                <a:pPr lvl="0" indent="0" marL="0">
                  <a:spcAft>
                    <a:spcPts val="650"/>
                  </a:spcAft>
                  <a:buNone/>
                </a:pPr>
                <a:r>
                  <a:rPr b="1" sz="1800">
                    <a:latin typeface="Times New Roman"/>
                  </a:rPr>
                  <a:t>NP-complete: both properties</a:t>
                </a:r>
              </a:p>
              <a:p>
                <a:pPr lvl="0" indent="0" marL="0">
                  <a:spcAft>
                    <a:spcPts val="650"/>
                  </a:spcAft>
                  <a:buNone/>
                </a:pPr>
                <a14:m>
                  <m:oMathPara>
                    <m:oMathParaPr>
                      <m:jc m:val="center"/>
                    </m:oMathParaPr>
                    <m:oMath>
                      <m:r>
                        <m:t>H</m:t>
                      </m:r>
                      <m:r>
                        <m:rPr>
                          <m:sty m:val="p"/>
                        </m:rPr>
                        <m:t>∈</m:t>
                      </m:r>
                      <m:r>
                        <m:t>N</m:t>
                      </m:r>
                      <m:r>
                        <m:t>P</m:t>
                      </m:r>
                      <m:r>
                        <m:t> </m:t>
                      </m:r>
                      <m:r>
                        <m:rPr>
                          <m:nor/>
                          <m:sty m:val="p"/>
                        </m:rPr>
                        <m:t>and</m:t>
                      </m:r>
                      <m:r>
                        <m:t> </m:t>
                      </m:r>
                      <m:r>
                        <m:t>H</m:t>
                      </m:r>
                      <m:r>
                        <m:rPr>
                          <m:nor/>
                          <m:sty m:val="p"/>
                        </m:rPr>
                        <m:t> is NP-hard</m:t>
                      </m:r>
                      <m:r>
                        <m:rPr>
                          <m:sty m:val="p"/>
                        </m:rPr>
                        <m:t>.</m:t>
                      </m:r>
                    </m:oMath>
                  </m:oMathPara>
                </a14:m>
              </a:p>
              <a:p>
                <a:pPr lvl="0" indent="0" marL="0">
                  <a:spcAft>
                    <a:spcPts val="650"/>
                  </a:spcAft>
                  <a:buNone/>
                </a:pPr>
                <a:r>
                  <a:rPr sz="1800">
                    <a:latin typeface="Times New Roman"/>
                  </a:rPr>
                  <a:t>These are the hardest efficiently verifiable decision problems.</a:t>
                </a:r>
              </a:p>
            </p:txBody>
          </p:sp>
        </mc:Choice>
      </mc:AlternateContent>
      <p:pic>
        <p:nvPicPr>
          <p:cNvPr descr="editable_assets/diagram-05-1.png" id="4" name="Picture 1"/>
          <p:cNvPicPr>
            <a:picLocks noGrp="1" noChangeAspect="1"/>
          </p:cNvPicPr>
          <p:nvPr/>
        </p:nvPicPr>
        <p:blipFill>
          <a:blip r:embed="rId3"/>
          <a:srcRect l="4601" t="12386" r="6953" b="8197"/>
          <a:stretch>
            <a:fillRect/>
          </a:stretch>
        </p:blipFill>
        <p:spPr bwMode="auto">
          <a:xfrm>
            <a:off x="4709160" y="1843520"/>
            <a:ext cx="4023360" cy="2027959"/>
          </a:xfrm>
          <a:prstGeom prst="rect">
            <a:avLst/>
          </a:prstGeom>
          <a:noFill/>
          <a:ln w="9525">
            <a:noFill/>
            <a:headEnd/>
            <a:tailEnd/>
          </a:ln>
        </p:spPr>
      </p:pic>
      <mc:AlternateContent>
        <mc:Choice Requires="a14">
          <p:sp>
            <p:nvSpPr>
              <p:cNvPr id="5" name="Content Placeholder 2"/>
              <p:cNvSpPr>
                <a:spLocks noGrp="1"/>
              </p:cNvSpPr>
              <p:nvPr/>
            </p:nvSpPr>
            <p:spPr>
              <a:xfrm>
                <a:off x="4709160" y="4617720"/>
                <a:ext cx="4023360" cy="1554480"/>
              </a:xfrm>
            </p:spPr>
            <p:txBody>
              <a:bodyPr lIns="0" rIns="0" tIns="0" bIns="0" anchor="t" wrap="square">
                <a:noAutofit/>
              </a:bodyPr>
              <a:lstStyle>
                <a:lvl1pPr>
                  <a:defRPr sz="1700">
                    <a:latin typeface="Times New Roman"/>
                  </a:defRPr>
                </a:lvl1pPr>
                <a:lvl2pPr>
                  <a:defRPr sz="1700">
                    <a:latin typeface="Times New Roman"/>
                  </a:defRPr>
                </a:lvl2pPr>
                <a:lvl3pPr>
                  <a:defRPr sz="1700">
                    <a:latin typeface="Times New Roman"/>
                  </a:defRPr>
                </a:lvl3pPr>
                <a:lvl4pPr>
                  <a:defRPr sz="1700">
                    <a:latin typeface="Times New Roman"/>
                  </a:defRPr>
                </a:lvl4pPr>
                <a:lvl5pPr>
                  <a:defRPr sz="1700">
                    <a:latin typeface="Times New Roman"/>
                  </a:defRPr>
                </a:lvl5pPr>
                <a:lvl6pPr>
                  <a:defRPr sz="1700">
                    <a:latin typeface="Times New Roman"/>
                  </a:defRPr>
                </a:lvl6pPr>
                <a:lvl7pPr>
                  <a:defRPr sz="1700">
                    <a:latin typeface="Times New Roman"/>
                  </a:defRPr>
                </a:lvl7pPr>
                <a:lvl8pPr>
                  <a:defRPr sz="1700">
                    <a:latin typeface="Times New Roman"/>
                  </a:defRPr>
                </a:lvl8pPr>
                <a:lvl9pPr>
                  <a:defRPr sz="1700">
                    <a:latin typeface="Times New Roman"/>
                  </a:defRPr>
                </a:lvl9pPr>
              </a:lstStyle>
              <a:p>
                <a:pPr lvl="0" indent="0" marL="0">
                  <a:spcAft>
                    <a:spcPts val="400"/>
                  </a:spcAft>
                  <a:buNone/>
                </a:pPr>
                <a14:m>
                  <m:oMath>
                    <m:r>
                      <m:t>P</m:t>
                    </m:r>
                    <m:r>
                      <m:rPr>
                        <m:sty m:val="p"/>
                      </m:rPr>
                      <m:t>⊆</m:t>
                    </m:r>
                    <m:r>
                      <m:t>N</m:t>
                    </m:r>
                    <m:r>
                      <m:t>P</m:t>
                    </m:r>
                  </m:oMath>
                </a14:m>
                <a:r>
                  <a:rPr sz="1700">
                    <a:latin typeface="Times New Roman"/>
                  </a:rPr>
                  <a:t> is known. The exact boundary of </a:t>
                </a:r>
                <a14:m>
                  <m:oMath>
                    <m:r>
                      <m:t>P</m:t>
                    </m:r>
                  </m:oMath>
                </a14:m>
                <a:r>
                  <a:rPr sz="1700">
                    <a:latin typeface="Times New Roman"/>
                  </a:rPr>
                  <a:t> is not drawn because whether </a:t>
                </a:r>
                <a14:m>
                  <m:oMath>
                    <m:r>
                      <m:t>P</m:t>
                    </m:r>
                    <m:r>
                      <m:rPr>
                        <m:sty m:val="p"/>
                      </m:rPr>
                      <m:t>=</m:t>
                    </m:r>
                    <m:r>
                      <m:t>N</m:t>
                    </m:r>
                    <m:r>
                      <m:t>P</m:t>
                    </m:r>
                  </m:oMath>
                </a14:m>
                <a:r>
                  <a:rPr sz="1700">
                    <a:latin typeface="Times New Roman"/>
                  </a:rPr>
                  <a:t> is open.</a:t>
                </a:r>
              </a:p>
              <a:p>
                <a:pPr lvl="0" indent="0" marL="0">
                  <a:spcAft>
                    <a:spcPts val="400"/>
                  </a:spcAft>
                  <a:buNone/>
                </a:pPr>
                <a:r>
                  <a:rPr b="1" sz="1700">
                    <a:latin typeface="Times New Roman"/>
                  </a:rPr>
                  <a:t>If one NP-complete problem is in </a:t>
                </a:r>
                <a14:m>
                  <m:oMath>
                    <m:r>
                      <m:t>P</m:t>
                    </m:r>
                  </m:oMath>
                </a14:m>
                <a:r>
                  <a:rPr b="1" sz="1700">
                    <a:latin typeface="Times New Roman"/>
                  </a:rPr>
                  <a:t>, then </a:t>
                </a:r>
                <a14:m>
                  <m:oMath>
                    <m:r>
                      <m:t>P</m:t>
                    </m:r>
                    <m:r>
                      <m:rPr>
                        <m:sty m:val="p"/>
                      </m:rPr>
                      <m:t>=</m:t>
                    </m:r>
                    <m:r>
                      <m:t>N</m:t>
                    </m:r>
                    <m:r>
                      <m:t>P</m:t>
                    </m:r>
                  </m:oMath>
                </a14:m>
                <a:r>
                  <a:rPr b="1" sz="1700">
                    <a:latin typeface="Times New Roman"/>
                  </a:rPr>
                  <a:t>.</a:t>
                </a:r>
              </a:p>
            </p:txBody>
          </p:sp>
        </mc:Choice>
      </mc:AlternateContent>
    </p:spTree>
  </p:cSld>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Polynomial-Time Reduction: an Answer-Preserving Translator</a:t>
            </a:r>
          </a:p>
        </p:txBody>
      </p:sp>
      <p:pic>
        <p:nvPicPr>
          <p:cNvPr descr="editable_assets/diagram-06-1.png" id="3" name="Picture 1"/>
          <p:cNvPicPr>
            <a:picLocks noGrp="1" noChangeAspect="1"/>
          </p:cNvPicPr>
          <p:nvPr/>
        </p:nvPicPr>
        <p:blipFill>
          <a:blip r:embed="rId3"/>
          <a:srcRect l="2460" t="18443" r="2460" b="18852"/>
          <a:stretch>
            <a:fillRect/>
          </a:stretch>
        </p:blipFill>
        <p:spPr bwMode="auto">
          <a:xfrm>
            <a:off x="457200" y="1078153"/>
            <a:ext cx="8229600" cy="724053"/>
          </a:xfrm>
          <a:prstGeom prst="rect">
            <a:avLst/>
          </a:prstGeom>
          <a:noFill/>
          <a:ln w="9525">
            <a:noFill/>
            <a:headEnd/>
            <a:tailEnd/>
          </a:ln>
        </p:spPr>
      </p:pic>
    </p:spTree>
  </p:cSld>
</p:sld>
</file>

<file path=ppt/slides/slide11.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Polynomial-Time Reduction: an Answer-Preserving Translator</a:t>
            </a:r>
          </a:p>
        </p:txBody>
      </p:sp>
      <p:pic>
        <p:nvPicPr>
          <p:cNvPr descr="editable_assets/diagram-06-1.png" id="3" name="Picture 1"/>
          <p:cNvPicPr>
            <a:picLocks noGrp="1" noChangeAspect="1"/>
          </p:cNvPicPr>
          <p:nvPr/>
        </p:nvPicPr>
        <p:blipFill>
          <a:blip r:embed="rId3"/>
          <a:srcRect l="2460" t="18443" r="2460" b="18852"/>
          <a:stretch>
            <a:fillRect/>
          </a:stretch>
        </p:blipFill>
        <p:spPr bwMode="auto">
          <a:xfrm>
            <a:off x="457200" y="1078153"/>
            <a:ext cx="8229600" cy="724053"/>
          </a:xfrm>
          <a:prstGeom prst="rect">
            <a:avLst/>
          </a:prstGeom>
          <a:noFill/>
          <a:ln w="9525">
            <a:noFill/>
            <a:headEnd/>
            <a:tailEnd/>
          </a:ln>
        </p:spPr>
      </p:pic>
      <mc:AlternateContent>
        <mc:Choice Requires="a14">
          <p:sp>
            <p:nvSpPr>
              <p:cNvPr id="4" name="Content Placeholder 2"/>
              <p:cNvSpPr>
                <a:spLocks noGrp="1"/>
              </p:cNvSpPr>
              <p:nvPr/>
            </p:nvSpPr>
            <p:spPr>
              <a:xfrm>
                <a:off x="365760" y="2103120"/>
                <a:ext cx="4069080" cy="420624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Formal meaning</a:t>
                </a:r>
              </a:p>
              <a:p>
                <a:pPr lvl="0" indent="0" marL="0">
                  <a:spcAft>
                    <a:spcPts val="650"/>
                  </a:spcAft>
                  <a:buNone/>
                </a:pPr>
                <a14:m>
                  <m:oMath>
                    <m:r>
                      <m:t>A</m:t>
                    </m:r>
                    <m:sSub>
                      <m:e>
                        <m:r>
                          <m:rPr>
                            <m:sty m:val="p"/>
                          </m:rPr>
                          <m:t>≤</m:t>
                        </m:r>
                      </m:e>
                      <m:sub>
                        <m:r>
                          <m:t>p</m:t>
                        </m:r>
                      </m:sub>
                    </m:sSub>
                    <m:r>
                      <m:t>B</m:t>
                    </m:r>
                  </m:oMath>
                </a14:m>
                <a:r>
                  <a:rPr sz="1800">
                    <a:latin typeface="Times New Roman"/>
                  </a:rPr>
                  <a:t>: there exists a polynomial-time computable function </a:t>
                </a:r>
                <a14:m>
                  <m:oMath>
                    <m:r>
                      <m:t>f</m:t>
                    </m:r>
                  </m:oMath>
                </a14:m>
                <a:r>
                  <a:rPr sz="1800">
                    <a:latin typeface="Times New Roman"/>
                  </a:rPr>
                  <a:t> such that</a:t>
                </a:r>
              </a:p>
              <a:p>
                <a:pPr lvl="0" indent="0" marL="0">
                  <a:spcAft>
                    <a:spcPts val="650"/>
                  </a:spcAft>
                  <a:buNone/>
                </a:pPr>
                <a14:m>
                  <m:oMathPara>
                    <m:oMathParaPr>
                      <m:jc m:val="center"/>
                    </m:oMathParaPr>
                    <m:oMath>
                      <m:r>
                        <m:rPr>
                          <m:sty m:val="p"/>
                        </m:rPr>
                        <m:t>∀</m:t>
                      </m:r>
                      <m:r>
                        <m:t>x</m:t>
                      </m:r>
                      <m:r>
                        <m:rPr>
                          <m:sty m:val="p"/>
                        </m:rPr>
                        <m:t>,</m:t>
                      </m:r>
                      <m:r>
                        <m:t>  </m:t>
                      </m:r>
                      <m:r>
                        <m:t>x</m:t>
                      </m:r>
                      <m:r>
                        <m:rPr>
                          <m:sty m:val="p"/>
                        </m:rPr>
                        <m:t>∈</m:t>
                      </m:r>
                      <m:r>
                        <m:t>A</m:t>
                      </m:r>
                      <m:r>
                        <m:rPr>
                          <m:sty m:val="p"/>
                        </m:rPr>
                        <m:t>⇔</m:t>
                      </m:r>
                      <m:r>
                        <m:t>f</m:t>
                      </m:r>
                      <m:r>
                        <m:rPr>
                          <m:sty m:val="p"/>
                        </m:rPr>
                        <m:t>(</m:t>
                      </m:r>
                      <m:r>
                        <m:t>x</m:t>
                      </m:r>
                      <m:r>
                        <m:rPr>
                          <m:sty m:val="p"/>
                        </m:rPr>
                        <m:t>)</m:t>
                      </m:r>
                      <m:r>
                        <m:rPr>
                          <m:sty m:val="p"/>
                        </m:rPr>
                        <m:t>∈</m:t>
                      </m:r>
                      <m:r>
                        <m:t>B</m:t>
                      </m:r>
                      <m:r>
                        <m:rPr>
                          <m:sty m:val="p"/>
                        </m:rPr>
                        <m:t>.</m:t>
                      </m:r>
                    </m:oMath>
                  </m:oMathPara>
                </a14:m>
              </a:p>
              <a:p>
                <a:pPr lvl="0" indent="0" marL="0">
                  <a:spcAft>
                    <a:spcPts val="650"/>
                  </a:spcAft>
                  <a:buNone/>
                </a:pPr>
                <a:r>
                  <a:rPr sz="1800">
                    <a:latin typeface="Times New Roman"/>
                  </a:rPr>
                  <a:t>A solver for </a:t>
                </a:r>
                <a14:m>
                  <m:oMath>
                    <m:r>
                      <m:t>B</m:t>
                    </m:r>
                  </m:oMath>
                </a14:m>
                <a:r>
                  <a:rPr sz="1800">
                    <a:latin typeface="Times New Roman"/>
                  </a:rPr>
                  <a:t> would also solve </a:t>
                </a:r>
                <a14:m>
                  <m:oMath>
                    <m:r>
                      <m:t>A</m:t>
                    </m:r>
                  </m:oMath>
                </a14:m>
                <a:r>
                  <a:rPr sz="1800">
                    <a:latin typeface="Times New Roman"/>
                  </a:rPr>
                  <a:t>: </a:t>
                </a:r>
                <a14:m>
                  <m:oMath>
                    <m:r>
                      <m:t>B</m:t>
                    </m:r>
                  </m:oMath>
                </a14:m>
                <a:r>
                  <a:rPr sz="1800">
                    <a:latin typeface="Times New Roman"/>
                  </a:rPr>
                  <a:t> is at least as hard as </a:t>
                </a:r>
                <a14:m>
                  <m:oMath>
                    <m:r>
                      <m:t>A</m:t>
                    </m:r>
                  </m:oMath>
                </a14:m>
                <a:r>
                  <a:rPr sz="1800">
                    <a:latin typeface="Times New Roman"/>
                  </a:rPr>
                  <a:t>.</a:t>
                </a:r>
              </a:p>
              <a:p>
                <a:pPr lvl="0" indent="0" marL="0">
                  <a:spcAft>
                    <a:spcPts val="650"/>
                  </a:spcAft>
                  <a:buNone/>
                </a:pPr>
                <a:r>
                  <a:rPr b="1" sz="1800">
                    <a:latin typeface="Times New Roman"/>
                  </a:rPr>
                  <a:t>To prove </a:t>
                </a:r>
                <a14:m>
                  <m:oMath>
                    <m:r>
                      <m:t>B</m:t>
                    </m:r>
                  </m:oMath>
                </a14:m>
                <a:r>
                  <a:rPr b="1" sz="1800">
                    <a:latin typeface="Times New Roman"/>
                  </a:rPr>
                  <a:t> hard:</a:t>
                </a:r>
                <a:r>
                  <a:rPr sz="1800">
                    <a:latin typeface="Times New Roman"/>
                  </a:rPr>
                  <a:t> known hard </a:t>
                </a:r>
                <a14:m>
                  <m:oMath>
                    <m:r>
                      <m:t>A</m:t>
                    </m:r>
                    <m:r>
                      <m:rPr>
                        <m:sty m:val="p"/>
                      </m:rPr>
                      <m:t>→</m:t>
                    </m:r>
                  </m:oMath>
                </a14:m>
                <a:r>
                  <a:rPr sz="1800">
                    <a:latin typeface="Times New Roman"/>
                  </a:rPr>
                  <a:t> target </a:t>
                </a:r>
                <a14:m>
                  <m:oMath>
                    <m:r>
                      <m:t>B</m:t>
                    </m:r>
                  </m:oMath>
                </a14:m>
                <a:r>
                  <a:rPr sz="1800">
                    <a:latin typeface="Times New Roman"/>
                  </a:rPr>
                  <a:t>.</a:t>
                </a:r>
              </a:p>
            </p:txBody>
          </p:sp>
        </mc:Choice>
      </mc:AlternateContent>
    </p:spTree>
  </p:cSld>
</p:sld>
</file>

<file path=ppt/slides/slide12.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Polynomial-Time Reduction: an Answer-Preserving Translator</a:t>
            </a:r>
          </a:p>
        </p:txBody>
      </p:sp>
      <p:pic>
        <p:nvPicPr>
          <p:cNvPr descr="editable_assets/diagram-06-1.png" id="3" name="Picture 1"/>
          <p:cNvPicPr>
            <a:picLocks noGrp="1" noChangeAspect="1"/>
          </p:cNvPicPr>
          <p:nvPr/>
        </p:nvPicPr>
        <p:blipFill>
          <a:blip r:embed="rId3"/>
          <a:srcRect l="2460" t="18443" r="2460" b="18852"/>
          <a:stretch>
            <a:fillRect/>
          </a:stretch>
        </p:blipFill>
        <p:spPr bwMode="auto">
          <a:xfrm>
            <a:off x="457200" y="1078153"/>
            <a:ext cx="8229600" cy="724053"/>
          </a:xfrm>
          <a:prstGeom prst="rect">
            <a:avLst/>
          </a:prstGeom>
          <a:noFill/>
          <a:ln w="9525">
            <a:noFill/>
            <a:headEnd/>
            <a:tailEnd/>
          </a:ln>
        </p:spPr>
      </p:pic>
      <mc:AlternateContent>
        <mc:Choice Requires="a14">
          <p:sp>
            <p:nvSpPr>
              <p:cNvPr id="4" name="Content Placeholder 2"/>
              <p:cNvSpPr>
                <a:spLocks noGrp="1"/>
              </p:cNvSpPr>
              <p:nvPr/>
            </p:nvSpPr>
            <p:spPr>
              <a:xfrm>
                <a:off x="365760" y="2103120"/>
                <a:ext cx="4069080" cy="420624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Formal meaning</a:t>
                </a:r>
              </a:p>
              <a:p>
                <a:pPr lvl="0" indent="0" marL="0">
                  <a:spcAft>
                    <a:spcPts val="650"/>
                  </a:spcAft>
                  <a:buNone/>
                </a:pPr>
                <a14:m>
                  <m:oMath>
                    <m:r>
                      <m:t>A</m:t>
                    </m:r>
                    <m:sSub>
                      <m:e>
                        <m:r>
                          <m:rPr>
                            <m:sty m:val="p"/>
                          </m:rPr>
                          <m:t>≤</m:t>
                        </m:r>
                      </m:e>
                      <m:sub>
                        <m:r>
                          <m:t>p</m:t>
                        </m:r>
                      </m:sub>
                    </m:sSub>
                    <m:r>
                      <m:t>B</m:t>
                    </m:r>
                  </m:oMath>
                </a14:m>
                <a:r>
                  <a:rPr sz="1800">
                    <a:latin typeface="Times New Roman"/>
                  </a:rPr>
                  <a:t>: there exists a polynomial-time computable function </a:t>
                </a:r>
                <a14:m>
                  <m:oMath>
                    <m:r>
                      <m:t>f</m:t>
                    </m:r>
                  </m:oMath>
                </a14:m>
                <a:r>
                  <a:rPr sz="1800">
                    <a:latin typeface="Times New Roman"/>
                  </a:rPr>
                  <a:t> such that</a:t>
                </a:r>
              </a:p>
              <a:p>
                <a:pPr lvl="0" indent="0" marL="0">
                  <a:spcAft>
                    <a:spcPts val="650"/>
                  </a:spcAft>
                  <a:buNone/>
                </a:pPr>
                <a14:m>
                  <m:oMathPara>
                    <m:oMathParaPr>
                      <m:jc m:val="center"/>
                    </m:oMathParaPr>
                    <m:oMath>
                      <m:r>
                        <m:rPr>
                          <m:sty m:val="p"/>
                        </m:rPr>
                        <m:t>∀</m:t>
                      </m:r>
                      <m:r>
                        <m:t>x</m:t>
                      </m:r>
                      <m:r>
                        <m:rPr>
                          <m:sty m:val="p"/>
                        </m:rPr>
                        <m:t>,</m:t>
                      </m:r>
                      <m:r>
                        <m:t>  </m:t>
                      </m:r>
                      <m:r>
                        <m:t>x</m:t>
                      </m:r>
                      <m:r>
                        <m:rPr>
                          <m:sty m:val="p"/>
                        </m:rPr>
                        <m:t>∈</m:t>
                      </m:r>
                      <m:r>
                        <m:t>A</m:t>
                      </m:r>
                      <m:r>
                        <m:rPr>
                          <m:sty m:val="p"/>
                        </m:rPr>
                        <m:t>⇔</m:t>
                      </m:r>
                      <m:r>
                        <m:t>f</m:t>
                      </m:r>
                      <m:r>
                        <m:rPr>
                          <m:sty m:val="p"/>
                        </m:rPr>
                        <m:t>(</m:t>
                      </m:r>
                      <m:r>
                        <m:t>x</m:t>
                      </m:r>
                      <m:r>
                        <m:rPr>
                          <m:sty m:val="p"/>
                        </m:rPr>
                        <m:t>)</m:t>
                      </m:r>
                      <m:r>
                        <m:rPr>
                          <m:sty m:val="p"/>
                        </m:rPr>
                        <m:t>∈</m:t>
                      </m:r>
                      <m:r>
                        <m:t>B</m:t>
                      </m:r>
                      <m:r>
                        <m:rPr>
                          <m:sty m:val="p"/>
                        </m:rPr>
                        <m:t>.</m:t>
                      </m:r>
                    </m:oMath>
                  </m:oMathPara>
                </a14:m>
              </a:p>
              <a:p>
                <a:pPr lvl="0" indent="0" marL="0">
                  <a:spcAft>
                    <a:spcPts val="650"/>
                  </a:spcAft>
                  <a:buNone/>
                </a:pPr>
                <a:r>
                  <a:rPr sz="1800">
                    <a:latin typeface="Times New Roman"/>
                  </a:rPr>
                  <a:t>A solver for </a:t>
                </a:r>
                <a14:m>
                  <m:oMath>
                    <m:r>
                      <m:t>B</m:t>
                    </m:r>
                  </m:oMath>
                </a14:m>
                <a:r>
                  <a:rPr sz="1800">
                    <a:latin typeface="Times New Roman"/>
                  </a:rPr>
                  <a:t> would also solve </a:t>
                </a:r>
                <a14:m>
                  <m:oMath>
                    <m:r>
                      <m:t>A</m:t>
                    </m:r>
                  </m:oMath>
                </a14:m>
                <a:r>
                  <a:rPr sz="1800">
                    <a:latin typeface="Times New Roman"/>
                  </a:rPr>
                  <a:t>: </a:t>
                </a:r>
                <a14:m>
                  <m:oMath>
                    <m:r>
                      <m:t>B</m:t>
                    </m:r>
                  </m:oMath>
                </a14:m>
                <a:r>
                  <a:rPr sz="1800">
                    <a:latin typeface="Times New Roman"/>
                  </a:rPr>
                  <a:t> is at least as hard as </a:t>
                </a:r>
                <a14:m>
                  <m:oMath>
                    <m:r>
                      <m:t>A</m:t>
                    </m:r>
                  </m:oMath>
                </a14:m>
                <a:r>
                  <a:rPr sz="1800">
                    <a:latin typeface="Times New Roman"/>
                  </a:rPr>
                  <a:t>.</a:t>
                </a:r>
              </a:p>
              <a:p>
                <a:pPr lvl="0" indent="0" marL="0">
                  <a:spcAft>
                    <a:spcPts val="650"/>
                  </a:spcAft>
                  <a:buNone/>
                </a:pPr>
                <a:r>
                  <a:rPr b="1" sz="1800">
                    <a:latin typeface="Times New Roman"/>
                  </a:rPr>
                  <a:t>To prove </a:t>
                </a:r>
                <a14:m>
                  <m:oMath>
                    <m:r>
                      <m:t>B</m:t>
                    </m:r>
                  </m:oMath>
                </a14:m>
                <a:r>
                  <a:rPr b="1" sz="1800">
                    <a:latin typeface="Times New Roman"/>
                  </a:rPr>
                  <a:t> hard:</a:t>
                </a:r>
                <a:r>
                  <a:rPr sz="1800">
                    <a:latin typeface="Times New Roman"/>
                  </a:rPr>
                  <a:t> known hard </a:t>
                </a:r>
                <a14:m>
                  <m:oMath>
                    <m:r>
                      <m:t>A</m:t>
                    </m:r>
                    <m:r>
                      <m:rPr>
                        <m:sty m:val="p"/>
                      </m:rPr>
                      <m:t>→</m:t>
                    </m:r>
                  </m:oMath>
                </a14:m>
                <a:r>
                  <a:rPr sz="1800">
                    <a:latin typeface="Times New Roman"/>
                  </a:rPr>
                  <a:t> target </a:t>
                </a:r>
                <a14:m>
                  <m:oMath>
                    <m:r>
                      <m:t>B</m:t>
                    </m:r>
                  </m:oMath>
                </a14:m>
                <a:r>
                  <a:rPr sz="1800">
                    <a:latin typeface="Times New Roman"/>
                  </a:rPr>
                  <a:t>.</a:t>
                </a:r>
              </a:p>
            </p:txBody>
          </p:sp>
        </mc:Choice>
      </mc:AlternateContent>
      <mc:AlternateContent>
        <mc:Choice Requires="a14">
          <p:sp>
            <p:nvSpPr>
              <p:cNvPr id="5" name="Content Placeholder 2"/>
              <p:cNvSpPr>
                <a:spLocks noGrp="1"/>
              </p:cNvSpPr>
              <p:nvPr/>
            </p:nvSpPr>
            <p:spPr>
              <a:xfrm>
                <a:off x="4709160" y="2103120"/>
                <a:ext cx="4069080" cy="169164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Tiny example: EVEN reduces to MULTIPLE-OF-4</a:t>
                </a:r>
              </a:p>
              <a:p>
                <a:pPr lvl="0" indent="0" marL="0">
                  <a:spcAft>
                    <a:spcPts val="650"/>
                  </a:spcAft>
                  <a:buNone/>
                </a:pPr>
                <a:r>
                  <a:rPr sz="1800">
                    <a:latin typeface="Times New Roman"/>
                  </a:rPr>
                  <a:t>Use </a:t>
                </a:r>
                <a14:m>
                  <m:oMath>
                    <m:r>
                      <m:t>f</m:t>
                    </m:r>
                    <m:r>
                      <m:rPr>
                        <m:sty m:val="p"/>
                      </m:rPr>
                      <m:t>(</m:t>
                    </m:r>
                    <m:r>
                      <m:t>n</m:t>
                    </m:r>
                    <m:r>
                      <m:rPr>
                        <m:sty m:val="p"/>
                      </m:rPr>
                      <m:t>)</m:t>
                    </m:r>
                    <m:r>
                      <m:rPr>
                        <m:sty m:val="p"/>
                      </m:rPr>
                      <m:t>=</m:t>
                    </m:r>
                    <m:r>
                      <m:t>2</m:t>
                    </m:r>
                    <m:r>
                      <m:t>n</m:t>
                    </m:r>
                  </m:oMath>
                </a14:m>
                <a:r>
                  <a:rPr sz="1800">
                    <a:latin typeface="Times New Roman"/>
                  </a:rPr>
                  <a:t>. Then</a:t>
                </a:r>
              </a:p>
              <a:p>
                <a:pPr lvl="0" indent="0" marL="0">
                  <a:spcAft>
                    <a:spcPts val="650"/>
                  </a:spcAft>
                  <a:buNone/>
                </a:pPr>
                <a14:m>
                  <m:oMathPara>
                    <m:oMathParaPr>
                      <m:jc m:val="center"/>
                    </m:oMathParaPr>
                    <m:oMath>
                      <m:r>
                        <m:t>n</m:t>
                      </m:r>
                      <m:r>
                        <m:rPr>
                          <m:nor/>
                          <m:sty m:val="p"/>
                        </m:rPr>
                        <m:t> is even</m:t>
                      </m:r>
                      <m:r>
                        <m:rPr>
                          <m:sty m:val="p"/>
                        </m:rPr>
                        <m:t>⇔</m:t>
                      </m:r>
                      <m:r>
                        <m:t>4</m:t>
                      </m:r>
                      <m:r>
                        <m:rPr>
                          <m:sty m:val="p"/>
                        </m:rPr>
                        <m:t>∣</m:t>
                      </m:r>
                      <m:r>
                        <m:t>2</m:t>
                      </m:r>
                      <m:r>
                        <m:t>n</m:t>
                      </m:r>
                      <m:r>
                        <m:rPr>
                          <m:sty m:val="p"/>
                        </m:rPr>
                        <m:t>.</m:t>
                      </m:r>
                    </m:oMath>
                  </m:oMathPara>
                </a14:m>
              </a:p>
            </p:txBody>
          </p:sp>
        </mc:Choice>
      </mc:AlternateContent>
      <p:graphicFrame>
        <p:nvGraphicFramePr>
          <p:cNvPr id="6" name="Content Placeholder 5"/>
          <p:cNvGraphicFramePr>
            <a:graphicFrameLocks noGrp="1"/>
          </p:cNvGraphicFramePr>
          <p:nvPr>
            <p:ph idx="1"/>
          </p:nvPr>
        </p:nvGraphicFramePr>
        <p:xfrm>
          <a:off x="4709160" y="4069080"/>
          <a:ext cx="4069080" cy="1005840"/>
        </p:xfrm>
        <a:graphic>
          <a:graphicData uri="http://schemas.openxmlformats.org/drawingml/2006/table">
            <a:tbl>
              <a:tblPr firstRow="1" bandRow="1">
                <a:tableStyleId>{5C22544A-7EE6-4342-B048-85BDC9FD1C3A}</a:tableStyleId>
              </a:tblPr>
              <a:tblGrid>
                <a:gridCol w="1356360"/>
                <a:gridCol w="1356360"/>
                <a:gridCol w="1356360"/>
              </a:tblGrid>
              <a:tr h="335280">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n</a:t>
                      </a:r>
                    </a:p>
                  </a:txBody>
                  <a:tcPr/>
                </a:tc>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f(n)</a:t>
                      </a:r>
                    </a:p>
                  </a:txBody>
                  <a:tcPr/>
                </a:tc>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Preserved?</a:t>
                      </a:r>
                    </a:p>
                  </a:txBody>
                  <a:tcPr/>
                </a:tc>
              </a:tr>
              <a:tr h="335280">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6: YES</a:t>
                      </a:r>
                    </a:p>
                  </a:txBody>
                </a:tc>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12: YES</a:t>
                      </a:r>
                    </a:p>
                  </a:txBody>
                </a:tc>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YES</a:t>
                      </a:r>
                    </a:p>
                  </a:txBody>
                </a:tc>
              </a:tr>
              <a:tr h="335280">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7: NO</a:t>
                      </a:r>
                    </a:p>
                  </a:txBody>
                </a:tc>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14: NO</a:t>
                      </a:r>
                    </a:p>
                  </a:txBody>
                </a:tc>
                <a:tc>
                  <a: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lgn="l">
                        <a:spcAft>
                          <a:spcPts val="400"/>
                        </a:spcAft>
                        <a:buNone/>
                      </a:pPr>
                      <a:r>
                        <a:rPr sz="1600">
                          <a:latin typeface="Times New Roman"/>
                        </a:rPr>
                        <a:t>YES</a:t>
                      </a:r>
                    </a:p>
                  </a:txBody>
                </a:tc>
              </a:tr>
            </a:tbl>
          </a:graphicData>
        </a:graphic>
      </p:graphicFrame>
      <p:sp>
        <p:nvSpPr>
          <p:cNvPr id="7" name="Content Placeholder 2"/>
          <p:cNvSpPr>
            <a:spLocks noGrp="1"/>
          </p:cNvSpPr>
          <p:nvPr/>
        </p:nvSpPr>
        <p:spPr>
          <a:xfrm>
            <a:off x="4709160" y="5440680"/>
            <a:ext cx="4069080" cy="868680"/>
          </a:xfrm>
        </p:spPr>
        <p: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spcAft>
                <a:spcPts val="400"/>
              </a:spcAft>
              <a:buNone/>
            </a:pPr>
            <a:r>
              <a:rPr sz="1600">
                <a:latin typeface="Times New Roman"/>
              </a:rPr>
              <a:t>This illustrates the mechanics; a hardness proof starts from a known hard problem.</a:t>
            </a:r>
          </a:p>
        </p:txBody>
      </p:sp>
    </p:spTree>
  </p:cSld>
</p:sld>
</file>

<file path=ppt/slides/slide13.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Reusable Recipe: Proving a Problem NP-Complete</a:t>
            </a:r>
          </a:p>
        </p:txBody>
      </p:sp>
      <mc:AlternateContent>
        <mc:Choice Requires="a14">
          <p:sp>
            <p:nvSpPr>
              <p:cNvPr id="3" name="Content Placeholder 2"/>
              <p:cNvSpPr>
                <a:spLocks noGrp="1"/>
              </p:cNvSpPr>
              <p:nvPr/>
            </p:nvSpPr>
            <p:spPr>
              <a:xfrm>
                <a:off x="365760" y="1097280"/>
                <a:ext cx="4069080" cy="256032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1. Membership in NP</a:t>
                </a:r>
              </a:p>
              <a:p>
                <a:pPr lvl="0">
                  <a:spcAft>
                    <a:spcPts val="650"/>
                  </a:spcAft>
                </a:pPr>
                <a:r>
                  <a:rPr sz="1900">
                    <a:latin typeface="Times New Roman"/>
                  </a:rPr>
                  <a:t>State a polynomial-size certificate.</a:t>
                </a:r>
              </a:p>
              <a:p>
                <a:pPr lvl="0">
                  <a:spcAft>
                    <a:spcPts val="650"/>
                  </a:spcAft>
                </a:pPr>
                <a:r>
                  <a:rPr sz="1900">
                    <a:latin typeface="Times New Roman"/>
                  </a:rPr>
                  <a:t>Give a polynomial-time verifier.</a:t>
                </a:r>
              </a:p>
              <a:p>
                <a:pPr lvl="0" indent="0" marL="0">
                  <a:spcAft>
                    <a:spcPts val="650"/>
                  </a:spcAft>
                  <a:buNone/>
                </a:pPr>
                <a14:m>
                  <m:oMathPara>
                    <m:oMathParaPr>
                      <m:jc m:val="center"/>
                    </m:oMathParaPr>
                    <m:oMath>
                      <m:r>
                        <m:t>B</m:t>
                      </m:r>
                      <m:r>
                        <m:rPr>
                          <m:sty m:val="p"/>
                        </m:rPr>
                        <m:t>∈</m:t>
                      </m:r>
                      <m:r>
                        <m:t>N</m:t>
                      </m:r>
                      <m:r>
                        <m:t>P</m:t>
                      </m:r>
                      <m:r>
                        <m:rPr>
                          <m:sty m:val="p"/>
                        </m:rPr>
                        <m:t>.</m:t>
                      </m:r>
                    </m:oMath>
                  </m:oMathPara>
                </a14:m>
              </a:p>
            </p:txBody>
          </p:sp>
        </mc:Choice>
      </mc:AlternateContent>
    </p:spTree>
  </p:cSld>
</p:sld>
</file>

<file path=ppt/slides/slide14.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Reusable Recipe: Proving a Problem NP-Complete</a:t>
            </a:r>
          </a:p>
        </p:txBody>
      </p:sp>
      <mc:AlternateContent>
        <mc:Choice Requires="a14">
          <p:sp>
            <p:nvSpPr>
              <p:cNvPr id="3" name="Content Placeholder 2"/>
              <p:cNvSpPr>
                <a:spLocks noGrp="1"/>
              </p:cNvSpPr>
              <p:nvPr/>
            </p:nvSpPr>
            <p:spPr>
              <a:xfrm>
                <a:off x="365760" y="1097280"/>
                <a:ext cx="4069080" cy="256032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1. Membership in NP</a:t>
                </a:r>
              </a:p>
              <a:p>
                <a:pPr lvl="0">
                  <a:spcAft>
                    <a:spcPts val="650"/>
                  </a:spcAft>
                </a:pPr>
                <a:r>
                  <a:rPr sz="1900">
                    <a:latin typeface="Times New Roman"/>
                  </a:rPr>
                  <a:t>State a polynomial-size certificate.</a:t>
                </a:r>
              </a:p>
              <a:p>
                <a:pPr lvl="0">
                  <a:spcAft>
                    <a:spcPts val="650"/>
                  </a:spcAft>
                </a:pPr>
                <a:r>
                  <a:rPr sz="1900">
                    <a:latin typeface="Times New Roman"/>
                  </a:rPr>
                  <a:t>Give a polynomial-time verifier.</a:t>
                </a:r>
              </a:p>
              <a:p>
                <a:pPr lvl="0" indent="0" marL="0">
                  <a:spcAft>
                    <a:spcPts val="650"/>
                  </a:spcAft>
                  <a:buNone/>
                </a:pPr>
                <a14:m>
                  <m:oMathPara>
                    <m:oMathParaPr>
                      <m:jc m:val="center"/>
                    </m:oMathParaPr>
                    <m:oMath>
                      <m:r>
                        <m:t>B</m:t>
                      </m:r>
                      <m:r>
                        <m:rPr>
                          <m:sty m:val="p"/>
                        </m:rPr>
                        <m:t>∈</m:t>
                      </m:r>
                      <m:r>
                        <m:t>N</m:t>
                      </m:r>
                      <m:r>
                        <m:t>P</m:t>
                      </m:r>
                      <m:r>
                        <m:rPr>
                          <m:sty m:val="p"/>
                        </m:rPr>
                        <m:t>.</m:t>
                      </m:r>
                    </m:oMath>
                  </m:oMathPara>
                </a14:m>
              </a:p>
            </p:txBody>
          </p:sp>
        </mc:Choice>
      </mc:AlternateContent>
      <mc:AlternateContent>
        <mc:Choice Requires="a14">
          <p:sp>
            <p:nvSpPr>
              <p:cNvPr id="4" name="Content Placeholder 2"/>
              <p:cNvSpPr>
                <a:spLocks noGrp="1"/>
              </p:cNvSpPr>
              <p:nvPr/>
            </p:nvSpPr>
            <p:spPr>
              <a:xfrm>
                <a:off x="4709160" y="1097280"/>
                <a:ext cx="4069080" cy="30175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2. NP-hardness</a:t>
                </a:r>
              </a:p>
              <a:p>
                <a:pPr lvl="0" indent="-342900" marL="342900">
                  <a:spcAft>
                    <a:spcPts val="650"/>
                  </a:spcAft>
                  <a:buAutoNum type="arabicPeriod"/>
                </a:pPr>
                <a:r>
                  <a:rPr sz="1800">
                    <a:latin typeface="Times New Roman"/>
                  </a:rPr>
                  <a:t>Choose a known NP-complete problem </a:t>
                </a:r>
                <a14:m>
                  <m:oMath>
                    <m:r>
                      <m:t>A</m:t>
                    </m:r>
                  </m:oMath>
                </a14:m>
                <a:r>
                  <a:rPr sz="1800">
                    <a:latin typeface="Times New Roman"/>
                  </a:rPr>
                  <a:t>.</a:t>
                </a:r>
              </a:p>
              <a:p>
                <a:pPr lvl="0" indent="-342900" marL="342900">
                  <a:spcAft>
                    <a:spcPts val="650"/>
                  </a:spcAft>
                  <a:buAutoNum type="arabicPeriod"/>
                </a:pPr>
                <a:r>
                  <a:rPr sz="1800">
                    <a:latin typeface="Times New Roman"/>
                  </a:rPr>
                  <a:t>Construct </a:t>
                </a:r>
                <a14:m>
                  <m:oMath>
                    <m:r>
                      <m:t>f</m:t>
                    </m:r>
                  </m:oMath>
                </a14:m>
                <a:r>
                  <a:rPr sz="1800">
                    <a:latin typeface="Times New Roman"/>
                  </a:rPr>
                  <a:t> in polynomial time.</a:t>
                </a:r>
              </a:p>
              <a:p>
                <a:pPr lvl="0" indent="-342900" marL="342900">
                  <a:spcAft>
                    <a:spcPts val="650"/>
                  </a:spcAft>
                  <a:buAutoNum type="arabicPeriod"/>
                </a:pPr>
                <a:r>
                  <a:rPr sz="1800">
                    <a:latin typeface="Times New Roman"/>
                  </a:rPr>
                  <a:t>Prove </a:t>
                </a:r>
                <a14:m>
                  <m:oMath>
                    <m:r>
                      <m:t>x</m:t>
                    </m:r>
                    <m:r>
                      <m:rPr>
                        <m:sty m:val="p"/>
                      </m:rPr>
                      <m:t>∈</m:t>
                    </m:r>
                    <m:r>
                      <m:t>A</m:t>
                    </m:r>
                    <m:r>
                      <m:rPr>
                        <m:sty m:val="p"/>
                      </m:rPr>
                      <m:t>⇔</m:t>
                    </m:r>
                    <m:r>
                      <m:t>f</m:t>
                    </m:r>
                    <m:r>
                      <m:rPr>
                        <m:sty m:val="p"/>
                      </m:rPr>
                      <m:t>(</m:t>
                    </m:r>
                    <m:r>
                      <m:t>x</m:t>
                    </m:r>
                    <m:r>
                      <m:rPr>
                        <m:sty m:val="p"/>
                      </m:rPr>
                      <m:t>)</m:t>
                    </m:r>
                    <m:r>
                      <m:rPr>
                        <m:sty m:val="p"/>
                      </m:rPr>
                      <m:t>∈</m:t>
                    </m:r>
                    <m:r>
                      <m:t>B</m:t>
                    </m:r>
                  </m:oMath>
                </a14:m>
                <a:r>
                  <a:rPr sz="1800">
                    <a:latin typeface="Times New Roman"/>
                  </a:rPr>
                  <a:t>.</a:t>
                </a:r>
              </a:p>
              <a:p>
                <a:pPr lvl="0" indent="0" marL="0">
                  <a:spcAft>
                    <a:spcPts val="650"/>
                  </a:spcAft>
                  <a:buNone/>
                </a:pPr>
                <a:r>
                  <a:rPr sz="1800">
                    <a:latin typeface="Times New Roman"/>
                  </a:rPr>
                  <a:t>If </a:t>
                </a:r>
                <a14:m>
                  <m:oMath>
                    <m:r>
                      <m:t>A</m:t>
                    </m:r>
                  </m:oMath>
                </a14:m>
                <a:r>
                  <a:rPr sz="1800">
                    <a:latin typeface="Times New Roman"/>
                  </a:rPr>
                  <a:t> is NP-hard and </a:t>
                </a:r>
                <a14:m>
                  <m:oMath>
                    <m:r>
                      <m:t>A</m:t>
                    </m:r>
                    <m:sSub>
                      <m:e>
                        <m:r>
                          <m:rPr>
                            <m:sty m:val="p"/>
                          </m:rPr>
                          <m:t>≤</m:t>
                        </m:r>
                      </m:e>
                      <m:sub>
                        <m:r>
                          <m:t>p</m:t>
                        </m:r>
                      </m:sub>
                    </m:sSub>
                    <m:r>
                      <m:t>B</m:t>
                    </m:r>
                  </m:oMath>
                </a14:m>
                <a:r>
                  <a:rPr sz="1800">
                    <a:latin typeface="Times New Roman"/>
                  </a:rPr>
                  <a:t>, then </a:t>
                </a:r>
                <a14:m>
                  <m:oMath>
                    <m:r>
                      <m:t>B</m:t>
                    </m:r>
                  </m:oMath>
                </a14:m>
                <a:r>
                  <a:rPr sz="1800">
                    <a:latin typeface="Times New Roman"/>
                  </a:rPr>
                  <a:t> is NP-hard.</a:t>
                </a:r>
              </a:p>
            </p:txBody>
          </p:sp>
        </mc:Choice>
      </mc:AlternateContent>
    </p:spTree>
  </p:cSld>
</p:sld>
</file>

<file path=ppt/slides/slide15.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Reusable Recipe: Proving a Problem NP-Complete</a:t>
            </a:r>
          </a:p>
        </p:txBody>
      </p:sp>
      <mc:AlternateContent>
        <mc:Choice Requires="a14">
          <p:sp>
            <p:nvSpPr>
              <p:cNvPr id="3" name="Content Placeholder 2"/>
              <p:cNvSpPr>
                <a:spLocks noGrp="1"/>
              </p:cNvSpPr>
              <p:nvPr/>
            </p:nvSpPr>
            <p:spPr>
              <a:xfrm>
                <a:off x="365760" y="1097280"/>
                <a:ext cx="4069080" cy="256032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1. Membership in NP</a:t>
                </a:r>
              </a:p>
              <a:p>
                <a:pPr lvl="0">
                  <a:spcAft>
                    <a:spcPts val="650"/>
                  </a:spcAft>
                </a:pPr>
                <a:r>
                  <a:rPr sz="1900">
                    <a:latin typeface="Times New Roman"/>
                  </a:rPr>
                  <a:t>State a polynomial-size certificate.</a:t>
                </a:r>
              </a:p>
              <a:p>
                <a:pPr lvl="0">
                  <a:spcAft>
                    <a:spcPts val="650"/>
                  </a:spcAft>
                </a:pPr>
                <a:r>
                  <a:rPr sz="1900">
                    <a:latin typeface="Times New Roman"/>
                  </a:rPr>
                  <a:t>Give a polynomial-time verifier.</a:t>
                </a:r>
              </a:p>
              <a:p>
                <a:pPr lvl="0" indent="0" marL="0">
                  <a:spcAft>
                    <a:spcPts val="650"/>
                  </a:spcAft>
                  <a:buNone/>
                </a:pPr>
                <a14:m>
                  <m:oMathPara>
                    <m:oMathParaPr>
                      <m:jc m:val="center"/>
                    </m:oMathParaPr>
                    <m:oMath>
                      <m:r>
                        <m:t>B</m:t>
                      </m:r>
                      <m:r>
                        <m:rPr>
                          <m:sty m:val="p"/>
                        </m:rPr>
                        <m:t>∈</m:t>
                      </m:r>
                      <m:r>
                        <m:t>N</m:t>
                      </m:r>
                      <m:r>
                        <m:t>P</m:t>
                      </m:r>
                      <m:r>
                        <m:rPr>
                          <m:sty m:val="p"/>
                        </m:rPr>
                        <m:t>.</m:t>
                      </m:r>
                    </m:oMath>
                  </m:oMathPara>
                </a14:m>
              </a:p>
            </p:txBody>
          </p:sp>
        </mc:Choice>
      </mc:AlternateContent>
      <mc:AlternateContent>
        <mc:Choice Requires="a14">
          <p:sp>
            <p:nvSpPr>
              <p:cNvPr id="4" name="Content Placeholder 2"/>
              <p:cNvSpPr>
                <a:spLocks noGrp="1"/>
              </p:cNvSpPr>
              <p:nvPr/>
            </p:nvSpPr>
            <p:spPr>
              <a:xfrm>
                <a:off x="4709160" y="1097280"/>
                <a:ext cx="4069080" cy="30175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2. NP-hardness</a:t>
                </a:r>
              </a:p>
              <a:p>
                <a:pPr lvl="0" indent="-342900" marL="342900">
                  <a:spcAft>
                    <a:spcPts val="650"/>
                  </a:spcAft>
                  <a:buAutoNum type="arabicPeriod"/>
                </a:pPr>
                <a:r>
                  <a:rPr sz="1800">
                    <a:latin typeface="Times New Roman"/>
                  </a:rPr>
                  <a:t>Choose a known NP-complete problem </a:t>
                </a:r>
                <a14:m>
                  <m:oMath>
                    <m:r>
                      <m:t>A</m:t>
                    </m:r>
                  </m:oMath>
                </a14:m>
                <a:r>
                  <a:rPr sz="1800">
                    <a:latin typeface="Times New Roman"/>
                  </a:rPr>
                  <a:t>.</a:t>
                </a:r>
              </a:p>
              <a:p>
                <a:pPr lvl="0" indent="-342900" marL="342900">
                  <a:spcAft>
                    <a:spcPts val="650"/>
                  </a:spcAft>
                  <a:buAutoNum type="arabicPeriod"/>
                </a:pPr>
                <a:r>
                  <a:rPr sz="1800">
                    <a:latin typeface="Times New Roman"/>
                  </a:rPr>
                  <a:t>Construct </a:t>
                </a:r>
                <a14:m>
                  <m:oMath>
                    <m:r>
                      <m:t>f</m:t>
                    </m:r>
                  </m:oMath>
                </a14:m>
                <a:r>
                  <a:rPr sz="1800">
                    <a:latin typeface="Times New Roman"/>
                  </a:rPr>
                  <a:t> in polynomial time.</a:t>
                </a:r>
              </a:p>
              <a:p>
                <a:pPr lvl="0" indent="-342900" marL="342900">
                  <a:spcAft>
                    <a:spcPts val="650"/>
                  </a:spcAft>
                  <a:buAutoNum type="arabicPeriod"/>
                </a:pPr>
                <a:r>
                  <a:rPr sz="1800">
                    <a:latin typeface="Times New Roman"/>
                  </a:rPr>
                  <a:t>Prove </a:t>
                </a:r>
                <a14:m>
                  <m:oMath>
                    <m:r>
                      <m:t>x</m:t>
                    </m:r>
                    <m:r>
                      <m:rPr>
                        <m:sty m:val="p"/>
                      </m:rPr>
                      <m:t>∈</m:t>
                    </m:r>
                    <m:r>
                      <m:t>A</m:t>
                    </m:r>
                    <m:r>
                      <m:rPr>
                        <m:sty m:val="p"/>
                      </m:rPr>
                      <m:t>⇔</m:t>
                    </m:r>
                    <m:r>
                      <m:t>f</m:t>
                    </m:r>
                    <m:r>
                      <m:rPr>
                        <m:sty m:val="p"/>
                      </m:rPr>
                      <m:t>(</m:t>
                    </m:r>
                    <m:r>
                      <m:t>x</m:t>
                    </m:r>
                    <m:r>
                      <m:rPr>
                        <m:sty m:val="p"/>
                      </m:rPr>
                      <m:t>)</m:t>
                    </m:r>
                    <m:r>
                      <m:rPr>
                        <m:sty m:val="p"/>
                      </m:rPr>
                      <m:t>∈</m:t>
                    </m:r>
                    <m:r>
                      <m:t>B</m:t>
                    </m:r>
                  </m:oMath>
                </a14:m>
                <a:r>
                  <a:rPr sz="1800">
                    <a:latin typeface="Times New Roman"/>
                  </a:rPr>
                  <a:t>.</a:t>
                </a:r>
              </a:p>
              <a:p>
                <a:pPr lvl="0" indent="0" marL="0">
                  <a:spcAft>
                    <a:spcPts val="650"/>
                  </a:spcAft>
                  <a:buNone/>
                </a:pPr>
                <a:r>
                  <a:rPr sz="1800">
                    <a:latin typeface="Times New Roman"/>
                  </a:rPr>
                  <a:t>If </a:t>
                </a:r>
                <a14:m>
                  <m:oMath>
                    <m:r>
                      <m:t>A</m:t>
                    </m:r>
                  </m:oMath>
                </a14:m>
                <a:r>
                  <a:rPr sz="1800">
                    <a:latin typeface="Times New Roman"/>
                  </a:rPr>
                  <a:t> is NP-hard and </a:t>
                </a:r>
                <a14:m>
                  <m:oMath>
                    <m:r>
                      <m:t>A</m:t>
                    </m:r>
                    <m:sSub>
                      <m:e>
                        <m:r>
                          <m:rPr>
                            <m:sty m:val="p"/>
                          </m:rPr>
                          <m:t>≤</m:t>
                        </m:r>
                      </m:e>
                      <m:sub>
                        <m:r>
                          <m:t>p</m:t>
                        </m:r>
                      </m:sub>
                    </m:sSub>
                    <m:r>
                      <m:t>B</m:t>
                    </m:r>
                  </m:oMath>
                </a14:m>
                <a:r>
                  <a:rPr sz="1800">
                    <a:latin typeface="Times New Roman"/>
                  </a:rPr>
                  <a:t>, then </a:t>
                </a:r>
                <a14:m>
                  <m:oMath>
                    <m:r>
                      <m:t>B</m:t>
                    </m:r>
                  </m:oMath>
                </a14:m>
                <a:r>
                  <a:rPr sz="1800">
                    <a:latin typeface="Times New Roman"/>
                  </a:rPr>
                  <a:t> is NP-hard.</a:t>
                </a:r>
              </a:p>
            </p:txBody>
          </p:sp>
        </mc:Choice>
      </mc:AlternateContent>
      <p:pic>
        <p:nvPicPr>
          <p:cNvPr descr="editable_assets/diagram-07-1.png" id="5" name="Picture 1"/>
          <p:cNvPicPr>
            <a:picLocks noGrp="1" noChangeAspect="1"/>
          </p:cNvPicPr>
          <p:nvPr/>
        </p:nvPicPr>
        <p:blipFill>
          <a:blip r:embed="rId3"/>
          <a:srcRect l="3346" t="11471" r="3346" b="11471"/>
          <a:stretch>
            <a:fillRect/>
          </a:stretch>
        </p:blipFill>
        <p:spPr bwMode="auto">
          <a:xfrm>
            <a:off x="1693785" y="4297680"/>
            <a:ext cx="5756429" cy="1417320"/>
          </a:xfrm>
          <a:prstGeom prst="rect">
            <a:avLst/>
          </a:prstGeom>
          <a:noFill/>
          <a:ln w="9525">
            <a:noFill/>
            <a:headEnd/>
            <a:tailEnd/>
          </a:ln>
        </p:spPr>
      </p:pic>
      <p:sp>
        <p:nvSpPr>
          <p:cNvPr id="6" name="Content Placeholder 2"/>
          <p:cNvSpPr>
            <a:spLocks noGrp="1"/>
          </p:cNvSpPr>
          <p:nvPr/>
        </p:nvSpPr>
        <p:spPr>
          <a:xfrm>
            <a:off x="457200" y="5989320"/>
            <a:ext cx="8229600" cy="5029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Direction mnemonic:</a:t>
            </a:r>
            <a:r>
              <a:rPr sz="1800">
                <a:latin typeface="Times New Roman"/>
              </a:rPr>
              <a:t> the known hard problem goes </a:t>
            </a:r>
            <a:r>
              <a:rPr i="1" sz="1800">
                <a:latin typeface="Times New Roman"/>
              </a:rPr>
              <a:t>into</a:t>
            </a:r>
            <a:r>
              <a:rPr sz="1800">
                <a:latin typeface="Times New Roman"/>
              </a:rPr>
              <a:t> the target problem.</a:t>
            </a:r>
          </a:p>
        </p:txBody>
      </p:sp>
    </p:spTree>
  </p:cSld>
</p:sld>
</file>

<file path=ppt/slides/slide16.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Worked Reduction: 3-SAT reduces to 3-COLOR</a:t>
            </a:r>
          </a:p>
        </p:txBody>
      </p:sp>
      <mc:AlternateContent>
        <mc:Choice Requires="a14">
          <p:sp>
            <p:nvSpPr>
              <p:cNvPr id="3" name="Content Placeholder 2"/>
              <p:cNvSpPr>
                <a:spLocks noGrp="1"/>
              </p:cNvSpPr>
              <p:nvPr/>
            </p:nvSpPr>
            <p:spPr>
              <a:xfrm>
                <a:off x="365760" y="1051560"/>
                <a:ext cx="4069080" cy="274320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Source: 3-SAT</a:t>
                </a:r>
              </a:p>
              <a:p>
                <a:pPr lvl="0" indent="0" marL="0">
                  <a:spcAft>
                    <a:spcPts val="650"/>
                  </a:spcAft>
                  <a:buNone/>
                </a:pPr>
                <a:r>
                  <a:rPr sz="1800">
                    <a:latin typeface="Times New Roman"/>
                  </a:rPr>
                  <a:t>A 3-CNF formula is an AND of clauses, each an OR of three literals:</a:t>
                </a:r>
              </a:p>
              <a:p>
                <a:pPr lvl="0" indent="0" marL="0">
                  <a:spcAft>
                    <a:spcPts val="650"/>
                  </a:spcAft>
                  <a:buNone/>
                </a:pPr>
                <a14:m>
                  <m:oMathPara>
                    <m:oMathParaPr>
                      <m:jc m:val="center"/>
                    </m:oMathParaPr>
                    <m:oMath>
                      <m:r>
                        <m:t>ϕ</m:t>
                      </m:r>
                      <m:r>
                        <m:rPr>
                          <m:sty m:val="p"/>
                        </m:rPr>
                        <m:t>=</m:t>
                      </m:r>
                      <m:sSub>
                        <m:e>
                          <m:r>
                            <m:t>C</m:t>
                          </m:r>
                        </m:e>
                        <m:sub>
                          <m:r>
                            <m:t>1</m:t>
                          </m:r>
                        </m:sub>
                      </m:sSub>
                      <m:r>
                        <m:rPr>
                          <m:sty m:val="p"/>
                        </m:rPr>
                        <m:t>∧</m:t>
                      </m:r>
                      <m:r>
                        <m:rPr>
                          <m:sty m:val="p"/>
                        </m:rPr>
                        <m:t>⋯</m:t>
                      </m:r>
                      <m:r>
                        <m:rPr>
                          <m:sty m:val="p"/>
                        </m:rPr>
                        <m:t>∧</m:t>
                      </m:r>
                      <m:sSub>
                        <m:e>
                          <m:r>
                            <m:t>C</m:t>
                          </m:r>
                        </m:e>
                        <m:sub>
                          <m:r>
                            <m:t>m</m:t>
                          </m:r>
                        </m:sub>
                      </m:sSub>
                      <m:r>
                        <m:rPr>
                          <m:sty m:val="p"/>
                        </m:rPr>
                        <m:t>.</m:t>
                      </m:r>
                    </m:oMath>
                  </m:oMathPara>
                </a14:m>
              </a:p>
              <a:p>
                <a:pPr lvl="0" indent="0" marL="0">
                  <a:spcAft>
                    <a:spcPts val="650"/>
                  </a:spcAft>
                  <a:buNone/>
                </a:pPr>
                <a:r>
                  <a:rPr sz="1800">
                    <a:latin typeface="Times New Roman"/>
                  </a:rPr>
                  <a:t>Can a truth assignment satisfy every clause? A literal is a variable or its negation.</a:t>
                </a:r>
              </a:p>
            </p:txBody>
          </p:sp>
        </mc:Choice>
      </mc:AlternateContent>
      <p:sp>
        <p:nvSpPr>
          <p:cNvPr id="4" name="Content Placeholder 2"/>
          <p:cNvSpPr>
            <a:spLocks noGrp="1"/>
          </p:cNvSpPr>
          <p:nvPr/>
        </p:nvSpPr>
        <p:spPr>
          <a:xfrm>
            <a:off x="4709160" y="1051560"/>
            <a:ext cx="4069080" cy="228600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Target: 3-COLOR</a:t>
            </a:r>
          </a:p>
          <a:p>
            <a:pPr lvl="0" indent="0" marL="0">
              <a:spcAft>
                <a:spcPts val="650"/>
              </a:spcAft>
              <a:buNone/>
            </a:pPr>
            <a:r>
              <a:rPr sz="1900">
                <a:latin typeface="Times New Roman"/>
              </a:rPr>
              <a:t>Can the graph’s vertices be colored with three colors so that adjacent vertices have different colors?</a:t>
            </a:r>
          </a:p>
        </p:txBody>
      </p:sp>
    </p:spTree>
  </p:cSld>
</p:sld>
</file>

<file path=ppt/slides/slide17.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Worked Reduction: 3-SAT reduces to 3-COLOR</a:t>
            </a:r>
          </a:p>
        </p:txBody>
      </p:sp>
      <mc:AlternateContent>
        <mc:Choice Requires="a14">
          <p:sp>
            <p:nvSpPr>
              <p:cNvPr id="3" name="Content Placeholder 2"/>
              <p:cNvSpPr>
                <a:spLocks noGrp="1"/>
              </p:cNvSpPr>
              <p:nvPr/>
            </p:nvSpPr>
            <p:spPr>
              <a:xfrm>
                <a:off x="365760" y="1051560"/>
                <a:ext cx="4069080" cy="274320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Source: 3-SAT</a:t>
                </a:r>
              </a:p>
              <a:p>
                <a:pPr lvl="0" indent="0" marL="0">
                  <a:spcAft>
                    <a:spcPts val="650"/>
                  </a:spcAft>
                  <a:buNone/>
                </a:pPr>
                <a:r>
                  <a:rPr sz="1800">
                    <a:latin typeface="Times New Roman"/>
                  </a:rPr>
                  <a:t>A 3-CNF formula is an AND of clauses, each an OR of three literals:</a:t>
                </a:r>
              </a:p>
              <a:p>
                <a:pPr lvl="0" indent="0" marL="0">
                  <a:spcAft>
                    <a:spcPts val="650"/>
                  </a:spcAft>
                  <a:buNone/>
                </a:pPr>
                <a14:m>
                  <m:oMathPara>
                    <m:oMathParaPr>
                      <m:jc m:val="center"/>
                    </m:oMathParaPr>
                    <m:oMath>
                      <m:r>
                        <m:t>ϕ</m:t>
                      </m:r>
                      <m:r>
                        <m:rPr>
                          <m:sty m:val="p"/>
                        </m:rPr>
                        <m:t>=</m:t>
                      </m:r>
                      <m:sSub>
                        <m:e>
                          <m:r>
                            <m:t>C</m:t>
                          </m:r>
                        </m:e>
                        <m:sub>
                          <m:r>
                            <m:t>1</m:t>
                          </m:r>
                        </m:sub>
                      </m:sSub>
                      <m:r>
                        <m:rPr>
                          <m:sty m:val="p"/>
                        </m:rPr>
                        <m:t>∧</m:t>
                      </m:r>
                      <m:r>
                        <m:rPr>
                          <m:sty m:val="p"/>
                        </m:rPr>
                        <m:t>⋯</m:t>
                      </m:r>
                      <m:r>
                        <m:rPr>
                          <m:sty m:val="p"/>
                        </m:rPr>
                        <m:t>∧</m:t>
                      </m:r>
                      <m:sSub>
                        <m:e>
                          <m:r>
                            <m:t>C</m:t>
                          </m:r>
                        </m:e>
                        <m:sub>
                          <m:r>
                            <m:t>m</m:t>
                          </m:r>
                        </m:sub>
                      </m:sSub>
                      <m:r>
                        <m:rPr>
                          <m:sty m:val="p"/>
                        </m:rPr>
                        <m:t>.</m:t>
                      </m:r>
                    </m:oMath>
                  </m:oMathPara>
                </a14:m>
              </a:p>
              <a:p>
                <a:pPr lvl="0" indent="0" marL="0">
                  <a:spcAft>
                    <a:spcPts val="650"/>
                  </a:spcAft>
                  <a:buNone/>
                </a:pPr>
                <a:r>
                  <a:rPr sz="1800">
                    <a:latin typeface="Times New Roman"/>
                  </a:rPr>
                  <a:t>Can a truth assignment satisfy every clause? A literal is a variable or its negation.</a:t>
                </a:r>
              </a:p>
            </p:txBody>
          </p:sp>
        </mc:Choice>
      </mc:AlternateContent>
      <p:sp>
        <p:nvSpPr>
          <p:cNvPr id="4" name="Content Placeholder 2"/>
          <p:cNvSpPr>
            <a:spLocks noGrp="1"/>
          </p:cNvSpPr>
          <p:nvPr/>
        </p:nvSpPr>
        <p:spPr>
          <a:xfrm>
            <a:off x="4709160" y="1051560"/>
            <a:ext cx="4069080" cy="228600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Target: 3-COLOR</a:t>
            </a:r>
          </a:p>
          <a:p>
            <a:pPr lvl="0" indent="0" marL="0">
              <a:spcAft>
                <a:spcPts val="650"/>
              </a:spcAft>
              <a:buNone/>
            </a:pPr>
            <a:r>
              <a:rPr sz="1900">
                <a:latin typeface="Times New Roman"/>
              </a:rPr>
              <a:t>Can the graph’s vertices be colored with three colors so that adjacent vertices have different colors?</a:t>
            </a:r>
          </a:p>
        </p:txBody>
      </p:sp>
      <p:pic>
        <p:nvPicPr>
          <p:cNvPr descr="editable_assets/diagram-08-1.png" id="5" name="Picture 1"/>
          <p:cNvPicPr>
            <a:picLocks noGrp="1" noChangeAspect="1"/>
          </p:cNvPicPr>
          <p:nvPr/>
        </p:nvPicPr>
        <p:blipFill>
          <a:blip r:embed="rId3"/>
          <a:srcRect l="2776" t="9956" r="2776" b="9956"/>
          <a:stretch>
            <a:fillRect/>
          </a:stretch>
        </p:blipFill>
        <p:spPr bwMode="auto">
          <a:xfrm>
            <a:off x="1574877" y="3931920"/>
            <a:ext cx="5994246" cy="1417320"/>
          </a:xfrm>
          <a:prstGeom prst="rect">
            <a:avLst/>
          </a:prstGeom>
          <a:noFill/>
          <a:ln w="9525">
            <a:noFill/>
            <a:headEnd/>
            <a:tailEnd/>
          </a:ln>
        </p:spPr>
      </p:pic>
    </p:spTree>
  </p:cSld>
</p:sld>
</file>

<file path=ppt/slides/slide18.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Worked Reduction: 3-SAT reduces to 3-COLOR</a:t>
            </a:r>
          </a:p>
        </p:txBody>
      </p:sp>
      <mc:AlternateContent>
        <mc:Choice Requires="a14">
          <p:sp>
            <p:nvSpPr>
              <p:cNvPr id="3" name="Content Placeholder 2"/>
              <p:cNvSpPr>
                <a:spLocks noGrp="1"/>
              </p:cNvSpPr>
              <p:nvPr/>
            </p:nvSpPr>
            <p:spPr>
              <a:xfrm>
                <a:off x="365760" y="1051560"/>
                <a:ext cx="4069080" cy="274320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Source: 3-SAT</a:t>
                </a:r>
              </a:p>
              <a:p>
                <a:pPr lvl="0" indent="0" marL="0">
                  <a:spcAft>
                    <a:spcPts val="650"/>
                  </a:spcAft>
                  <a:buNone/>
                </a:pPr>
                <a:r>
                  <a:rPr sz="1800">
                    <a:latin typeface="Times New Roman"/>
                  </a:rPr>
                  <a:t>A 3-CNF formula is an AND of clauses, each an OR of three literals:</a:t>
                </a:r>
              </a:p>
              <a:p>
                <a:pPr lvl="0" indent="0" marL="0">
                  <a:spcAft>
                    <a:spcPts val="650"/>
                  </a:spcAft>
                  <a:buNone/>
                </a:pPr>
                <a14:m>
                  <m:oMathPara>
                    <m:oMathParaPr>
                      <m:jc m:val="center"/>
                    </m:oMathParaPr>
                    <m:oMath>
                      <m:r>
                        <m:t>ϕ</m:t>
                      </m:r>
                      <m:r>
                        <m:rPr>
                          <m:sty m:val="p"/>
                        </m:rPr>
                        <m:t>=</m:t>
                      </m:r>
                      <m:sSub>
                        <m:e>
                          <m:r>
                            <m:t>C</m:t>
                          </m:r>
                        </m:e>
                        <m:sub>
                          <m:r>
                            <m:t>1</m:t>
                          </m:r>
                        </m:sub>
                      </m:sSub>
                      <m:r>
                        <m:rPr>
                          <m:sty m:val="p"/>
                        </m:rPr>
                        <m:t>∧</m:t>
                      </m:r>
                      <m:r>
                        <m:rPr>
                          <m:sty m:val="p"/>
                        </m:rPr>
                        <m:t>⋯</m:t>
                      </m:r>
                      <m:r>
                        <m:rPr>
                          <m:sty m:val="p"/>
                        </m:rPr>
                        <m:t>∧</m:t>
                      </m:r>
                      <m:sSub>
                        <m:e>
                          <m:r>
                            <m:t>C</m:t>
                          </m:r>
                        </m:e>
                        <m:sub>
                          <m:r>
                            <m:t>m</m:t>
                          </m:r>
                        </m:sub>
                      </m:sSub>
                      <m:r>
                        <m:rPr>
                          <m:sty m:val="p"/>
                        </m:rPr>
                        <m:t>.</m:t>
                      </m:r>
                    </m:oMath>
                  </m:oMathPara>
                </a14:m>
              </a:p>
              <a:p>
                <a:pPr lvl="0" indent="0" marL="0">
                  <a:spcAft>
                    <a:spcPts val="650"/>
                  </a:spcAft>
                  <a:buNone/>
                </a:pPr>
                <a:r>
                  <a:rPr sz="1800">
                    <a:latin typeface="Times New Roman"/>
                  </a:rPr>
                  <a:t>Can a truth assignment satisfy every clause? A literal is a variable or its negation.</a:t>
                </a:r>
              </a:p>
            </p:txBody>
          </p:sp>
        </mc:Choice>
      </mc:AlternateContent>
      <p:sp>
        <p:nvSpPr>
          <p:cNvPr id="4" name="Content Placeholder 2"/>
          <p:cNvSpPr>
            <a:spLocks noGrp="1"/>
          </p:cNvSpPr>
          <p:nvPr/>
        </p:nvSpPr>
        <p:spPr>
          <a:xfrm>
            <a:off x="4709160" y="1051560"/>
            <a:ext cx="4069080" cy="228600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Target: 3-COLOR</a:t>
            </a:r>
          </a:p>
          <a:p>
            <a:pPr lvl="0" indent="0" marL="0">
              <a:spcAft>
                <a:spcPts val="650"/>
              </a:spcAft>
              <a:buNone/>
            </a:pPr>
            <a:r>
              <a:rPr sz="1900">
                <a:latin typeface="Times New Roman"/>
              </a:rPr>
              <a:t>Can the graph’s vertices be colored with three colors so that adjacent vertices have different colors?</a:t>
            </a:r>
          </a:p>
        </p:txBody>
      </p:sp>
      <p:pic>
        <p:nvPicPr>
          <p:cNvPr descr="editable_assets/diagram-08-1.png" id="5" name="Picture 1"/>
          <p:cNvPicPr>
            <a:picLocks noGrp="1" noChangeAspect="1"/>
          </p:cNvPicPr>
          <p:nvPr/>
        </p:nvPicPr>
        <p:blipFill>
          <a:blip r:embed="rId3"/>
          <a:srcRect l="2776" t="9956" r="2776" b="9956"/>
          <a:stretch>
            <a:fillRect/>
          </a:stretch>
        </p:blipFill>
        <p:spPr bwMode="auto">
          <a:xfrm>
            <a:off x="1574877" y="3931920"/>
            <a:ext cx="5994246" cy="1417320"/>
          </a:xfrm>
          <a:prstGeom prst="rect">
            <a:avLst/>
          </a:prstGeom>
          <a:noFill/>
          <a:ln w="9525">
            <a:noFill/>
            <a:headEnd/>
            <a:tailEnd/>
          </a:ln>
        </p:spPr>
      </p:pic>
      <mc:AlternateContent>
        <mc:Choice Requires="a14">
          <p:sp>
            <p:nvSpPr>
              <p:cNvPr id="6" name="Content Placeholder 2"/>
              <p:cNvSpPr>
                <a:spLocks noGrp="1"/>
              </p:cNvSpPr>
              <p:nvPr/>
            </p:nvSpPr>
            <p:spPr>
              <a:xfrm>
                <a:off x="457200" y="5532120"/>
                <a:ext cx="8229600" cy="868680"/>
              </a:xfrm>
            </p:spPr>
            <p:txBody>
              <a:bodyPr lIns="0" rIns="0" tIns="0" bIns="0" anchor="t" wrap="square">
                <a:noAutofit/>
              </a:bodyPr>
              <a:lstStyle>
                <a:lvl1pPr>
                  <a:defRPr sz="1700">
                    <a:latin typeface="Times New Roman"/>
                  </a:defRPr>
                </a:lvl1pPr>
                <a:lvl2pPr>
                  <a:defRPr sz="1700">
                    <a:latin typeface="Times New Roman"/>
                  </a:defRPr>
                </a:lvl2pPr>
                <a:lvl3pPr>
                  <a:defRPr sz="1700">
                    <a:latin typeface="Times New Roman"/>
                  </a:defRPr>
                </a:lvl3pPr>
                <a:lvl4pPr>
                  <a:defRPr sz="1700">
                    <a:latin typeface="Times New Roman"/>
                  </a:defRPr>
                </a:lvl4pPr>
                <a:lvl5pPr>
                  <a:defRPr sz="1700">
                    <a:latin typeface="Times New Roman"/>
                  </a:defRPr>
                </a:lvl5pPr>
                <a:lvl6pPr>
                  <a:defRPr sz="1700">
                    <a:latin typeface="Times New Roman"/>
                  </a:defRPr>
                </a:lvl6pPr>
                <a:lvl7pPr>
                  <a:defRPr sz="1700">
                    <a:latin typeface="Times New Roman"/>
                  </a:defRPr>
                </a:lvl7pPr>
                <a:lvl8pPr>
                  <a:defRPr sz="1700">
                    <a:latin typeface="Times New Roman"/>
                  </a:defRPr>
                </a:lvl8pPr>
                <a:lvl9pPr>
                  <a:defRPr sz="1700">
                    <a:latin typeface="Times New Roman"/>
                  </a:defRPr>
                </a:lvl9pPr>
              </a:lstStyle>
              <a:p>
                <a:pPr lvl="0" indent="0" marL="0">
                  <a:spcAft>
                    <a:spcPts val="400"/>
                  </a:spcAft>
                  <a:buNone/>
                </a:pPr>
                <a:r>
                  <a:rPr b="1" sz="1700">
                    <a:latin typeface="Times New Roman"/>
                  </a:rPr>
                  <a:t>Design invariant:</a:t>
                </a:r>
                <a:r>
                  <a:rPr sz="1700">
                    <a:latin typeface="Times New Roman"/>
                  </a:rPr>
                  <a:t> </a:t>
                </a:r>
                <a14:m>
                  <m:oMath>
                    <m:r>
                      <m:t>ϕ</m:t>
                    </m:r>
                  </m:oMath>
                </a14:m>
                <a:r>
                  <a:rPr sz="1700">
                    <a:latin typeface="Times New Roman"/>
                  </a:rPr>
                  <a:t> is satisfiable if and only if </a:t>
                </a:r>
                <a14:m>
                  <m:oMath>
                    <m:sSub>
                      <m:e>
                        <m:r>
                          <m:t>G</m:t>
                        </m:r>
                      </m:e>
                      <m:sub>
                        <m:r>
                          <m:t>ϕ</m:t>
                        </m:r>
                      </m:sub>
                    </m:sSub>
                  </m:oMath>
                </a14:m>
                <a:r>
                  <a:rPr sz="1700">
                    <a:latin typeface="Times New Roman"/>
                  </a:rPr>
                  <a:t> is 3-colorable.</a:t>
                </a:r>
              </a:p>
              <a:p>
                <a:pPr lvl="0" indent="0" marL="0">
                  <a:spcAft>
                    <a:spcPts val="400"/>
                  </a:spcAft>
                  <a:buNone/>
                </a:pPr>
                <a:r>
                  <a:rPr sz="1700">
                    <a:latin typeface="Times New Roman"/>
                  </a:rPr>
                  <a:t>This illustrates the general proof recipe; it is not the definition of reduction.</a:t>
                </a:r>
              </a:p>
            </p:txBody>
          </p:sp>
        </mc:Choice>
      </mc:AlternateContent>
    </p:spTree>
  </p:cSld>
</p:sld>
</file>

<file path=ppt/slides/slide19.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Encoding Truth with Colors</a:t>
            </a:r>
          </a:p>
        </p:txBody>
      </p:sp>
      <mc:AlternateContent>
        <mc:Choice Requires="a14">
          <p:sp>
            <p:nvSpPr>
              <p:cNvPr id="3" name="Content Placeholder 2"/>
              <p:cNvSpPr>
                <a:spLocks noGrp="1"/>
              </p:cNvSpPr>
              <p:nvPr/>
            </p:nvSpPr>
            <p:spPr>
              <a:xfrm>
                <a:off x="365760" y="1188720"/>
                <a:ext cx="4069080" cy="118872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Palette gadget</a:t>
                </a:r>
              </a:p>
              <a:p>
                <a:pPr lvl="0" indent="0" marL="0">
                  <a:spcAft>
                    <a:spcPts val="650"/>
                  </a:spcAft>
                  <a:buNone/>
                </a:pPr>
                <a:r>
                  <a:rPr sz="1900">
                    <a:latin typeface="Times New Roman"/>
                  </a:rPr>
                  <a:t>A triangle forces three distinct colors. Name them </a:t>
                </a:r>
                <a14:m>
                  <m:oMath>
                    <m:r>
                      <m:t>T</m:t>
                    </m:r>
                  </m:oMath>
                </a14:m>
                <a:r>
                  <a:rPr sz="1900">
                    <a:latin typeface="Times New Roman"/>
                  </a:rPr>
                  <a:t>, </a:t>
                </a:r>
                <a14:m>
                  <m:oMath>
                    <m:r>
                      <m:t>F</m:t>
                    </m:r>
                  </m:oMath>
                </a14:m>
                <a:r>
                  <a:rPr sz="1900">
                    <a:latin typeface="Times New Roman"/>
                  </a:rPr>
                  <a:t> and </a:t>
                </a:r>
                <a14:m>
                  <m:oMath>
                    <m:r>
                      <m:t>B</m:t>
                    </m:r>
                  </m:oMath>
                </a14:m>
                <a:r>
                  <a:rPr sz="1900">
                    <a:latin typeface="Times New Roman"/>
                  </a:rPr>
                  <a:t> (base/helper).</a:t>
                </a:r>
              </a:p>
            </p:txBody>
          </p:sp>
        </mc:Choice>
      </mc:AlternateContent>
      <p:pic>
        <p:nvPicPr>
          <p:cNvPr descr="editable_assets/diagram-09-1.png" id="4" name="Picture 1"/>
          <p:cNvPicPr>
            <a:picLocks noGrp="1" noChangeAspect="1"/>
          </p:cNvPicPr>
          <p:nvPr/>
        </p:nvPicPr>
        <p:blipFill>
          <a:blip r:embed="rId3"/>
          <a:srcRect l="7538" t="9298" r="7538" b="1240"/>
          <a:stretch>
            <a:fillRect/>
          </a:stretch>
        </p:blipFill>
        <p:spPr bwMode="auto">
          <a:xfrm>
            <a:off x="731520" y="2624346"/>
            <a:ext cx="3383280" cy="2889468"/>
          </a:xfrm>
          <a:prstGeom prst="rect">
            <a:avLst/>
          </a:prstGeom>
          <a:noFill/>
          <a:ln w="9525">
            <a:noFill/>
            <a:headEnd/>
            <a:tailEnd/>
          </a:ln>
        </p:spPr>
      </p:pic>
    </p:spTree>
  </p:cSld>
</p:sld>
</file>

<file path=ppt/slides/slide20.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Encoding Truth with Colors</a:t>
            </a:r>
          </a:p>
        </p:txBody>
      </p:sp>
      <mc:AlternateContent>
        <mc:Choice Requires="a14">
          <p:sp>
            <p:nvSpPr>
              <p:cNvPr id="3" name="Content Placeholder 2"/>
              <p:cNvSpPr>
                <a:spLocks noGrp="1"/>
              </p:cNvSpPr>
              <p:nvPr/>
            </p:nvSpPr>
            <p:spPr>
              <a:xfrm>
                <a:off x="365760" y="1188720"/>
                <a:ext cx="4069080" cy="118872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Palette gadget</a:t>
                </a:r>
              </a:p>
              <a:p>
                <a:pPr lvl="0" indent="0" marL="0">
                  <a:spcAft>
                    <a:spcPts val="650"/>
                  </a:spcAft>
                  <a:buNone/>
                </a:pPr>
                <a:r>
                  <a:rPr sz="1900">
                    <a:latin typeface="Times New Roman"/>
                  </a:rPr>
                  <a:t>A triangle forces three distinct colors. Name them </a:t>
                </a:r>
                <a14:m>
                  <m:oMath>
                    <m:r>
                      <m:t>T</m:t>
                    </m:r>
                  </m:oMath>
                </a14:m>
                <a:r>
                  <a:rPr sz="1900">
                    <a:latin typeface="Times New Roman"/>
                  </a:rPr>
                  <a:t>, </a:t>
                </a:r>
                <a14:m>
                  <m:oMath>
                    <m:r>
                      <m:t>F</m:t>
                    </m:r>
                  </m:oMath>
                </a14:m>
                <a:r>
                  <a:rPr sz="1900">
                    <a:latin typeface="Times New Roman"/>
                  </a:rPr>
                  <a:t> and </a:t>
                </a:r>
                <a14:m>
                  <m:oMath>
                    <m:r>
                      <m:t>B</m:t>
                    </m:r>
                  </m:oMath>
                </a14:m>
                <a:r>
                  <a:rPr sz="1900">
                    <a:latin typeface="Times New Roman"/>
                  </a:rPr>
                  <a:t> (base/helper).</a:t>
                </a:r>
              </a:p>
            </p:txBody>
          </p:sp>
        </mc:Choice>
      </mc:AlternateContent>
      <p:pic>
        <p:nvPicPr>
          <p:cNvPr descr="editable_assets/diagram-09-1.png" id="4" name="Picture 1"/>
          <p:cNvPicPr>
            <a:picLocks noGrp="1" noChangeAspect="1"/>
          </p:cNvPicPr>
          <p:nvPr/>
        </p:nvPicPr>
        <p:blipFill>
          <a:blip r:embed="rId3"/>
          <a:srcRect l="7538" t="9298" r="7538" b="1240"/>
          <a:stretch>
            <a:fillRect/>
          </a:stretch>
        </p:blipFill>
        <p:spPr bwMode="auto">
          <a:xfrm>
            <a:off x="731520" y="2624346"/>
            <a:ext cx="3383280" cy="2889468"/>
          </a:xfrm>
          <a:prstGeom prst="rect">
            <a:avLst/>
          </a:prstGeom>
          <a:noFill/>
          <a:ln w="9525">
            <a:noFill/>
            <a:headEnd/>
            <a:tailEnd/>
          </a:ln>
        </p:spPr>
      </p:pic>
      <mc:AlternateContent>
        <mc:Choice Requires="a14">
          <p:sp>
            <p:nvSpPr>
              <p:cNvPr id="5" name="Content Placeholder 2"/>
              <p:cNvSpPr>
                <a:spLocks noGrp="1"/>
              </p:cNvSpPr>
              <p:nvPr/>
            </p:nvSpPr>
            <p:spPr>
              <a:xfrm>
                <a:off x="4709160" y="1188720"/>
                <a:ext cx="4069080" cy="109728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Variable gadget</a:t>
                </a:r>
              </a:p>
              <a:p>
                <a:pPr lvl="0" indent="0" marL="0">
                  <a:spcAft>
                    <a:spcPts val="650"/>
                  </a:spcAft>
                  <a:buNone/>
                </a:pPr>
                <a:r>
                  <a:rPr sz="1900">
                    <a:latin typeface="Times New Roman"/>
                  </a:rPr>
                  <a:t>Connect </a:t>
                </a:r>
                <a14:m>
                  <m:oMath>
                    <m:sSub>
                      <m:e>
                        <m:r>
                          <m:t>x</m:t>
                        </m:r>
                      </m:e>
                      <m:sub>
                        <m:r>
                          <m:t>i</m:t>
                        </m:r>
                      </m:sub>
                    </m:sSub>
                  </m:oMath>
                </a14:m>
                <a:r>
                  <a:rPr sz="1900">
                    <a:latin typeface="Times New Roman"/>
                  </a:rPr>
                  <a:t> and </a:t>
                </a:r>
                <a14:m>
                  <m:oMath>
                    <m:r>
                      <m:rPr>
                        <m:sty m:val="p"/>
                      </m:rPr>
                      <m:t>¬</m:t>
                    </m:r>
                    <m:sSub>
                      <m:e>
                        <m:r>
                          <m:t>x</m:t>
                        </m:r>
                      </m:e>
                      <m:sub>
                        <m:r>
                          <m:t>i</m:t>
                        </m:r>
                      </m:sub>
                    </m:sSub>
                  </m:oMath>
                </a14:m>
                <a:r>
                  <a:rPr sz="1900">
                    <a:latin typeface="Times New Roman"/>
                  </a:rPr>
                  <a:t> to each other and to </a:t>
                </a:r>
                <a14:m>
                  <m:oMath>
                    <m:r>
                      <m:t>B</m:t>
                    </m:r>
                  </m:oMath>
                </a14:m>
                <a:r>
                  <a:rPr sz="1900">
                    <a:latin typeface="Times New Roman"/>
                  </a:rPr>
                  <a:t>.</a:t>
                </a:r>
              </a:p>
            </p:txBody>
          </p:sp>
        </mc:Choice>
      </mc:AlternateContent>
      <p:pic>
        <p:nvPicPr>
          <p:cNvPr descr="editable_assets/diagram-10-1.png" id="6" name="Picture 1"/>
          <p:cNvPicPr>
            <a:picLocks noGrp="1" noChangeAspect="1"/>
          </p:cNvPicPr>
          <p:nvPr/>
        </p:nvPicPr>
        <p:blipFill>
          <a:blip r:embed="rId4"/>
          <a:srcRect l="4470" t="9563" r="4470" b="9563"/>
          <a:stretch>
            <a:fillRect/>
          </a:stretch>
        </p:blipFill>
        <p:spPr bwMode="auto">
          <a:xfrm>
            <a:off x="4663440" y="2990220"/>
            <a:ext cx="4206240" cy="1746241"/>
          </a:xfrm>
          <a:prstGeom prst="rect">
            <a:avLst/>
          </a:prstGeom>
          <a:noFill/>
          <a:ln w="9525">
            <a:noFill/>
            <a:headEnd/>
            <a:tailEnd/>
          </a:ln>
        </p:spPr>
      </p:pic>
      <mc:AlternateContent>
        <mc:Choice Requires="a14">
          <p:sp>
            <p:nvSpPr>
              <p:cNvPr id="7" name="Content Placeholder 2"/>
              <p:cNvSpPr>
                <a:spLocks noGrp="1"/>
              </p:cNvSpPr>
              <p:nvPr/>
            </p:nvSpPr>
            <p:spPr>
              <a:xfrm>
                <a:off x="4709160" y="5532120"/>
                <a:ext cx="4069080" cy="77724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r>
                  <a:rPr b="1" sz="1900">
                    <a:latin typeface="Times New Roman"/>
                  </a:rPr>
                  <a:t>Exactly one of </a:t>
                </a:r>
                <a14:m>
                  <m:oMath>
                    <m:sSub>
                      <m:e>
                        <m:r>
                          <m:t>x</m:t>
                        </m:r>
                      </m:e>
                      <m:sub>
                        <m:r>
                          <m:t>i</m:t>
                        </m:r>
                      </m:sub>
                    </m:sSub>
                  </m:oMath>
                </a14:m>
                <a:r>
                  <a:rPr b="1" sz="1900">
                    <a:latin typeface="Times New Roman"/>
                  </a:rPr>
                  <a:t> and </a:t>
                </a:r>
                <a14:m>
                  <m:oMath>
                    <m:r>
                      <m:rPr>
                        <m:sty m:val="p"/>
                      </m:rPr>
                      <m:t>¬</m:t>
                    </m:r>
                    <m:sSub>
                      <m:e>
                        <m:r>
                          <m:t>x</m:t>
                        </m:r>
                      </m:e>
                      <m:sub>
                        <m:r>
                          <m:t>i</m:t>
                        </m:r>
                      </m:sub>
                    </m:sSub>
                  </m:oMath>
                </a14:m>
                <a:r>
                  <a:rPr b="1" sz="1900">
                    <a:latin typeface="Times New Roman"/>
                  </a:rPr>
                  <a:t> receives color </a:t>
                </a:r>
                <a14:m>
                  <m:oMath>
                    <m:r>
                      <m:t>T</m:t>
                    </m:r>
                  </m:oMath>
                </a14:m>
                <a:r>
                  <a:rPr b="1" sz="1900">
                    <a:latin typeface="Times New Roman"/>
                  </a:rPr>
                  <a:t>.</a:t>
                </a:r>
              </a:p>
            </p:txBody>
          </p:sp>
        </mc:Choice>
      </mc:AlternateContent>
    </p:spTree>
  </p:cSld>
</p:sld>
</file>

<file path=ppt/slides/slide21.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Constructing the Exact Clause Gadget</a:t>
            </a:r>
          </a:p>
        </p:txBody>
      </p:sp>
      <mc:AlternateContent>
        <mc:Choice Requires="a14">
          <p:sp>
            <p:nvSpPr>
              <p:cNvPr id="3" name="Content Placeholder 2"/>
              <p:cNvSpPr>
                <a:spLocks noGrp="1"/>
              </p:cNvSpPr>
              <p:nvPr/>
            </p:nvSpPr>
            <p:spPr>
              <a:xfrm>
                <a:off x="365760" y="1005840"/>
                <a:ext cx="3977640" cy="5440680"/>
              </a:xfrm>
            </p:spPr>
            <p: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spcAft>
                    <a:spcPts val="400"/>
                  </a:spcAft>
                  <a:buNone/>
                </a:pPr>
                <a:r>
                  <a:rPr sz="1600">
                    <a:latin typeface="Times New Roman"/>
                  </a:rPr>
                  <a:t>For </a:t>
                </a:r>
                <a14:m>
                  <m:oMath>
                    <m:r>
                      <m:t>C</m:t>
                    </m:r>
                    <m:r>
                      <m:rPr>
                        <m:sty m:val="p"/>
                      </m:rPr>
                      <m:t>=</m:t>
                    </m:r>
                    <m:r>
                      <m:rPr>
                        <m:sty m:val="p"/>
                      </m:rPr>
                      <m:t>(</m:t>
                    </m:r>
                    <m:sSub>
                      <m:e>
                        <m:r>
                          <m:t>ℓ</m:t>
                        </m:r>
                      </m:e>
                      <m:sub>
                        <m:r>
                          <m:t>1</m:t>
                        </m:r>
                      </m:sub>
                    </m:sSub>
                    <m:r>
                      <m:rPr>
                        <m:sty m:val="p"/>
                      </m:rPr>
                      <m:t>∨</m:t>
                    </m:r>
                    <m:sSub>
                      <m:e>
                        <m:r>
                          <m:t>ℓ</m:t>
                        </m:r>
                      </m:e>
                      <m:sub>
                        <m:r>
                          <m:t>2</m:t>
                        </m:r>
                      </m:sub>
                    </m:sSub>
                    <m:r>
                      <m:rPr>
                        <m:sty m:val="p"/>
                      </m:rPr>
                      <m:t>∨</m:t>
                    </m:r>
                    <m:sSub>
                      <m:e>
                        <m:r>
                          <m:t>ℓ</m:t>
                        </m:r>
                      </m:e>
                      <m:sub>
                        <m:r>
                          <m:t>3</m:t>
                        </m:r>
                      </m:sub>
                    </m:sSub>
                    <m:r>
                      <m:rPr>
                        <m:sty m:val="p"/>
                      </m:rPr>
                      <m:t>)</m:t>
                    </m:r>
                  </m:oMath>
                </a14:m>
                <a:r>
                  <a:rPr sz="1600">
                    <a:latin typeface="Times New Roman"/>
                  </a:rPr>
                  <a:t>, add six fresh vertices </a:t>
                </a:r>
                <a14:m>
                  <m:oMath>
                    <m:sSub>
                      <m:e>
                        <m:r>
                          <m:t>a</m:t>
                        </m:r>
                      </m:e>
                      <m:sub>
                        <m:r>
                          <m:t>i</m:t>
                        </m:r>
                      </m:sub>
                    </m:sSub>
                    <m:r>
                      <m:rPr>
                        <m:sty m:val="p"/>
                      </m:rPr>
                      <m:t>,</m:t>
                    </m:r>
                    <m:sSub>
                      <m:e>
                        <m:r>
                          <m:t>b</m:t>
                        </m:r>
                      </m:e>
                      <m:sub>
                        <m:r>
                          <m:t>i</m:t>
                        </m:r>
                      </m:sub>
                    </m:sSub>
                  </m:oMath>
                </a14:m>
                <a:r>
                  <a:rPr sz="1600">
                    <a:latin typeface="Times New Roman"/>
                  </a:rPr>
                  <a:t> and 13 edges:</a:t>
                </a:r>
              </a:p>
              <a:p>
                <a:pPr lvl="0" indent="0" marL="0">
                  <a:spcAft>
                    <a:spcPts val="400"/>
                  </a:spcAft>
                  <a:buNone/>
                </a:pPr>
                <a14:m>
                  <m:oMathPara>
                    <m:oMathParaPr>
                      <m:jc m:val="center"/>
                    </m:oMathParaPr>
                    <m:oMath>
                      <m:eqArr>
                        <m:e>
                          <m:r>
                            <m:t>&amp;</m:t>
                          </m:r>
                          <m:r>
                            <m:rPr>
                              <m:sty m:val="p"/>
                            </m:rPr>
                            <m:t>(</m:t>
                          </m:r>
                          <m:sSub>
                            <m:e>
                              <m:r>
                                <m:t>ℓ</m:t>
                              </m:r>
                            </m:e>
                            <m:sub>
                              <m:r>
                                <m:t>i</m:t>
                              </m:r>
                            </m:sub>
                          </m:sSub>
                          <m:r>
                            <m:rPr>
                              <m:sty m:val="p"/>
                            </m:rPr>
                            <m:t>,</m:t>
                          </m:r>
                          <m:sSub>
                            <m:e>
                              <m:r>
                                <m:t>a</m:t>
                              </m:r>
                            </m:e>
                            <m:sub>
                              <m:r>
                                <m:t>i</m:t>
                              </m:r>
                            </m:sub>
                          </m:sSub>
                          <m:r>
                            <m:rPr>
                              <m:sty m:val="p"/>
                            </m:rPr>
                            <m:t>)</m:t>
                          </m:r>
                          <m:r>
                            <m:rPr>
                              <m:sty m:val="p"/>
                            </m:rPr>
                            <m:t>,</m:t>
                          </m:r>
                          <m:r>
                            <m:rPr>
                              <m:sty m:val="p"/>
                            </m:rPr>
                            <m:t>(</m:t>
                          </m:r>
                          <m:sSub>
                            <m:e>
                              <m:r>
                                <m:t>a</m:t>
                              </m:r>
                            </m:e>
                            <m:sub>
                              <m:r>
                                <m:t>i</m:t>
                              </m:r>
                            </m:sub>
                          </m:sSub>
                          <m:r>
                            <m:rPr>
                              <m:sty m:val="p"/>
                            </m:rPr>
                            <m:t>,</m:t>
                          </m:r>
                          <m:sSub>
                            <m:e>
                              <m:r>
                                <m:t>b</m:t>
                              </m:r>
                            </m:e>
                            <m:sub>
                              <m:r>
                                <m:t>i</m:t>
                              </m:r>
                            </m:sub>
                          </m:sSub>
                          <m:r>
                            <m:rPr>
                              <m:sty m:val="p"/>
                            </m:rPr>
                            <m:t>)</m:t>
                          </m:r>
                          <m:r>
                            <m:rPr>
                              <m:sty m:val="p"/>
                            </m:rPr>
                            <m:t>,</m:t>
                          </m:r>
                          <m:r>
                            <m:rPr>
                              <m:sty m:val="p"/>
                            </m:rPr>
                            <m:t>(</m:t>
                          </m:r>
                          <m:r>
                            <m:t>T</m:t>
                          </m:r>
                          <m:r>
                            <m:rPr>
                              <m:sty m:val="p"/>
                            </m:rPr>
                            <m:t>,</m:t>
                          </m:r>
                          <m:sSub>
                            <m:e>
                              <m:r>
                                <m:t>a</m:t>
                              </m:r>
                            </m:e>
                            <m:sub>
                              <m:r>
                                <m:t>i</m:t>
                              </m:r>
                            </m:sub>
                          </m:sSub>
                          <m:r>
                            <m:rPr>
                              <m:sty m:val="p"/>
                            </m:rPr>
                            <m:t>)</m:t>
                          </m:r>
                        </m:e>
                        <m:e>
                          <m:r>
                            <m:t>&amp;</m:t>
                          </m:r>
                          <m:r>
                            <m:t>  </m:t>
                          </m:r>
                          <m:r>
                            <m:rPr>
                              <m:nor/>
                              <m:sty m:val="p"/>
                            </m:rPr>
                            <m:t>for </m:t>
                          </m:r>
                          <m:r>
                            <m:t>i</m:t>
                          </m:r>
                          <m:r>
                            <m:rPr>
                              <m:sty m:val="p"/>
                            </m:rPr>
                            <m:t>=</m:t>
                          </m:r>
                          <m:r>
                            <m:t>1</m:t>
                          </m:r>
                          <m:r>
                            <m:rPr>
                              <m:sty m:val="p"/>
                            </m:rPr>
                            <m:t>,</m:t>
                          </m:r>
                          <m:r>
                            <m:t>2</m:t>
                          </m:r>
                          <m:r>
                            <m:rPr>
                              <m:sty m:val="p"/>
                            </m:rPr>
                            <m:t>,</m:t>
                          </m:r>
                          <m:r>
                            <m:t>3</m:t>
                          </m:r>
                          <m:r>
                            <m:rPr>
                              <m:sty m:val="p"/>
                            </m:rPr>
                            <m:t>,</m:t>
                          </m:r>
                        </m:e>
                        <m:e>
                          <m:r>
                            <m:t>&amp;</m:t>
                          </m:r>
                          <m:r>
                            <m:rPr>
                              <m:sty m:val="p"/>
                            </m:rPr>
                            <m:t>(</m:t>
                          </m:r>
                          <m:r>
                            <m:t>T</m:t>
                          </m:r>
                          <m:r>
                            <m:rPr>
                              <m:sty m:val="p"/>
                            </m:rPr>
                            <m:t>,</m:t>
                          </m:r>
                          <m:sSub>
                            <m:e>
                              <m:r>
                                <m:t>b</m:t>
                              </m:r>
                            </m:e>
                            <m:sub>
                              <m:r>
                                <m:t>1</m:t>
                              </m:r>
                            </m:sub>
                          </m:sSub>
                          <m:r>
                            <m:rPr>
                              <m:sty m:val="p"/>
                            </m:rPr>
                            <m:t>)</m:t>
                          </m:r>
                          <m:r>
                            <m:rPr>
                              <m:sty m:val="p"/>
                            </m:rPr>
                            <m:t>,</m:t>
                          </m:r>
                          <m:r>
                            <m:rPr>
                              <m:sty m:val="p"/>
                            </m:rPr>
                            <m:t>(</m:t>
                          </m:r>
                          <m:sSub>
                            <m:e>
                              <m:r>
                                <m:t>b</m:t>
                              </m:r>
                            </m:e>
                            <m:sub>
                              <m:r>
                                <m:t>1</m:t>
                              </m:r>
                            </m:sub>
                          </m:sSub>
                          <m:r>
                            <m:rPr>
                              <m:sty m:val="p"/>
                            </m:rPr>
                            <m:t>,</m:t>
                          </m:r>
                          <m:sSub>
                            <m:e>
                              <m:r>
                                <m:t>b</m:t>
                              </m:r>
                            </m:e>
                            <m:sub>
                              <m:r>
                                <m:t>2</m:t>
                              </m:r>
                            </m:sub>
                          </m:sSub>
                          <m:r>
                            <m:rPr>
                              <m:sty m:val="p"/>
                            </m:rPr>
                            <m:t>)</m:t>
                          </m:r>
                          <m:r>
                            <m:rPr>
                              <m:sty m:val="p"/>
                            </m:rPr>
                            <m:t>,</m:t>
                          </m:r>
                        </m:e>
                        <m:e>
                          <m:r>
                            <m:t>&amp;</m:t>
                          </m:r>
                          <m:r>
                            <m:rPr>
                              <m:sty m:val="p"/>
                            </m:rPr>
                            <m:t>(</m:t>
                          </m:r>
                          <m:sSub>
                            <m:e>
                              <m:r>
                                <m:t>b</m:t>
                              </m:r>
                            </m:e>
                            <m:sub>
                              <m:r>
                                <m:t>2</m:t>
                              </m:r>
                            </m:sub>
                          </m:sSub>
                          <m:r>
                            <m:rPr>
                              <m:sty m:val="p"/>
                            </m:rPr>
                            <m:t>,</m:t>
                          </m:r>
                          <m:sSub>
                            <m:e>
                              <m:r>
                                <m:t>b</m:t>
                              </m:r>
                            </m:e>
                            <m:sub>
                              <m:r>
                                <m:t>3</m:t>
                              </m:r>
                            </m:sub>
                          </m:sSub>
                          <m:r>
                            <m:rPr>
                              <m:sty m:val="p"/>
                            </m:rPr>
                            <m:t>)</m:t>
                          </m:r>
                          <m:r>
                            <m:rPr>
                              <m:sty m:val="p"/>
                            </m:rPr>
                            <m:t>,</m:t>
                          </m:r>
                          <m:r>
                            <m:rPr>
                              <m:sty m:val="p"/>
                            </m:rPr>
                            <m:t>(</m:t>
                          </m:r>
                          <m:sSub>
                            <m:e>
                              <m:r>
                                <m:t>b</m:t>
                              </m:r>
                            </m:e>
                            <m:sub>
                              <m:r>
                                <m:t>3</m:t>
                              </m:r>
                            </m:sub>
                          </m:sSub>
                          <m:r>
                            <m:rPr>
                              <m:sty m:val="p"/>
                            </m:rPr>
                            <m:t>,</m:t>
                          </m:r>
                          <m:r>
                            <m:t>F</m:t>
                          </m:r>
                          <m:r>
                            <m:rPr>
                              <m:sty m:val="p"/>
                            </m:rPr>
                            <m:t>)</m:t>
                          </m:r>
                          <m:r>
                            <m:rPr>
                              <m:sty m:val="p"/>
                            </m:rPr>
                            <m:t>.</m:t>
                          </m:r>
                        </m:e>
                      </m:eqArr>
                    </m:oMath>
                  </m:oMathPara>
                </a14:m>
              </a:p>
            </p:txBody>
          </p:sp>
        </mc:Choice>
      </mc:AlternateContent>
      <p:pic>
        <p:nvPicPr>
          <p:cNvPr descr="editable_assets/diagram-11-1.png" id="4" name="Picture 1"/>
          <p:cNvPicPr>
            <a:picLocks noGrp="1" noChangeAspect="1"/>
          </p:cNvPicPr>
          <p:nvPr/>
        </p:nvPicPr>
        <p:blipFill>
          <a:blip r:embed="rId3"/>
          <a:srcRect l="6855" t="34121" r="43774" b="9011"/>
          <a:stretch>
            <a:fillRect/>
          </a:stretch>
        </p:blipFill>
        <p:spPr bwMode="auto">
          <a:xfrm>
            <a:off x="4526280" y="1280014"/>
            <a:ext cx="4251960" cy="3520731"/>
          </a:xfrm>
          <a:prstGeom prst="rect">
            <a:avLst/>
          </a:prstGeom>
          <a:noFill/>
          <a:ln w="9525">
            <a:noFill/>
            <a:headEnd/>
            <a:tailEnd/>
          </a:ln>
        </p:spPr>
      </p:pic>
    </p:spTree>
  </p:cSld>
</p:sld>
</file>

<file path=ppt/slides/slide22.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Constructing the Exact Clause Gadget</a:t>
            </a:r>
          </a:p>
        </p:txBody>
      </p:sp>
      <mc:AlternateContent>
        <mc:Choice Requires="a14">
          <p:sp>
            <p:nvSpPr>
              <p:cNvPr id="3" name="Content Placeholder 2"/>
              <p:cNvSpPr>
                <a:spLocks noGrp="1"/>
              </p:cNvSpPr>
              <p:nvPr/>
            </p:nvSpPr>
            <p:spPr>
              <a:xfrm>
                <a:off x="365760" y="1005840"/>
                <a:ext cx="3977640" cy="5440680"/>
              </a:xfrm>
            </p:spPr>
            <p: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spcAft>
                    <a:spcPts val="400"/>
                  </a:spcAft>
                  <a:buNone/>
                </a:pPr>
                <a:r>
                  <a:rPr sz="1600">
                    <a:latin typeface="Times New Roman"/>
                  </a:rPr>
                  <a:t>For </a:t>
                </a:r>
                <a14:m>
                  <m:oMath>
                    <m:r>
                      <m:t>C</m:t>
                    </m:r>
                    <m:r>
                      <m:rPr>
                        <m:sty m:val="p"/>
                      </m:rPr>
                      <m:t>=</m:t>
                    </m:r>
                    <m:r>
                      <m:rPr>
                        <m:sty m:val="p"/>
                      </m:rPr>
                      <m:t>(</m:t>
                    </m:r>
                    <m:sSub>
                      <m:e>
                        <m:r>
                          <m:t>ℓ</m:t>
                        </m:r>
                      </m:e>
                      <m:sub>
                        <m:r>
                          <m:t>1</m:t>
                        </m:r>
                      </m:sub>
                    </m:sSub>
                    <m:r>
                      <m:rPr>
                        <m:sty m:val="p"/>
                      </m:rPr>
                      <m:t>∨</m:t>
                    </m:r>
                    <m:sSub>
                      <m:e>
                        <m:r>
                          <m:t>ℓ</m:t>
                        </m:r>
                      </m:e>
                      <m:sub>
                        <m:r>
                          <m:t>2</m:t>
                        </m:r>
                      </m:sub>
                    </m:sSub>
                    <m:r>
                      <m:rPr>
                        <m:sty m:val="p"/>
                      </m:rPr>
                      <m:t>∨</m:t>
                    </m:r>
                    <m:sSub>
                      <m:e>
                        <m:r>
                          <m:t>ℓ</m:t>
                        </m:r>
                      </m:e>
                      <m:sub>
                        <m:r>
                          <m:t>3</m:t>
                        </m:r>
                      </m:sub>
                    </m:sSub>
                    <m:r>
                      <m:rPr>
                        <m:sty m:val="p"/>
                      </m:rPr>
                      <m:t>)</m:t>
                    </m:r>
                  </m:oMath>
                </a14:m>
                <a:r>
                  <a:rPr sz="1600">
                    <a:latin typeface="Times New Roman"/>
                  </a:rPr>
                  <a:t>, add six fresh vertices </a:t>
                </a:r>
                <a14:m>
                  <m:oMath>
                    <m:sSub>
                      <m:e>
                        <m:r>
                          <m:t>a</m:t>
                        </m:r>
                      </m:e>
                      <m:sub>
                        <m:r>
                          <m:t>i</m:t>
                        </m:r>
                      </m:sub>
                    </m:sSub>
                    <m:r>
                      <m:rPr>
                        <m:sty m:val="p"/>
                      </m:rPr>
                      <m:t>,</m:t>
                    </m:r>
                    <m:sSub>
                      <m:e>
                        <m:r>
                          <m:t>b</m:t>
                        </m:r>
                      </m:e>
                      <m:sub>
                        <m:r>
                          <m:t>i</m:t>
                        </m:r>
                      </m:sub>
                    </m:sSub>
                  </m:oMath>
                </a14:m>
                <a:r>
                  <a:rPr sz="1600">
                    <a:latin typeface="Times New Roman"/>
                  </a:rPr>
                  <a:t> and 13 edges:</a:t>
                </a:r>
              </a:p>
              <a:p>
                <a:pPr lvl="0" indent="0" marL="0">
                  <a:spcAft>
                    <a:spcPts val="400"/>
                  </a:spcAft>
                  <a:buNone/>
                </a:pPr>
                <a14:m>
                  <m:oMathPara>
                    <m:oMathParaPr>
                      <m:jc m:val="center"/>
                    </m:oMathParaPr>
                    <m:oMath>
                      <m:eqArr>
                        <m:e>
                          <m:r>
                            <m:t>&amp;</m:t>
                          </m:r>
                          <m:r>
                            <m:rPr>
                              <m:sty m:val="p"/>
                            </m:rPr>
                            <m:t>(</m:t>
                          </m:r>
                          <m:sSub>
                            <m:e>
                              <m:r>
                                <m:t>ℓ</m:t>
                              </m:r>
                            </m:e>
                            <m:sub>
                              <m:r>
                                <m:t>i</m:t>
                              </m:r>
                            </m:sub>
                          </m:sSub>
                          <m:r>
                            <m:rPr>
                              <m:sty m:val="p"/>
                            </m:rPr>
                            <m:t>,</m:t>
                          </m:r>
                          <m:sSub>
                            <m:e>
                              <m:r>
                                <m:t>a</m:t>
                              </m:r>
                            </m:e>
                            <m:sub>
                              <m:r>
                                <m:t>i</m:t>
                              </m:r>
                            </m:sub>
                          </m:sSub>
                          <m:r>
                            <m:rPr>
                              <m:sty m:val="p"/>
                            </m:rPr>
                            <m:t>)</m:t>
                          </m:r>
                          <m:r>
                            <m:rPr>
                              <m:sty m:val="p"/>
                            </m:rPr>
                            <m:t>,</m:t>
                          </m:r>
                          <m:r>
                            <m:rPr>
                              <m:sty m:val="p"/>
                            </m:rPr>
                            <m:t>(</m:t>
                          </m:r>
                          <m:sSub>
                            <m:e>
                              <m:r>
                                <m:t>a</m:t>
                              </m:r>
                            </m:e>
                            <m:sub>
                              <m:r>
                                <m:t>i</m:t>
                              </m:r>
                            </m:sub>
                          </m:sSub>
                          <m:r>
                            <m:rPr>
                              <m:sty m:val="p"/>
                            </m:rPr>
                            <m:t>,</m:t>
                          </m:r>
                          <m:sSub>
                            <m:e>
                              <m:r>
                                <m:t>b</m:t>
                              </m:r>
                            </m:e>
                            <m:sub>
                              <m:r>
                                <m:t>i</m:t>
                              </m:r>
                            </m:sub>
                          </m:sSub>
                          <m:r>
                            <m:rPr>
                              <m:sty m:val="p"/>
                            </m:rPr>
                            <m:t>)</m:t>
                          </m:r>
                          <m:r>
                            <m:rPr>
                              <m:sty m:val="p"/>
                            </m:rPr>
                            <m:t>,</m:t>
                          </m:r>
                          <m:r>
                            <m:rPr>
                              <m:sty m:val="p"/>
                            </m:rPr>
                            <m:t>(</m:t>
                          </m:r>
                          <m:r>
                            <m:t>T</m:t>
                          </m:r>
                          <m:r>
                            <m:rPr>
                              <m:sty m:val="p"/>
                            </m:rPr>
                            <m:t>,</m:t>
                          </m:r>
                          <m:sSub>
                            <m:e>
                              <m:r>
                                <m:t>a</m:t>
                              </m:r>
                            </m:e>
                            <m:sub>
                              <m:r>
                                <m:t>i</m:t>
                              </m:r>
                            </m:sub>
                          </m:sSub>
                          <m:r>
                            <m:rPr>
                              <m:sty m:val="p"/>
                            </m:rPr>
                            <m:t>)</m:t>
                          </m:r>
                        </m:e>
                        <m:e>
                          <m:r>
                            <m:t>&amp;</m:t>
                          </m:r>
                          <m:r>
                            <m:t>  </m:t>
                          </m:r>
                          <m:r>
                            <m:rPr>
                              <m:nor/>
                              <m:sty m:val="p"/>
                            </m:rPr>
                            <m:t>for </m:t>
                          </m:r>
                          <m:r>
                            <m:t>i</m:t>
                          </m:r>
                          <m:r>
                            <m:rPr>
                              <m:sty m:val="p"/>
                            </m:rPr>
                            <m:t>=</m:t>
                          </m:r>
                          <m:r>
                            <m:t>1</m:t>
                          </m:r>
                          <m:r>
                            <m:rPr>
                              <m:sty m:val="p"/>
                            </m:rPr>
                            <m:t>,</m:t>
                          </m:r>
                          <m:r>
                            <m:t>2</m:t>
                          </m:r>
                          <m:r>
                            <m:rPr>
                              <m:sty m:val="p"/>
                            </m:rPr>
                            <m:t>,</m:t>
                          </m:r>
                          <m:r>
                            <m:t>3</m:t>
                          </m:r>
                          <m:r>
                            <m:rPr>
                              <m:sty m:val="p"/>
                            </m:rPr>
                            <m:t>,</m:t>
                          </m:r>
                        </m:e>
                        <m:e>
                          <m:r>
                            <m:t>&amp;</m:t>
                          </m:r>
                          <m:r>
                            <m:rPr>
                              <m:sty m:val="p"/>
                            </m:rPr>
                            <m:t>(</m:t>
                          </m:r>
                          <m:r>
                            <m:t>T</m:t>
                          </m:r>
                          <m:r>
                            <m:rPr>
                              <m:sty m:val="p"/>
                            </m:rPr>
                            <m:t>,</m:t>
                          </m:r>
                          <m:sSub>
                            <m:e>
                              <m:r>
                                <m:t>b</m:t>
                              </m:r>
                            </m:e>
                            <m:sub>
                              <m:r>
                                <m:t>1</m:t>
                              </m:r>
                            </m:sub>
                          </m:sSub>
                          <m:r>
                            <m:rPr>
                              <m:sty m:val="p"/>
                            </m:rPr>
                            <m:t>)</m:t>
                          </m:r>
                          <m:r>
                            <m:rPr>
                              <m:sty m:val="p"/>
                            </m:rPr>
                            <m:t>,</m:t>
                          </m:r>
                          <m:r>
                            <m:rPr>
                              <m:sty m:val="p"/>
                            </m:rPr>
                            <m:t>(</m:t>
                          </m:r>
                          <m:sSub>
                            <m:e>
                              <m:r>
                                <m:t>b</m:t>
                              </m:r>
                            </m:e>
                            <m:sub>
                              <m:r>
                                <m:t>1</m:t>
                              </m:r>
                            </m:sub>
                          </m:sSub>
                          <m:r>
                            <m:rPr>
                              <m:sty m:val="p"/>
                            </m:rPr>
                            <m:t>,</m:t>
                          </m:r>
                          <m:sSub>
                            <m:e>
                              <m:r>
                                <m:t>b</m:t>
                              </m:r>
                            </m:e>
                            <m:sub>
                              <m:r>
                                <m:t>2</m:t>
                              </m:r>
                            </m:sub>
                          </m:sSub>
                          <m:r>
                            <m:rPr>
                              <m:sty m:val="p"/>
                            </m:rPr>
                            <m:t>)</m:t>
                          </m:r>
                          <m:r>
                            <m:rPr>
                              <m:sty m:val="p"/>
                            </m:rPr>
                            <m:t>,</m:t>
                          </m:r>
                        </m:e>
                        <m:e>
                          <m:r>
                            <m:t>&amp;</m:t>
                          </m:r>
                          <m:r>
                            <m:rPr>
                              <m:sty m:val="p"/>
                            </m:rPr>
                            <m:t>(</m:t>
                          </m:r>
                          <m:sSub>
                            <m:e>
                              <m:r>
                                <m:t>b</m:t>
                              </m:r>
                            </m:e>
                            <m:sub>
                              <m:r>
                                <m:t>2</m:t>
                              </m:r>
                            </m:sub>
                          </m:sSub>
                          <m:r>
                            <m:rPr>
                              <m:sty m:val="p"/>
                            </m:rPr>
                            <m:t>,</m:t>
                          </m:r>
                          <m:sSub>
                            <m:e>
                              <m:r>
                                <m:t>b</m:t>
                              </m:r>
                            </m:e>
                            <m:sub>
                              <m:r>
                                <m:t>3</m:t>
                              </m:r>
                            </m:sub>
                          </m:sSub>
                          <m:r>
                            <m:rPr>
                              <m:sty m:val="p"/>
                            </m:rPr>
                            <m:t>)</m:t>
                          </m:r>
                          <m:r>
                            <m:rPr>
                              <m:sty m:val="p"/>
                            </m:rPr>
                            <m:t>,</m:t>
                          </m:r>
                          <m:r>
                            <m:rPr>
                              <m:sty m:val="p"/>
                            </m:rPr>
                            <m:t>(</m:t>
                          </m:r>
                          <m:sSub>
                            <m:e>
                              <m:r>
                                <m:t>b</m:t>
                              </m:r>
                            </m:e>
                            <m:sub>
                              <m:r>
                                <m:t>3</m:t>
                              </m:r>
                            </m:sub>
                          </m:sSub>
                          <m:r>
                            <m:rPr>
                              <m:sty m:val="p"/>
                            </m:rPr>
                            <m:t>,</m:t>
                          </m:r>
                          <m:r>
                            <m:t>F</m:t>
                          </m:r>
                          <m:r>
                            <m:rPr>
                              <m:sty m:val="p"/>
                            </m:rPr>
                            <m:t>)</m:t>
                          </m:r>
                          <m:r>
                            <m:rPr>
                              <m:sty m:val="p"/>
                            </m:rPr>
                            <m:t>.</m:t>
                          </m:r>
                        </m:e>
                      </m:eqArr>
                    </m:oMath>
                  </m:oMathPara>
                </a14:m>
              </a:p>
            </p:txBody>
          </p:sp>
        </mc:Choice>
      </mc:AlternateContent>
      <p:pic>
        <p:nvPicPr>
          <p:cNvPr descr="editable_assets/diagram-11-2.png" id="4" name="Picture 1"/>
          <p:cNvPicPr>
            <a:picLocks noGrp="1" noChangeAspect="1"/>
          </p:cNvPicPr>
          <p:nvPr/>
        </p:nvPicPr>
        <p:blipFill>
          <a:blip r:embed="rId3"/>
          <a:srcRect l="6855" t="34121" r="43774" b="9011"/>
          <a:stretch>
            <a:fillRect/>
          </a:stretch>
        </p:blipFill>
        <p:spPr bwMode="auto">
          <a:xfrm>
            <a:off x="4526280" y="1280014"/>
            <a:ext cx="4251960" cy="3520731"/>
          </a:xfrm>
          <a:prstGeom prst="rect">
            <a:avLst/>
          </a:prstGeom>
          <a:noFill/>
          <a:ln w="9525">
            <a:noFill/>
            <a:headEnd/>
            <a:tailEnd/>
          </a:ln>
        </p:spPr>
      </p:pic>
    </p:spTree>
  </p:cSld>
</p:sld>
</file>

<file path=ppt/slides/slide23.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Constructing the Exact Clause Gadget</a:t>
            </a:r>
          </a:p>
        </p:txBody>
      </p:sp>
      <mc:AlternateContent>
        <mc:Choice Requires="a14">
          <p:sp>
            <p:nvSpPr>
              <p:cNvPr id="3" name="Content Placeholder 2"/>
              <p:cNvSpPr>
                <a:spLocks noGrp="1"/>
              </p:cNvSpPr>
              <p:nvPr/>
            </p:nvSpPr>
            <p:spPr>
              <a:xfrm>
                <a:off x="365760" y="1005840"/>
                <a:ext cx="3977640" cy="5440680"/>
              </a:xfrm>
            </p:spPr>
            <p: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spcAft>
                    <a:spcPts val="400"/>
                  </a:spcAft>
                  <a:buNone/>
                </a:pPr>
                <a:r>
                  <a:rPr sz="1600">
                    <a:latin typeface="Times New Roman"/>
                  </a:rPr>
                  <a:t>For </a:t>
                </a:r>
                <a14:m>
                  <m:oMath>
                    <m:r>
                      <m:t>C</m:t>
                    </m:r>
                    <m:r>
                      <m:rPr>
                        <m:sty m:val="p"/>
                      </m:rPr>
                      <m:t>=</m:t>
                    </m:r>
                    <m:r>
                      <m:rPr>
                        <m:sty m:val="p"/>
                      </m:rPr>
                      <m:t>(</m:t>
                    </m:r>
                    <m:sSub>
                      <m:e>
                        <m:r>
                          <m:t>ℓ</m:t>
                        </m:r>
                      </m:e>
                      <m:sub>
                        <m:r>
                          <m:t>1</m:t>
                        </m:r>
                      </m:sub>
                    </m:sSub>
                    <m:r>
                      <m:rPr>
                        <m:sty m:val="p"/>
                      </m:rPr>
                      <m:t>∨</m:t>
                    </m:r>
                    <m:sSub>
                      <m:e>
                        <m:r>
                          <m:t>ℓ</m:t>
                        </m:r>
                      </m:e>
                      <m:sub>
                        <m:r>
                          <m:t>2</m:t>
                        </m:r>
                      </m:sub>
                    </m:sSub>
                    <m:r>
                      <m:rPr>
                        <m:sty m:val="p"/>
                      </m:rPr>
                      <m:t>∨</m:t>
                    </m:r>
                    <m:sSub>
                      <m:e>
                        <m:r>
                          <m:t>ℓ</m:t>
                        </m:r>
                      </m:e>
                      <m:sub>
                        <m:r>
                          <m:t>3</m:t>
                        </m:r>
                      </m:sub>
                    </m:sSub>
                    <m:r>
                      <m:rPr>
                        <m:sty m:val="p"/>
                      </m:rPr>
                      <m:t>)</m:t>
                    </m:r>
                  </m:oMath>
                </a14:m>
                <a:r>
                  <a:rPr sz="1600">
                    <a:latin typeface="Times New Roman"/>
                  </a:rPr>
                  <a:t>, add six fresh vertices </a:t>
                </a:r>
                <a14:m>
                  <m:oMath>
                    <m:sSub>
                      <m:e>
                        <m:r>
                          <m:t>a</m:t>
                        </m:r>
                      </m:e>
                      <m:sub>
                        <m:r>
                          <m:t>i</m:t>
                        </m:r>
                      </m:sub>
                    </m:sSub>
                    <m:r>
                      <m:rPr>
                        <m:sty m:val="p"/>
                      </m:rPr>
                      <m:t>,</m:t>
                    </m:r>
                    <m:sSub>
                      <m:e>
                        <m:r>
                          <m:t>b</m:t>
                        </m:r>
                      </m:e>
                      <m:sub>
                        <m:r>
                          <m:t>i</m:t>
                        </m:r>
                      </m:sub>
                    </m:sSub>
                  </m:oMath>
                </a14:m>
                <a:r>
                  <a:rPr sz="1600">
                    <a:latin typeface="Times New Roman"/>
                  </a:rPr>
                  <a:t> and 13 edges:</a:t>
                </a:r>
              </a:p>
              <a:p>
                <a:pPr lvl="0" indent="0" marL="0">
                  <a:spcAft>
                    <a:spcPts val="400"/>
                  </a:spcAft>
                  <a:buNone/>
                </a:pPr>
                <a14:m>
                  <m:oMathPara>
                    <m:oMathParaPr>
                      <m:jc m:val="center"/>
                    </m:oMathParaPr>
                    <m:oMath>
                      <m:eqArr>
                        <m:e>
                          <m:r>
                            <m:t>&amp;</m:t>
                          </m:r>
                          <m:r>
                            <m:rPr>
                              <m:sty m:val="p"/>
                            </m:rPr>
                            <m:t>(</m:t>
                          </m:r>
                          <m:sSub>
                            <m:e>
                              <m:r>
                                <m:t>ℓ</m:t>
                              </m:r>
                            </m:e>
                            <m:sub>
                              <m:r>
                                <m:t>i</m:t>
                              </m:r>
                            </m:sub>
                          </m:sSub>
                          <m:r>
                            <m:rPr>
                              <m:sty m:val="p"/>
                            </m:rPr>
                            <m:t>,</m:t>
                          </m:r>
                          <m:sSub>
                            <m:e>
                              <m:r>
                                <m:t>a</m:t>
                              </m:r>
                            </m:e>
                            <m:sub>
                              <m:r>
                                <m:t>i</m:t>
                              </m:r>
                            </m:sub>
                          </m:sSub>
                          <m:r>
                            <m:rPr>
                              <m:sty m:val="p"/>
                            </m:rPr>
                            <m:t>)</m:t>
                          </m:r>
                          <m:r>
                            <m:rPr>
                              <m:sty m:val="p"/>
                            </m:rPr>
                            <m:t>,</m:t>
                          </m:r>
                          <m:r>
                            <m:rPr>
                              <m:sty m:val="p"/>
                            </m:rPr>
                            <m:t>(</m:t>
                          </m:r>
                          <m:sSub>
                            <m:e>
                              <m:r>
                                <m:t>a</m:t>
                              </m:r>
                            </m:e>
                            <m:sub>
                              <m:r>
                                <m:t>i</m:t>
                              </m:r>
                            </m:sub>
                          </m:sSub>
                          <m:r>
                            <m:rPr>
                              <m:sty m:val="p"/>
                            </m:rPr>
                            <m:t>,</m:t>
                          </m:r>
                          <m:sSub>
                            <m:e>
                              <m:r>
                                <m:t>b</m:t>
                              </m:r>
                            </m:e>
                            <m:sub>
                              <m:r>
                                <m:t>i</m:t>
                              </m:r>
                            </m:sub>
                          </m:sSub>
                          <m:r>
                            <m:rPr>
                              <m:sty m:val="p"/>
                            </m:rPr>
                            <m:t>)</m:t>
                          </m:r>
                          <m:r>
                            <m:rPr>
                              <m:sty m:val="p"/>
                            </m:rPr>
                            <m:t>,</m:t>
                          </m:r>
                          <m:r>
                            <m:rPr>
                              <m:sty m:val="p"/>
                            </m:rPr>
                            <m:t>(</m:t>
                          </m:r>
                          <m:r>
                            <m:t>T</m:t>
                          </m:r>
                          <m:r>
                            <m:rPr>
                              <m:sty m:val="p"/>
                            </m:rPr>
                            <m:t>,</m:t>
                          </m:r>
                          <m:sSub>
                            <m:e>
                              <m:r>
                                <m:t>a</m:t>
                              </m:r>
                            </m:e>
                            <m:sub>
                              <m:r>
                                <m:t>i</m:t>
                              </m:r>
                            </m:sub>
                          </m:sSub>
                          <m:r>
                            <m:rPr>
                              <m:sty m:val="p"/>
                            </m:rPr>
                            <m:t>)</m:t>
                          </m:r>
                        </m:e>
                        <m:e>
                          <m:r>
                            <m:t>&amp;</m:t>
                          </m:r>
                          <m:r>
                            <m:t>  </m:t>
                          </m:r>
                          <m:r>
                            <m:rPr>
                              <m:nor/>
                              <m:sty m:val="p"/>
                            </m:rPr>
                            <m:t>for </m:t>
                          </m:r>
                          <m:r>
                            <m:t>i</m:t>
                          </m:r>
                          <m:r>
                            <m:rPr>
                              <m:sty m:val="p"/>
                            </m:rPr>
                            <m:t>=</m:t>
                          </m:r>
                          <m:r>
                            <m:t>1</m:t>
                          </m:r>
                          <m:r>
                            <m:rPr>
                              <m:sty m:val="p"/>
                            </m:rPr>
                            <m:t>,</m:t>
                          </m:r>
                          <m:r>
                            <m:t>2</m:t>
                          </m:r>
                          <m:r>
                            <m:rPr>
                              <m:sty m:val="p"/>
                            </m:rPr>
                            <m:t>,</m:t>
                          </m:r>
                          <m:r>
                            <m:t>3</m:t>
                          </m:r>
                          <m:r>
                            <m:rPr>
                              <m:sty m:val="p"/>
                            </m:rPr>
                            <m:t>,</m:t>
                          </m:r>
                        </m:e>
                        <m:e>
                          <m:r>
                            <m:t>&amp;</m:t>
                          </m:r>
                          <m:r>
                            <m:rPr>
                              <m:sty m:val="p"/>
                            </m:rPr>
                            <m:t>(</m:t>
                          </m:r>
                          <m:r>
                            <m:t>T</m:t>
                          </m:r>
                          <m:r>
                            <m:rPr>
                              <m:sty m:val="p"/>
                            </m:rPr>
                            <m:t>,</m:t>
                          </m:r>
                          <m:sSub>
                            <m:e>
                              <m:r>
                                <m:t>b</m:t>
                              </m:r>
                            </m:e>
                            <m:sub>
                              <m:r>
                                <m:t>1</m:t>
                              </m:r>
                            </m:sub>
                          </m:sSub>
                          <m:r>
                            <m:rPr>
                              <m:sty m:val="p"/>
                            </m:rPr>
                            <m:t>)</m:t>
                          </m:r>
                          <m:r>
                            <m:rPr>
                              <m:sty m:val="p"/>
                            </m:rPr>
                            <m:t>,</m:t>
                          </m:r>
                          <m:r>
                            <m:rPr>
                              <m:sty m:val="p"/>
                            </m:rPr>
                            <m:t>(</m:t>
                          </m:r>
                          <m:sSub>
                            <m:e>
                              <m:r>
                                <m:t>b</m:t>
                              </m:r>
                            </m:e>
                            <m:sub>
                              <m:r>
                                <m:t>1</m:t>
                              </m:r>
                            </m:sub>
                          </m:sSub>
                          <m:r>
                            <m:rPr>
                              <m:sty m:val="p"/>
                            </m:rPr>
                            <m:t>,</m:t>
                          </m:r>
                          <m:sSub>
                            <m:e>
                              <m:r>
                                <m:t>b</m:t>
                              </m:r>
                            </m:e>
                            <m:sub>
                              <m:r>
                                <m:t>2</m:t>
                              </m:r>
                            </m:sub>
                          </m:sSub>
                          <m:r>
                            <m:rPr>
                              <m:sty m:val="p"/>
                            </m:rPr>
                            <m:t>)</m:t>
                          </m:r>
                          <m:r>
                            <m:rPr>
                              <m:sty m:val="p"/>
                            </m:rPr>
                            <m:t>,</m:t>
                          </m:r>
                        </m:e>
                        <m:e>
                          <m:r>
                            <m:t>&amp;</m:t>
                          </m:r>
                          <m:r>
                            <m:rPr>
                              <m:sty m:val="p"/>
                            </m:rPr>
                            <m:t>(</m:t>
                          </m:r>
                          <m:sSub>
                            <m:e>
                              <m:r>
                                <m:t>b</m:t>
                              </m:r>
                            </m:e>
                            <m:sub>
                              <m:r>
                                <m:t>2</m:t>
                              </m:r>
                            </m:sub>
                          </m:sSub>
                          <m:r>
                            <m:rPr>
                              <m:sty m:val="p"/>
                            </m:rPr>
                            <m:t>,</m:t>
                          </m:r>
                          <m:sSub>
                            <m:e>
                              <m:r>
                                <m:t>b</m:t>
                              </m:r>
                            </m:e>
                            <m:sub>
                              <m:r>
                                <m:t>3</m:t>
                              </m:r>
                            </m:sub>
                          </m:sSub>
                          <m:r>
                            <m:rPr>
                              <m:sty m:val="p"/>
                            </m:rPr>
                            <m:t>)</m:t>
                          </m:r>
                          <m:r>
                            <m:rPr>
                              <m:sty m:val="p"/>
                            </m:rPr>
                            <m:t>,</m:t>
                          </m:r>
                          <m:r>
                            <m:rPr>
                              <m:sty m:val="p"/>
                            </m:rPr>
                            <m:t>(</m:t>
                          </m:r>
                          <m:sSub>
                            <m:e>
                              <m:r>
                                <m:t>b</m:t>
                              </m:r>
                            </m:e>
                            <m:sub>
                              <m:r>
                                <m:t>3</m:t>
                              </m:r>
                            </m:sub>
                          </m:sSub>
                          <m:r>
                            <m:rPr>
                              <m:sty m:val="p"/>
                            </m:rPr>
                            <m:t>,</m:t>
                          </m:r>
                          <m:r>
                            <m:t>F</m:t>
                          </m:r>
                          <m:r>
                            <m:rPr>
                              <m:sty m:val="p"/>
                            </m:rPr>
                            <m:t>)</m:t>
                          </m:r>
                          <m:r>
                            <m:rPr>
                              <m:sty m:val="p"/>
                            </m:rPr>
                            <m:t>.</m:t>
                          </m:r>
                        </m:e>
                      </m:eqArr>
                    </m:oMath>
                  </m:oMathPara>
                </a14:m>
              </a:p>
            </p:txBody>
          </p:sp>
        </mc:Choice>
      </mc:AlternateContent>
      <p:pic>
        <p:nvPicPr>
          <p:cNvPr descr="editable_assets/diagram-11-3.png" id="4" name="Picture 1"/>
          <p:cNvPicPr>
            <a:picLocks noGrp="1" noChangeAspect="1"/>
          </p:cNvPicPr>
          <p:nvPr/>
        </p:nvPicPr>
        <p:blipFill>
          <a:blip r:embed="rId3"/>
          <a:srcRect l="6855" t="34121" r="43774" b="9011"/>
          <a:stretch>
            <a:fillRect/>
          </a:stretch>
        </p:blipFill>
        <p:spPr bwMode="auto">
          <a:xfrm>
            <a:off x="4526280" y="1280014"/>
            <a:ext cx="4251960" cy="3520731"/>
          </a:xfrm>
          <a:prstGeom prst="rect">
            <a:avLst/>
          </a:prstGeom>
          <a:noFill/>
          <a:ln w="9525">
            <a:noFill/>
            <a:headEnd/>
            <a:tailEnd/>
          </a:ln>
        </p:spPr>
      </p:pic>
    </p:spTree>
  </p:cSld>
</p:sld>
</file>

<file path=ppt/slides/slide24.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Constructing the Exact Clause Gadget</a:t>
            </a:r>
          </a:p>
        </p:txBody>
      </p:sp>
      <mc:AlternateContent>
        <mc:Choice Requires="a14">
          <p:sp>
            <p:nvSpPr>
              <p:cNvPr id="3" name="Content Placeholder 2"/>
              <p:cNvSpPr>
                <a:spLocks noGrp="1"/>
              </p:cNvSpPr>
              <p:nvPr/>
            </p:nvSpPr>
            <p:spPr>
              <a:xfrm>
                <a:off x="365760" y="1005840"/>
                <a:ext cx="3977640" cy="5440680"/>
              </a:xfrm>
            </p:spPr>
            <p: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spcAft>
                    <a:spcPts val="400"/>
                  </a:spcAft>
                  <a:buNone/>
                </a:pPr>
                <a:r>
                  <a:rPr sz="1600">
                    <a:latin typeface="Times New Roman"/>
                  </a:rPr>
                  <a:t>For </a:t>
                </a:r>
                <a14:m>
                  <m:oMath>
                    <m:r>
                      <m:t>C</m:t>
                    </m:r>
                    <m:r>
                      <m:rPr>
                        <m:sty m:val="p"/>
                      </m:rPr>
                      <m:t>=</m:t>
                    </m:r>
                    <m:r>
                      <m:rPr>
                        <m:sty m:val="p"/>
                      </m:rPr>
                      <m:t>(</m:t>
                    </m:r>
                    <m:sSub>
                      <m:e>
                        <m:r>
                          <m:t>ℓ</m:t>
                        </m:r>
                      </m:e>
                      <m:sub>
                        <m:r>
                          <m:t>1</m:t>
                        </m:r>
                      </m:sub>
                    </m:sSub>
                    <m:r>
                      <m:rPr>
                        <m:sty m:val="p"/>
                      </m:rPr>
                      <m:t>∨</m:t>
                    </m:r>
                    <m:sSub>
                      <m:e>
                        <m:r>
                          <m:t>ℓ</m:t>
                        </m:r>
                      </m:e>
                      <m:sub>
                        <m:r>
                          <m:t>2</m:t>
                        </m:r>
                      </m:sub>
                    </m:sSub>
                    <m:r>
                      <m:rPr>
                        <m:sty m:val="p"/>
                      </m:rPr>
                      <m:t>∨</m:t>
                    </m:r>
                    <m:sSub>
                      <m:e>
                        <m:r>
                          <m:t>ℓ</m:t>
                        </m:r>
                      </m:e>
                      <m:sub>
                        <m:r>
                          <m:t>3</m:t>
                        </m:r>
                      </m:sub>
                    </m:sSub>
                    <m:r>
                      <m:rPr>
                        <m:sty m:val="p"/>
                      </m:rPr>
                      <m:t>)</m:t>
                    </m:r>
                  </m:oMath>
                </a14:m>
                <a:r>
                  <a:rPr sz="1600">
                    <a:latin typeface="Times New Roman"/>
                  </a:rPr>
                  <a:t>, add six fresh vertices </a:t>
                </a:r>
                <a14:m>
                  <m:oMath>
                    <m:sSub>
                      <m:e>
                        <m:r>
                          <m:t>a</m:t>
                        </m:r>
                      </m:e>
                      <m:sub>
                        <m:r>
                          <m:t>i</m:t>
                        </m:r>
                      </m:sub>
                    </m:sSub>
                    <m:r>
                      <m:rPr>
                        <m:sty m:val="p"/>
                      </m:rPr>
                      <m:t>,</m:t>
                    </m:r>
                    <m:sSub>
                      <m:e>
                        <m:r>
                          <m:t>b</m:t>
                        </m:r>
                      </m:e>
                      <m:sub>
                        <m:r>
                          <m:t>i</m:t>
                        </m:r>
                      </m:sub>
                    </m:sSub>
                  </m:oMath>
                </a14:m>
                <a:r>
                  <a:rPr sz="1600">
                    <a:latin typeface="Times New Roman"/>
                  </a:rPr>
                  <a:t> and 13 edges:</a:t>
                </a:r>
              </a:p>
              <a:p>
                <a:pPr lvl="0" indent="0" marL="0">
                  <a:spcAft>
                    <a:spcPts val="400"/>
                  </a:spcAft>
                  <a:buNone/>
                </a:pPr>
                <a14:m>
                  <m:oMathPara>
                    <m:oMathParaPr>
                      <m:jc m:val="center"/>
                    </m:oMathParaPr>
                    <m:oMath>
                      <m:eqArr>
                        <m:e>
                          <m:r>
                            <m:t>&amp;</m:t>
                          </m:r>
                          <m:r>
                            <m:rPr>
                              <m:sty m:val="p"/>
                            </m:rPr>
                            <m:t>(</m:t>
                          </m:r>
                          <m:sSub>
                            <m:e>
                              <m:r>
                                <m:t>ℓ</m:t>
                              </m:r>
                            </m:e>
                            <m:sub>
                              <m:r>
                                <m:t>i</m:t>
                              </m:r>
                            </m:sub>
                          </m:sSub>
                          <m:r>
                            <m:rPr>
                              <m:sty m:val="p"/>
                            </m:rPr>
                            <m:t>,</m:t>
                          </m:r>
                          <m:sSub>
                            <m:e>
                              <m:r>
                                <m:t>a</m:t>
                              </m:r>
                            </m:e>
                            <m:sub>
                              <m:r>
                                <m:t>i</m:t>
                              </m:r>
                            </m:sub>
                          </m:sSub>
                          <m:r>
                            <m:rPr>
                              <m:sty m:val="p"/>
                            </m:rPr>
                            <m:t>)</m:t>
                          </m:r>
                          <m:r>
                            <m:rPr>
                              <m:sty m:val="p"/>
                            </m:rPr>
                            <m:t>,</m:t>
                          </m:r>
                          <m:r>
                            <m:rPr>
                              <m:sty m:val="p"/>
                            </m:rPr>
                            <m:t>(</m:t>
                          </m:r>
                          <m:sSub>
                            <m:e>
                              <m:r>
                                <m:t>a</m:t>
                              </m:r>
                            </m:e>
                            <m:sub>
                              <m:r>
                                <m:t>i</m:t>
                              </m:r>
                            </m:sub>
                          </m:sSub>
                          <m:r>
                            <m:rPr>
                              <m:sty m:val="p"/>
                            </m:rPr>
                            <m:t>,</m:t>
                          </m:r>
                          <m:sSub>
                            <m:e>
                              <m:r>
                                <m:t>b</m:t>
                              </m:r>
                            </m:e>
                            <m:sub>
                              <m:r>
                                <m:t>i</m:t>
                              </m:r>
                            </m:sub>
                          </m:sSub>
                          <m:r>
                            <m:rPr>
                              <m:sty m:val="p"/>
                            </m:rPr>
                            <m:t>)</m:t>
                          </m:r>
                          <m:r>
                            <m:rPr>
                              <m:sty m:val="p"/>
                            </m:rPr>
                            <m:t>,</m:t>
                          </m:r>
                          <m:r>
                            <m:rPr>
                              <m:sty m:val="p"/>
                            </m:rPr>
                            <m:t>(</m:t>
                          </m:r>
                          <m:r>
                            <m:t>T</m:t>
                          </m:r>
                          <m:r>
                            <m:rPr>
                              <m:sty m:val="p"/>
                            </m:rPr>
                            <m:t>,</m:t>
                          </m:r>
                          <m:sSub>
                            <m:e>
                              <m:r>
                                <m:t>a</m:t>
                              </m:r>
                            </m:e>
                            <m:sub>
                              <m:r>
                                <m:t>i</m:t>
                              </m:r>
                            </m:sub>
                          </m:sSub>
                          <m:r>
                            <m:rPr>
                              <m:sty m:val="p"/>
                            </m:rPr>
                            <m:t>)</m:t>
                          </m:r>
                        </m:e>
                        <m:e>
                          <m:r>
                            <m:t>&amp;</m:t>
                          </m:r>
                          <m:r>
                            <m:t>  </m:t>
                          </m:r>
                          <m:r>
                            <m:rPr>
                              <m:nor/>
                              <m:sty m:val="p"/>
                            </m:rPr>
                            <m:t>for </m:t>
                          </m:r>
                          <m:r>
                            <m:t>i</m:t>
                          </m:r>
                          <m:r>
                            <m:rPr>
                              <m:sty m:val="p"/>
                            </m:rPr>
                            <m:t>=</m:t>
                          </m:r>
                          <m:r>
                            <m:t>1</m:t>
                          </m:r>
                          <m:r>
                            <m:rPr>
                              <m:sty m:val="p"/>
                            </m:rPr>
                            <m:t>,</m:t>
                          </m:r>
                          <m:r>
                            <m:t>2</m:t>
                          </m:r>
                          <m:r>
                            <m:rPr>
                              <m:sty m:val="p"/>
                            </m:rPr>
                            <m:t>,</m:t>
                          </m:r>
                          <m:r>
                            <m:t>3</m:t>
                          </m:r>
                          <m:r>
                            <m:rPr>
                              <m:sty m:val="p"/>
                            </m:rPr>
                            <m:t>,</m:t>
                          </m:r>
                        </m:e>
                        <m:e>
                          <m:r>
                            <m:t>&amp;</m:t>
                          </m:r>
                          <m:r>
                            <m:rPr>
                              <m:sty m:val="p"/>
                            </m:rPr>
                            <m:t>(</m:t>
                          </m:r>
                          <m:r>
                            <m:t>T</m:t>
                          </m:r>
                          <m:r>
                            <m:rPr>
                              <m:sty m:val="p"/>
                            </m:rPr>
                            <m:t>,</m:t>
                          </m:r>
                          <m:sSub>
                            <m:e>
                              <m:r>
                                <m:t>b</m:t>
                              </m:r>
                            </m:e>
                            <m:sub>
                              <m:r>
                                <m:t>1</m:t>
                              </m:r>
                            </m:sub>
                          </m:sSub>
                          <m:r>
                            <m:rPr>
                              <m:sty m:val="p"/>
                            </m:rPr>
                            <m:t>)</m:t>
                          </m:r>
                          <m:r>
                            <m:rPr>
                              <m:sty m:val="p"/>
                            </m:rPr>
                            <m:t>,</m:t>
                          </m:r>
                          <m:r>
                            <m:rPr>
                              <m:sty m:val="p"/>
                            </m:rPr>
                            <m:t>(</m:t>
                          </m:r>
                          <m:sSub>
                            <m:e>
                              <m:r>
                                <m:t>b</m:t>
                              </m:r>
                            </m:e>
                            <m:sub>
                              <m:r>
                                <m:t>1</m:t>
                              </m:r>
                            </m:sub>
                          </m:sSub>
                          <m:r>
                            <m:rPr>
                              <m:sty m:val="p"/>
                            </m:rPr>
                            <m:t>,</m:t>
                          </m:r>
                          <m:sSub>
                            <m:e>
                              <m:r>
                                <m:t>b</m:t>
                              </m:r>
                            </m:e>
                            <m:sub>
                              <m:r>
                                <m:t>2</m:t>
                              </m:r>
                            </m:sub>
                          </m:sSub>
                          <m:r>
                            <m:rPr>
                              <m:sty m:val="p"/>
                            </m:rPr>
                            <m:t>)</m:t>
                          </m:r>
                          <m:r>
                            <m:rPr>
                              <m:sty m:val="p"/>
                            </m:rPr>
                            <m:t>,</m:t>
                          </m:r>
                        </m:e>
                        <m:e>
                          <m:r>
                            <m:t>&amp;</m:t>
                          </m:r>
                          <m:r>
                            <m:rPr>
                              <m:sty m:val="p"/>
                            </m:rPr>
                            <m:t>(</m:t>
                          </m:r>
                          <m:sSub>
                            <m:e>
                              <m:r>
                                <m:t>b</m:t>
                              </m:r>
                            </m:e>
                            <m:sub>
                              <m:r>
                                <m:t>2</m:t>
                              </m:r>
                            </m:sub>
                          </m:sSub>
                          <m:r>
                            <m:rPr>
                              <m:sty m:val="p"/>
                            </m:rPr>
                            <m:t>,</m:t>
                          </m:r>
                          <m:sSub>
                            <m:e>
                              <m:r>
                                <m:t>b</m:t>
                              </m:r>
                            </m:e>
                            <m:sub>
                              <m:r>
                                <m:t>3</m:t>
                              </m:r>
                            </m:sub>
                          </m:sSub>
                          <m:r>
                            <m:rPr>
                              <m:sty m:val="p"/>
                            </m:rPr>
                            <m:t>)</m:t>
                          </m:r>
                          <m:r>
                            <m:rPr>
                              <m:sty m:val="p"/>
                            </m:rPr>
                            <m:t>,</m:t>
                          </m:r>
                          <m:r>
                            <m:rPr>
                              <m:sty m:val="p"/>
                            </m:rPr>
                            <m:t>(</m:t>
                          </m:r>
                          <m:sSub>
                            <m:e>
                              <m:r>
                                <m:t>b</m:t>
                              </m:r>
                            </m:e>
                            <m:sub>
                              <m:r>
                                <m:t>3</m:t>
                              </m:r>
                            </m:sub>
                          </m:sSub>
                          <m:r>
                            <m:rPr>
                              <m:sty m:val="p"/>
                            </m:rPr>
                            <m:t>,</m:t>
                          </m:r>
                          <m:r>
                            <m:t>F</m:t>
                          </m:r>
                          <m:r>
                            <m:rPr>
                              <m:sty m:val="p"/>
                            </m:rPr>
                            <m:t>)</m:t>
                          </m:r>
                          <m:r>
                            <m:rPr>
                              <m:sty m:val="p"/>
                            </m:rPr>
                            <m:t>.</m:t>
                          </m:r>
                        </m:e>
                      </m:eqArr>
                    </m:oMath>
                  </m:oMathPara>
                </a14:m>
              </a:p>
              <a:p>
                <a:pPr lvl="0" indent="0" marL="0">
                  <a:spcAft>
                    <a:spcPts val="400"/>
                  </a:spcAft>
                  <a:buNone/>
                </a:pPr>
                <a:r>
                  <a:rPr b="1" sz="1600">
                    <a:latin typeface="Times New Roman"/>
                  </a:rPr>
                  <a:t>Result: can we complete the coloring?</a:t>
                </a:r>
              </a:p>
              <a:p>
                <a:pPr lvl="0" indent="0" marL="0">
                  <a:spcAft>
                    <a:spcPts val="400"/>
                  </a:spcAft>
                  <a:buNone/>
                </a:pPr>
                <a:r>
                  <a:rPr sz="1600">
                    <a:latin typeface="Times New Roman"/>
                  </a:rPr>
                  <a:t>With inputs fixed in </a:t>
                </a:r>
                <a14:m>
                  <m:oMath>
                    <m:r>
                      <m:rPr>
                        <m:sty m:val="p"/>
                      </m:rPr>
                      <m:t>{</m:t>
                    </m:r>
                    <m:r>
                      <m:t>T</m:t>
                    </m:r>
                    <m:r>
                      <m:rPr>
                        <m:sty m:val="p"/>
                      </m:rPr>
                      <m:t>,</m:t>
                    </m:r>
                    <m:r>
                      <m:t>F</m:t>
                    </m:r>
                    <m:r>
                      <m:rPr>
                        <m:sty m:val="p"/>
                      </m:rPr>
                      <m:t>}</m:t>
                    </m:r>
                  </m:oMath>
                </a14:m>
                <a:r>
                  <a:rPr sz="1600">
                    <a:latin typeface="Times New Roman"/>
                  </a:rPr>
                  <a:t>, the internal coloring extends exactly when at least one input is </a:t>
                </a:r>
                <a14:m>
                  <m:oMath>
                    <m:r>
                      <m:t>T</m:t>
                    </m:r>
                  </m:oMath>
                </a14:m>
                <a:r>
                  <a:rPr sz="1600">
                    <a:latin typeface="Times New Roman"/>
                  </a:rPr>
                  <a:t>.</a:t>
                </a:r>
              </a:p>
              <a:p>
                <a:pPr lvl="0" indent="0" marL="0">
                  <a:spcAft>
                    <a:spcPts val="400"/>
                  </a:spcAft>
                  <a:buNone/>
                </a:pPr>
                <a:r>
                  <a:rPr b="1" sz="1600">
                    <a:latin typeface="Times New Roman"/>
                  </a:rPr>
                  <a:t>There is no output vertex.</a:t>
                </a:r>
              </a:p>
            </p:txBody>
          </p:sp>
        </mc:Choice>
      </mc:AlternateContent>
      <p:pic>
        <p:nvPicPr>
          <p:cNvPr descr="editable_assets/diagram-11-4.png" id="4" name="Picture 1"/>
          <p:cNvPicPr>
            <a:picLocks noGrp="1" noChangeAspect="1"/>
          </p:cNvPicPr>
          <p:nvPr/>
        </p:nvPicPr>
        <p:blipFill>
          <a:blip r:embed="rId3"/>
          <a:srcRect l="6855" t="34121" r="43774" b="9011"/>
          <a:stretch>
            <a:fillRect/>
          </a:stretch>
        </p:blipFill>
        <p:spPr bwMode="auto">
          <a:xfrm>
            <a:off x="4526280" y="1280014"/>
            <a:ext cx="4251960" cy="3520731"/>
          </a:xfrm>
          <a:prstGeom prst="rect">
            <a:avLst/>
          </a:prstGeom>
          <a:noFill/>
          <a:ln w="9525">
            <a:noFill/>
            <a:headEnd/>
            <a:tailEnd/>
          </a:ln>
        </p:spPr>
      </p:pic>
      <mc:AlternateContent>
        <mc:Choice Requires="a14">
          <p:sp>
            <p:nvSpPr>
              <p:cNvPr id="5" name="Content Placeholder 2"/>
              <p:cNvSpPr>
                <a:spLocks noGrp="1"/>
              </p:cNvSpPr>
              <p:nvPr/>
            </p:nvSpPr>
            <p:spPr>
              <a:xfrm>
                <a:off x="4617720" y="5074920"/>
                <a:ext cx="4160520" cy="1234440"/>
              </a:xfrm>
            </p:spPr>
            <p:txBody>
              <a:bodyPr lIns="0" rIns="0" tIns="0" bIns="0" anchor="t" wrap="square">
                <a:noAutofit/>
              </a:bodyPr>
              <a:lstStyle>
                <a:lvl1pPr>
                  <a:defRPr sz="1500">
                    <a:latin typeface="Times New Roman"/>
                  </a:defRPr>
                </a:lvl1pPr>
                <a:lvl2pPr>
                  <a:defRPr sz="1500">
                    <a:latin typeface="Times New Roman"/>
                  </a:defRPr>
                </a:lvl2pPr>
                <a:lvl3pPr>
                  <a:defRPr sz="1500">
                    <a:latin typeface="Times New Roman"/>
                  </a:defRPr>
                </a:lvl3pPr>
                <a:lvl4pPr>
                  <a:defRPr sz="1500">
                    <a:latin typeface="Times New Roman"/>
                  </a:defRPr>
                </a:lvl4pPr>
                <a:lvl5pPr>
                  <a:defRPr sz="1500">
                    <a:latin typeface="Times New Roman"/>
                  </a:defRPr>
                </a:lvl5pPr>
                <a:lvl6pPr>
                  <a:defRPr sz="1500">
                    <a:latin typeface="Times New Roman"/>
                  </a:defRPr>
                </a:lvl6pPr>
                <a:lvl7pPr>
                  <a:defRPr sz="1500">
                    <a:latin typeface="Times New Roman"/>
                  </a:defRPr>
                </a:lvl7pPr>
                <a:lvl8pPr>
                  <a:defRPr sz="1500">
                    <a:latin typeface="Times New Roman"/>
                  </a:defRPr>
                </a:lvl8pPr>
                <a:lvl9pPr>
                  <a:defRPr sz="1500">
                    <a:latin typeface="Times New Roman"/>
                  </a:defRPr>
                </a:lvl9pPr>
              </a:lstStyle>
              <a:p>
                <a:pPr lvl="0" indent="0" marL="0">
                  <a:spcAft>
                    <a:spcPts val="400"/>
                  </a:spcAft>
                  <a:buNone/>
                </a:pPr>
                <a:r>
                  <a:rPr sz="1500">
                    <a:latin typeface="Times New Roman"/>
                  </a:rPr>
                  <a:t>Black: literal arms. Blue: </a:t>
                </a:r>
                <a14:m>
                  <m:oMath>
                    <m:r>
                      <m:t>T</m:t>
                    </m:r>
                  </m:oMath>
                </a14:m>
                <a:r>
                  <a:rPr sz="1500">
                    <a:latin typeface="Times New Roman"/>
                  </a:rPr>
                  <a:t> links. Red: forcing path. Dotted gray: existing edges.</a:t>
                </a:r>
              </a:p>
              <a:p>
                <a:pPr lvl="0" indent="0" marL="0">
                  <a:spcAft>
                    <a:spcPts val="400"/>
                  </a:spcAft>
                  <a:buNone/>
                </a:pPr>
                <a:r>
                  <a:rPr sz="1500">
                    <a:latin typeface="Times New Roman"/>
                  </a:rPr>
                  <a:t>All lines are ordinary edges. White/gray vertices are unassigned, not extra colors.</a:t>
                </a:r>
              </a:p>
            </p:txBody>
          </p:sp>
        </mc:Choice>
      </mc:AlternateContent>
    </p:spTree>
  </p:cSld>
</p:sld>
</file>

<file path=ppt/slides/slide25.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Why the Clause Gadget Encodes OR</a:t>
            </a:r>
          </a:p>
        </p:txBody>
      </p:sp>
      <mc:AlternateContent>
        <mc:Choice Requires="a14">
          <p:sp>
            <p:nvSpPr>
              <p:cNvPr id="3" name="Content Placeholder 2"/>
              <p:cNvSpPr>
                <a:spLocks noGrp="1"/>
              </p:cNvSpPr>
              <p:nvPr/>
            </p:nvSpPr>
            <p:spPr>
              <a:xfrm>
                <a:off x="365760" y="1051560"/>
                <a:ext cx="4069080" cy="155448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All inputs are </a:t>
                </a:r>
                <a14:m>
                  <m:oMath>
                    <m:r>
                      <m:t>F</m:t>
                    </m:r>
                  </m:oMath>
                </a14:m>
                <a:r>
                  <a:rPr b="1" sz="1800">
                    <a:latin typeface="Times New Roman"/>
                  </a:rPr>
                  <a:t>: impossible</a:t>
                </a:r>
              </a:p>
              <a:p>
                <a:pPr lvl="0" indent="0" marL="0">
                  <a:spcAft>
                    <a:spcPts val="650"/>
                  </a:spcAft>
                  <a:buNone/>
                </a:pPr>
                <a:r>
                  <a:rPr sz="1800">
                    <a:latin typeface="Times New Roman"/>
                  </a:rPr>
                  <a:t>Each </a:t>
                </a:r>
                <a14:m>
                  <m:oMath>
                    <m:sSub>
                      <m:e>
                        <m:r>
                          <m:t>a</m:t>
                        </m:r>
                      </m:e>
                      <m:sub>
                        <m:r>
                          <m:t>i</m:t>
                        </m:r>
                      </m:sub>
                    </m:sSub>
                  </m:oMath>
                </a14:m>
                <a:r>
                  <a:rPr sz="1800">
                    <a:latin typeface="Times New Roman"/>
                  </a:rPr>
                  <a:t> is forced to </a:t>
                </a:r>
                <a14:m>
                  <m:oMath>
                    <m:r>
                      <m:t>B</m:t>
                    </m:r>
                  </m:oMath>
                </a14:m>
                <a:r>
                  <a:rPr sz="1800">
                    <a:latin typeface="Times New Roman"/>
                  </a:rPr>
                  <a:t>. Each </a:t>
                </a:r>
                <a14:m>
                  <m:oMath>
                    <m:sSub>
                      <m:e>
                        <m:r>
                          <m:t>b</m:t>
                        </m:r>
                      </m:e>
                      <m:sub>
                        <m:r>
                          <m:t>i</m:t>
                        </m:r>
                      </m:sub>
                    </m:sSub>
                  </m:oMath>
                </a14:m>
                <a:r>
                  <a:rPr sz="1800">
                    <a:latin typeface="Times New Roman"/>
                  </a:rPr>
                  <a:t> can therefore use only </a:t>
                </a:r>
                <a14:m>
                  <m:oMath>
                    <m:r>
                      <m:t>T</m:t>
                    </m:r>
                  </m:oMath>
                </a14:m>
                <a:r>
                  <a:rPr sz="1800">
                    <a:latin typeface="Times New Roman"/>
                  </a:rPr>
                  <a:t> or </a:t>
                </a:r>
                <a14:m>
                  <m:oMath>
                    <m:r>
                      <m:t>F</m:t>
                    </m:r>
                  </m:oMath>
                </a14:m>
                <a:r>
                  <a:rPr sz="1800">
                    <a:latin typeface="Times New Roman"/>
                  </a:rPr>
                  <a:t>.</a:t>
                </a:r>
              </a:p>
            </p:txBody>
          </p:sp>
        </mc:Choice>
      </mc:AlternateContent>
      <p:pic>
        <p:nvPicPr>
          <p:cNvPr descr="editable_assets/diagram-12-1.png" id="4" name="Picture 1"/>
          <p:cNvPicPr>
            <a:picLocks noGrp="1" noChangeAspect="1"/>
          </p:cNvPicPr>
          <p:nvPr/>
        </p:nvPicPr>
        <p:blipFill>
          <a:blip r:embed="rId3"/>
          <a:srcRect l="6158" t="16827" r="6158" b="22115"/>
          <a:stretch>
            <a:fillRect/>
          </a:stretch>
        </p:blipFill>
        <p:spPr bwMode="auto">
          <a:xfrm>
            <a:off x="491040" y="2743200"/>
            <a:ext cx="3772800" cy="731520"/>
          </a:xfrm>
          <a:prstGeom prst="rect">
            <a:avLst/>
          </a:prstGeom>
          <a:noFill/>
          <a:ln w="9525">
            <a:noFill/>
            <a:headEnd/>
            <a:tailEnd/>
          </a:ln>
        </p:spPr>
      </p:pic>
      <mc:AlternateContent>
        <mc:Choice Requires="a14">
          <p:sp>
            <p:nvSpPr>
              <p:cNvPr id="5" name="Content Placeholder 2"/>
              <p:cNvSpPr>
                <a:spLocks noGrp="1"/>
              </p:cNvSpPr>
              <p:nvPr/>
            </p:nvSpPr>
            <p:spPr>
              <a:xfrm>
                <a:off x="365760" y="3840480"/>
                <a:ext cx="4069080" cy="196596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sz="1800">
                    <a:latin typeface="Times New Roman"/>
                  </a:rPr>
                  <a:t>From </a:t>
                </a:r>
                <a14:m>
                  <m:oMath>
                    <m:r>
                      <m:t>T</m:t>
                    </m:r>
                  </m:oMath>
                </a14:m>
                <a:r>
                  <a:rPr sz="1800">
                    <a:latin typeface="Times New Roman"/>
                  </a:rPr>
                  <a:t>, the first three edges force </a:t>
                </a:r>
                <a14:m>
                  <m:oMath>
                    <m:r>
                      <m:t>F</m:t>
                    </m:r>
                    <m:r>
                      <m:rPr>
                        <m:sty m:val="p"/>
                      </m:rPr>
                      <m:t>,</m:t>
                    </m:r>
                    <m:r>
                      <m:t>T</m:t>
                    </m:r>
                    <m:r>
                      <m:rPr>
                        <m:sty m:val="p"/>
                      </m:rPr>
                      <m:t>,</m:t>
                    </m:r>
                    <m:r>
                      <m:t>F</m:t>
                    </m:r>
                  </m:oMath>
                </a14:m>
                <a:r>
                  <a:rPr sz="1800">
                    <a:latin typeface="Times New Roman"/>
                  </a:rPr>
                  <a:t>. The last edge then joins two </a:t>
                </a:r>
                <a14:m>
                  <m:oMath>
                    <m:r>
                      <m:t>F</m:t>
                    </m:r>
                  </m:oMath>
                </a14:m>
                <a:r>
                  <a:rPr sz="1800">
                    <a:latin typeface="Times New Roman"/>
                  </a:rPr>
                  <a:t> vertices.</a:t>
                </a:r>
              </a:p>
            </p:txBody>
          </p:sp>
        </mc:Choice>
      </mc:AlternateContent>
    </p:spTree>
  </p:cSld>
</p:sld>
</file>

<file path=ppt/slides/slide26.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Why the Clause Gadget Encodes OR</a:t>
            </a:r>
          </a:p>
        </p:txBody>
      </p:sp>
      <mc:AlternateContent>
        <mc:Choice Requires="a14">
          <p:sp>
            <p:nvSpPr>
              <p:cNvPr id="3" name="Content Placeholder 2"/>
              <p:cNvSpPr>
                <a:spLocks noGrp="1"/>
              </p:cNvSpPr>
              <p:nvPr/>
            </p:nvSpPr>
            <p:spPr>
              <a:xfrm>
                <a:off x="365760" y="1051560"/>
                <a:ext cx="4069080" cy="155448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All inputs are </a:t>
                </a:r>
                <a14:m>
                  <m:oMath>
                    <m:r>
                      <m:t>F</m:t>
                    </m:r>
                  </m:oMath>
                </a14:m>
                <a:r>
                  <a:rPr b="1" sz="1800">
                    <a:latin typeface="Times New Roman"/>
                  </a:rPr>
                  <a:t>: impossible</a:t>
                </a:r>
              </a:p>
              <a:p>
                <a:pPr lvl="0" indent="0" marL="0">
                  <a:spcAft>
                    <a:spcPts val="650"/>
                  </a:spcAft>
                  <a:buNone/>
                </a:pPr>
                <a:r>
                  <a:rPr sz="1800">
                    <a:latin typeface="Times New Roman"/>
                  </a:rPr>
                  <a:t>Each </a:t>
                </a:r>
                <a14:m>
                  <m:oMath>
                    <m:sSub>
                      <m:e>
                        <m:r>
                          <m:t>a</m:t>
                        </m:r>
                      </m:e>
                      <m:sub>
                        <m:r>
                          <m:t>i</m:t>
                        </m:r>
                      </m:sub>
                    </m:sSub>
                  </m:oMath>
                </a14:m>
                <a:r>
                  <a:rPr sz="1800">
                    <a:latin typeface="Times New Roman"/>
                  </a:rPr>
                  <a:t> is forced to </a:t>
                </a:r>
                <a14:m>
                  <m:oMath>
                    <m:r>
                      <m:t>B</m:t>
                    </m:r>
                  </m:oMath>
                </a14:m>
                <a:r>
                  <a:rPr sz="1800">
                    <a:latin typeface="Times New Roman"/>
                  </a:rPr>
                  <a:t>. Each </a:t>
                </a:r>
                <a14:m>
                  <m:oMath>
                    <m:sSub>
                      <m:e>
                        <m:r>
                          <m:t>b</m:t>
                        </m:r>
                      </m:e>
                      <m:sub>
                        <m:r>
                          <m:t>i</m:t>
                        </m:r>
                      </m:sub>
                    </m:sSub>
                  </m:oMath>
                </a14:m>
                <a:r>
                  <a:rPr sz="1800">
                    <a:latin typeface="Times New Roman"/>
                  </a:rPr>
                  <a:t> can therefore use only </a:t>
                </a:r>
                <a14:m>
                  <m:oMath>
                    <m:r>
                      <m:t>T</m:t>
                    </m:r>
                  </m:oMath>
                </a14:m>
                <a:r>
                  <a:rPr sz="1800">
                    <a:latin typeface="Times New Roman"/>
                  </a:rPr>
                  <a:t> or </a:t>
                </a:r>
                <a14:m>
                  <m:oMath>
                    <m:r>
                      <m:t>F</m:t>
                    </m:r>
                  </m:oMath>
                </a14:m>
                <a:r>
                  <a:rPr sz="1800">
                    <a:latin typeface="Times New Roman"/>
                  </a:rPr>
                  <a:t>.</a:t>
                </a:r>
              </a:p>
            </p:txBody>
          </p:sp>
        </mc:Choice>
      </mc:AlternateContent>
      <p:pic>
        <p:nvPicPr>
          <p:cNvPr descr="editable_assets/diagram-12-1.png" id="4" name="Picture 1"/>
          <p:cNvPicPr>
            <a:picLocks noGrp="1" noChangeAspect="1"/>
          </p:cNvPicPr>
          <p:nvPr/>
        </p:nvPicPr>
        <p:blipFill>
          <a:blip r:embed="rId3"/>
          <a:srcRect l="6158" t="16827" r="6158" b="22115"/>
          <a:stretch>
            <a:fillRect/>
          </a:stretch>
        </p:blipFill>
        <p:spPr bwMode="auto">
          <a:xfrm>
            <a:off x="491040" y="2743200"/>
            <a:ext cx="3772800" cy="731520"/>
          </a:xfrm>
          <a:prstGeom prst="rect">
            <a:avLst/>
          </a:prstGeom>
          <a:noFill/>
          <a:ln w="9525">
            <a:noFill/>
            <a:headEnd/>
            <a:tailEnd/>
          </a:ln>
        </p:spPr>
      </p:pic>
      <mc:AlternateContent>
        <mc:Choice Requires="a14">
          <p:sp>
            <p:nvSpPr>
              <p:cNvPr id="5" name="Content Placeholder 2"/>
              <p:cNvSpPr>
                <a:spLocks noGrp="1"/>
              </p:cNvSpPr>
              <p:nvPr/>
            </p:nvSpPr>
            <p:spPr>
              <a:xfrm>
                <a:off x="365760" y="3840480"/>
                <a:ext cx="4069080" cy="196596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sz="1800">
                    <a:latin typeface="Times New Roman"/>
                  </a:rPr>
                  <a:t>From </a:t>
                </a:r>
                <a14:m>
                  <m:oMath>
                    <m:r>
                      <m:t>T</m:t>
                    </m:r>
                  </m:oMath>
                </a14:m>
                <a:r>
                  <a:rPr sz="1800">
                    <a:latin typeface="Times New Roman"/>
                  </a:rPr>
                  <a:t>, the first three edges force </a:t>
                </a:r>
                <a14:m>
                  <m:oMath>
                    <m:r>
                      <m:t>F</m:t>
                    </m:r>
                    <m:r>
                      <m:rPr>
                        <m:sty m:val="p"/>
                      </m:rPr>
                      <m:t>,</m:t>
                    </m:r>
                    <m:r>
                      <m:t>T</m:t>
                    </m:r>
                    <m:r>
                      <m:rPr>
                        <m:sty m:val="p"/>
                      </m:rPr>
                      <m:t>,</m:t>
                    </m:r>
                    <m:r>
                      <m:t>F</m:t>
                    </m:r>
                  </m:oMath>
                </a14:m>
                <a:r>
                  <a:rPr sz="1800">
                    <a:latin typeface="Times New Roman"/>
                  </a:rPr>
                  <a:t>. The last edge then joins two </a:t>
                </a:r>
                <a14:m>
                  <m:oMath>
                    <m:r>
                      <m:t>F</m:t>
                    </m:r>
                  </m:oMath>
                </a14:m>
                <a:r>
                  <a:rPr sz="1800">
                    <a:latin typeface="Times New Roman"/>
                  </a:rPr>
                  <a:t> vertices.</a:t>
                </a:r>
              </a:p>
            </p:txBody>
          </p:sp>
        </mc:Choice>
      </mc:AlternateContent>
      <mc:AlternateContent>
        <mc:Choice Requires="a14">
          <p:sp>
            <p:nvSpPr>
              <p:cNvPr id="6" name="Content Placeholder 2"/>
              <p:cNvSpPr>
                <a:spLocks noGrp="1"/>
              </p:cNvSpPr>
              <p:nvPr/>
            </p:nvSpPr>
            <p:spPr>
              <a:xfrm>
                <a:off x="4709160" y="1051560"/>
                <a:ext cx="4069080" cy="150876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At least one input is </a:t>
                </a:r>
                <a14:m>
                  <m:oMath>
                    <m:r>
                      <m:t>T</m:t>
                    </m:r>
                  </m:oMath>
                </a14:m>
                <a:r>
                  <a:rPr b="1" sz="1800">
                    <a:latin typeface="Times New Roman"/>
                  </a:rPr>
                  <a:t>: possible</a:t>
                </a:r>
              </a:p>
              <a:p>
                <a:pPr lvl="0" indent="0" marL="0">
                  <a:spcAft>
                    <a:spcPts val="650"/>
                  </a:spcAft>
                  <a:buNone/>
                </a:pPr>
                <a:r>
                  <a:rPr sz="1800">
                    <a:latin typeface="Times New Roman"/>
                  </a:rPr>
                  <a:t>Choose one true input </a:t>
                </a:r>
                <a14:m>
                  <m:oMath>
                    <m:sSub>
                      <m:e>
                        <m:r>
                          <m:t>ℓ</m:t>
                        </m:r>
                      </m:e>
                      <m:sub>
                        <m:r>
                          <m:t>i</m:t>
                        </m:r>
                      </m:sub>
                    </m:sSub>
                  </m:oMath>
                </a14:m>
                <a:r>
                  <a:rPr sz="1800">
                    <a:latin typeface="Times New Roman"/>
                  </a:rPr>
                  <a:t>. Set </a:t>
                </a:r>
                <a14:m>
                  <m:oMath>
                    <m:sSub>
                      <m:e>
                        <m:r>
                          <m:t>a</m:t>
                        </m:r>
                      </m:e>
                      <m:sub>
                        <m:r>
                          <m:t>i</m:t>
                        </m:r>
                      </m:sub>
                    </m:sSub>
                    <m:r>
                      <m:rPr>
                        <m:sty m:val="p"/>
                      </m:rPr>
                      <m:t>=</m:t>
                    </m:r>
                    <m:r>
                      <m:t>F</m:t>
                    </m:r>
                  </m:oMath>
                </a14:m>
                <a:r>
                  <a:rPr sz="1800">
                    <a:latin typeface="Times New Roman"/>
                  </a:rPr>
                  <a:t>, </a:t>
                </a:r>
                <a14:m>
                  <m:oMath>
                    <m:sSub>
                      <m:e>
                        <m:r>
                          <m:t>b</m:t>
                        </m:r>
                      </m:e>
                      <m:sub>
                        <m:r>
                          <m:t>i</m:t>
                        </m:r>
                      </m:sub>
                    </m:sSub>
                    <m:r>
                      <m:rPr>
                        <m:sty m:val="p"/>
                      </m:rPr>
                      <m:t>=</m:t>
                    </m:r>
                    <m:r>
                      <m:t>B</m:t>
                    </m:r>
                  </m:oMath>
                </a14:m>
                <a:r>
                  <a:rPr sz="1800">
                    <a:latin typeface="Times New Roman"/>
                  </a:rPr>
                  <a:t> and every other </a:t>
                </a:r>
                <a14:m>
                  <m:oMath>
                    <m:sSub>
                      <m:e>
                        <m:r>
                          <m:t>a</m:t>
                        </m:r>
                      </m:e>
                      <m:sub>
                        <m:r>
                          <m:t>j</m:t>
                        </m:r>
                      </m:sub>
                    </m:sSub>
                    <m:r>
                      <m:rPr>
                        <m:sty m:val="p"/>
                      </m:rPr>
                      <m:t>=</m:t>
                    </m:r>
                    <m:r>
                      <m:t>B</m:t>
                    </m:r>
                  </m:oMath>
                </a14:m>
                <a:r>
                  <a:rPr sz="1800">
                    <a:latin typeface="Times New Roman"/>
                  </a:rPr>
                  <a:t>.</a:t>
                </a:r>
              </a:p>
            </p:txBody>
          </p:sp>
        </mc:Choice>
      </mc:AlternateContent>
      <p:pic>
        <p:nvPicPr>
          <p:cNvPr descr="editable_assets/diagram-13-1.png" id="7" name="Picture 1"/>
          <p:cNvPicPr>
            <a:picLocks noGrp="1" noChangeAspect="1"/>
          </p:cNvPicPr>
          <p:nvPr/>
        </p:nvPicPr>
        <p:blipFill>
          <a:blip r:embed="rId4"/>
          <a:srcRect l="6158" t="9434" r="6158" b="9644"/>
          <a:stretch>
            <a:fillRect/>
          </a:stretch>
        </p:blipFill>
        <p:spPr bwMode="auto">
          <a:xfrm>
            <a:off x="5120640" y="2723970"/>
            <a:ext cx="3246120" cy="1912981"/>
          </a:xfrm>
          <a:prstGeom prst="rect">
            <a:avLst/>
          </a:prstGeom>
          <a:noFill/>
          <a:ln w="9525">
            <a:noFill/>
            <a:headEnd/>
            <a:tailEnd/>
          </a:ln>
        </p:spPr>
      </p:pic>
      <p:graphicFrame>
        <p:nvGraphicFramePr>
          <p:cNvPr id="8" name="Content Placeholder 5"/>
          <p:cNvGraphicFramePr>
            <a:graphicFrameLocks noGrp="1"/>
          </p:cNvGraphicFramePr>
          <p:nvPr>
            <p:ph idx="1"/>
          </p:nvPr>
        </p:nvGraphicFramePr>
        <p:xfrm>
          <a:off x="4709160" y="5120640"/>
          <a:ext cx="4069080" cy="1097280"/>
        </p:xfrm>
        <a:graphic>
          <a:graphicData uri="http://schemas.openxmlformats.org/drawingml/2006/table">
            <a:tbl>
              <a:tblPr firstRow="1" bandRow="1">
                <a:tableStyleId>{5C22544A-7EE6-4342-B048-85BDC9FD1C3A}</a:tableStyleId>
              </a:tblPr>
              <a:tblGrid>
                <a:gridCol w="2034540"/>
                <a:gridCol w="2034540"/>
              </a:tblGrid>
              <a:tr h="274320">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Chosen true position</a:t>
                      </a:r>
                    </a:p>
                  </a:txBody>
                  <a:tcPr/>
                </a:tc>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(b₁, b₂, b₃)</a:t>
                      </a:r>
                    </a:p>
                  </a:txBody>
                  <a:tcPr/>
                </a:tc>
              </a:tr>
              <a:tr h="274320">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i = 1</a:t>
                      </a:r>
                    </a:p>
                  </a:txBody>
                </a:tc>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(B, F, T)</a:t>
                      </a:r>
                    </a:p>
                  </a:txBody>
                </a:tc>
              </a:tr>
              <a:tr h="274320">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i = 2</a:t>
                      </a:r>
                    </a:p>
                  </a:txBody>
                </a:tc>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(F, B, T)</a:t>
                      </a:r>
                    </a:p>
                  </a:txBody>
                </a:tc>
              </a:tr>
              <a:tr h="274320">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i = 3 (shown)</a:t>
                      </a:r>
                    </a:p>
                  </a:txBody>
                </a:tc>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(F, T, B)</a:t>
                      </a:r>
                    </a:p>
                  </a:txBody>
                </a:tc>
              </a:tr>
            </a:tbl>
          </a:graphicData>
        </a:graphic>
      </p:graphicFrame>
    </p:spTree>
  </p:cSld>
</p:sld>
</file>

<file path=ppt/slides/slide27.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Why the Clause Gadget Encodes OR</a:t>
            </a:r>
          </a:p>
        </p:txBody>
      </p:sp>
      <mc:AlternateContent>
        <mc:Choice Requires="a14">
          <p:sp>
            <p:nvSpPr>
              <p:cNvPr id="3" name="Content Placeholder 2"/>
              <p:cNvSpPr>
                <a:spLocks noGrp="1"/>
              </p:cNvSpPr>
              <p:nvPr/>
            </p:nvSpPr>
            <p:spPr>
              <a:xfrm>
                <a:off x="365760" y="1051560"/>
                <a:ext cx="4069080" cy="155448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All inputs are </a:t>
                </a:r>
                <a14:m>
                  <m:oMath>
                    <m:r>
                      <m:t>F</m:t>
                    </m:r>
                  </m:oMath>
                </a14:m>
                <a:r>
                  <a:rPr b="1" sz="1800">
                    <a:latin typeface="Times New Roman"/>
                  </a:rPr>
                  <a:t>: impossible</a:t>
                </a:r>
              </a:p>
              <a:p>
                <a:pPr lvl="0" indent="0" marL="0">
                  <a:spcAft>
                    <a:spcPts val="650"/>
                  </a:spcAft>
                  <a:buNone/>
                </a:pPr>
                <a:r>
                  <a:rPr sz="1800">
                    <a:latin typeface="Times New Roman"/>
                  </a:rPr>
                  <a:t>Each </a:t>
                </a:r>
                <a14:m>
                  <m:oMath>
                    <m:sSub>
                      <m:e>
                        <m:r>
                          <m:t>a</m:t>
                        </m:r>
                      </m:e>
                      <m:sub>
                        <m:r>
                          <m:t>i</m:t>
                        </m:r>
                      </m:sub>
                    </m:sSub>
                  </m:oMath>
                </a14:m>
                <a:r>
                  <a:rPr sz="1800">
                    <a:latin typeface="Times New Roman"/>
                  </a:rPr>
                  <a:t> is forced to </a:t>
                </a:r>
                <a14:m>
                  <m:oMath>
                    <m:r>
                      <m:t>B</m:t>
                    </m:r>
                  </m:oMath>
                </a14:m>
                <a:r>
                  <a:rPr sz="1800">
                    <a:latin typeface="Times New Roman"/>
                  </a:rPr>
                  <a:t>. Each </a:t>
                </a:r>
                <a14:m>
                  <m:oMath>
                    <m:sSub>
                      <m:e>
                        <m:r>
                          <m:t>b</m:t>
                        </m:r>
                      </m:e>
                      <m:sub>
                        <m:r>
                          <m:t>i</m:t>
                        </m:r>
                      </m:sub>
                    </m:sSub>
                  </m:oMath>
                </a14:m>
                <a:r>
                  <a:rPr sz="1800">
                    <a:latin typeface="Times New Roman"/>
                  </a:rPr>
                  <a:t> can therefore use only </a:t>
                </a:r>
                <a14:m>
                  <m:oMath>
                    <m:r>
                      <m:t>T</m:t>
                    </m:r>
                  </m:oMath>
                </a14:m>
                <a:r>
                  <a:rPr sz="1800">
                    <a:latin typeface="Times New Roman"/>
                  </a:rPr>
                  <a:t> or </a:t>
                </a:r>
                <a14:m>
                  <m:oMath>
                    <m:r>
                      <m:t>F</m:t>
                    </m:r>
                  </m:oMath>
                </a14:m>
                <a:r>
                  <a:rPr sz="1800">
                    <a:latin typeface="Times New Roman"/>
                  </a:rPr>
                  <a:t>.</a:t>
                </a:r>
              </a:p>
            </p:txBody>
          </p:sp>
        </mc:Choice>
      </mc:AlternateContent>
      <p:pic>
        <p:nvPicPr>
          <p:cNvPr descr="editable_assets/diagram-12-1.png" id="4" name="Picture 1"/>
          <p:cNvPicPr>
            <a:picLocks noGrp="1" noChangeAspect="1"/>
          </p:cNvPicPr>
          <p:nvPr/>
        </p:nvPicPr>
        <p:blipFill>
          <a:blip r:embed="rId3"/>
          <a:srcRect l="6158" t="16827" r="6158" b="22115"/>
          <a:stretch>
            <a:fillRect/>
          </a:stretch>
        </p:blipFill>
        <p:spPr bwMode="auto">
          <a:xfrm>
            <a:off x="491040" y="2743200"/>
            <a:ext cx="3772800" cy="731520"/>
          </a:xfrm>
          <a:prstGeom prst="rect">
            <a:avLst/>
          </a:prstGeom>
          <a:noFill/>
          <a:ln w="9525">
            <a:noFill/>
            <a:headEnd/>
            <a:tailEnd/>
          </a:ln>
        </p:spPr>
      </p:pic>
      <mc:AlternateContent>
        <mc:Choice Requires="a14">
          <p:sp>
            <p:nvSpPr>
              <p:cNvPr id="5" name="Content Placeholder 2"/>
              <p:cNvSpPr>
                <a:spLocks noGrp="1"/>
              </p:cNvSpPr>
              <p:nvPr/>
            </p:nvSpPr>
            <p:spPr>
              <a:xfrm>
                <a:off x="365760" y="3840480"/>
                <a:ext cx="4069080" cy="196596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sz="1800">
                    <a:latin typeface="Times New Roman"/>
                  </a:rPr>
                  <a:t>From </a:t>
                </a:r>
                <a14:m>
                  <m:oMath>
                    <m:r>
                      <m:t>T</m:t>
                    </m:r>
                  </m:oMath>
                </a14:m>
                <a:r>
                  <a:rPr sz="1800">
                    <a:latin typeface="Times New Roman"/>
                  </a:rPr>
                  <a:t>, the first three edges force </a:t>
                </a:r>
                <a14:m>
                  <m:oMath>
                    <m:r>
                      <m:t>F</m:t>
                    </m:r>
                    <m:r>
                      <m:rPr>
                        <m:sty m:val="p"/>
                      </m:rPr>
                      <m:t>,</m:t>
                    </m:r>
                    <m:r>
                      <m:t>T</m:t>
                    </m:r>
                    <m:r>
                      <m:rPr>
                        <m:sty m:val="p"/>
                      </m:rPr>
                      <m:t>,</m:t>
                    </m:r>
                    <m:r>
                      <m:t>F</m:t>
                    </m:r>
                  </m:oMath>
                </a14:m>
                <a:r>
                  <a:rPr sz="1800">
                    <a:latin typeface="Times New Roman"/>
                  </a:rPr>
                  <a:t>. The last edge then joins two </a:t>
                </a:r>
                <a14:m>
                  <m:oMath>
                    <m:r>
                      <m:t>F</m:t>
                    </m:r>
                  </m:oMath>
                </a14:m>
                <a:r>
                  <a:rPr sz="1800">
                    <a:latin typeface="Times New Roman"/>
                  </a:rPr>
                  <a:t> vertices.</a:t>
                </a:r>
              </a:p>
              <a:p>
                <a:pPr lvl="0" indent="0" marL="0">
                  <a:spcAft>
                    <a:spcPts val="650"/>
                  </a:spcAft>
                  <a:buNone/>
                </a:pPr>
                <a14:m>
                  <m:oMath>
                    <m:r>
                      <m:t>F</m:t>
                    </m:r>
                    <m:r>
                      <m:rPr>
                        <m:sty m:val="p"/>
                      </m:rPr>
                      <m:t>,</m:t>
                    </m:r>
                    <m:r>
                      <m:t>F</m:t>
                    </m:r>
                    <m:r>
                      <m:rPr>
                        <m:sty m:val="p"/>
                      </m:rPr>
                      <m:t>,</m:t>
                    </m:r>
                    <m:r>
                      <m:t>F</m:t>
                    </m:r>
                  </m:oMath>
                </a14:m>
                <a:r>
                  <a:rPr b="1" sz="1800">
                    <a:latin typeface="Times New Roman"/>
                  </a:rPr>
                  <a:t>: no extension.</a:t>
                </a:r>
                <a:br/>
                <a:r>
                  <a:rPr sz="1800">
                    <a:latin typeface="Times New Roman"/>
                  </a:rPr>
                  <a:t>All seven other input patterns have an extension.</a:t>
                </a:r>
              </a:p>
            </p:txBody>
          </p:sp>
        </mc:Choice>
      </mc:AlternateContent>
      <mc:AlternateContent>
        <mc:Choice Requires="a14">
          <p:sp>
            <p:nvSpPr>
              <p:cNvPr id="6" name="Content Placeholder 2"/>
              <p:cNvSpPr>
                <a:spLocks noGrp="1"/>
              </p:cNvSpPr>
              <p:nvPr/>
            </p:nvSpPr>
            <p:spPr>
              <a:xfrm>
                <a:off x="4709160" y="1051560"/>
                <a:ext cx="4069080" cy="150876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r>
                  <a:rPr b="1" sz="1800">
                    <a:latin typeface="Times New Roman"/>
                  </a:rPr>
                  <a:t>At least one input is </a:t>
                </a:r>
                <a14:m>
                  <m:oMath>
                    <m:r>
                      <m:t>T</m:t>
                    </m:r>
                  </m:oMath>
                </a14:m>
                <a:r>
                  <a:rPr b="1" sz="1800">
                    <a:latin typeface="Times New Roman"/>
                  </a:rPr>
                  <a:t>: possible</a:t>
                </a:r>
              </a:p>
              <a:p>
                <a:pPr lvl="0" indent="0" marL="0">
                  <a:spcAft>
                    <a:spcPts val="650"/>
                  </a:spcAft>
                  <a:buNone/>
                </a:pPr>
                <a:r>
                  <a:rPr sz="1800">
                    <a:latin typeface="Times New Roman"/>
                  </a:rPr>
                  <a:t>Choose one true input </a:t>
                </a:r>
                <a14:m>
                  <m:oMath>
                    <m:sSub>
                      <m:e>
                        <m:r>
                          <m:t>ℓ</m:t>
                        </m:r>
                      </m:e>
                      <m:sub>
                        <m:r>
                          <m:t>i</m:t>
                        </m:r>
                      </m:sub>
                    </m:sSub>
                  </m:oMath>
                </a14:m>
                <a:r>
                  <a:rPr sz="1800">
                    <a:latin typeface="Times New Roman"/>
                  </a:rPr>
                  <a:t>. Set </a:t>
                </a:r>
                <a14:m>
                  <m:oMath>
                    <m:sSub>
                      <m:e>
                        <m:r>
                          <m:t>a</m:t>
                        </m:r>
                      </m:e>
                      <m:sub>
                        <m:r>
                          <m:t>i</m:t>
                        </m:r>
                      </m:sub>
                    </m:sSub>
                    <m:r>
                      <m:rPr>
                        <m:sty m:val="p"/>
                      </m:rPr>
                      <m:t>=</m:t>
                    </m:r>
                    <m:r>
                      <m:t>F</m:t>
                    </m:r>
                  </m:oMath>
                </a14:m>
                <a:r>
                  <a:rPr sz="1800">
                    <a:latin typeface="Times New Roman"/>
                  </a:rPr>
                  <a:t>, </a:t>
                </a:r>
                <a14:m>
                  <m:oMath>
                    <m:sSub>
                      <m:e>
                        <m:r>
                          <m:t>b</m:t>
                        </m:r>
                      </m:e>
                      <m:sub>
                        <m:r>
                          <m:t>i</m:t>
                        </m:r>
                      </m:sub>
                    </m:sSub>
                    <m:r>
                      <m:rPr>
                        <m:sty m:val="p"/>
                      </m:rPr>
                      <m:t>=</m:t>
                    </m:r>
                    <m:r>
                      <m:t>B</m:t>
                    </m:r>
                  </m:oMath>
                </a14:m>
                <a:r>
                  <a:rPr sz="1800">
                    <a:latin typeface="Times New Roman"/>
                  </a:rPr>
                  <a:t> and every other </a:t>
                </a:r>
                <a14:m>
                  <m:oMath>
                    <m:sSub>
                      <m:e>
                        <m:r>
                          <m:t>a</m:t>
                        </m:r>
                      </m:e>
                      <m:sub>
                        <m:r>
                          <m:t>j</m:t>
                        </m:r>
                      </m:sub>
                    </m:sSub>
                    <m:r>
                      <m:rPr>
                        <m:sty m:val="p"/>
                      </m:rPr>
                      <m:t>=</m:t>
                    </m:r>
                    <m:r>
                      <m:t>B</m:t>
                    </m:r>
                  </m:oMath>
                </a14:m>
                <a:r>
                  <a:rPr sz="1800">
                    <a:latin typeface="Times New Roman"/>
                  </a:rPr>
                  <a:t>.</a:t>
                </a:r>
              </a:p>
            </p:txBody>
          </p:sp>
        </mc:Choice>
      </mc:AlternateContent>
      <p:pic>
        <p:nvPicPr>
          <p:cNvPr descr="editable_assets/diagram-13-1.png" id="7" name="Picture 1"/>
          <p:cNvPicPr>
            <a:picLocks noGrp="1" noChangeAspect="1"/>
          </p:cNvPicPr>
          <p:nvPr/>
        </p:nvPicPr>
        <p:blipFill>
          <a:blip r:embed="rId4"/>
          <a:srcRect l="6158" t="9434" r="6158" b="9644"/>
          <a:stretch>
            <a:fillRect/>
          </a:stretch>
        </p:blipFill>
        <p:spPr bwMode="auto">
          <a:xfrm>
            <a:off x="5120640" y="2723970"/>
            <a:ext cx="3246120" cy="1912981"/>
          </a:xfrm>
          <a:prstGeom prst="rect">
            <a:avLst/>
          </a:prstGeom>
          <a:noFill/>
          <a:ln w="9525">
            <a:noFill/>
            <a:headEnd/>
            <a:tailEnd/>
          </a:ln>
        </p:spPr>
      </p:pic>
      <p:graphicFrame>
        <p:nvGraphicFramePr>
          <p:cNvPr id="8" name="Content Placeholder 5"/>
          <p:cNvGraphicFramePr>
            <a:graphicFrameLocks noGrp="1"/>
          </p:cNvGraphicFramePr>
          <p:nvPr>
            <p:ph idx="1"/>
          </p:nvPr>
        </p:nvGraphicFramePr>
        <p:xfrm>
          <a:off x="4709160" y="5120640"/>
          <a:ext cx="4069080" cy="1097280"/>
        </p:xfrm>
        <a:graphic>
          <a:graphicData uri="http://schemas.openxmlformats.org/drawingml/2006/table">
            <a:tbl>
              <a:tblPr firstRow="1" bandRow="1">
                <a:tableStyleId>{5C22544A-7EE6-4342-B048-85BDC9FD1C3A}</a:tableStyleId>
              </a:tblPr>
              <a:tblGrid>
                <a:gridCol w="2034540"/>
                <a:gridCol w="2034540"/>
              </a:tblGrid>
              <a:tr h="274320">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Chosen true position</a:t>
                      </a:r>
                    </a:p>
                  </a:txBody>
                  <a:tcPr/>
                </a:tc>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(b₁, b₂, b₃)</a:t>
                      </a:r>
                    </a:p>
                  </a:txBody>
                  <a:tcPr/>
                </a:tc>
              </a:tr>
              <a:tr h="274320">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i = 1</a:t>
                      </a:r>
                    </a:p>
                  </a:txBody>
                </a:tc>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(B, F, T)</a:t>
                      </a:r>
                    </a:p>
                  </a:txBody>
                </a:tc>
              </a:tr>
              <a:tr h="274320">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i = 2</a:t>
                      </a:r>
                    </a:p>
                  </a:txBody>
                </a:tc>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(F, B, T)</a:t>
                      </a:r>
                    </a:p>
                  </a:txBody>
                </a:tc>
              </a:tr>
              <a:tr h="274320">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i = 3 (shown)</a:t>
                      </a:r>
                    </a:p>
                  </a:txBody>
                </a:tc>
                <a:tc>
                  <a:txBody>
                    <a:bodyPr lIns="0" rIns="0" tIns="0" bIns="0" anchor="t" wrap="square">
                      <a:noAutofit/>
                    </a:bodyPr>
                    <a:lstStyle>
                      <a:lvl1pPr>
                        <a:defRPr sz="1400">
                          <a:latin typeface="Times New Roman"/>
                        </a:defRPr>
                      </a:lvl1pPr>
                      <a:lvl2pPr>
                        <a:defRPr sz="1400">
                          <a:latin typeface="Times New Roman"/>
                        </a:defRPr>
                      </a:lvl2pPr>
                      <a:lvl3pPr>
                        <a:defRPr sz="1400">
                          <a:latin typeface="Times New Roman"/>
                        </a:defRPr>
                      </a:lvl3pPr>
                      <a:lvl4pPr>
                        <a:defRPr sz="1400">
                          <a:latin typeface="Times New Roman"/>
                        </a:defRPr>
                      </a:lvl4pPr>
                      <a:lvl5pPr>
                        <a:defRPr sz="1400">
                          <a:latin typeface="Times New Roman"/>
                        </a:defRPr>
                      </a:lvl5pPr>
                      <a:lvl6pPr>
                        <a:defRPr sz="1400">
                          <a:latin typeface="Times New Roman"/>
                        </a:defRPr>
                      </a:lvl6pPr>
                      <a:lvl7pPr>
                        <a:defRPr sz="1400">
                          <a:latin typeface="Times New Roman"/>
                        </a:defRPr>
                      </a:lvl7pPr>
                      <a:lvl8pPr>
                        <a:defRPr sz="1400">
                          <a:latin typeface="Times New Roman"/>
                        </a:defRPr>
                      </a:lvl8pPr>
                      <a:lvl9pPr>
                        <a:defRPr sz="1400">
                          <a:latin typeface="Times New Roman"/>
                        </a:defRPr>
                      </a:lvl9pPr>
                    </a:lstStyle>
                    <a:p>
                      <a:pPr lvl="0" indent="0" marL="0" algn="l">
                        <a:spcAft>
                          <a:spcPts val="400"/>
                        </a:spcAft>
                        <a:buNone/>
                      </a:pPr>
                      <a:r>
                        <a:rPr sz="1400">
                          <a:latin typeface="Times New Roman"/>
                        </a:rPr>
                        <a:t>(F, T, B)</a:t>
                      </a:r>
                    </a:p>
                  </a:txBody>
                </a:tc>
              </a:tr>
            </a:tbl>
          </a:graphicData>
        </a:graphic>
      </p:graphicFrame>
    </p:spTree>
  </p:cSld>
</p:sld>
</file>

<file path=ppt/slides/slide28.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Evaluating One Complete Formula</a:t>
            </a:r>
          </a:p>
        </p:txBody>
      </p:sp>
      <mc:AlternateContent>
        <mc:Choice Requires="a14">
          <p:sp>
            <p:nvSpPr>
              <p:cNvPr id="3" name="Content Placeholder 2"/>
              <p:cNvSpPr>
                <a:spLocks noGrp="1"/>
              </p:cNvSpPr>
              <p:nvPr/>
            </p:nvSpPr>
            <p:spPr>
              <a:xfrm>
                <a:off x="457200" y="1371600"/>
                <a:ext cx="8229600" cy="731520"/>
              </a:xfrm>
            </p:spPr>
            <p:txBody>
              <a:bodyPr lIns="0" rIns="0" tIns="0" bIns="0" anchor="t" wrap="square">
                <a:noAutofit/>
              </a:bodyPr>
              <a:lstStyle>
                <a:lvl1pPr>
                  <a:defRPr sz="2100">
                    <a:latin typeface="Times New Roman"/>
                  </a:defRPr>
                </a:lvl1pPr>
                <a:lvl2pPr>
                  <a:defRPr sz="2100">
                    <a:latin typeface="Times New Roman"/>
                  </a:defRPr>
                </a:lvl2pPr>
                <a:lvl3pPr>
                  <a:defRPr sz="2100">
                    <a:latin typeface="Times New Roman"/>
                  </a:defRPr>
                </a:lvl3pPr>
                <a:lvl4pPr>
                  <a:defRPr sz="2100">
                    <a:latin typeface="Times New Roman"/>
                  </a:defRPr>
                </a:lvl4pPr>
                <a:lvl5pPr>
                  <a:defRPr sz="2100">
                    <a:latin typeface="Times New Roman"/>
                  </a:defRPr>
                </a:lvl5pPr>
                <a:lvl6pPr>
                  <a:defRPr sz="2100">
                    <a:latin typeface="Times New Roman"/>
                  </a:defRPr>
                </a:lvl6pPr>
                <a:lvl7pPr>
                  <a:defRPr sz="2100">
                    <a:latin typeface="Times New Roman"/>
                  </a:defRPr>
                </a:lvl7pPr>
                <a:lvl8pPr>
                  <a:defRPr sz="2100">
                    <a:latin typeface="Times New Roman"/>
                  </a:defRPr>
                </a:lvl8pPr>
                <a:lvl9pPr>
                  <a:defRPr sz="2100">
                    <a:latin typeface="Times New Roman"/>
                  </a:defRPr>
                </a:lvl9pPr>
              </a:lstStyle>
              <a:p>
                <a:pPr lvl="0" indent="0" marL="0">
                  <a:spcAft>
                    <a:spcPts val="650"/>
                  </a:spcAft>
                  <a:buNone/>
                </a:pPr>
                <a14:m>
                  <m:oMathPara>
                    <m:oMathParaPr>
                      <m:jc m:val="center"/>
                    </m:oMathParaPr>
                    <m:oMath>
                      <m:r>
                        <m:t>ϕ</m:t>
                      </m:r>
                      <m:r>
                        <m:rPr>
                          <m:sty m:val="p"/>
                        </m:rPr>
                        <m:t>=</m:t>
                      </m:r>
                      <m:r>
                        <m:rPr>
                          <m:sty m:val="p"/>
                        </m:rPr>
                        <m:t>(</m:t>
                      </m:r>
                      <m:sSub>
                        <m:e>
                          <m:r>
                            <m:t>x</m:t>
                          </m:r>
                        </m:e>
                        <m:sub>
                          <m:r>
                            <m:t>1</m:t>
                          </m:r>
                        </m:sub>
                      </m:sSub>
                      <m:r>
                        <m:rPr>
                          <m:sty m:val="p"/>
                        </m:rPr>
                        <m:t>∨</m:t>
                      </m:r>
                      <m:r>
                        <m:rPr>
                          <m:sty m:val="p"/>
                        </m:rPr>
                        <m:t>¬</m:t>
                      </m:r>
                      <m:sSub>
                        <m:e>
                          <m:r>
                            <m:t>x</m:t>
                          </m:r>
                        </m:e>
                        <m:sub>
                          <m:r>
                            <m:t>2</m:t>
                          </m:r>
                        </m:sub>
                      </m:sSub>
                      <m:r>
                        <m:rPr>
                          <m:sty m:val="p"/>
                        </m:rPr>
                        <m:t>∨</m:t>
                      </m:r>
                      <m:sSub>
                        <m:e>
                          <m:r>
                            <m:t>x</m:t>
                          </m:r>
                        </m:e>
                        <m:sub>
                          <m:r>
                            <m:t>3</m:t>
                          </m:r>
                        </m:sub>
                      </m:sSub>
                      <m:r>
                        <m:rPr>
                          <m:sty m:val="p"/>
                        </m:rPr>
                        <m:t>)</m:t>
                      </m:r>
                      <m:r>
                        <m:rPr>
                          <m:sty m:val="p"/>
                        </m:rPr>
                        <m:t>∧</m:t>
                      </m:r>
                      <m:r>
                        <m:rPr>
                          <m:sty m:val="p"/>
                        </m:rPr>
                        <m:t>(</m:t>
                      </m:r>
                      <m:r>
                        <m:rPr>
                          <m:sty m:val="p"/>
                        </m:rPr>
                        <m:t>¬</m:t>
                      </m:r>
                      <m:sSub>
                        <m:e>
                          <m:r>
                            <m:t>x</m:t>
                          </m:r>
                        </m:e>
                        <m:sub>
                          <m:r>
                            <m:t>1</m:t>
                          </m:r>
                        </m:sub>
                      </m:sSub>
                      <m:r>
                        <m:rPr>
                          <m:sty m:val="p"/>
                        </m:rPr>
                        <m:t>∨</m:t>
                      </m:r>
                      <m:sSub>
                        <m:e>
                          <m:r>
                            <m:t>x</m:t>
                          </m:r>
                        </m:e>
                        <m:sub>
                          <m:r>
                            <m:t>2</m:t>
                          </m:r>
                        </m:sub>
                      </m:sSub>
                      <m:r>
                        <m:rPr>
                          <m:sty m:val="p"/>
                        </m:rPr>
                        <m:t>∨</m:t>
                      </m:r>
                      <m:r>
                        <m:rPr>
                          <m:sty m:val="p"/>
                        </m:rPr>
                        <m:t>¬</m:t>
                      </m:r>
                      <m:sSub>
                        <m:e>
                          <m:r>
                            <m:t>x</m:t>
                          </m:r>
                        </m:e>
                        <m:sub>
                          <m:r>
                            <m:t>3</m:t>
                          </m:r>
                        </m:sub>
                      </m:sSub>
                      <m:r>
                        <m:rPr>
                          <m:sty m:val="p"/>
                        </m:rPr>
                        <m:t>)</m:t>
                      </m:r>
                      <m:r>
                        <m:rPr>
                          <m:sty m:val="p"/>
                        </m:rPr>
                        <m:t>.</m:t>
                      </m:r>
                    </m:oMath>
                  </m:oMathPara>
                </a14:m>
              </a:p>
            </p:txBody>
          </p:sp>
        </mc:Choice>
      </mc:AlternateContent>
    </p:spTree>
  </p:cSld>
</p:sld>
</file>

<file path=ppt/slides/slide29.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Evaluating One Complete Formula</a:t>
            </a:r>
          </a:p>
        </p:txBody>
      </p:sp>
      <mc:AlternateContent>
        <mc:Choice Requires="a14">
          <p:sp>
            <p:nvSpPr>
              <p:cNvPr id="3" name="Content Placeholder 2"/>
              <p:cNvSpPr>
                <a:spLocks noGrp="1"/>
              </p:cNvSpPr>
              <p:nvPr/>
            </p:nvSpPr>
            <p:spPr>
              <a:xfrm>
                <a:off x="457200" y="1371600"/>
                <a:ext cx="8229600" cy="731520"/>
              </a:xfrm>
            </p:spPr>
            <p:txBody>
              <a:bodyPr lIns="0" rIns="0" tIns="0" bIns="0" anchor="t" wrap="square">
                <a:noAutofit/>
              </a:bodyPr>
              <a:lstStyle>
                <a:lvl1pPr>
                  <a:defRPr sz="2100">
                    <a:latin typeface="Times New Roman"/>
                  </a:defRPr>
                </a:lvl1pPr>
                <a:lvl2pPr>
                  <a:defRPr sz="2100">
                    <a:latin typeface="Times New Roman"/>
                  </a:defRPr>
                </a:lvl2pPr>
                <a:lvl3pPr>
                  <a:defRPr sz="2100">
                    <a:latin typeface="Times New Roman"/>
                  </a:defRPr>
                </a:lvl3pPr>
                <a:lvl4pPr>
                  <a:defRPr sz="2100">
                    <a:latin typeface="Times New Roman"/>
                  </a:defRPr>
                </a:lvl4pPr>
                <a:lvl5pPr>
                  <a:defRPr sz="2100">
                    <a:latin typeface="Times New Roman"/>
                  </a:defRPr>
                </a:lvl5pPr>
                <a:lvl6pPr>
                  <a:defRPr sz="2100">
                    <a:latin typeface="Times New Roman"/>
                  </a:defRPr>
                </a:lvl6pPr>
                <a:lvl7pPr>
                  <a:defRPr sz="2100">
                    <a:latin typeface="Times New Roman"/>
                  </a:defRPr>
                </a:lvl7pPr>
                <a:lvl8pPr>
                  <a:defRPr sz="2100">
                    <a:latin typeface="Times New Roman"/>
                  </a:defRPr>
                </a:lvl8pPr>
                <a:lvl9pPr>
                  <a:defRPr sz="2100">
                    <a:latin typeface="Times New Roman"/>
                  </a:defRPr>
                </a:lvl9pPr>
              </a:lstStyle>
              <a:p>
                <a:pPr lvl="0" indent="0" marL="0">
                  <a:spcAft>
                    <a:spcPts val="650"/>
                  </a:spcAft>
                  <a:buNone/>
                </a:pPr>
                <a14:m>
                  <m:oMathPara>
                    <m:oMathParaPr>
                      <m:jc m:val="center"/>
                    </m:oMathParaPr>
                    <m:oMath>
                      <m:r>
                        <m:t>ϕ</m:t>
                      </m:r>
                      <m:r>
                        <m:rPr>
                          <m:sty m:val="p"/>
                        </m:rPr>
                        <m:t>=</m:t>
                      </m:r>
                      <m:r>
                        <m:rPr>
                          <m:sty m:val="p"/>
                        </m:rPr>
                        <m:t>(</m:t>
                      </m:r>
                      <m:sSub>
                        <m:e>
                          <m:r>
                            <m:t>x</m:t>
                          </m:r>
                        </m:e>
                        <m:sub>
                          <m:r>
                            <m:t>1</m:t>
                          </m:r>
                        </m:sub>
                      </m:sSub>
                      <m:r>
                        <m:rPr>
                          <m:sty m:val="p"/>
                        </m:rPr>
                        <m:t>∨</m:t>
                      </m:r>
                      <m:r>
                        <m:rPr>
                          <m:sty m:val="p"/>
                        </m:rPr>
                        <m:t>¬</m:t>
                      </m:r>
                      <m:sSub>
                        <m:e>
                          <m:r>
                            <m:t>x</m:t>
                          </m:r>
                        </m:e>
                        <m:sub>
                          <m:r>
                            <m:t>2</m:t>
                          </m:r>
                        </m:sub>
                      </m:sSub>
                      <m:r>
                        <m:rPr>
                          <m:sty m:val="p"/>
                        </m:rPr>
                        <m:t>∨</m:t>
                      </m:r>
                      <m:sSub>
                        <m:e>
                          <m:r>
                            <m:t>x</m:t>
                          </m:r>
                        </m:e>
                        <m:sub>
                          <m:r>
                            <m:t>3</m:t>
                          </m:r>
                        </m:sub>
                      </m:sSub>
                      <m:r>
                        <m:rPr>
                          <m:sty m:val="p"/>
                        </m:rPr>
                        <m:t>)</m:t>
                      </m:r>
                      <m:r>
                        <m:rPr>
                          <m:sty m:val="p"/>
                        </m:rPr>
                        <m:t>∧</m:t>
                      </m:r>
                      <m:r>
                        <m:rPr>
                          <m:sty m:val="p"/>
                        </m:rPr>
                        <m:t>(</m:t>
                      </m:r>
                      <m:r>
                        <m:rPr>
                          <m:sty m:val="p"/>
                        </m:rPr>
                        <m:t>¬</m:t>
                      </m:r>
                      <m:sSub>
                        <m:e>
                          <m:r>
                            <m:t>x</m:t>
                          </m:r>
                        </m:e>
                        <m:sub>
                          <m:r>
                            <m:t>1</m:t>
                          </m:r>
                        </m:sub>
                      </m:sSub>
                      <m:r>
                        <m:rPr>
                          <m:sty m:val="p"/>
                        </m:rPr>
                        <m:t>∨</m:t>
                      </m:r>
                      <m:sSub>
                        <m:e>
                          <m:r>
                            <m:t>x</m:t>
                          </m:r>
                        </m:e>
                        <m:sub>
                          <m:r>
                            <m:t>2</m:t>
                          </m:r>
                        </m:sub>
                      </m:sSub>
                      <m:r>
                        <m:rPr>
                          <m:sty m:val="p"/>
                        </m:rPr>
                        <m:t>∨</m:t>
                      </m:r>
                      <m:r>
                        <m:rPr>
                          <m:sty m:val="p"/>
                        </m:rPr>
                        <m:t>¬</m:t>
                      </m:r>
                      <m:sSub>
                        <m:e>
                          <m:r>
                            <m:t>x</m:t>
                          </m:r>
                        </m:e>
                        <m:sub>
                          <m:r>
                            <m:t>3</m:t>
                          </m:r>
                        </m:sub>
                      </m:sSub>
                      <m:r>
                        <m:rPr>
                          <m:sty m:val="p"/>
                        </m:rPr>
                        <m:t>)</m:t>
                      </m:r>
                      <m:r>
                        <m:rPr>
                          <m:sty m:val="p"/>
                        </m:rPr>
                        <m:t>.</m:t>
                      </m:r>
                    </m:oMath>
                  </m:oMathPara>
                </a14:m>
              </a:p>
            </p:txBody>
          </p:sp>
        </mc:Choice>
      </mc:AlternateContent>
      <mc:AlternateContent>
        <mc:Choice Requires="a14">
          <p:sp>
            <p:nvSpPr>
              <p:cNvPr id="4" name="Content Placeholder 2"/>
              <p:cNvSpPr>
                <a:spLocks noGrp="1"/>
              </p:cNvSpPr>
              <p:nvPr/>
            </p:nvSpPr>
            <p:spPr>
              <a:xfrm>
                <a:off x="365760" y="2606040"/>
                <a:ext cx="4069080" cy="3337560"/>
              </a:xfrm>
            </p:spPr>
            <p:txBody>
              <a:bodyPr lIns="0" rIns="0" tIns="0" bIns="0" anchor="t" wrap="square">
                <a:noAutofit/>
              </a:bodyPr>
              <a:lstStyle>
                <a:lvl1pPr>
                  <a:defRPr sz="2000">
                    <a:latin typeface="Times New Roman"/>
                  </a:defRPr>
                </a:lvl1pPr>
                <a:lvl2pPr>
                  <a:defRPr sz="2000">
                    <a:latin typeface="Times New Roman"/>
                  </a:defRPr>
                </a:lvl2pPr>
                <a:lvl3pPr>
                  <a:defRPr sz="2000">
                    <a:latin typeface="Times New Roman"/>
                  </a:defRPr>
                </a:lvl3pPr>
                <a:lvl4pPr>
                  <a:defRPr sz="2000">
                    <a:latin typeface="Times New Roman"/>
                  </a:defRPr>
                </a:lvl4pPr>
                <a:lvl5pPr>
                  <a:defRPr sz="2000">
                    <a:latin typeface="Times New Roman"/>
                  </a:defRPr>
                </a:lvl5pPr>
                <a:lvl6pPr>
                  <a:defRPr sz="2000">
                    <a:latin typeface="Times New Roman"/>
                  </a:defRPr>
                </a:lvl6pPr>
                <a:lvl7pPr>
                  <a:defRPr sz="2000">
                    <a:latin typeface="Times New Roman"/>
                  </a:defRPr>
                </a:lvl7pPr>
                <a:lvl8pPr>
                  <a:defRPr sz="2000">
                    <a:latin typeface="Times New Roman"/>
                  </a:defRPr>
                </a:lvl8pPr>
                <a:lvl9pPr>
                  <a:defRPr sz="2000">
                    <a:latin typeface="Times New Roman"/>
                  </a:defRPr>
                </a:lvl9pPr>
              </a:lstStyle>
              <a:p>
                <a:pPr lvl="0" indent="0" marL="0">
                  <a:spcAft>
                    <a:spcPts val="650"/>
                  </a:spcAft>
                  <a:buNone/>
                </a:pPr>
                <a:r>
                  <a:rPr b="1" sz="2000">
                    <a:latin typeface="Times New Roman"/>
                  </a:rPr>
                  <a:t>Clause input ports</a:t>
                </a:r>
              </a:p>
              <a:p>
                <a:pPr lvl="0" indent="0" marL="0">
                  <a:spcAft>
                    <a:spcPts val="650"/>
                  </a:spcAft>
                  <a:buNone/>
                </a:pPr>
                <a14:m>
                  <m:oMathPara>
                    <m:oMathParaPr>
                      <m:jc m:val="center"/>
                    </m:oMathParaPr>
                    <m:oMath>
                      <m:sSub>
                        <m:e>
                          <m:r>
                            <m:t>C</m:t>
                          </m:r>
                        </m:e>
                        <m:sub>
                          <m:r>
                            <m:t>1</m:t>
                          </m:r>
                        </m:sub>
                      </m:sSub>
                      <m:r>
                        <m:rPr>
                          <m:sty m:val="p"/>
                        </m:rPr>
                        <m:t>:</m:t>
                      </m:r>
                      <m:r>
                        <m:rPr>
                          <m:sty m:val="p"/>
                        </m:rPr>
                        <m:t>(</m:t>
                      </m:r>
                      <m:sSub>
                        <m:e>
                          <m:r>
                            <m:t>x</m:t>
                          </m:r>
                        </m:e>
                        <m:sub>
                          <m:r>
                            <m:t>1</m:t>
                          </m:r>
                        </m:sub>
                      </m:sSub>
                      <m:r>
                        <m:rPr>
                          <m:sty m:val="p"/>
                        </m:rPr>
                        <m:t>,</m:t>
                      </m:r>
                      <m:r>
                        <m:rPr>
                          <m:sty m:val="p"/>
                        </m:rPr>
                        <m:t>¬</m:t>
                      </m:r>
                      <m:sSub>
                        <m:e>
                          <m:r>
                            <m:t>x</m:t>
                          </m:r>
                        </m:e>
                        <m:sub>
                          <m:r>
                            <m:t>2</m:t>
                          </m:r>
                        </m:sub>
                      </m:sSub>
                      <m:r>
                        <m:rPr>
                          <m:sty m:val="p"/>
                        </m:rPr>
                        <m:t>,</m:t>
                      </m:r>
                      <m:sSub>
                        <m:e>
                          <m:r>
                            <m:t>x</m:t>
                          </m:r>
                        </m:e>
                        <m:sub>
                          <m:r>
                            <m:t>3</m:t>
                          </m:r>
                        </m:sub>
                      </m:sSub>
                      <m:r>
                        <m:rPr>
                          <m:sty m:val="p"/>
                        </m:rPr>
                        <m:t>)</m:t>
                      </m:r>
                      <m:r>
                        <m:rPr>
                          <m:sty m:val="p"/>
                        </m:rPr>
                        <m:t>,</m:t>
                      </m:r>
                    </m:oMath>
                  </m:oMathPara>
                </a14:m>
              </a:p>
              <a:p>
                <a:pPr lvl="0" indent="0" marL="0">
                  <a:spcAft>
                    <a:spcPts val="650"/>
                  </a:spcAft>
                  <a:buNone/>
                </a:pPr>
                <a14:m>
                  <m:oMathPara>
                    <m:oMathParaPr>
                      <m:jc m:val="center"/>
                    </m:oMathParaPr>
                    <m:oMath>
                      <m:sSub>
                        <m:e>
                          <m:r>
                            <m:t>C</m:t>
                          </m:r>
                        </m:e>
                        <m:sub>
                          <m:r>
                            <m:t>2</m:t>
                          </m:r>
                        </m:sub>
                      </m:sSub>
                      <m:r>
                        <m:rPr>
                          <m:sty m:val="p"/>
                        </m:rPr>
                        <m:t>:</m:t>
                      </m:r>
                      <m:r>
                        <m:rPr>
                          <m:sty m:val="p"/>
                        </m:rPr>
                        <m:t>(</m:t>
                      </m:r>
                      <m:r>
                        <m:rPr>
                          <m:sty m:val="p"/>
                        </m:rPr>
                        <m:t>¬</m:t>
                      </m:r>
                      <m:sSub>
                        <m:e>
                          <m:r>
                            <m:t>x</m:t>
                          </m:r>
                        </m:e>
                        <m:sub>
                          <m:r>
                            <m:t>1</m:t>
                          </m:r>
                        </m:sub>
                      </m:sSub>
                      <m:r>
                        <m:rPr>
                          <m:sty m:val="p"/>
                        </m:rPr>
                        <m:t>,</m:t>
                      </m:r>
                      <m:sSub>
                        <m:e>
                          <m:r>
                            <m:t>x</m:t>
                          </m:r>
                        </m:e>
                        <m:sub>
                          <m:r>
                            <m:t>2</m:t>
                          </m:r>
                        </m:sub>
                      </m:sSub>
                      <m:r>
                        <m:rPr>
                          <m:sty m:val="p"/>
                        </m:rPr>
                        <m:t>,</m:t>
                      </m:r>
                      <m:r>
                        <m:rPr>
                          <m:sty m:val="p"/>
                        </m:rPr>
                        <m:t>¬</m:t>
                      </m:r>
                      <m:sSub>
                        <m:e>
                          <m:r>
                            <m:t>x</m:t>
                          </m:r>
                        </m:e>
                        <m:sub>
                          <m:r>
                            <m:t>3</m:t>
                          </m:r>
                        </m:sub>
                      </m:sSub>
                      <m:r>
                        <m:rPr>
                          <m:sty m:val="p"/>
                        </m:rPr>
                        <m:t>)</m:t>
                      </m:r>
                      <m:r>
                        <m:rPr>
                          <m:sty m:val="p"/>
                        </m:rPr>
                        <m:t>.</m:t>
                      </m:r>
                    </m:oMath>
                  </m:oMathPara>
                </a14:m>
              </a:p>
              <a:p>
                <a:pPr lvl="0" indent="0" marL="0">
                  <a:spcAft>
                    <a:spcPts val="650"/>
                  </a:spcAft>
                  <a:buNone/>
                </a:pPr>
                <a:r>
                  <a:rPr sz="2000">
                    <a:latin typeface="Times New Roman"/>
                  </a:rPr>
                  <a:t>Each clause receives its own six fresh internal vertices.</a:t>
                </a:r>
              </a:p>
            </p:txBody>
          </p:sp>
        </mc:Choice>
      </mc:AlternateContent>
    </p:spTree>
  </p:cSld>
</p:sld>
</file>

<file path=ppt/slides/slide30.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Evaluating One Complete Formula</a:t>
            </a:r>
          </a:p>
        </p:txBody>
      </p:sp>
      <mc:AlternateContent>
        <mc:Choice Requires="a14">
          <p:sp>
            <p:nvSpPr>
              <p:cNvPr id="3" name="Content Placeholder 2"/>
              <p:cNvSpPr>
                <a:spLocks noGrp="1"/>
              </p:cNvSpPr>
              <p:nvPr/>
            </p:nvSpPr>
            <p:spPr>
              <a:xfrm>
                <a:off x="457200" y="1371600"/>
                <a:ext cx="8229600" cy="731520"/>
              </a:xfrm>
            </p:spPr>
            <p:txBody>
              <a:bodyPr lIns="0" rIns="0" tIns="0" bIns="0" anchor="t" wrap="square">
                <a:noAutofit/>
              </a:bodyPr>
              <a:lstStyle>
                <a:lvl1pPr>
                  <a:defRPr sz="2100">
                    <a:latin typeface="Times New Roman"/>
                  </a:defRPr>
                </a:lvl1pPr>
                <a:lvl2pPr>
                  <a:defRPr sz="2100">
                    <a:latin typeface="Times New Roman"/>
                  </a:defRPr>
                </a:lvl2pPr>
                <a:lvl3pPr>
                  <a:defRPr sz="2100">
                    <a:latin typeface="Times New Roman"/>
                  </a:defRPr>
                </a:lvl3pPr>
                <a:lvl4pPr>
                  <a:defRPr sz="2100">
                    <a:latin typeface="Times New Roman"/>
                  </a:defRPr>
                </a:lvl4pPr>
                <a:lvl5pPr>
                  <a:defRPr sz="2100">
                    <a:latin typeface="Times New Roman"/>
                  </a:defRPr>
                </a:lvl5pPr>
                <a:lvl6pPr>
                  <a:defRPr sz="2100">
                    <a:latin typeface="Times New Roman"/>
                  </a:defRPr>
                </a:lvl6pPr>
                <a:lvl7pPr>
                  <a:defRPr sz="2100">
                    <a:latin typeface="Times New Roman"/>
                  </a:defRPr>
                </a:lvl7pPr>
                <a:lvl8pPr>
                  <a:defRPr sz="2100">
                    <a:latin typeface="Times New Roman"/>
                  </a:defRPr>
                </a:lvl8pPr>
                <a:lvl9pPr>
                  <a:defRPr sz="2100">
                    <a:latin typeface="Times New Roman"/>
                  </a:defRPr>
                </a:lvl9pPr>
              </a:lstStyle>
              <a:p>
                <a:pPr lvl="0" indent="0" marL="0">
                  <a:spcAft>
                    <a:spcPts val="650"/>
                  </a:spcAft>
                  <a:buNone/>
                </a:pPr>
                <a14:m>
                  <m:oMathPara>
                    <m:oMathParaPr>
                      <m:jc m:val="center"/>
                    </m:oMathParaPr>
                    <m:oMath>
                      <m:r>
                        <m:t>ϕ</m:t>
                      </m:r>
                      <m:r>
                        <m:rPr>
                          <m:sty m:val="p"/>
                        </m:rPr>
                        <m:t>=</m:t>
                      </m:r>
                      <m:r>
                        <m:rPr>
                          <m:sty m:val="p"/>
                        </m:rPr>
                        <m:t>(</m:t>
                      </m:r>
                      <m:sSub>
                        <m:e>
                          <m:r>
                            <m:t>x</m:t>
                          </m:r>
                        </m:e>
                        <m:sub>
                          <m:r>
                            <m:t>1</m:t>
                          </m:r>
                        </m:sub>
                      </m:sSub>
                      <m:r>
                        <m:rPr>
                          <m:sty m:val="p"/>
                        </m:rPr>
                        <m:t>∨</m:t>
                      </m:r>
                      <m:r>
                        <m:rPr>
                          <m:sty m:val="p"/>
                        </m:rPr>
                        <m:t>¬</m:t>
                      </m:r>
                      <m:sSub>
                        <m:e>
                          <m:r>
                            <m:t>x</m:t>
                          </m:r>
                        </m:e>
                        <m:sub>
                          <m:r>
                            <m:t>2</m:t>
                          </m:r>
                        </m:sub>
                      </m:sSub>
                      <m:r>
                        <m:rPr>
                          <m:sty m:val="p"/>
                        </m:rPr>
                        <m:t>∨</m:t>
                      </m:r>
                      <m:sSub>
                        <m:e>
                          <m:r>
                            <m:t>x</m:t>
                          </m:r>
                        </m:e>
                        <m:sub>
                          <m:r>
                            <m:t>3</m:t>
                          </m:r>
                        </m:sub>
                      </m:sSub>
                      <m:r>
                        <m:rPr>
                          <m:sty m:val="p"/>
                        </m:rPr>
                        <m:t>)</m:t>
                      </m:r>
                      <m:r>
                        <m:rPr>
                          <m:sty m:val="p"/>
                        </m:rPr>
                        <m:t>∧</m:t>
                      </m:r>
                      <m:r>
                        <m:rPr>
                          <m:sty m:val="p"/>
                        </m:rPr>
                        <m:t>(</m:t>
                      </m:r>
                      <m:r>
                        <m:rPr>
                          <m:sty m:val="p"/>
                        </m:rPr>
                        <m:t>¬</m:t>
                      </m:r>
                      <m:sSub>
                        <m:e>
                          <m:r>
                            <m:t>x</m:t>
                          </m:r>
                        </m:e>
                        <m:sub>
                          <m:r>
                            <m:t>1</m:t>
                          </m:r>
                        </m:sub>
                      </m:sSub>
                      <m:r>
                        <m:rPr>
                          <m:sty m:val="p"/>
                        </m:rPr>
                        <m:t>∨</m:t>
                      </m:r>
                      <m:sSub>
                        <m:e>
                          <m:r>
                            <m:t>x</m:t>
                          </m:r>
                        </m:e>
                        <m:sub>
                          <m:r>
                            <m:t>2</m:t>
                          </m:r>
                        </m:sub>
                      </m:sSub>
                      <m:r>
                        <m:rPr>
                          <m:sty m:val="p"/>
                        </m:rPr>
                        <m:t>∨</m:t>
                      </m:r>
                      <m:r>
                        <m:rPr>
                          <m:sty m:val="p"/>
                        </m:rPr>
                        <m:t>¬</m:t>
                      </m:r>
                      <m:sSub>
                        <m:e>
                          <m:r>
                            <m:t>x</m:t>
                          </m:r>
                        </m:e>
                        <m:sub>
                          <m:r>
                            <m:t>3</m:t>
                          </m:r>
                        </m:sub>
                      </m:sSub>
                      <m:r>
                        <m:rPr>
                          <m:sty m:val="p"/>
                        </m:rPr>
                        <m:t>)</m:t>
                      </m:r>
                      <m:r>
                        <m:rPr>
                          <m:sty m:val="p"/>
                        </m:rPr>
                        <m:t>.</m:t>
                      </m:r>
                    </m:oMath>
                  </m:oMathPara>
                </a14:m>
              </a:p>
            </p:txBody>
          </p:sp>
        </mc:Choice>
      </mc:AlternateContent>
      <mc:AlternateContent>
        <mc:Choice Requires="a14">
          <p:sp>
            <p:nvSpPr>
              <p:cNvPr id="4" name="Content Placeholder 2"/>
              <p:cNvSpPr>
                <a:spLocks noGrp="1"/>
              </p:cNvSpPr>
              <p:nvPr/>
            </p:nvSpPr>
            <p:spPr>
              <a:xfrm>
                <a:off x="365760" y="2606040"/>
                <a:ext cx="4069080" cy="3337560"/>
              </a:xfrm>
            </p:spPr>
            <p:txBody>
              <a:bodyPr lIns="0" rIns="0" tIns="0" bIns="0" anchor="t" wrap="square">
                <a:noAutofit/>
              </a:bodyPr>
              <a:lstStyle>
                <a:lvl1pPr>
                  <a:defRPr sz="2000">
                    <a:latin typeface="Times New Roman"/>
                  </a:defRPr>
                </a:lvl1pPr>
                <a:lvl2pPr>
                  <a:defRPr sz="2000">
                    <a:latin typeface="Times New Roman"/>
                  </a:defRPr>
                </a:lvl2pPr>
                <a:lvl3pPr>
                  <a:defRPr sz="2000">
                    <a:latin typeface="Times New Roman"/>
                  </a:defRPr>
                </a:lvl3pPr>
                <a:lvl4pPr>
                  <a:defRPr sz="2000">
                    <a:latin typeface="Times New Roman"/>
                  </a:defRPr>
                </a:lvl4pPr>
                <a:lvl5pPr>
                  <a:defRPr sz="2000">
                    <a:latin typeface="Times New Roman"/>
                  </a:defRPr>
                </a:lvl5pPr>
                <a:lvl6pPr>
                  <a:defRPr sz="2000">
                    <a:latin typeface="Times New Roman"/>
                  </a:defRPr>
                </a:lvl6pPr>
                <a:lvl7pPr>
                  <a:defRPr sz="2000">
                    <a:latin typeface="Times New Roman"/>
                  </a:defRPr>
                </a:lvl7pPr>
                <a:lvl8pPr>
                  <a:defRPr sz="2000">
                    <a:latin typeface="Times New Roman"/>
                  </a:defRPr>
                </a:lvl8pPr>
                <a:lvl9pPr>
                  <a:defRPr sz="2000">
                    <a:latin typeface="Times New Roman"/>
                  </a:defRPr>
                </a:lvl9pPr>
              </a:lstStyle>
              <a:p>
                <a:pPr lvl="0" indent="0" marL="0">
                  <a:spcAft>
                    <a:spcPts val="650"/>
                  </a:spcAft>
                  <a:buNone/>
                </a:pPr>
                <a:r>
                  <a:rPr b="1" sz="2000">
                    <a:latin typeface="Times New Roman"/>
                  </a:rPr>
                  <a:t>Clause input ports</a:t>
                </a:r>
              </a:p>
              <a:p>
                <a:pPr lvl="0" indent="0" marL="0">
                  <a:spcAft>
                    <a:spcPts val="650"/>
                  </a:spcAft>
                  <a:buNone/>
                </a:pPr>
                <a14:m>
                  <m:oMathPara>
                    <m:oMathParaPr>
                      <m:jc m:val="center"/>
                    </m:oMathParaPr>
                    <m:oMath>
                      <m:sSub>
                        <m:e>
                          <m:r>
                            <m:t>C</m:t>
                          </m:r>
                        </m:e>
                        <m:sub>
                          <m:r>
                            <m:t>1</m:t>
                          </m:r>
                        </m:sub>
                      </m:sSub>
                      <m:r>
                        <m:rPr>
                          <m:sty m:val="p"/>
                        </m:rPr>
                        <m:t>:</m:t>
                      </m:r>
                      <m:r>
                        <m:rPr>
                          <m:sty m:val="p"/>
                        </m:rPr>
                        <m:t>(</m:t>
                      </m:r>
                      <m:sSub>
                        <m:e>
                          <m:r>
                            <m:t>x</m:t>
                          </m:r>
                        </m:e>
                        <m:sub>
                          <m:r>
                            <m:t>1</m:t>
                          </m:r>
                        </m:sub>
                      </m:sSub>
                      <m:r>
                        <m:rPr>
                          <m:sty m:val="p"/>
                        </m:rPr>
                        <m:t>,</m:t>
                      </m:r>
                      <m:r>
                        <m:rPr>
                          <m:sty m:val="p"/>
                        </m:rPr>
                        <m:t>¬</m:t>
                      </m:r>
                      <m:sSub>
                        <m:e>
                          <m:r>
                            <m:t>x</m:t>
                          </m:r>
                        </m:e>
                        <m:sub>
                          <m:r>
                            <m:t>2</m:t>
                          </m:r>
                        </m:sub>
                      </m:sSub>
                      <m:r>
                        <m:rPr>
                          <m:sty m:val="p"/>
                        </m:rPr>
                        <m:t>,</m:t>
                      </m:r>
                      <m:sSub>
                        <m:e>
                          <m:r>
                            <m:t>x</m:t>
                          </m:r>
                        </m:e>
                        <m:sub>
                          <m:r>
                            <m:t>3</m:t>
                          </m:r>
                        </m:sub>
                      </m:sSub>
                      <m:r>
                        <m:rPr>
                          <m:sty m:val="p"/>
                        </m:rPr>
                        <m:t>)</m:t>
                      </m:r>
                      <m:r>
                        <m:rPr>
                          <m:sty m:val="p"/>
                        </m:rPr>
                        <m:t>,</m:t>
                      </m:r>
                    </m:oMath>
                  </m:oMathPara>
                </a14:m>
              </a:p>
              <a:p>
                <a:pPr lvl="0" indent="0" marL="0">
                  <a:spcAft>
                    <a:spcPts val="650"/>
                  </a:spcAft>
                  <a:buNone/>
                </a:pPr>
                <a14:m>
                  <m:oMathPara>
                    <m:oMathParaPr>
                      <m:jc m:val="center"/>
                    </m:oMathParaPr>
                    <m:oMath>
                      <m:sSub>
                        <m:e>
                          <m:r>
                            <m:t>C</m:t>
                          </m:r>
                        </m:e>
                        <m:sub>
                          <m:r>
                            <m:t>2</m:t>
                          </m:r>
                        </m:sub>
                      </m:sSub>
                      <m:r>
                        <m:rPr>
                          <m:sty m:val="p"/>
                        </m:rPr>
                        <m:t>:</m:t>
                      </m:r>
                      <m:r>
                        <m:rPr>
                          <m:sty m:val="p"/>
                        </m:rPr>
                        <m:t>(</m:t>
                      </m:r>
                      <m:r>
                        <m:rPr>
                          <m:sty m:val="p"/>
                        </m:rPr>
                        <m:t>¬</m:t>
                      </m:r>
                      <m:sSub>
                        <m:e>
                          <m:r>
                            <m:t>x</m:t>
                          </m:r>
                        </m:e>
                        <m:sub>
                          <m:r>
                            <m:t>1</m:t>
                          </m:r>
                        </m:sub>
                      </m:sSub>
                      <m:r>
                        <m:rPr>
                          <m:sty m:val="p"/>
                        </m:rPr>
                        <m:t>,</m:t>
                      </m:r>
                      <m:sSub>
                        <m:e>
                          <m:r>
                            <m:t>x</m:t>
                          </m:r>
                        </m:e>
                        <m:sub>
                          <m:r>
                            <m:t>2</m:t>
                          </m:r>
                        </m:sub>
                      </m:sSub>
                      <m:r>
                        <m:rPr>
                          <m:sty m:val="p"/>
                        </m:rPr>
                        <m:t>,</m:t>
                      </m:r>
                      <m:r>
                        <m:rPr>
                          <m:sty m:val="p"/>
                        </m:rPr>
                        <m:t>¬</m:t>
                      </m:r>
                      <m:sSub>
                        <m:e>
                          <m:r>
                            <m:t>x</m:t>
                          </m:r>
                        </m:e>
                        <m:sub>
                          <m:r>
                            <m:t>3</m:t>
                          </m:r>
                        </m:sub>
                      </m:sSub>
                      <m:r>
                        <m:rPr>
                          <m:sty m:val="p"/>
                        </m:rPr>
                        <m:t>)</m:t>
                      </m:r>
                      <m:r>
                        <m:rPr>
                          <m:sty m:val="p"/>
                        </m:rPr>
                        <m:t>.</m:t>
                      </m:r>
                    </m:oMath>
                  </m:oMathPara>
                </a14:m>
              </a:p>
              <a:p>
                <a:pPr lvl="0" indent="0" marL="0">
                  <a:spcAft>
                    <a:spcPts val="650"/>
                  </a:spcAft>
                  <a:buNone/>
                </a:pPr>
                <a:r>
                  <a:rPr sz="2000">
                    <a:latin typeface="Times New Roman"/>
                  </a:rPr>
                  <a:t>Each clause receives its own six fresh internal vertices.</a:t>
                </a:r>
              </a:p>
            </p:txBody>
          </p:sp>
        </mc:Choice>
      </mc:AlternateContent>
      <mc:AlternateContent>
        <mc:Choice Requires="a14">
          <p:sp>
            <p:nvSpPr>
              <p:cNvPr id="5" name="Content Placeholder 2"/>
              <p:cNvSpPr>
                <a:spLocks noGrp="1"/>
              </p:cNvSpPr>
              <p:nvPr/>
            </p:nvSpPr>
            <p:spPr>
              <a:xfrm>
                <a:off x="4709160" y="2606040"/>
                <a:ext cx="4069080" cy="3337560"/>
              </a:xfrm>
            </p:spPr>
            <p:txBody>
              <a:bodyPr lIns="0" rIns="0" tIns="0" bIns="0" anchor="t" wrap="square">
                <a:noAutofit/>
              </a:bodyPr>
              <a:lstStyle>
                <a:lvl1pPr>
                  <a:defRPr sz="2000">
                    <a:latin typeface="Times New Roman"/>
                  </a:defRPr>
                </a:lvl1pPr>
                <a:lvl2pPr>
                  <a:defRPr sz="2000">
                    <a:latin typeface="Times New Roman"/>
                  </a:defRPr>
                </a:lvl2pPr>
                <a:lvl3pPr>
                  <a:defRPr sz="2000">
                    <a:latin typeface="Times New Roman"/>
                  </a:defRPr>
                </a:lvl3pPr>
                <a:lvl4pPr>
                  <a:defRPr sz="2000">
                    <a:latin typeface="Times New Roman"/>
                  </a:defRPr>
                </a:lvl4pPr>
                <a:lvl5pPr>
                  <a:defRPr sz="2000">
                    <a:latin typeface="Times New Roman"/>
                  </a:defRPr>
                </a:lvl5pPr>
                <a:lvl6pPr>
                  <a:defRPr sz="2000">
                    <a:latin typeface="Times New Roman"/>
                  </a:defRPr>
                </a:lvl6pPr>
                <a:lvl7pPr>
                  <a:defRPr sz="2000">
                    <a:latin typeface="Times New Roman"/>
                  </a:defRPr>
                </a:lvl7pPr>
                <a:lvl8pPr>
                  <a:defRPr sz="2000">
                    <a:latin typeface="Times New Roman"/>
                  </a:defRPr>
                </a:lvl8pPr>
                <a:lvl9pPr>
                  <a:defRPr sz="2000">
                    <a:latin typeface="Times New Roman"/>
                  </a:defRPr>
                </a:lvl9pPr>
              </a:lstStyle>
              <a:p>
                <a:pPr lvl="0" indent="0" marL="0">
                  <a:spcAft>
                    <a:spcPts val="650"/>
                  </a:spcAft>
                  <a:buNone/>
                </a:pPr>
                <a:r>
                  <a:rPr b="1" sz="2000">
                    <a:latin typeface="Times New Roman"/>
                  </a:rPr>
                  <a:t>One satisfying assignment</a:t>
                </a:r>
              </a:p>
              <a:p>
                <a:pPr lvl="0" indent="0" marL="0">
                  <a:spcAft>
                    <a:spcPts val="650"/>
                  </a:spcAft>
                  <a:buNone/>
                </a:pPr>
                <a14:m>
                  <m:oMathPara>
                    <m:oMathParaPr>
                      <m:jc m:val="center"/>
                    </m:oMathParaPr>
                    <m:oMath>
                      <m:sSub>
                        <m:e>
                          <m:r>
                            <m:t>x</m:t>
                          </m:r>
                        </m:e>
                        <m:sub>
                          <m:r>
                            <m:t>1</m:t>
                          </m:r>
                        </m:sub>
                      </m:sSub>
                      <m:r>
                        <m:rPr>
                          <m:sty m:val="p"/>
                        </m:rPr>
                        <m:t>=</m:t>
                      </m:r>
                      <m:r>
                        <m:t>T</m:t>
                      </m:r>
                      <m:r>
                        <m:rPr>
                          <m:sty m:val="p"/>
                        </m:rPr>
                        <m:t>,</m:t>
                      </m:r>
                      <m:r>
                        <m:t> </m:t>
                      </m:r>
                      <m:sSub>
                        <m:e>
                          <m:r>
                            <m:t>x</m:t>
                          </m:r>
                        </m:e>
                        <m:sub>
                          <m:r>
                            <m:t>2</m:t>
                          </m:r>
                        </m:sub>
                      </m:sSub>
                      <m:r>
                        <m:rPr>
                          <m:sty m:val="p"/>
                        </m:rPr>
                        <m:t>=</m:t>
                      </m:r>
                      <m:r>
                        <m:t>T</m:t>
                      </m:r>
                      <m:r>
                        <m:rPr>
                          <m:sty m:val="p"/>
                        </m:rPr>
                        <m:t>,</m:t>
                      </m:r>
                      <m:r>
                        <m:t> </m:t>
                      </m:r>
                      <m:sSub>
                        <m:e>
                          <m:r>
                            <m:t>x</m:t>
                          </m:r>
                        </m:e>
                        <m:sub>
                          <m:r>
                            <m:t>3</m:t>
                          </m:r>
                        </m:sub>
                      </m:sSub>
                      <m:r>
                        <m:rPr>
                          <m:sty m:val="p"/>
                        </m:rPr>
                        <m:t>=</m:t>
                      </m:r>
                      <m:r>
                        <m:t>F</m:t>
                      </m:r>
                      <m:r>
                        <m:rPr>
                          <m:sty m:val="p"/>
                        </m:rPr>
                        <m:t>.</m:t>
                      </m:r>
                    </m:oMath>
                  </m:oMathPara>
                </a14:m>
              </a:p>
              <a:p>
                <a:pPr lvl="0" indent="0" marL="0">
                  <a:spcAft>
                    <a:spcPts val="650"/>
                  </a:spcAft>
                  <a:buNone/>
                </a:pPr>
                <a:r>
                  <a:rPr sz="2000">
                    <a:latin typeface="Times New Roman"/>
                  </a:rPr>
                  <a:t>Thus</a:t>
                </a:r>
              </a:p>
              <a:p>
                <a:pPr lvl="0" indent="0" marL="0">
                  <a:spcAft>
                    <a:spcPts val="650"/>
                  </a:spcAft>
                  <a:buNone/>
                </a:pPr>
                <a14:m>
                  <m:oMathPara>
                    <m:oMathParaPr>
                      <m:jc m:val="center"/>
                    </m:oMathParaPr>
                    <m:oMath>
                      <m:sSub>
                        <m:e>
                          <m:r>
                            <m:t>C</m:t>
                          </m:r>
                        </m:e>
                        <m:sub>
                          <m:r>
                            <m:t>1</m:t>
                          </m:r>
                        </m:sub>
                      </m:sSub>
                      <m:r>
                        <m:rPr>
                          <m:sty m:val="p"/>
                        </m:rPr>
                        <m:t>=</m:t>
                      </m:r>
                      <m:r>
                        <m:rPr>
                          <m:sty m:val="p"/>
                        </m:rPr>
                        <m:t>(</m:t>
                      </m:r>
                      <m:r>
                        <m:t>T</m:t>
                      </m:r>
                      <m:r>
                        <m:rPr>
                          <m:sty m:val="p"/>
                        </m:rPr>
                        <m:t>,</m:t>
                      </m:r>
                      <m:r>
                        <m:t>F</m:t>
                      </m:r>
                      <m:r>
                        <m:rPr>
                          <m:sty m:val="p"/>
                        </m:rPr>
                        <m:t>,</m:t>
                      </m:r>
                      <m:r>
                        <m:t>F</m:t>
                      </m:r>
                      <m:r>
                        <m:rPr>
                          <m:sty m:val="p"/>
                        </m:rPr>
                        <m:t>)</m:t>
                      </m:r>
                      <m:r>
                        <m:rPr>
                          <m:sty m:val="p"/>
                        </m:rPr>
                        <m:t>,</m:t>
                      </m:r>
                      <m:r>
                        <m:t> </m:t>
                      </m:r>
                      <m:sSub>
                        <m:e>
                          <m:r>
                            <m:t>C</m:t>
                          </m:r>
                        </m:e>
                        <m:sub>
                          <m:r>
                            <m:t>2</m:t>
                          </m:r>
                        </m:sub>
                      </m:sSub>
                      <m:r>
                        <m:rPr>
                          <m:sty m:val="p"/>
                        </m:rPr>
                        <m:t>=</m:t>
                      </m:r>
                      <m:r>
                        <m:rPr>
                          <m:sty m:val="p"/>
                        </m:rPr>
                        <m:t>(</m:t>
                      </m:r>
                      <m:r>
                        <m:t>F</m:t>
                      </m:r>
                      <m:r>
                        <m:rPr>
                          <m:sty m:val="p"/>
                        </m:rPr>
                        <m:t>,</m:t>
                      </m:r>
                      <m:r>
                        <m:t>T</m:t>
                      </m:r>
                      <m:r>
                        <m:rPr>
                          <m:sty m:val="p"/>
                        </m:rPr>
                        <m:t>,</m:t>
                      </m:r>
                      <m:r>
                        <m:t>T</m:t>
                      </m:r>
                      <m:r>
                        <m:rPr>
                          <m:sty m:val="p"/>
                        </m:rPr>
                        <m:t>)</m:t>
                      </m:r>
                      <m:r>
                        <m:rPr>
                          <m:sty m:val="p"/>
                        </m:rPr>
                        <m:t>.</m:t>
                      </m:r>
                    </m:oMath>
                  </m:oMathPara>
                </a14:m>
              </a:p>
              <a:p>
                <a:pPr lvl="0" indent="0" marL="0">
                  <a:spcAft>
                    <a:spcPts val="650"/>
                  </a:spcAft>
                  <a:buNone/>
                </a:pPr>
                <a:r>
                  <a:rPr sz="2000">
                    <a:latin typeface="Times New Roman"/>
                  </a:rPr>
                  <a:t>Both clause gadgets can be extended.</a:t>
                </a:r>
              </a:p>
            </p:txBody>
          </p:sp>
        </mc:Choice>
      </mc:AlternateContent>
    </p:spTree>
  </p:cSld>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Assembling the Formula Graph</a:t>
            </a:r>
          </a:p>
        </p:txBody>
      </p:sp>
      <p:pic>
        <p:nvPicPr>
          <p:cNvPr descr="editable_assets/diagram-14-1.png" id="3" name="Picture 1"/>
          <p:cNvPicPr>
            <a:picLocks noGrp="1" noChangeAspect="1"/>
          </p:cNvPicPr>
          <p:nvPr/>
        </p:nvPicPr>
        <p:blipFill>
          <a:blip r:embed="rId3"/>
          <a:srcRect l="2513" t="28174" r="24065" b="522"/>
          <a:stretch>
            <a:fillRect/>
          </a:stretch>
        </p:blipFill>
        <p:spPr bwMode="auto">
          <a:xfrm>
            <a:off x="822960" y="1228356"/>
            <a:ext cx="7498080" cy="4675609"/>
          </a:xfrm>
          <a:prstGeom prst="rect">
            <a:avLst/>
          </a:prstGeom>
          <a:noFill/>
          <a:ln w="9525">
            <a:noFill/>
            <a:headEnd/>
            <a:tailEnd/>
          </a:ln>
        </p:spPr>
      </p:pic>
    </p:spTree>
  </p:cSld>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Assembling the Formula Graph</a:t>
            </a:r>
          </a:p>
        </p:txBody>
      </p:sp>
      <p:pic>
        <p:nvPicPr>
          <p:cNvPr descr="editable_assets/diagram-14-2.png" id="3" name="Picture 1"/>
          <p:cNvPicPr>
            <a:picLocks noGrp="1" noChangeAspect="1"/>
          </p:cNvPicPr>
          <p:nvPr/>
        </p:nvPicPr>
        <p:blipFill>
          <a:blip r:embed="rId3"/>
          <a:srcRect l="2513" t="28174" r="24065" b="522"/>
          <a:stretch>
            <a:fillRect/>
          </a:stretch>
        </p:blipFill>
        <p:spPr bwMode="auto">
          <a:xfrm>
            <a:off x="822960" y="1228356"/>
            <a:ext cx="7498080" cy="4675609"/>
          </a:xfrm>
          <a:prstGeom prst="rect">
            <a:avLst/>
          </a:prstGeom>
          <a:noFill/>
          <a:ln w="9525">
            <a:noFill/>
            <a:headEnd/>
            <a:tailEnd/>
          </a:ln>
        </p:spPr>
      </p:pic>
    </p:spTree>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Assembling the Formula Graph</a:t>
            </a:r>
          </a:p>
        </p:txBody>
      </p:sp>
      <p:pic>
        <p:nvPicPr>
          <p:cNvPr descr="editable_assets/diagram-14-3.png" id="3" name="Picture 1"/>
          <p:cNvPicPr>
            <a:picLocks noGrp="1" noChangeAspect="1"/>
          </p:cNvPicPr>
          <p:nvPr/>
        </p:nvPicPr>
        <p:blipFill>
          <a:blip r:embed="rId3"/>
          <a:srcRect l="2513" t="28174" r="24065" b="522"/>
          <a:stretch>
            <a:fillRect/>
          </a:stretch>
        </p:blipFill>
        <p:spPr bwMode="auto">
          <a:xfrm>
            <a:off x="822960" y="1228356"/>
            <a:ext cx="7498080" cy="4675609"/>
          </a:xfrm>
          <a:prstGeom prst="rect">
            <a:avLst/>
          </a:prstGeom>
          <a:noFill/>
          <a:ln w="9525">
            <a:noFill/>
            <a:headEnd/>
            <a:tailEnd/>
          </a:ln>
        </p:spPr>
      </p:pic>
      <p:sp>
        <p:nvSpPr>
          <p:cNvPr id="4" name="Content Placeholder 2"/>
          <p:cNvSpPr>
            <a:spLocks noGrp="1"/>
          </p:cNvSpPr>
          <p:nvPr/>
        </p:nvSpPr>
        <p:spPr>
          <a:xfrm>
            <a:off x="411480" y="6263640"/>
            <a:ext cx="8321040" cy="411480"/>
          </a:xfrm>
        </p:spPr>
        <p:txBody>
          <a:bodyPr lIns="0" rIns="0" tIns="0" bIns="0" anchor="t" wrap="square">
            <a:noAutofit/>
          </a:bodyPr>
          <a:lstStyle>
            <a:lvl1pPr>
              <a:defRPr sz="1700">
                <a:latin typeface="Times New Roman"/>
              </a:defRPr>
            </a:lvl1pPr>
            <a:lvl2pPr>
              <a:defRPr sz="1700">
                <a:latin typeface="Times New Roman"/>
              </a:defRPr>
            </a:lvl2pPr>
            <a:lvl3pPr>
              <a:defRPr sz="1700">
                <a:latin typeface="Times New Roman"/>
              </a:defRPr>
            </a:lvl3pPr>
            <a:lvl4pPr>
              <a:defRPr sz="1700">
                <a:latin typeface="Times New Roman"/>
              </a:defRPr>
            </a:lvl4pPr>
            <a:lvl5pPr>
              <a:defRPr sz="1700">
                <a:latin typeface="Times New Roman"/>
              </a:defRPr>
            </a:lvl5pPr>
            <a:lvl6pPr>
              <a:defRPr sz="1700">
                <a:latin typeface="Times New Roman"/>
              </a:defRPr>
            </a:lvl6pPr>
            <a:lvl7pPr>
              <a:defRPr sz="1700">
                <a:latin typeface="Times New Roman"/>
              </a:defRPr>
            </a:lvl7pPr>
            <a:lvl8pPr>
              <a:defRPr sz="1700">
                <a:latin typeface="Times New Roman"/>
              </a:defRPr>
            </a:lvl8pPr>
            <a:lvl9pPr>
              <a:defRPr sz="1700">
                <a:latin typeface="Times New Roman"/>
              </a:defRPr>
            </a:lvl9pPr>
          </a:lstStyle>
          <a:p>
            <a:pPr lvl="0" indent="0" marL="0">
              <a:spcAft>
                <a:spcPts val="400"/>
              </a:spcAft>
              <a:buNone/>
            </a:pPr>
            <a:r>
              <a:rPr sz="1700">
                <a:latin typeface="Times New Roman"/>
              </a:rPr>
              <a:t>The palette and literal vertices are shared; each clause has fresh internal vertices.</a:t>
            </a:r>
          </a:p>
        </p:txBody>
      </p:sp>
    </p:spTree>
  </p:cSld>
</p:sld>
</file>

<file path=ppt/slides/slide34.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Correctness and Complexity of the Reduction</a:t>
            </a:r>
          </a:p>
        </p:txBody>
      </p:sp>
      <mc:AlternateContent>
        <mc:Choice Requires="a14">
          <p:sp>
            <p:nvSpPr>
              <p:cNvPr id="3" name="Content Placeholder 2"/>
              <p:cNvSpPr>
                <a:spLocks noGrp="1"/>
              </p:cNvSpPr>
              <p:nvPr/>
            </p:nvSpPr>
            <p:spPr>
              <a:xfrm>
                <a:off x="365760" y="1051560"/>
                <a:ext cx="4069080" cy="25603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14:m>
                  <m:oMath>
                    <m:r>
                      <m:t>ϕ</m:t>
                    </m:r>
                  </m:oMath>
                </a14:m>
                <a:r>
                  <a:rPr b="1" sz="1800">
                    <a:latin typeface="Times New Roman"/>
                  </a:rPr>
                  <a:t> satisfiable </a:t>
                </a:r>
                <a14:m>
                  <m:oMath>
                    <m:r>
                      <m:rPr>
                        <m:sty m:val="p"/>
                      </m:rPr>
                      <m:t>⇒</m:t>
                    </m:r>
                    <m:sSub>
                      <m:e>
                        <m:r>
                          <m:t>G</m:t>
                        </m:r>
                      </m:e>
                      <m:sub>
                        <m:r>
                          <m:t>ϕ</m:t>
                        </m:r>
                      </m:sub>
                    </m:sSub>
                  </m:oMath>
                </a14:m>
                <a:r>
                  <a:rPr b="1" sz="1800">
                    <a:latin typeface="Times New Roman"/>
                  </a:rPr>
                  <a:t> 3-colorable</a:t>
                </a:r>
              </a:p>
              <a:p>
                <a:pPr lvl="0">
                  <a:spcAft>
                    <a:spcPts val="650"/>
                  </a:spcAft>
                </a:pPr>
                <a:r>
                  <a:rPr sz="1800">
                    <a:latin typeface="Times New Roman"/>
                  </a:rPr>
                  <a:t>Give each literal its truth color.</a:t>
                </a:r>
              </a:p>
              <a:p>
                <a:pPr lvl="0">
                  <a:spcAft>
                    <a:spcPts val="650"/>
                  </a:spcAft>
                </a:pPr>
                <a:r>
                  <a:rPr sz="1800">
                    <a:latin typeface="Times New Roman"/>
                  </a:rPr>
                  <a:t>Every clause has a true literal.</a:t>
                </a:r>
              </a:p>
              <a:p>
                <a:pPr lvl="0">
                  <a:spcAft>
                    <a:spcPts val="650"/>
                  </a:spcAft>
                </a:pPr>
                <a:r>
                  <a:rPr sz="1800">
                    <a:latin typeface="Times New Roman"/>
                  </a:rPr>
                  <a:t>Every clause gadget therefore extends to a legal coloring.</a:t>
                </a:r>
              </a:p>
            </p:txBody>
          </p:sp>
        </mc:Choice>
      </mc:AlternateContent>
    </p:spTree>
  </p:cSld>
</p:sld>
</file>

<file path=ppt/slides/slide35.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Correctness and Complexity of the Reduction</a:t>
            </a:r>
          </a:p>
        </p:txBody>
      </p:sp>
      <mc:AlternateContent>
        <mc:Choice Requires="a14">
          <p:sp>
            <p:nvSpPr>
              <p:cNvPr id="3" name="Content Placeholder 2"/>
              <p:cNvSpPr>
                <a:spLocks noGrp="1"/>
              </p:cNvSpPr>
              <p:nvPr/>
            </p:nvSpPr>
            <p:spPr>
              <a:xfrm>
                <a:off x="365760" y="1051560"/>
                <a:ext cx="4069080" cy="25603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14:m>
                  <m:oMath>
                    <m:r>
                      <m:t>ϕ</m:t>
                    </m:r>
                  </m:oMath>
                </a14:m>
                <a:r>
                  <a:rPr b="1" sz="1800">
                    <a:latin typeface="Times New Roman"/>
                  </a:rPr>
                  <a:t> satisfiable </a:t>
                </a:r>
                <a14:m>
                  <m:oMath>
                    <m:r>
                      <m:rPr>
                        <m:sty m:val="p"/>
                      </m:rPr>
                      <m:t>⇒</m:t>
                    </m:r>
                    <m:sSub>
                      <m:e>
                        <m:r>
                          <m:t>G</m:t>
                        </m:r>
                      </m:e>
                      <m:sub>
                        <m:r>
                          <m:t>ϕ</m:t>
                        </m:r>
                      </m:sub>
                    </m:sSub>
                  </m:oMath>
                </a14:m>
                <a:r>
                  <a:rPr b="1" sz="1800">
                    <a:latin typeface="Times New Roman"/>
                  </a:rPr>
                  <a:t> 3-colorable</a:t>
                </a:r>
              </a:p>
              <a:p>
                <a:pPr lvl="0">
                  <a:spcAft>
                    <a:spcPts val="650"/>
                  </a:spcAft>
                </a:pPr>
                <a:r>
                  <a:rPr sz="1800">
                    <a:latin typeface="Times New Roman"/>
                  </a:rPr>
                  <a:t>Give each literal its truth color.</a:t>
                </a:r>
              </a:p>
              <a:p>
                <a:pPr lvl="0">
                  <a:spcAft>
                    <a:spcPts val="650"/>
                  </a:spcAft>
                </a:pPr>
                <a:r>
                  <a:rPr sz="1800">
                    <a:latin typeface="Times New Roman"/>
                  </a:rPr>
                  <a:t>Every clause has a true literal.</a:t>
                </a:r>
              </a:p>
              <a:p>
                <a:pPr lvl="0">
                  <a:spcAft>
                    <a:spcPts val="650"/>
                  </a:spcAft>
                </a:pPr>
                <a:r>
                  <a:rPr sz="1800">
                    <a:latin typeface="Times New Roman"/>
                  </a:rPr>
                  <a:t>Every clause gadget therefore extends to a legal coloring.</a:t>
                </a:r>
              </a:p>
            </p:txBody>
          </p:sp>
        </mc:Choice>
      </mc:AlternateContent>
      <mc:AlternateContent>
        <mc:Choice Requires="a14">
          <p:sp>
            <p:nvSpPr>
              <p:cNvPr id="4" name="Content Placeholder 2"/>
              <p:cNvSpPr>
                <a:spLocks noGrp="1"/>
              </p:cNvSpPr>
              <p:nvPr/>
            </p:nvSpPr>
            <p:spPr>
              <a:xfrm>
                <a:off x="4709160" y="1051560"/>
                <a:ext cx="4069080" cy="25603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14:m>
                  <m:oMath>
                    <m:sSub>
                      <m:e>
                        <m:r>
                          <m:t>G</m:t>
                        </m:r>
                      </m:e>
                      <m:sub>
                        <m:r>
                          <m:t>ϕ</m:t>
                        </m:r>
                      </m:sub>
                    </m:sSub>
                  </m:oMath>
                </a14:m>
                <a:r>
                  <a:rPr b="1" sz="1800">
                    <a:latin typeface="Times New Roman"/>
                  </a:rPr>
                  <a:t> 3-colorable </a:t>
                </a:r>
                <a14:m>
                  <m:oMath>
                    <m:r>
                      <m:rPr>
                        <m:sty m:val="p"/>
                      </m:rPr>
                      <m:t>⇒</m:t>
                    </m:r>
                    <m:r>
                      <m:t>ϕ</m:t>
                    </m:r>
                  </m:oMath>
                </a14:m>
                <a:r>
                  <a:rPr b="1" sz="1800">
                    <a:latin typeface="Times New Roman"/>
                  </a:rPr>
                  <a:t> satisfiable</a:t>
                </a:r>
              </a:p>
              <a:p>
                <a:pPr lvl="0">
                  <a:spcAft>
                    <a:spcPts val="650"/>
                  </a:spcAft>
                </a:pPr>
                <a:r>
                  <a:rPr sz="1800">
                    <a:latin typeface="Times New Roman"/>
                  </a:rPr>
                  <a:t>Read </a:t>
                </a:r>
                <a14:m>
                  <m:oMath>
                    <m:sSub>
                      <m:e>
                        <m:r>
                          <m:t>x</m:t>
                        </m:r>
                      </m:e>
                      <m:sub>
                        <m:r>
                          <m:t>i</m:t>
                        </m:r>
                      </m:sub>
                    </m:sSub>
                    <m:r>
                      <m:rPr>
                        <m:sty m:val="p"/>
                      </m:rPr>
                      <m:t>=</m:t>
                    </m:r>
                    <m:r>
                      <m:t>t</m:t>
                    </m:r>
                    <m:r>
                      <m:t>r</m:t>
                    </m:r>
                    <m:r>
                      <m:t>u</m:t>
                    </m:r>
                    <m:r>
                      <m:t>e</m:t>
                    </m:r>
                  </m:oMath>
                </a14:m>
                <a:r>
                  <a:rPr sz="1800">
                    <a:latin typeface="Times New Roman"/>
                  </a:rPr>
                  <a:t> exactly when vertex </a:t>
                </a:r>
                <a14:m>
                  <m:oMath>
                    <m:sSub>
                      <m:e>
                        <m:r>
                          <m:t>x</m:t>
                        </m:r>
                      </m:e>
                      <m:sub>
                        <m:r>
                          <m:t>i</m:t>
                        </m:r>
                      </m:sub>
                    </m:sSub>
                  </m:oMath>
                </a14:m>
                <a:r>
                  <a:rPr sz="1800">
                    <a:latin typeface="Times New Roman"/>
                  </a:rPr>
                  <a:t> has color </a:t>
                </a:r>
                <a14:m>
                  <m:oMath>
                    <m:r>
                      <m:t>T</m:t>
                    </m:r>
                  </m:oMath>
                </a14:m>
                <a:r>
                  <a:rPr sz="1800">
                    <a:latin typeface="Times New Roman"/>
                  </a:rPr>
                  <a:t>.</a:t>
                </a:r>
              </a:p>
              <a:p>
                <a:pPr lvl="0">
                  <a:spcAft>
                    <a:spcPts val="650"/>
                  </a:spcAft>
                </a:pPr>
                <a:r>
                  <a:rPr sz="1800">
                    <a:latin typeface="Times New Roman"/>
                  </a:rPr>
                  <a:t>Every colorable clause has a </a:t>
                </a:r>
                <a14:m>
                  <m:oMath>
                    <m:r>
                      <m:t>T</m:t>
                    </m:r>
                  </m:oMath>
                </a14:m>
                <a:r>
                  <a:rPr sz="1800">
                    <a:latin typeface="Times New Roman"/>
                  </a:rPr>
                  <a:t> input.</a:t>
                </a:r>
              </a:p>
              <a:p>
                <a:pPr lvl="0">
                  <a:spcAft>
                    <a:spcPts val="650"/>
                  </a:spcAft>
                </a:pPr>
                <a:r>
                  <a:rPr sz="1800">
                    <a:latin typeface="Times New Roman"/>
                  </a:rPr>
                  <a:t>Every clause is therefore satisfied.</a:t>
                </a:r>
              </a:p>
            </p:txBody>
          </p:sp>
        </mc:Choice>
      </mc:AlternateContent>
    </p:spTree>
  </p:cSld>
</p:sld>
</file>

<file path=ppt/slides/slide36.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Correctness and Complexity of the Reduction</a:t>
            </a:r>
          </a:p>
        </p:txBody>
      </p:sp>
      <mc:AlternateContent>
        <mc:Choice Requires="a14">
          <p:sp>
            <p:nvSpPr>
              <p:cNvPr id="3" name="Content Placeholder 2"/>
              <p:cNvSpPr>
                <a:spLocks noGrp="1"/>
              </p:cNvSpPr>
              <p:nvPr/>
            </p:nvSpPr>
            <p:spPr>
              <a:xfrm>
                <a:off x="365760" y="1051560"/>
                <a:ext cx="4069080" cy="25603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14:m>
                  <m:oMath>
                    <m:r>
                      <m:t>ϕ</m:t>
                    </m:r>
                  </m:oMath>
                </a14:m>
                <a:r>
                  <a:rPr b="1" sz="1800">
                    <a:latin typeface="Times New Roman"/>
                  </a:rPr>
                  <a:t> satisfiable </a:t>
                </a:r>
                <a14:m>
                  <m:oMath>
                    <m:r>
                      <m:rPr>
                        <m:sty m:val="p"/>
                      </m:rPr>
                      <m:t>⇒</m:t>
                    </m:r>
                    <m:sSub>
                      <m:e>
                        <m:r>
                          <m:t>G</m:t>
                        </m:r>
                      </m:e>
                      <m:sub>
                        <m:r>
                          <m:t>ϕ</m:t>
                        </m:r>
                      </m:sub>
                    </m:sSub>
                  </m:oMath>
                </a14:m>
                <a:r>
                  <a:rPr b="1" sz="1800">
                    <a:latin typeface="Times New Roman"/>
                  </a:rPr>
                  <a:t> 3-colorable</a:t>
                </a:r>
              </a:p>
              <a:p>
                <a:pPr lvl="0">
                  <a:spcAft>
                    <a:spcPts val="650"/>
                  </a:spcAft>
                </a:pPr>
                <a:r>
                  <a:rPr sz="1800">
                    <a:latin typeface="Times New Roman"/>
                  </a:rPr>
                  <a:t>Give each literal its truth color.</a:t>
                </a:r>
              </a:p>
              <a:p>
                <a:pPr lvl="0">
                  <a:spcAft>
                    <a:spcPts val="650"/>
                  </a:spcAft>
                </a:pPr>
                <a:r>
                  <a:rPr sz="1800">
                    <a:latin typeface="Times New Roman"/>
                  </a:rPr>
                  <a:t>Every clause has a true literal.</a:t>
                </a:r>
              </a:p>
              <a:p>
                <a:pPr lvl="0">
                  <a:spcAft>
                    <a:spcPts val="650"/>
                  </a:spcAft>
                </a:pPr>
                <a:r>
                  <a:rPr sz="1800">
                    <a:latin typeface="Times New Roman"/>
                  </a:rPr>
                  <a:t>Every clause gadget therefore extends to a legal coloring.</a:t>
                </a:r>
              </a:p>
            </p:txBody>
          </p:sp>
        </mc:Choice>
      </mc:AlternateContent>
      <mc:AlternateContent>
        <mc:Choice Requires="a14">
          <p:sp>
            <p:nvSpPr>
              <p:cNvPr id="4" name="Content Placeholder 2"/>
              <p:cNvSpPr>
                <a:spLocks noGrp="1"/>
              </p:cNvSpPr>
              <p:nvPr/>
            </p:nvSpPr>
            <p:spPr>
              <a:xfrm>
                <a:off x="4709160" y="1051560"/>
                <a:ext cx="4069080" cy="256032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indent="0" marL="0">
                  <a:spcAft>
                    <a:spcPts val="650"/>
                  </a:spcAft>
                  <a:buNone/>
                </a:pPr>
                <a14:m>
                  <m:oMath>
                    <m:sSub>
                      <m:e>
                        <m:r>
                          <m:t>G</m:t>
                        </m:r>
                      </m:e>
                      <m:sub>
                        <m:r>
                          <m:t>ϕ</m:t>
                        </m:r>
                      </m:sub>
                    </m:sSub>
                  </m:oMath>
                </a14:m>
                <a:r>
                  <a:rPr b="1" sz="1800">
                    <a:latin typeface="Times New Roman"/>
                  </a:rPr>
                  <a:t> 3-colorable </a:t>
                </a:r>
                <a14:m>
                  <m:oMath>
                    <m:r>
                      <m:rPr>
                        <m:sty m:val="p"/>
                      </m:rPr>
                      <m:t>⇒</m:t>
                    </m:r>
                    <m:r>
                      <m:t>ϕ</m:t>
                    </m:r>
                  </m:oMath>
                </a14:m>
                <a:r>
                  <a:rPr b="1" sz="1800">
                    <a:latin typeface="Times New Roman"/>
                  </a:rPr>
                  <a:t> satisfiable</a:t>
                </a:r>
              </a:p>
              <a:p>
                <a:pPr lvl="0">
                  <a:spcAft>
                    <a:spcPts val="650"/>
                  </a:spcAft>
                </a:pPr>
                <a:r>
                  <a:rPr sz="1800">
                    <a:latin typeface="Times New Roman"/>
                  </a:rPr>
                  <a:t>Read </a:t>
                </a:r>
                <a14:m>
                  <m:oMath>
                    <m:sSub>
                      <m:e>
                        <m:r>
                          <m:t>x</m:t>
                        </m:r>
                      </m:e>
                      <m:sub>
                        <m:r>
                          <m:t>i</m:t>
                        </m:r>
                      </m:sub>
                    </m:sSub>
                    <m:r>
                      <m:rPr>
                        <m:sty m:val="p"/>
                      </m:rPr>
                      <m:t>=</m:t>
                    </m:r>
                    <m:r>
                      <m:t>t</m:t>
                    </m:r>
                    <m:r>
                      <m:t>r</m:t>
                    </m:r>
                    <m:r>
                      <m:t>u</m:t>
                    </m:r>
                    <m:r>
                      <m:t>e</m:t>
                    </m:r>
                  </m:oMath>
                </a14:m>
                <a:r>
                  <a:rPr sz="1800">
                    <a:latin typeface="Times New Roman"/>
                  </a:rPr>
                  <a:t> exactly when vertex </a:t>
                </a:r>
                <a14:m>
                  <m:oMath>
                    <m:sSub>
                      <m:e>
                        <m:r>
                          <m:t>x</m:t>
                        </m:r>
                      </m:e>
                      <m:sub>
                        <m:r>
                          <m:t>i</m:t>
                        </m:r>
                      </m:sub>
                    </m:sSub>
                  </m:oMath>
                </a14:m>
                <a:r>
                  <a:rPr sz="1800">
                    <a:latin typeface="Times New Roman"/>
                  </a:rPr>
                  <a:t> has color </a:t>
                </a:r>
                <a14:m>
                  <m:oMath>
                    <m:r>
                      <m:t>T</m:t>
                    </m:r>
                  </m:oMath>
                </a14:m>
                <a:r>
                  <a:rPr sz="1800">
                    <a:latin typeface="Times New Roman"/>
                  </a:rPr>
                  <a:t>.</a:t>
                </a:r>
              </a:p>
              <a:p>
                <a:pPr lvl="0">
                  <a:spcAft>
                    <a:spcPts val="650"/>
                  </a:spcAft>
                </a:pPr>
                <a:r>
                  <a:rPr sz="1800">
                    <a:latin typeface="Times New Roman"/>
                  </a:rPr>
                  <a:t>Every colorable clause has a </a:t>
                </a:r>
                <a14:m>
                  <m:oMath>
                    <m:r>
                      <m:t>T</m:t>
                    </m:r>
                  </m:oMath>
                </a14:m>
                <a:r>
                  <a:rPr sz="1800">
                    <a:latin typeface="Times New Roman"/>
                  </a:rPr>
                  <a:t> input.</a:t>
                </a:r>
              </a:p>
              <a:p>
                <a:pPr lvl="0">
                  <a:spcAft>
                    <a:spcPts val="650"/>
                  </a:spcAft>
                </a:pPr>
                <a:r>
                  <a:rPr sz="1800">
                    <a:latin typeface="Times New Roman"/>
                  </a:rPr>
                  <a:t>Every clause is therefore satisfied.</a:t>
                </a:r>
              </a:p>
            </p:txBody>
          </p:sp>
        </mc:Choice>
      </mc:AlternateContent>
      <p:pic>
        <p:nvPicPr>
          <p:cNvPr descr="editable_assets/diagram-15-1.png" id="5" name="Picture 1"/>
          <p:cNvPicPr>
            <a:picLocks noGrp="1" noChangeAspect="1"/>
          </p:cNvPicPr>
          <p:nvPr/>
        </p:nvPicPr>
        <p:blipFill>
          <a:blip r:embed="rId3"/>
          <a:srcRect l="2350" t="9426" r="2350" b="9221"/>
          <a:stretch>
            <a:fillRect/>
          </a:stretch>
        </p:blipFill>
        <p:spPr bwMode="auto">
          <a:xfrm>
            <a:off x="1209219" y="3886200"/>
            <a:ext cx="6725562" cy="1463040"/>
          </a:xfrm>
          <a:prstGeom prst="rect">
            <a:avLst/>
          </a:prstGeom>
          <a:noFill/>
          <a:ln w="9525">
            <a:noFill/>
            <a:headEnd/>
            <a:tailEnd/>
          </a:ln>
        </p:spPr>
      </p:pic>
      <mc:AlternateContent>
        <mc:Choice Requires="a14">
          <p:sp>
            <p:nvSpPr>
              <p:cNvPr id="6" name="Content Placeholder 2"/>
              <p:cNvSpPr>
                <a:spLocks noGrp="1"/>
              </p:cNvSpPr>
              <p:nvPr/>
            </p:nvSpPr>
            <p:spPr>
              <a:xfrm>
                <a:off x="457200" y="5577840"/>
                <a:ext cx="8229600" cy="960120"/>
              </a:xfrm>
            </p:spPr>
            <p:txBody>
              <a:bodyPr lIns="0" rIns="0" tIns="0" bIns="0" anchor="t" wrap="square">
                <a:noAutofit/>
              </a:bodyPr>
              <a:lstStyle>
                <a:lvl1pPr>
                  <a:defRPr sz="1700">
                    <a:latin typeface="Times New Roman"/>
                  </a:defRPr>
                </a:lvl1pPr>
                <a:lvl2pPr>
                  <a:defRPr sz="1700">
                    <a:latin typeface="Times New Roman"/>
                  </a:defRPr>
                </a:lvl2pPr>
                <a:lvl3pPr>
                  <a:defRPr sz="1700">
                    <a:latin typeface="Times New Roman"/>
                  </a:defRPr>
                </a:lvl3pPr>
                <a:lvl4pPr>
                  <a:defRPr sz="1700">
                    <a:latin typeface="Times New Roman"/>
                  </a:defRPr>
                </a:lvl4pPr>
                <a:lvl5pPr>
                  <a:defRPr sz="1700">
                    <a:latin typeface="Times New Roman"/>
                  </a:defRPr>
                </a:lvl5pPr>
                <a:lvl6pPr>
                  <a:defRPr sz="1700">
                    <a:latin typeface="Times New Roman"/>
                  </a:defRPr>
                </a:lvl6pPr>
                <a:lvl7pPr>
                  <a:defRPr sz="1700">
                    <a:latin typeface="Times New Roman"/>
                  </a:defRPr>
                </a:lvl7pPr>
                <a:lvl8pPr>
                  <a:defRPr sz="1700">
                    <a:latin typeface="Times New Roman"/>
                  </a:defRPr>
                </a:lvl8pPr>
                <a:lvl9pPr>
                  <a:defRPr sz="1700">
                    <a:latin typeface="Times New Roman"/>
                  </a:defRPr>
                </a:lvl9pPr>
              </a:lstStyle>
              <a:p>
                <a:pPr lvl="0" indent="0" marL="0">
                  <a:spcAft>
                    <a:spcPts val="400"/>
                  </a:spcAft>
                  <a:buNone/>
                </a:pPr>
                <a:r>
                  <a:rPr sz="1700">
                    <a:latin typeface="Times New Roman"/>
                  </a:rPr>
                  <a:t>For </a:t>
                </a:r>
                <a14:m>
                  <m:oMath>
                    <m:r>
                      <m:t>n</m:t>
                    </m:r>
                  </m:oMath>
                </a14:m>
                <a:r>
                  <a:rPr sz="1700">
                    <a:latin typeface="Times New Roman"/>
                  </a:rPr>
                  <a:t> variables and </a:t>
                </a:r>
                <a14:m>
                  <m:oMath>
                    <m:r>
                      <m:t>m</m:t>
                    </m:r>
                  </m:oMath>
                </a14:m>
                <a:r>
                  <a:rPr sz="1700">
                    <a:latin typeface="Times New Roman"/>
                  </a:rPr>
                  <a:t> clauses:</a:t>
                </a:r>
              </a:p>
              <a:p>
                <a:pPr lvl="0" indent="0" marL="0">
                  <a:spcAft>
                    <a:spcPts val="400"/>
                  </a:spcAft>
                  <a:buNone/>
                </a:pPr>
                <a14:m>
                  <m:oMathPara>
                    <m:oMathParaPr>
                      <m:jc m:val="center"/>
                    </m:oMathParaPr>
                    <m:oMath>
                      <m:r>
                        <m:rPr>
                          <m:sty m:val="p"/>
                        </m:rPr>
                        <m:t>|</m:t>
                      </m:r>
                      <m:r>
                        <m:t>V</m:t>
                      </m:r>
                      <m:r>
                        <m:rPr>
                          <m:sty m:val="p"/>
                        </m:rPr>
                        <m:t>|</m:t>
                      </m:r>
                      <m:r>
                        <m:rPr>
                          <m:sty m:val="p"/>
                        </m:rPr>
                        <m:t>=</m:t>
                      </m:r>
                      <m:r>
                        <m:t>3</m:t>
                      </m:r>
                      <m:r>
                        <m:rPr>
                          <m:sty m:val="p"/>
                        </m:rPr>
                        <m:t>+</m:t>
                      </m:r>
                      <m:r>
                        <m:t>2</m:t>
                      </m:r>
                      <m:r>
                        <m:t>n</m:t>
                      </m:r>
                      <m:r>
                        <m:rPr>
                          <m:sty m:val="p"/>
                        </m:rPr>
                        <m:t>+</m:t>
                      </m:r>
                      <m:r>
                        <m:t>6</m:t>
                      </m:r>
                      <m:r>
                        <m:t>m</m:t>
                      </m:r>
                      <m:r>
                        <m:rPr>
                          <m:sty m:val="p"/>
                        </m:rPr>
                        <m:t>,</m:t>
                      </m:r>
                      <m:r>
                        <m:t>  </m:t>
                      </m:r>
                      <m:r>
                        <m:rPr>
                          <m:sty m:val="p"/>
                        </m:rPr>
                        <m:t>|</m:t>
                      </m:r>
                      <m:r>
                        <m:t>E</m:t>
                      </m:r>
                      <m:r>
                        <m:rPr>
                          <m:sty m:val="p"/>
                        </m:rPr>
                        <m:t>|</m:t>
                      </m:r>
                      <m:r>
                        <m:rPr>
                          <m:sty m:val="p"/>
                        </m:rPr>
                        <m:t>=</m:t>
                      </m:r>
                      <m:r>
                        <m:t>3</m:t>
                      </m:r>
                      <m:r>
                        <m:rPr>
                          <m:sty m:val="p"/>
                        </m:rPr>
                        <m:t>+</m:t>
                      </m:r>
                      <m:r>
                        <m:t>3</m:t>
                      </m:r>
                      <m:r>
                        <m:t>n</m:t>
                      </m:r>
                      <m:r>
                        <m:rPr>
                          <m:sty m:val="p"/>
                        </m:rPr>
                        <m:t>+</m:t>
                      </m:r>
                      <m:r>
                        <m:t>13</m:t>
                      </m:r>
                      <m:r>
                        <m:t>m</m:t>
                      </m:r>
                      <m:r>
                        <m:rPr>
                          <m:sty m:val="p"/>
                        </m:rPr>
                        <m:t>.</m:t>
                      </m:r>
                    </m:oMath>
                  </m:oMathPara>
                </a14:m>
              </a:p>
              <a:p>
                <a:pPr lvl="0" indent="0" marL="0">
                  <a:spcAft>
                    <a:spcPts val="400"/>
                  </a:spcAft>
                  <a:buNone/>
                </a:pPr>
                <a:r>
                  <a:rPr sz="1700">
                    <a:latin typeface="Times New Roman"/>
                  </a:rPr>
                  <a:t>Enumerating the vertices and edges takes polynomial time.</a:t>
                </a:r>
              </a:p>
            </p:txBody>
          </p:sp>
        </mc:Choice>
      </mc:AlternateContent>
    </p:spTree>
  </p:cSld>
</p:sld>
</file>

<file path=ppt/slides/slide37.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A Second Reduction Pattern: 3-SAT reduces to CLIQUE</a:t>
            </a:r>
          </a:p>
        </p:txBody>
      </p:sp>
      <mc:AlternateContent>
        <mc:Choice Requires="a14">
          <p:sp>
            <p:nvSpPr>
              <p:cNvPr id="3" name="Content Placeholder 2"/>
              <p:cNvSpPr>
                <a:spLocks noGrp="1"/>
              </p:cNvSpPr>
              <p:nvPr/>
            </p:nvSpPr>
            <p:spPr>
              <a:xfrm>
                <a:off x="457200" y="960120"/>
                <a:ext cx="8229600" cy="105156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14:m>
                  <m:oMathPara>
                    <m:oMathParaPr>
                      <m:jc m:val="center"/>
                    </m:oMathParaPr>
                    <m:oMath>
                      <m:eqArr>
                        <m:e>
                          <m:sSup>
                            <m:e>
                              <m:r>
                                <m:t>ϕ</m:t>
                              </m:r>
                            </m:e>
                            <m:sup>
                              <m:r>
                                <m:rPr>
                                  <m:sty m:val="p"/>
                                </m:rPr>
                                <m:t>′</m:t>
                              </m:r>
                            </m:sup>
                          </m:sSup>
                          <m:r>
                            <m:rPr>
                              <m:sty m:val="p"/>
                            </m:rPr>
                            <m:t>=</m:t>
                          </m:r>
                          <m:r>
                            <m:t>​</m:t>
                          </m:r>
                          <m:r>
                            <m:t>&amp;</m:t>
                          </m:r>
                          <m:r>
                            <m:rPr>
                              <m:sty m:val="p"/>
                            </m:rPr>
                            <m:t>(</m:t>
                          </m:r>
                          <m:sSub>
                            <m:e>
                              <m:r>
                                <m:t>x</m:t>
                              </m:r>
                            </m:e>
                            <m:sub>
                              <m:r>
                                <m:t>1</m:t>
                              </m:r>
                            </m:sub>
                          </m:sSub>
                          <m:r>
                            <m:rPr>
                              <m:sty m:val="p"/>
                            </m:rPr>
                            <m:t>∨</m:t>
                          </m:r>
                          <m:r>
                            <m:rPr>
                              <m:sty m:val="p"/>
                            </m:rPr>
                            <m:t>¬</m:t>
                          </m:r>
                          <m:sSub>
                            <m:e>
                              <m:r>
                                <m:t>x</m:t>
                              </m:r>
                            </m:e>
                            <m:sub>
                              <m:r>
                                <m:t>2</m:t>
                              </m:r>
                            </m:sub>
                          </m:sSub>
                          <m:r>
                            <m:rPr>
                              <m:sty m:val="p"/>
                            </m:rPr>
                            <m:t>∨</m:t>
                          </m:r>
                          <m:sSub>
                            <m:e>
                              <m:r>
                                <m:t>x</m:t>
                              </m:r>
                            </m:e>
                            <m:sub>
                              <m:r>
                                <m:t>3</m:t>
                              </m:r>
                            </m:sub>
                          </m:sSub>
                          <m:r>
                            <m:rPr>
                              <m:sty m:val="p"/>
                            </m:rPr>
                            <m:t>)</m:t>
                          </m:r>
                          <m:r>
                            <m:rPr>
                              <m:sty m:val="p"/>
                            </m:rPr>
                            <m:t>∧</m:t>
                          </m:r>
                          <m:r>
                            <m:rPr>
                              <m:sty m:val="p"/>
                            </m:rPr>
                            <m:t>(</m:t>
                          </m:r>
                          <m:r>
                            <m:rPr>
                              <m:sty m:val="p"/>
                            </m:rPr>
                            <m:t>¬</m:t>
                          </m:r>
                          <m:sSub>
                            <m:e>
                              <m:r>
                                <m:t>x</m:t>
                              </m:r>
                            </m:e>
                            <m:sub>
                              <m:r>
                                <m:t>1</m:t>
                              </m:r>
                            </m:sub>
                          </m:sSub>
                          <m:r>
                            <m:rPr>
                              <m:sty m:val="p"/>
                            </m:rPr>
                            <m:t>∨</m:t>
                          </m:r>
                          <m:sSub>
                            <m:e>
                              <m:r>
                                <m:t>x</m:t>
                              </m:r>
                            </m:e>
                            <m:sub>
                              <m:r>
                                <m:t>2</m:t>
                              </m:r>
                            </m:sub>
                          </m:sSub>
                          <m:r>
                            <m:rPr>
                              <m:sty m:val="p"/>
                            </m:rPr>
                            <m:t>∨</m:t>
                          </m:r>
                          <m:sSub>
                            <m:e>
                              <m:r>
                                <m:t>x</m:t>
                              </m:r>
                            </m:e>
                            <m:sub>
                              <m:r>
                                <m:t>3</m:t>
                              </m:r>
                            </m:sub>
                          </m:sSub>
                          <m:r>
                            <m:rPr>
                              <m:sty m:val="p"/>
                            </m:rPr>
                            <m:t>)</m:t>
                          </m:r>
                        </m:e>
                        <m:e>
                          <m:r>
                            <m:t>&amp;</m:t>
                          </m:r>
                          <m:r>
                            <m:rPr>
                              <m:sty m:val="p"/>
                            </m:rPr>
                            <m:t>∧</m:t>
                          </m:r>
                          <m:r>
                            <m:rPr>
                              <m:sty m:val="p"/>
                            </m:rPr>
                            <m:t>(</m:t>
                          </m:r>
                          <m:sSub>
                            <m:e>
                              <m:r>
                                <m:t>x</m:t>
                              </m:r>
                            </m:e>
                            <m:sub>
                              <m:r>
                                <m:t>1</m:t>
                              </m:r>
                            </m:sub>
                          </m:sSub>
                          <m:r>
                            <m:rPr>
                              <m:sty m:val="p"/>
                            </m:rPr>
                            <m:t>∨</m:t>
                          </m:r>
                          <m:sSub>
                            <m:e>
                              <m:r>
                                <m:t>x</m:t>
                              </m:r>
                            </m:e>
                            <m:sub>
                              <m:r>
                                <m:t>2</m:t>
                              </m:r>
                            </m:sub>
                          </m:sSub>
                          <m:r>
                            <m:rPr>
                              <m:sty m:val="p"/>
                            </m:rPr>
                            <m:t>∨</m:t>
                          </m:r>
                          <m:r>
                            <m:rPr>
                              <m:sty m:val="p"/>
                            </m:rPr>
                            <m:t>¬</m:t>
                          </m:r>
                          <m:sSub>
                            <m:e>
                              <m:r>
                                <m:t>x</m:t>
                              </m:r>
                            </m:e>
                            <m:sub>
                              <m:r>
                                <m:t>3</m:t>
                              </m:r>
                            </m:sub>
                          </m:sSub>
                          <m:r>
                            <m:rPr>
                              <m:sty m:val="p"/>
                            </m:rPr>
                            <m:t>)</m:t>
                          </m:r>
                          <m:r>
                            <m:rPr>
                              <m:sty m:val="p"/>
                            </m:rPr>
                            <m:t>.</m:t>
                          </m:r>
                        </m:e>
                      </m:eqArr>
                    </m:oMath>
                  </m:oMathPara>
                </a14:m>
              </a:p>
            </p:txBody>
          </p:sp>
        </mc:Choice>
      </mc:AlternateContent>
      <mc:AlternateContent>
        <mc:Choice Requires="a14">
          <p:sp>
            <p:nvSpPr>
              <p:cNvPr id="4" name="Content Placeholder 2"/>
              <p:cNvSpPr>
                <a:spLocks noGrp="1"/>
              </p:cNvSpPr>
              <p:nvPr/>
            </p:nvSpPr>
            <p:spPr>
              <a:xfrm>
                <a:off x="365760" y="2240280"/>
                <a:ext cx="4069080" cy="406908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a:spcAft>
                    <a:spcPts val="650"/>
                  </a:spcAft>
                </a:pPr>
                <a:r>
                  <a:rPr sz="1800">
                    <a:latin typeface="Times New Roman"/>
                  </a:rPr>
                  <a:t>Create one vertex per literal occurrence.</a:t>
                </a:r>
              </a:p>
              <a:p>
                <a:pPr lvl="0">
                  <a:spcAft>
                    <a:spcPts val="650"/>
                  </a:spcAft>
                </a:pPr>
                <a:r>
                  <a:rPr sz="1800">
                    <a:latin typeface="Times New Roman"/>
                  </a:rPr>
                  <a:t>Put vertices in clause groups.</a:t>
                </a:r>
              </a:p>
              <a:p>
                <a:pPr lvl="0">
                  <a:spcAft>
                    <a:spcPts val="650"/>
                  </a:spcAft>
                </a:pPr>
                <a:r>
                  <a:rPr sz="1800">
                    <a:latin typeface="Times New Roman"/>
                  </a:rPr>
                  <a:t>Connect different-clause vertices when their literals are not contradictory.</a:t>
                </a:r>
              </a:p>
              <a:p>
                <a:pPr lvl="0">
                  <a:spcAft>
                    <a:spcPts val="650"/>
                  </a:spcAft>
                </a:pPr>
                <a:r>
                  <a:rPr sz="1800">
                    <a:latin typeface="Times New Roman"/>
                  </a:rPr>
                  <a:t>Ask for </a:t>
                </a:r>
                <a14:m>
                  <m:oMath>
                    <m:r>
                      <m:t>m</m:t>
                    </m:r>
                  </m:oMath>
                </a14:m>
                <a:r>
                  <a:rPr sz="1800">
                    <a:latin typeface="Times New Roman"/>
                  </a:rPr>
                  <a:t> pairwise adjacent vertices: an </a:t>
                </a:r>
                <a14:m>
                  <m:oMath>
                    <m:r>
                      <m:t>m</m:t>
                    </m:r>
                  </m:oMath>
                </a14:m>
                <a:r>
                  <a:rPr sz="1800">
                    <a:latin typeface="Times New Roman"/>
                  </a:rPr>
                  <a:t>-clique.</a:t>
                </a:r>
              </a:p>
            </p:txBody>
          </p:sp>
        </mc:Choice>
      </mc:AlternateContent>
    </p:spTree>
  </p:cSld>
</p:sld>
</file>

<file path=ppt/slides/slide38.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A Second Reduction Pattern: 3-SAT reduces to CLIQUE</a:t>
            </a:r>
          </a:p>
        </p:txBody>
      </p:sp>
      <mc:AlternateContent>
        <mc:Choice Requires="a14">
          <p:sp>
            <p:nvSpPr>
              <p:cNvPr id="3" name="Content Placeholder 2"/>
              <p:cNvSpPr>
                <a:spLocks noGrp="1"/>
              </p:cNvSpPr>
              <p:nvPr/>
            </p:nvSpPr>
            <p:spPr>
              <a:xfrm>
                <a:off x="457200" y="960120"/>
                <a:ext cx="8229600" cy="105156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14:m>
                  <m:oMathPara>
                    <m:oMathParaPr>
                      <m:jc m:val="center"/>
                    </m:oMathParaPr>
                    <m:oMath>
                      <m:eqArr>
                        <m:e>
                          <m:sSup>
                            <m:e>
                              <m:r>
                                <m:t>ϕ</m:t>
                              </m:r>
                            </m:e>
                            <m:sup>
                              <m:r>
                                <m:rPr>
                                  <m:sty m:val="p"/>
                                </m:rPr>
                                <m:t>′</m:t>
                              </m:r>
                            </m:sup>
                          </m:sSup>
                          <m:r>
                            <m:rPr>
                              <m:sty m:val="p"/>
                            </m:rPr>
                            <m:t>=</m:t>
                          </m:r>
                          <m:r>
                            <m:t>​</m:t>
                          </m:r>
                          <m:r>
                            <m:t>&amp;</m:t>
                          </m:r>
                          <m:r>
                            <m:rPr>
                              <m:sty m:val="p"/>
                            </m:rPr>
                            <m:t>(</m:t>
                          </m:r>
                          <m:sSub>
                            <m:e>
                              <m:r>
                                <m:t>x</m:t>
                              </m:r>
                            </m:e>
                            <m:sub>
                              <m:r>
                                <m:t>1</m:t>
                              </m:r>
                            </m:sub>
                          </m:sSub>
                          <m:r>
                            <m:rPr>
                              <m:sty m:val="p"/>
                            </m:rPr>
                            <m:t>∨</m:t>
                          </m:r>
                          <m:r>
                            <m:rPr>
                              <m:sty m:val="p"/>
                            </m:rPr>
                            <m:t>¬</m:t>
                          </m:r>
                          <m:sSub>
                            <m:e>
                              <m:r>
                                <m:t>x</m:t>
                              </m:r>
                            </m:e>
                            <m:sub>
                              <m:r>
                                <m:t>2</m:t>
                              </m:r>
                            </m:sub>
                          </m:sSub>
                          <m:r>
                            <m:rPr>
                              <m:sty m:val="p"/>
                            </m:rPr>
                            <m:t>∨</m:t>
                          </m:r>
                          <m:sSub>
                            <m:e>
                              <m:r>
                                <m:t>x</m:t>
                              </m:r>
                            </m:e>
                            <m:sub>
                              <m:r>
                                <m:t>3</m:t>
                              </m:r>
                            </m:sub>
                          </m:sSub>
                          <m:r>
                            <m:rPr>
                              <m:sty m:val="p"/>
                            </m:rPr>
                            <m:t>)</m:t>
                          </m:r>
                          <m:r>
                            <m:rPr>
                              <m:sty m:val="p"/>
                            </m:rPr>
                            <m:t>∧</m:t>
                          </m:r>
                          <m:r>
                            <m:rPr>
                              <m:sty m:val="p"/>
                            </m:rPr>
                            <m:t>(</m:t>
                          </m:r>
                          <m:r>
                            <m:rPr>
                              <m:sty m:val="p"/>
                            </m:rPr>
                            <m:t>¬</m:t>
                          </m:r>
                          <m:sSub>
                            <m:e>
                              <m:r>
                                <m:t>x</m:t>
                              </m:r>
                            </m:e>
                            <m:sub>
                              <m:r>
                                <m:t>1</m:t>
                              </m:r>
                            </m:sub>
                          </m:sSub>
                          <m:r>
                            <m:rPr>
                              <m:sty m:val="p"/>
                            </m:rPr>
                            <m:t>∨</m:t>
                          </m:r>
                          <m:sSub>
                            <m:e>
                              <m:r>
                                <m:t>x</m:t>
                              </m:r>
                            </m:e>
                            <m:sub>
                              <m:r>
                                <m:t>2</m:t>
                              </m:r>
                            </m:sub>
                          </m:sSub>
                          <m:r>
                            <m:rPr>
                              <m:sty m:val="p"/>
                            </m:rPr>
                            <m:t>∨</m:t>
                          </m:r>
                          <m:sSub>
                            <m:e>
                              <m:r>
                                <m:t>x</m:t>
                              </m:r>
                            </m:e>
                            <m:sub>
                              <m:r>
                                <m:t>3</m:t>
                              </m:r>
                            </m:sub>
                          </m:sSub>
                          <m:r>
                            <m:rPr>
                              <m:sty m:val="p"/>
                            </m:rPr>
                            <m:t>)</m:t>
                          </m:r>
                        </m:e>
                        <m:e>
                          <m:r>
                            <m:t>&amp;</m:t>
                          </m:r>
                          <m:r>
                            <m:rPr>
                              <m:sty m:val="p"/>
                            </m:rPr>
                            <m:t>∧</m:t>
                          </m:r>
                          <m:r>
                            <m:rPr>
                              <m:sty m:val="p"/>
                            </m:rPr>
                            <m:t>(</m:t>
                          </m:r>
                          <m:sSub>
                            <m:e>
                              <m:r>
                                <m:t>x</m:t>
                              </m:r>
                            </m:e>
                            <m:sub>
                              <m:r>
                                <m:t>1</m:t>
                              </m:r>
                            </m:sub>
                          </m:sSub>
                          <m:r>
                            <m:rPr>
                              <m:sty m:val="p"/>
                            </m:rPr>
                            <m:t>∨</m:t>
                          </m:r>
                          <m:sSub>
                            <m:e>
                              <m:r>
                                <m:t>x</m:t>
                              </m:r>
                            </m:e>
                            <m:sub>
                              <m:r>
                                <m:t>2</m:t>
                              </m:r>
                            </m:sub>
                          </m:sSub>
                          <m:r>
                            <m:rPr>
                              <m:sty m:val="p"/>
                            </m:rPr>
                            <m:t>∨</m:t>
                          </m:r>
                          <m:r>
                            <m:rPr>
                              <m:sty m:val="p"/>
                            </m:rPr>
                            <m:t>¬</m:t>
                          </m:r>
                          <m:sSub>
                            <m:e>
                              <m:r>
                                <m:t>x</m:t>
                              </m:r>
                            </m:e>
                            <m:sub>
                              <m:r>
                                <m:t>3</m:t>
                              </m:r>
                            </m:sub>
                          </m:sSub>
                          <m:r>
                            <m:rPr>
                              <m:sty m:val="p"/>
                            </m:rPr>
                            <m:t>)</m:t>
                          </m:r>
                          <m:r>
                            <m:rPr>
                              <m:sty m:val="p"/>
                            </m:rPr>
                            <m:t>.</m:t>
                          </m:r>
                        </m:e>
                      </m:eqArr>
                    </m:oMath>
                  </m:oMathPara>
                </a14:m>
              </a:p>
            </p:txBody>
          </p:sp>
        </mc:Choice>
      </mc:AlternateContent>
      <mc:AlternateContent>
        <mc:Choice Requires="a14">
          <p:sp>
            <p:nvSpPr>
              <p:cNvPr id="4" name="Content Placeholder 2"/>
              <p:cNvSpPr>
                <a:spLocks noGrp="1"/>
              </p:cNvSpPr>
              <p:nvPr/>
            </p:nvSpPr>
            <p:spPr>
              <a:xfrm>
                <a:off x="365760" y="2240280"/>
                <a:ext cx="4069080" cy="406908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a:spcAft>
                    <a:spcPts val="650"/>
                  </a:spcAft>
                </a:pPr>
                <a:r>
                  <a:rPr sz="1800">
                    <a:latin typeface="Times New Roman"/>
                  </a:rPr>
                  <a:t>Create one vertex per literal occurrence.</a:t>
                </a:r>
              </a:p>
              <a:p>
                <a:pPr lvl="0">
                  <a:spcAft>
                    <a:spcPts val="650"/>
                  </a:spcAft>
                </a:pPr>
                <a:r>
                  <a:rPr sz="1800">
                    <a:latin typeface="Times New Roman"/>
                  </a:rPr>
                  <a:t>Put vertices in clause groups.</a:t>
                </a:r>
              </a:p>
              <a:p>
                <a:pPr lvl="0">
                  <a:spcAft>
                    <a:spcPts val="650"/>
                  </a:spcAft>
                </a:pPr>
                <a:r>
                  <a:rPr sz="1800">
                    <a:latin typeface="Times New Roman"/>
                  </a:rPr>
                  <a:t>Connect different-clause vertices when their literals are not contradictory.</a:t>
                </a:r>
              </a:p>
              <a:p>
                <a:pPr lvl="0">
                  <a:spcAft>
                    <a:spcPts val="650"/>
                  </a:spcAft>
                </a:pPr>
                <a:r>
                  <a:rPr sz="1800">
                    <a:latin typeface="Times New Roman"/>
                  </a:rPr>
                  <a:t>Ask for </a:t>
                </a:r>
                <a14:m>
                  <m:oMath>
                    <m:r>
                      <m:t>m</m:t>
                    </m:r>
                  </m:oMath>
                </a14:m>
                <a:r>
                  <a:rPr sz="1800">
                    <a:latin typeface="Times New Roman"/>
                  </a:rPr>
                  <a:t> pairwise adjacent vertices: an </a:t>
                </a:r>
                <a14:m>
                  <m:oMath>
                    <m:r>
                      <m:t>m</m:t>
                    </m:r>
                  </m:oMath>
                </a14:m>
                <a:r>
                  <a:rPr sz="1800">
                    <a:latin typeface="Times New Roman"/>
                  </a:rPr>
                  <a:t>-clique.</a:t>
                </a:r>
              </a:p>
            </p:txBody>
          </p:sp>
        </mc:Choice>
      </mc:AlternateContent>
      <p:pic>
        <p:nvPicPr>
          <p:cNvPr descr="editable_assets/diagram-16-2.png" id="5" name="Picture 1"/>
          <p:cNvPicPr>
            <a:picLocks noGrp="1" noChangeAspect="1"/>
          </p:cNvPicPr>
          <p:nvPr/>
        </p:nvPicPr>
        <p:blipFill>
          <a:blip r:embed="rId3"/>
          <a:srcRect l="1566" t="48808" r="62565" b="4767"/>
          <a:stretch>
            <a:fillRect/>
          </a:stretch>
        </p:blipFill>
        <p:spPr bwMode="auto">
          <a:xfrm>
            <a:off x="5491962" y="2148840"/>
            <a:ext cx="2503476" cy="2331720"/>
          </a:xfrm>
          <a:prstGeom prst="rect">
            <a:avLst/>
          </a:prstGeom>
          <a:noFill/>
          <a:ln w="9525">
            <a:noFill/>
            <a:headEnd/>
            <a:tailEnd/>
          </a:ln>
        </p:spPr>
      </p:pic>
    </p:spTree>
  </p:cSld>
</p:sld>
</file>

<file path=ppt/slides/slide39.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A Second Reduction Pattern: 3-SAT reduces to CLIQUE</a:t>
            </a:r>
          </a:p>
        </p:txBody>
      </p:sp>
      <mc:AlternateContent>
        <mc:Choice Requires="a14">
          <p:sp>
            <p:nvSpPr>
              <p:cNvPr id="3" name="Content Placeholder 2"/>
              <p:cNvSpPr>
                <a:spLocks noGrp="1"/>
              </p:cNvSpPr>
              <p:nvPr/>
            </p:nvSpPr>
            <p:spPr>
              <a:xfrm>
                <a:off x="457200" y="960120"/>
                <a:ext cx="8229600" cy="1051560"/>
              </a:xfrm>
            </p:spPr>
            <p:txBody>
              <a:bodyPr lIns="0" rIns="0" tIns="0" bIns="0" anchor="t" wrap="square">
                <a:noAutofit/>
              </a:bodyPr>
              <a:lstStyle>
                <a:lvl1pPr>
                  <a:defRPr sz="1900">
                    <a:latin typeface="Times New Roman"/>
                  </a:defRPr>
                </a:lvl1pPr>
                <a:lvl2pPr>
                  <a:defRPr sz="1900">
                    <a:latin typeface="Times New Roman"/>
                  </a:defRPr>
                </a:lvl2pPr>
                <a:lvl3pPr>
                  <a:defRPr sz="1900">
                    <a:latin typeface="Times New Roman"/>
                  </a:defRPr>
                </a:lvl3pPr>
                <a:lvl4pPr>
                  <a:defRPr sz="1900">
                    <a:latin typeface="Times New Roman"/>
                  </a:defRPr>
                </a:lvl4pPr>
                <a:lvl5pPr>
                  <a:defRPr sz="1900">
                    <a:latin typeface="Times New Roman"/>
                  </a:defRPr>
                </a:lvl5pPr>
                <a:lvl6pPr>
                  <a:defRPr sz="1900">
                    <a:latin typeface="Times New Roman"/>
                  </a:defRPr>
                </a:lvl6pPr>
                <a:lvl7pPr>
                  <a:defRPr sz="1900">
                    <a:latin typeface="Times New Roman"/>
                  </a:defRPr>
                </a:lvl7pPr>
                <a:lvl8pPr>
                  <a:defRPr sz="1900">
                    <a:latin typeface="Times New Roman"/>
                  </a:defRPr>
                </a:lvl8pPr>
                <a:lvl9pPr>
                  <a:defRPr sz="1900">
                    <a:latin typeface="Times New Roman"/>
                  </a:defRPr>
                </a:lvl9pPr>
              </a:lstStyle>
              <a:p>
                <a:pPr lvl="0" indent="0" marL="0">
                  <a:spcAft>
                    <a:spcPts val="650"/>
                  </a:spcAft>
                  <a:buNone/>
                </a:pPr>
                <a14:m>
                  <m:oMathPara>
                    <m:oMathParaPr>
                      <m:jc m:val="center"/>
                    </m:oMathParaPr>
                    <m:oMath>
                      <m:eqArr>
                        <m:e>
                          <m:sSup>
                            <m:e>
                              <m:r>
                                <m:t>ϕ</m:t>
                              </m:r>
                            </m:e>
                            <m:sup>
                              <m:r>
                                <m:rPr>
                                  <m:sty m:val="p"/>
                                </m:rPr>
                                <m:t>′</m:t>
                              </m:r>
                            </m:sup>
                          </m:sSup>
                          <m:r>
                            <m:rPr>
                              <m:sty m:val="p"/>
                            </m:rPr>
                            <m:t>=</m:t>
                          </m:r>
                          <m:r>
                            <m:t>​</m:t>
                          </m:r>
                          <m:r>
                            <m:t>&amp;</m:t>
                          </m:r>
                          <m:r>
                            <m:rPr>
                              <m:sty m:val="p"/>
                            </m:rPr>
                            <m:t>(</m:t>
                          </m:r>
                          <m:sSub>
                            <m:e>
                              <m:r>
                                <m:t>x</m:t>
                              </m:r>
                            </m:e>
                            <m:sub>
                              <m:r>
                                <m:t>1</m:t>
                              </m:r>
                            </m:sub>
                          </m:sSub>
                          <m:r>
                            <m:rPr>
                              <m:sty m:val="p"/>
                            </m:rPr>
                            <m:t>∨</m:t>
                          </m:r>
                          <m:r>
                            <m:rPr>
                              <m:sty m:val="p"/>
                            </m:rPr>
                            <m:t>¬</m:t>
                          </m:r>
                          <m:sSub>
                            <m:e>
                              <m:r>
                                <m:t>x</m:t>
                              </m:r>
                            </m:e>
                            <m:sub>
                              <m:r>
                                <m:t>2</m:t>
                              </m:r>
                            </m:sub>
                          </m:sSub>
                          <m:r>
                            <m:rPr>
                              <m:sty m:val="p"/>
                            </m:rPr>
                            <m:t>∨</m:t>
                          </m:r>
                          <m:sSub>
                            <m:e>
                              <m:r>
                                <m:t>x</m:t>
                              </m:r>
                            </m:e>
                            <m:sub>
                              <m:r>
                                <m:t>3</m:t>
                              </m:r>
                            </m:sub>
                          </m:sSub>
                          <m:r>
                            <m:rPr>
                              <m:sty m:val="p"/>
                            </m:rPr>
                            <m:t>)</m:t>
                          </m:r>
                          <m:r>
                            <m:rPr>
                              <m:sty m:val="p"/>
                            </m:rPr>
                            <m:t>∧</m:t>
                          </m:r>
                          <m:r>
                            <m:rPr>
                              <m:sty m:val="p"/>
                            </m:rPr>
                            <m:t>(</m:t>
                          </m:r>
                          <m:r>
                            <m:rPr>
                              <m:sty m:val="p"/>
                            </m:rPr>
                            <m:t>¬</m:t>
                          </m:r>
                          <m:sSub>
                            <m:e>
                              <m:r>
                                <m:t>x</m:t>
                              </m:r>
                            </m:e>
                            <m:sub>
                              <m:r>
                                <m:t>1</m:t>
                              </m:r>
                            </m:sub>
                          </m:sSub>
                          <m:r>
                            <m:rPr>
                              <m:sty m:val="p"/>
                            </m:rPr>
                            <m:t>∨</m:t>
                          </m:r>
                          <m:sSub>
                            <m:e>
                              <m:r>
                                <m:t>x</m:t>
                              </m:r>
                            </m:e>
                            <m:sub>
                              <m:r>
                                <m:t>2</m:t>
                              </m:r>
                            </m:sub>
                          </m:sSub>
                          <m:r>
                            <m:rPr>
                              <m:sty m:val="p"/>
                            </m:rPr>
                            <m:t>∨</m:t>
                          </m:r>
                          <m:sSub>
                            <m:e>
                              <m:r>
                                <m:t>x</m:t>
                              </m:r>
                            </m:e>
                            <m:sub>
                              <m:r>
                                <m:t>3</m:t>
                              </m:r>
                            </m:sub>
                          </m:sSub>
                          <m:r>
                            <m:rPr>
                              <m:sty m:val="p"/>
                            </m:rPr>
                            <m:t>)</m:t>
                          </m:r>
                        </m:e>
                        <m:e>
                          <m:r>
                            <m:t>&amp;</m:t>
                          </m:r>
                          <m:r>
                            <m:rPr>
                              <m:sty m:val="p"/>
                            </m:rPr>
                            <m:t>∧</m:t>
                          </m:r>
                          <m:r>
                            <m:rPr>
                              <m:sty m:val="p"/>
                            </m:rPr>
                            <m:t>(</m:t>
                          </m:r>
                          <m:sSub>
                            <m:e>
                              <m:r>
                                <m:t>x</m:t>
                              </m:r>
                            </m:e>
                            <m:sub>
                              <m:r>
                                <m:t>1</m:t>
                              </m:r>
                            </m:sub>
                          </m:sSub>
                          <m:r>
                            <m:rPr>
                              <m:sty m:val="p"/>
                            </m:rPr>
                            <m:t>∨</m:t>
                          </m:r>
                          <m:sSub>
                            <m:e>
                              <m:r>
                                <m:t>x</m:t>
                              </m:r>
                            </m:e>
                            <m:sub>
                              <m:r>
                                <m:t>2</m:t>
                              </m:r>
                            </m:sub>
                          </m:sSub>
                          <m:r>
                            <m:rPr>
                              <m:sty m:val="p"/>
                            </m:rPr>
                            <m:t>∨</m:t>
                          </m:r>
                          <m:r>
                            <m:rPr>
                              <m:sty m:val="p"/>
                            </m:rPr>
                            <m:t>¬</m:t>
                          </m:r>
                          <m:sSub>
                            <m:e>
                              <m:r>
                                <m:t>x</m:t>
                              </m:r>
                            </m:e>
                            <m:sub>
                              <m:r>
                                <m:t>3</m:t>
                              </m:r>
                            </m:sub>
                          </m:sSub>
                          <m:r>
                            <m:rPr>
                              <m:sty m:val="p"/>
                            </m:rPr>
                            <m:t>)</m:t>
                          </m:r>
                          <m:r>
                            <m:rPr>
                              <m:sty m:val="p"/>
                            </m:rPr>
                            <m:t>.</m:t>
                          </m:r>
                        </m:e>
                      </m:eqArr>
                    </m:oMath>
                  </m:oMathPara>
                </a14:m>
              </a:p>
            </p:txBody>
          </p:sp>
        </mc:Choice>
      </mc:AlternateContent>
      <mc:AlternateContent>
        <mc:Choice Requires="a14">
          <p:sp>
            <p:nvSpPr>
              <p:cNvPr id="4" name="Content Placeholder 2"/>
              <p:cNvSpPr>
                <a:spLocks noGrp="1"/>
              </p:cNvSpPr>
              <p:nvPr/>
            </p:nvSpPr>
            <p:spPr>
              <a:xfrm>
                <a:off x="365760" y="2240280"/>
                <a:ext cx="4069080" cy="4069080"/>
              </a:xfrm>
            </p:spPr>
            <p:txBody>
              <a:bodyPr lIns="0" rIns="0" tIns="0" bIns="0" anchor="t" wrap="square">
                <a:noAutofit/>
              </a:bodyPr>
              <a:lstStyle>
                <a:lvl1pPr>
                  <a:defRPr sz="1800">
                    <a:latin typeface="Times New Roman"/>
                  </a:defRPr>
                </a:lvl1pPr>
                <a:lvl2pPr>
                  <a:defRPr sz="1800">
                    <a:latin typeface="Times New Roman"/>
                  </a:defRPr>
                </a:lvl2pPr>
                <a:lvl3pPr>
                  <a:defRPr sz="1800">
                    <a:latin typeface="Times New Roman"/>
                  </a:defRPr>
                </a:lvl3pPr>
                <a:lvl4pPr>
                  <a:defRPr sz="1800">
                    <a:latin typeface="Times New Roman"/>
                  </a:defRPr>
                </a:lvl4pPr>
                <a:lvl5pPr>
                  <a:defRPr sz="1800">
                    <a:latin typeface="Times New Roman"/>
                  </a:defRPr>
                </a:lvl5pPr>
                <a:lvl6pPr>
                  <a:defRPr sz="1800">
                    <a:latin typeface="Times New Roman"/>
                  </a:defRPr>
                </a:lvl6pPr>
                <a:lvl7pPr>
                  <a:defRPr sz="1800">
                    <a:latin typeface="Times New Roman"/>
                  </a:defRPr>
                </a:lvl7pPr>
                <a:lvl8pPr>
                  <a:defRPr sz="1800">
                    <a:latin typeface="Times New Roman"/>
                  </a:defRPr>
                </a:lvl8pPr>
                <a:lvl9pPr>
                  <a:defRPr sz="1800">
                    <a:latin typeface="Times New Roman"/>
                  </a:defRPr>
                </a:lvl9pPr>
              </a:lstStyle>
              <a:p>
                <a:pPr lvl="0">
                  <a:spcAft>
                    <a:spcPts val="650"/>
                  </a:spcAft>
                </a:pPr>
                <a:r>
                  <a:rPr sz="1800">
                    <a:latin typeface="Times New Roman"/>
                  </a:rPr>
                  <a:t>Create one vertex per literal occurrence.</a:t>
                </a:r>
              </a:p>
              <a:p>
                <a:pPr lvl="0">
                  <a:spcAft>
                    <a:spcPts val="650"/>
                  </a:spcAft>
                </a:pPr>
                <a:r>
                  <a:rPr sz="1800">
                    <a:latin typeface="Times New Roman"/>
                  </a:rPr>
                  <a:t>Put vertices in clause groups.</a:t>
                </a:r>
              </a:p>
              <a:p>
                <a:pPr lvl="0">
                  <a:spcAft>
                    <a:spcPts val="650"/>
                  </a:spcAft>
                </a:pPr>
                <a:r>
                  <a:rPr sz="1800">
                    <a:latin typeface="Times New Roman"/>
                  </a:rPr>
                  <a:t>Connect different-clause vertices when their literals are not contradictory.</a:t>
                </a:r>
              </a:p>
              <a:p>
                <a:pPr lvl="0">
                  <a:spcAft>
                    <a:spcPts val="650"/>
                  </a:spcAft>
                </a:pPr>
                <a:r>
                  <a:rPr sz="1800">
                    <a:latin typeface="Times New Roman"/>
                  </a:rPr>
                  <a:t>Ask for </a:t>
                </a:r>
                <a14:m>
                  <m:oMath>
                    <m:r>
                      <m:t>m</m:t>
                    </m:r>
                  </m:oMath>
                </a14:m>
                <a:r>
                  <a:rPr sz="1800">
                    <a:latin typeface="Times New Roman"/>
                  </a:rPr>
                  <a:t> pairwise adjacent vertices: an </a:t>
                </a:r>
                <a14:m>
                  <m:oMath>
                    <m:r>
                      <m:t>m</m:t>
                    </m:r>
                  </m:oMath>
                </a14:m>
                <a:r>
                  <a:rPr sz="1800">
                    <a:latin typeface="Times New Roman"/>
                  </a:rPr>
                  <a:t>-clique.</a:t>
                </a:r>
              </a:p>
              <a:p>
                <a:pPr lvl="0" indent="0" marL="0">
                  <a:spcAft>
                    <a:spcPts val="650"/>
                  </a:spcAft>
                  <a:buNone/>
                </a:pPr>
                <a:r>
                  <a:rPr sz="1800">
                    <a:latin typeface="Times New Roman"/>
                  </a:rPr>
                  <a:t>One pairwise noncontradictory literal occurrence from each clause forms a clique.</a:t>
                </a:r>
              </a:p>
            </p:txBody>
          </p:sp>
        </mc:Choice>
      </mc:AlternateContent>
      <p:pic>
        <p:nvPicPr>
          <p:cNvPr descr="editable_assets/diagram-16-3.png" id="5" name="Picture 1"/>
          <p:cNvPicPr>
            <a:picLocks noGrp="1" noChangeAspect="1"/>
          </p:cNvPicPr>
          <p:nvPr/>
        </p:nvPicPr>
        <p:blipFill>
          <a:blip r:embed="rId3"/>
          <a:srcRect l="1566" t="48808" r="62565" b="4767"/>
          <a:stretch>
            <a:fillRect/>
          </a:stretch>
        </p:blipFill>
        <p:spPr bwMode="auto">
          <a:xfrm>
            <a:off x="5491962" y="2148840"/>
            <a:ext cx="2503476" cy="2331720"/>
          </a:xfrm>
          <a:prstGeom prst="rect">
            <a:avLst/>
          </a:prstGeom>
          <a:noFill/>
          <a:ln w="9525">
            <a:noFill/>
            <a:headEnd/>
            <a:tailEnd/>
          </a:ln>
        </p:spPr>
      </p:pic>
      <mc:AlternateContent>
        <mc:Choice Requires="a14">
          <p:sp>
            <p:nvSpPr>
              <p:cNvPr id="6" name="Content Placeholder 2"/>
              <p:cNvSpPr>
                <a:spLocks noGrp="1"/>
              </p:cNvSpPr>
              <p:nvPr/>
            </p:nvSpPr>
            <p:spPr>
              <a:xfrm>
                <a:off x="4709160" y="4800600"/>
                <a:ext cx="4069080" cy="1508760"/>
              </a:xfrm>
            </p:spPr>
            <p:txBody>
              <a:bodyPr lIns="0" rIns="0" tIns="0" bIns="0" anchor="t" wrap="square">
                <a:noAutofit/>
              </a:bodyPr>
              <a:lstStyle>
                <a:lvl1pPr>
                  <a:defRPr sz="1600">
                    <a:latin typeface="Times New Roman"/>
                  </a:defRPr>
                </a:lvl1pPr>
                <a:lvl2pPr>
                  <a:defRPr sz="1600">
                    <a:latin typeface="Times New Roman"/>
                  </a:defRPr>
                </a:lvl2pPr>
                <a:lvl3pPr>
                  <a:defRPr sz="1600">
                    <a:latin typeface="Times New Roman"/>
                  </a:defRPr>
                </a:lvl3pPr>
                <a:lvl4pPr>
                  <a:defRPr sz="1600">
                    <a:latin typeface="Times New Roman"/>
                  </a:defRPr>
                </a:lvl4pPr>
                <a:lvl5pPr>
                  <a:defRPr sz="1600">
                    <a:latin typeface="Times New Roman"/>
                  </a:defRPr>
                </a:lvl5pPr>
                <a:lvl6pPr>
                  <a:defRPr sz="1600">
                    <a:latin typeface="Times New Roman"/>
                  </a:defRPr>
                </a:lvl6pPr>
                <a:lvl7pPr>
                  <a:defRPr sz="1600">
                    <a:latin typeface="Times New Roman"/>
                  </a:defRPr>
                </a:lvl7pPr>
                <a:lvl8pPr>
                  <a:defRPr sz="1600">
                    <a:latin typeface="Times New Roman"/>
                  </a:defRPr>
                </a:lvl8pPr>
                <a:lvl9pPr>
                  <a:defRPr sz="1600">
                    <a:latin typeface="Times New Roman"/>
                  </a:defRPr>
                </a:lvl9pPr>
              </a:lstStyle>
              <a:p>
                <a:pPr lvl="0" indent="0" marL="0">
                  <a:spcAft>
                    <a:spcPts val="400"/>
                  </a:spcAft>
                  <a:buNone/>
                </a:pPr>
                <a:r>
                  <a:rPr sz="1600">
                    <a:latin typeface="Times New Roman"/>
                  </a:rPr>
                  <a:t>Conversely, an </a:t>
                </a:r>
                <a14:m>
                  <m:oMath>
                    <m:r>
                      <m:t>m</m:t>
                    </m:r>
                  </m:oMath>
                </a14:m>
                <a:r>
                  <a:rPr sz="1600">
                    <a:latin typeface="Times New Roman"/>
                  </a:rPr>
                  <a:t>-clique chooses one occurrence per clause with no complementary pair. Set them true.</a:t>
                </a:r>
              </a:p>
              <a:p>
                <a:pPr lvl="0" indent="0" marL="0">
                  <a:spcAft>
                    <a:spcPts val="400"/>
                  </a:spcAft>
                  <a:buNone/>
                </a:pPr>
                <a:r>
                  <a:rPr sz="1600">
                    <a:latin typeface="Times New Roman"/>
                  </a:rPr>
                  <a:t>Construction: </a:t>
                </a:r>
                <a14:m>
                  <m:oMath>
                    <m:r>
                      <m:t>3</m:t>
                    </m:r>
                    <m:r>
                      <m:t>m</m:t>
                    </m:r>
                  </m:oMath>
                </a14:m>
                <a:r>
                  <a:rPr sz="1600">
                    <a:latin typeface="Times New Roman"/>
                  </a:rPr>
                  <a:t> vertices and </a:t>
                </a:r>
                <a14:m>
                  <m:oMath>
                    <m:r>
                      <m:t>O</m:t>
                    </m:r>
                    <m:r>
                      <m:rPr>
                        <m:sty m:val="p"/>
                      </m:rPr>
                      <m:t>(</m:t>
                    </m:r>
                    <m:sSup>
                      <m:e>
                        <m:r>
                          <m:t>m</m:t>
                        </m:r>
                      </m:e>
                      <m:sup>
                        <m:r>
                          <m:t>2</m:t>
                        </m:r>
                      </m:sup>
                    </m:sSup>
                    <m:r>
                      <m:rPr>
                        <m:sty m:val="p"/>
                      </m:rPr>
                      <m:t>)</m:t>
                    </m:r>
                  </m:oMath>
                </a14:m>
                <a:r>
                  <a:rPr sz="1600">
                    <a:latin typeface="Times New Roman"/>
                  </a:rPr>
                  <a:t> edges.</a:t>
                </a:r>
              </a:p>
            </p:txBody>
          </p:sp>
        </mc:Choice>
      </mc:AlternateContent>
    </p:spTree>
  </p:cSld>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Takeaway</a:t>
            </a:r>
          </a:p>
        </p:txBody>
      </p:sp>
      <p:pic>
        <p:nvPicPr>
          <p:cNvPr descr="editable_assets/diagram-17-1.png" id="3" name="Picture 1"/>
          <p:cNvPicPr>
            <a:picLocks noGrp="1" noChangeAspect="1"/>
          </p:cNvPicPr>
          <p:nvPr/>
        </p:nvPicPr>
        <p:blipFill>
          <a:blip r:embed="rId3"/>
          <a:srcRect l="2218" t="64202" r="9512" b="5399"/>
          <a:stretch>
            <a:fillRect/>
          </a:stretch>
        </p:blipFill>
        <p:spPr bwMode="auto">
          <a:xfrm>
            <a:off x="548640" y="1521294"/>
            <a:ext cx="8046720" cy="1163652"/>
          </a:xfrm>
          <a:prstGeom prst="rect">
            <a:avLst/>
          </a:prstGeom>
          <a:noFill/>
          <a:ln w="9525">
            <a:noFill/>
            <a:headEnd/>
            <a:tailEnd/>
          </a:ln>
        </p:spPr>
      </p:pic>
    </p:spTree>
  </p:cSld>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Takeaway</a:t>
            </a:r>
          </a:p>
        </p:txBody>
      </p:sp>
      <p:pic>
        <p:nvPicPr>
          <p:cNvPr descr="editable_assets/diagram-17-2.png" id="3" name="Picture 1"/>
          <p:cNvPicPr>
            <a:picLocks noGrp="1" noChangeAspect="1"/>
          </p:cNvPicPr>
          <p:nvPr/>
        </p:nvPicPr>
        <p:blipFill>
          <a:blip r:embed="rId3"/>
          <a:srcRect l="2218" t="64202" r="9512" b="5399"/>
          <a:stretch>
            <a:fillRect/>
          </a:stretch>
        </p:blipFill>
        <p:spPr bwMode="auto">
          <a:xfrm>
            <a:off x="548640" y="1521294"/>
            <a:ext cx="8046720" cy="1163652"/>
          </a:xfrm>
          <a:prstGeom prst="rect">
            <a:avLst/>
          </a:prstGeom>
          <a:noFill/>
          <a:ln w="9525">
            <a:noFill/>
            <a:headEnd/>
            <a:tailEnd/>
          </a:ln>
        </p:spPr>
      </p:pic>
    </p:spTree>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Takeaway</a:t>
            </a:r>
          </a:p>
        </p:txBody>
      </p:sp>
      <p:pic>
        <p:nvPicPr>
          <p:cNvPr descr="editable_assets/diagram-17-3.png" id="3" name="Picture 1"/>
          <p:cNvPicPr>
            <a:picLocks noGrp="1" noChangeAspect="1"/>
          </p:cNvPicPr>
          <p:nvPr/>
        </p:nvPicPr>
        <p:blipFill>
          <a:blip r:embed="rId3"/>
          <a:srcRect l="2218" t="64202" r="9512" b="5399"/>
          <a:stretch>
            <a:fillRect/>
          </a:stretch>
        </p:blipFill>
        <p:spPr bwMode="auto">
          <a:xfrm>
            <a:off x="548640" y="1521294"/>
            <a:ext cx="8046720" cy="1163652"/>
          </a:xfrm>
          <a:prstGeom prst="rect">
            <a:avLst/>
          </a:prstGeom>
          <a:noFill/>
          <a:ln w="9525">
            <a:noFill/>
            <a:headEnd/>
            <a:tailEnd/>
          </a:ln>
        </p:spPr>
      </p:pic>
    </p:spTree>
  </p:cSld>
</p:sld>
</file>

<file path=ppt/slides/slide43.xml><?xml version="1.0" encoding="utf-8"?>
<p:sld xmlns:a="http://schemas.openxmlformats.org/drawingml/2006/main" xmlns:a14="http://schemas.microsoft.com/office/drawing/2010/main" xmlns:m="http://schemas.openxmlformats.org/officeDocument/2006/math" xmlns:mc="http://schemas.openxmlformats.org/markup-compatibility/2006"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Takeaway</a:t>
            </a:r>
          </a:p>
        </p:txBody>
      </p:sp>
      <p:pic>
        <p:nvPicPr>
          <p:cNvPr descr="editable_assets/diagram-17-3.png" id="3" name="Picture 1"/>
          <p:cNvPicPr>
            <a:picLocks noGrp="1" noChangeAspect="1"/>
          </p:cNvPicPr>
          <p:nvPr/>
        </p:nvPicPr>
        <p:blipFill>
          <a:blip r:embed="rId3"/>
          <a:srcRect l="2218" t="64202" r="9512" b="5399"/>
          <a:stretch>
            <a:fillRect/>
          </a:stretch>
        </p:blipFill>
        <p:spPr bwMode="auto">
          <a:xfrm>
            <a:off x="548640" y="1521294"/>
            <a:ext cx="8046720" cy="1163652"/>
          </a:xfrm>
          <a:prstGeom prst="rect">
            <a:avLst/>
          </a:prstGeom>
          <a:noFill/>
          <a:ln w="9525">
            <a:noFill/>
            <a:headEnd/>
            <a:tailEnd/>
          </a:ln>
        </p:spPr>
      </p:pic>
      <mc:AlternateContent>
        <mc:Choice Requires="a14">
          <p:sp>
            <p:nvSpPr>
              <p:cNvPr id="4" name="Content Placeholder 2"/>
              <p:cNvSpPr>
                <a:spLocks noGrp="1"/>
              </p:cNvSpPr>
              <p:nvPr/>
            </p:nvSpPr>
            <p:spPr>
              <a:xfrm>
                <a:off x="548640" y="3337560"/>
                <a:ext cx="8046720" cy="2926080"/>
              </a:xfrm>
            </p:spPr>
            <p:txBody>
              <a:bodyPr lIns="0" rIns="0" tIns="0" bIns="0" anchor="t" wrap="square">
                <a:noAutofit/>
              </a:bodyPr>
              <a:lstStyle>
                <a:lvl1pPr>
                  <a:defRPr sz="2100">
                    <a:latin typeface="Times New Roman"/>
                  </a:defRPr>
                </a:lvl1pPr>
                <a:lvl2pPr>
                  <a:defRPr sz="2100">
                    <a:latin typeface="Times New Roman"/>
                  </a:defRPr>
                </a:lvl2pPr>
                <a:lvl3pPr>
                  <a:defRPr sz="2100">
                    <a:latin typeface="Times New Roman"/>
                  </a:defRPr>
                </a:lvl3pPr>
                <a:lvl4pPr>
                  <a:defRPr sz="2100">
                    <a:latin typeface="Times New Roman"/>
                  </a:defRPr>
                </a:lvl4pPr>
                <a:lvl5pPr>
                  <a:defRPr sz="2100">
                    <a:latin typeface="Times New Roman"/>
                  </a:defRPr>
                </a:lvl5pPr>
                <a:lvl6pPr>
                  <a:defRPr sz="2100">
                    <a:latin typeface="Times New Roman"/>
                  </a:defRPr>
                </a:lvl6pPr>
                <a:lvl7pPr>
                  <a:defRPr sz="2100">
                    <a:latin typeface="Times New Roman"/>
                  </a:defRPr>
                </a:lvl7pPr>
                <a:lvl8pPr>
                  <a:defRPr sz="2100">
                    <a:latin typeface="Times New Roman"/>
                  </a:defRPr>
                </a:lvl8pPr>
                <a:lvl9pPr>
                  <a:defRPr sz="2100">
                    <a:latin typeface="Times New Roman"/>
                  </a:defRPr>
                </a:lvl9pPr>
              </a:lstStyle>
              <a:p>
                <a:pPr lvl="0" indent="0" marL="0">
                  <a:spcAft>
                    <a:spcPts val="650"/>
                  </a:spcAft>
                  <a:buNone/>
                </a:pPr>
                <a:r>
                  <a:rPr b="1" sz="2100">
                    <a:latin typeface="Times New Roman"/>
                  </a:rPr>
                  <a:t>One reusable sentence</a:t>
                </a:r>
              </a:p>
              <a:p>
                <a:pPr lvl="0" indent="0" marL="0">
                  <a:spcAft>
                    <a:spcPts val="650"/>
                  </a:spcAft>
                  <a:buNone/>
                </a:pPr>
                <a:r>
                  <a:rPr sz="2100">
                    <a:latin typeface="Times New Roman"/>
                  </a:rPr>
                  <a:t>To prove a target </a:t>
                </a:r>
                <a14:m>
                  <m:oMath>
                    <m:r>
                      <m:t>B</m:t>
                    </m:r>
                  </m:oMath>
                </a14:m>
                <a:r>
                  <a:rPr sz="2100">
                    <a:latin typeface="Times New Roman"/>
                  </a:rPr>
                  <a:t> NP-complete, show </a:t>
                </a:r>
                <a14:m>
                  <m:oMath>
                    <m:r>
                      <m:t>B</m:t>
                    </m:r>
                    <m:r>
                      <m:rPr>
                        <m:sty m:val="p"/>
                      </m:rPr>
                      <m:t>∈</m:t>
                    </m:r>
                    <m:r>
                      <m:t>N</m:t>
                    </m:r>
                    <m:r>
                      <m:t>P</m:t>
                    </m:r>
                  </m:oMath>
                </a14:m>
                <a:r>
                  <a:rPr sz="2100">
                    <a:latin typeface="Times New Roman"/>
                  </a:rPr>
                  <a:t> and reduce a known NP-complete problem </a:t>
                </a:r>
                <a14:m>
                  <m:oMath>
                    <m:r>
                      <m:t>A</m:t>
                    </m:r>
                  </m:oMath>
                </a14:m>
                <a:r>
                  <a:rPr sz="2100">
                    <a:latin typeface="Times New Roman"/>
                  </a:rPr>
                  <a:t> to </a:t>
                </a:r>
                <a14:m>
                  <m:oMath>
                    <m:r>
                      <m:t>B</m:t>
                    </m:r>
                  </m:oMath>
                </a14:m>
                <a:r>
                  <a:rPr sz="2100">
                    <a:latin typeface="Times New Roman"/>
                  </a:rPr>
                  <a:t> in polynomial time while preserving YES/NO answers.</a:t>
                </a:r>
              </a:p>
              <a:p>
                <a:pPr lvl="0" indent="0" marL="0">
                  <a:spcAft>
                    <a:spcPts val="650"/>
                  </a:spcAft>
                  <a:buNone/>
                </a:pPr>
                <a:r>
                  <a:rPr b="1" sz="2100">
                    <a:latin typeface="Times New Roman"/>
                  </a:rPr>
                  <a:t>Questions?</a:t>
                </a:r>
              </a:p>
              <a:p>
                <a:pPr lvl="0" indent="0" marL="0">
                  <a:spcAft>
                    <a:spcPts val="650"/>
                  </a:spcAft>
                  <a:buNone/>
                </a:pPr>
                <a:r>
                  <a:rPr sz="2100">
                    <a:latin typeface="Times New Roman"/>
                  </a:rPr>
                  <a:t>Core references: Sipser; Cormen–Leiserson–Rivest–Stein; Princeton COS 423 reduction notes.</a:t>
                </a:r>
              </a:p>
            </p:txBody>
          </p:sp>
        </mc:Choice>
      </mc:AlternateContent>
    </p:spTree>
  </p:cSld>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Title 1"/>
          <p:cNvSpPr>
            <a:spLocks noGrp="1"/>
          </p:cNvSpPr>
          <p:nvPr/>
        </p:nvSpPr>
        <p:spPr>
          <a:xfrm>
            <a:off x="228600" y="128016"/>
            <a:ext cx="8686800" cy="713232"/>
          </a:xfrm>
        </p:spPr>
        <p:txBody>
          <a:bodyPr lIns="0" rIns="0" tIns="0" bIns="0" anchor="t" wrap="square">
            <a:noAutofit/>
          </a:bodyPr>
          <a:lstStyle>
            <a:lvl1pPr>
              <a:defRPr sz="2350" b="1">
                <a:solidFill>
                  <a:srgbClr val="3333B2"/>
                </a:solidFill>
                <a:latin typeface="Times New Roman"/>
              </a:defRPr>
            </a:lvl1pPr>
            <a:lvl2pPr>
              <a:defRPr sz="2350" b="1">
                <a:solidFill>
                  <a:srgbClr val="3333B2"/>
                </a:solidFill>
                <a:latin typeface="Times New Roman"/>
              </a:defRPr>
            </a:lvl2pPr>
            <a:lvl3pPr>
              <a:defRPr sz="2350" b="1">
                <a:solidFill>
                  <a:srgbClr val="3333B2"/>
                </a:solidFill>
                <a:latin typeface="Times New Roman"/>
              </a:defRPr>
            </a:lvl3pPr>
            <a:lvl4pPr>
              <a:defRPr sz="2350" b="1">
                <a:solidFill>
                  <a:srgbClr val="3333B2"/>
                </a:solidFill>
                <a:latin typeface="Times New Roman"/>
              </a:defRPr>
            </a:lvl4pPr>
            <a:lvl5pPr>
              <a:defRPr sz="2350" b="1">
                <a:solidFill>
                  <a:srgbClr val="3333B2"/>
                </a:solidFill>
                <a:latin typeface="Times New Roman"/>
              </a:defRPr>
            </a:lvl5pPr>
            <a:lvl6pPr>
              <a:defRPr sz="2350" b="1">
                <a:solidFill>
                  <a:srgbClr val="3333B2"/>
                </a:solidFill>
                <a:latin typeface="Times New Roman"/>
              </a:defRPr>
            </a:lvl6pPr>
            <a:lvl7pPr>
              <a:defRPr sz="2350" b="1">
                <a:solidFill>
                  <a:srgbClr val="3333B2"/>
                </a:solidFill>
                <a:latin typeface="Times New Roman"/>
              </a:defRPr>
            </a:lvl7pPr>
            <a:lvl8pPr>
              <a:defRPr sz="2350" b="1">
                <a:solidFill>
                  <a:srgbClr val="3333B2"/>
                </a:solidFill>
                <a:latin typeface="Times New Roman"/>
              </a:defRPr>
            </a:lvl8pPr>
            <a:lvl9pPr>
              <a:defRPr sz="2350" b="1">
                <a:solidFill>
                  <a:srgbClr val="3333B2"/>
                </a:solidFill>
                <a:latin typeface="Times New Roman"/>
              </a:defRPr>
            </a:lvl9pPr>
          </a:lstStyle>
          <a:p>
            <a:pPr lvl="0" indent="0" marL="0">
              <a:spcAft>
                <a:spcPts val="650"/>
              </a:spcAft>
              <a:buNone/>
            </a:pPr>
            <a:r>
              <a:rPr sz="2350" b="1">
                <a:solidFill>
                  <a:srgbClr val="3333B2"/>
                </a:solidFill>
                <a:latin typeface="Times New Roman"/>
              </a:rPr>
              <a:t>References</a:t>
            </a:r>
          </a:p>
        </p:txBody>
      </p:sp>
      <p:sp>
        <p:nvSpPr>
          <p:cNvPr id="3" name="Content Placeholder 2"/>
          <p:cNvSpPr>
            <a:spLocks noGrp="1"/>
          </p:cNvSpPr>
          <p:nvPr/>
        </p:nvSpPr>
        <p:spPr>
          <a:xfrm>
            <a:off x="502920" y="1463040"/>
            <a:ext cx="8138160" cy="4480560"/>
          </a:xfrm>
        </p:spPr>
        <p:txBody>
          <a:bodyPr lIns="0" rIns="0" tIns="0" bIns="0" anchor="t" wrap="square">
            <a:noAutofit/>
          </a:bodyPr>
          <a:lstStyle>
            <a:lvl1pPr>
              <a:defRPr sz="2100">
                <a:latin typeface="Times New Roman"/>
              </a:defRPr>
            </a:lvl1pPr>
            <a:lvl2pPr>
              <a:defRPr sz="2100">
                <a:latin typeface="Times New Roman"/>
              </a:defRPr>
            </a:lvl2pPr>
            <a:lvl3pPr>
              <a:defRPr sz="2100">
                <a:latin typeface="Times New Roman"/>
              </a:defRPr>
            </a:lvl3pPr>
            <a:lvl4pPr>
              <a:defRPr sz="2100">
                <a:latin typeface="Times New Roman"/>
              </a:defRPr>
            </a:lvl4pPr>
            <a:lvl5pPr>
              <a:defRPr sz="2100">
                <a:latin typeface="Times New Roman"/>
              </a:defRPr>
            </a:lvl5pPr>
            <a:lvl6pPr>
              <a:defRPr sz="2100">
                <a:latin typeface="Times New Roman"/>
              </a:defRPr>
            </a:lvl6pPr>
            <a:lvl7pPr>
              <a:defRPr sz="2100">
                <a:latin typeface="Times New Roman"/>
              </a:defRPr>
            </a:lvl7pPr>
            <a:lvl8pPr>
              <a:defRPr sz="2100">
                <a:latin typeface="Times New Roman"/>
              </a:defRPr>
            </a:lvl8pPr>
            <a:lvl9pPr>
              <a:defRPr sz="2100">
                <a:latin typeface="Times New Roman"/>
              </a:defRPr>
            </a:lvl9pPr>
          </a:lstStyle>
          <a:p>
            <a:pPr lvl="0" indent="0" marL="0">
              <a:spcAft>
                <a:spcPts val="650"/>
              </a:spcAft>
              <a:buNone/>
            </a:pPr>
            <a:r>
              <a:rPr b="1" sz="2100">
                <a:latin typeface="Times New Roman"/>
              </a:rPr>
              <a:t>Primary references</a:t>
            </a:r>
          </a:p>
          <a:p>
            <a:pPr lvl="0">
              <a:spcAft>
                <a:spcPts val="650"/>
              </a:spcAft>
            </a:pPr>
            <a:r>
              <a:rPr sz="2100">
                <a:latin typeface="Times New Roman"/>
              </a:rPr>
              <a:t>Michael Sipser, </a:t>
            </a:r>
            <a:r>
              <a:rPr i="1" sz="2100">
                <a:latin typeface="Times New Roman"/>
              </a:rPr>
              <a:t>Introduction to the Theory of Computation</a:t>
            </a:r>
            <a:r>
              <a:rPr sz="2100">
                <a:latin typeface="Times New Roman"/>
              </a:rPr>
              <a:t>.</a:t>
            </a:r>
          </a:p>
          <a:p>
            <a:pPr lvl="0">
              <a:spcAft>
                <a:spcPts val="650"/>
              </a:spcAft>
            </a:pPr>
            <a:r>
              <a:rPr sz="2100">
                <a:latin typeface="Times New Roman"/>
              </a:rPr>
              <a:t>Cormen, Leiserson, Rivest and Stein, </a:t>
            </a:r>
            <a:r>
              <a:rPr i="1" sz="2100">
                <a:latin typeface="Times New Roman"/>
              </a:rPr>
              <a:t>Introduction to Algorithms</a:t>
            </a:r>
            <a:r>
              <a:rPr sz="2100">
                <a:latin typeface="Times New Roman"/>
              </a:rPr>
              <a:t>.</a:t>
            </a:r>
          </a:p>
          <a:p>
            <a:pPr lvl="0">
              <a:spcAft>
                <a:spcPts val="650"/>
              </a:spcAft>
            </a:pPr>
            <a:r>
              <a:rPr sz="2100">
                <a:latin typeface="Times New Roman"/>
              </a:rPr>
              <a:t>CMU 15-451/651 lecture notes on NP-completeness.</a:t>
            </a:r>
          </a:p>
          <a:p>
            <a:pPr lvl="0">
              <a:spcAft>
                <a:spcPts val="650"/>
              </a:spcAft>
            </a:pPr>
            <a:r>
              <a:rPr sz="2100">
                <a:latin typeface="Times New Roman"/>
              </a:rPr>
              <a:t>Princeton COS 423 lecture notes, </a:t>
            </a:r>
            <a:r>
              <a:rPr i="1" sz="2100">
                <a:latin typeface="Times New Roman"/>
              </a:rPr>
              <a:t>Polynomial-Time Reductions</a:t>
            </a:r>
            <a:r>
              <a:rPr sz="2100">
                <a:latin typeface="Times New Roman"/>
              </a:rPr>
              <a:t>.</a:t>
            </a:r>
          </a:p>
          <a:p>
            <a:pPr lvl="0" indent="0" marL="0">
              <a:spcAft>
                <a:spcPts val="650"/>
              </a:spcAft>
              <a:buNone/>
            </a:pPr>
            <a:r>
              <a:rPr sz="2100">
                <a:latin typeface="Times New Roman"/>
              </a:rPr>
              <a:t>The exact six-vertex clause gadget and its 13-edge construction follow the </a:t>
            </a:r>
            <a:r>
              <a:rPr sz="2100">
                <a:hlinkClick r:id="rId3"/>
                <a:latin typeface="Times New Roman"/>
              </a:rPr>
              <a:t>Princeton reduction notes</a:t>
            </a:r>
            <a:r>
              <a:rPr sz="2100">
                <a:latin typeface="Times New Roman"/>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xmlns:ns1="http://schemas.microsoft.com/office/thememl/2012/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Times New Roman"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ns1:themeFamily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2026-09-07T10:05:55Z</dcterms:created>
  <dcterms:modified xsi:type="dcterms:W3CDTF">2026-09-07T10:05:55Z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