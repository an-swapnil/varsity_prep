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Lst>
  <p:sldSz cx="9144000" cy="6858000" type="screen4x3"/>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notesMaster" Target="notesMasters/notesMaster1.xml" /><Relationship Id="rId162" Type="http://schemas.openxmlformats.org/officeDocument/2006/relationships/viewProps" Target="viewProps.xml" /><Relationship Id="rId161" Type="http://schemas.openxmlformats.org/officeDocument/2006/relationships/presProps" Target="presProps.xml" /><Relationship Id="rId1" Type="http://schemas.openxmlformats.org/officeDocument/2006/relationships/slideMaster" Target="slideMasters/slideMaster1.xml" /><Relationship Id="rId164" Type="http://schemas.openxmlformats.org/officeDocument/2006/relationships/tableStyles" Target="tableStyles.xml" /><Relationship Id="rId16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92.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96.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103.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110.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112.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115.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119.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121.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123.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126.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128.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131.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136.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139.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143.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148.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150.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152.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154.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15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1/16, 0:00–0:10. Introduce yourself and the learning objective. This is a rehearsed overview for students familiar with basic graphs, Boolean logic and polynomial time. The main text, tables and equations in this version are editable PowerPoint objects. Text inside the original TikZ figures is part of those images.</a:t>
            </a:r>
          </a:p>
        </p:txBody>
      </p:sp>
      <p:sp>
        <p:nvSpPr>
          <p:cNvPr id="4" name="Slide Number Placeholder 3"/>
          <p:cNvSpPr>
            <a:spLocks noGrp="1"/>
          </p:cNvSpPr>
          <p:nvPr>
            <p:ph type="sldNum" sz="quarter" idx="10"/>
          </p:nvPr>
        </p:nvSpPr>
        <p:spPr/>
        <p:txBody>
          <a:bodyPr/>
          <a:lstStyle/>
          <a:p>
            <a:fld id="{18BDFEC3-8487-43E8-A154-7C12CBC1FFF2}"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2/16, 0:10–0:30 across all reveals. Distinguish solving, verifying and comparing. Preview the direction: a known hard problem reduces to the new target.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2/16, 0:10–0:30 across all reveals. Distinguish solving, verifying and comparing. Preview the direction: a known hard problem reduces to the new target.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2/16, 0:10–0:30 across all reveals. Distinguish solving, verifying and comparing. Preview the direction: a known hard problem reduces to the new target.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3/16, 0:30–1:05. Explain the formula verbally: a YES instance has a short accepting certificate, and a NO instance has none. A verifier checks the color domain as well as the edges. The solver can ignore a certificate, proving P is contained in NP.</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3/16, 0:30–1:05. Explain the formula verbally: a YES instance has a short accepting certificate, and a NO instance has none. A verifier checks the color domain as well as the edges. The solver can ignore a certificate, proving P is contained in NP.</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3/16, 0:30–1:05. Explain the formula verbally: a YES instance has a short accepting certificate, and a NO instance has none. A verifier checks the color domain as well as the edges. The solver can ignore a certificate, proving P is contained in NP.</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4/16, 1:05–1:40. Point at the intersection. NP-hardness does not imply membership in NP. NP-completeness does not prove that a polynomial algorithm is impossible; P versus NP remains open.</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4/16, 1:05–1:40. Point at the intersection. NP-hardness does not imply membership in NP. NP-completeness does not prove that a polynomial algorithm is impossible; P versus NP remains open.</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5/16, 1:40–2:20. Demonstrate both a YES and a NO instance. Doubling a binary integer is linear in its bit length. The reduction transforms instances without solving the hard source instance.</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5/16, 1:40–2:20. Demonstrate both a YES and a NO instance. Doubling a binary integer is linear in its bit length. The reduction transforms instances without solving the hard source instance.</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5/16, 1:40–2:20. Demonstrate both a YES and a NO instance. Doubling a binary integer is linear in its bit length. The reduction transforms instances without solving the hard source instance.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6/16, 2:20–2:45. Both obligations are necessary. Reducing an easy problem to B alone does not establish NP-hardness. The displayed implication requires A to be NP-hard.</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6/16, 2:20–2:45. Both obligations are necessary. Reducing an easy problem to B alone does not establish NP-hardness. The displayed implication requires A to be NP-hard.</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6/16, 2:20–2:45. Both obligations are necessary. Reducing an easy problem to B alone does not establish NP-hardness. The displayed implication requires A to be NP-hard.</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7/16, 2:45–3:10. State the two decision questions before showing the construction. The translator builds the graph without knowing a satisfying assignment.</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7/16, 2:45–3:10. State the two decision questions before showing the construction. The translator builds the graph without knowing a satisfying assignment.</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7/16, 2:45–3:10. State the two decision questions before showing the construction. The translator builds the graph without knowing a satisfying assignment.</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8/16, 3:10–3:40. Ask which color the negated variable must take once xi=T. The names T/F/B are relative to the palette; the physical paint colors can be permuted.</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8/16, 3:10–3:40. Ask which color the negated variable must take once xi=T. The names T/F/B are relative to the palette; the physical paint colors can be permuted.</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9/16, 3:40–4:20 across four reveals. Show the vertices, literal arms, T links, and forcing path in order. Literal vertices already connect to B, so their fixed colors are T/F. Line crossings without a vertex circle are not junctions. The fixed palette edges still exist even when omitted here. The gadget’s result is extendability, not an output vertex color.</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9/16, 3:40–4:20 across four reveals. Show the vertices, literal arms, T links, and forcing path in order. Literal vertices already connect to B, so their fixed colors are T/F. Line crossings without a vertex circle are not junctions. The fixed palette edges still exist even when omitted here. The gadget’s result is extendability, not an output vertex color.</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9/16, 3:40–4:20 across four reveals. Show the vertices, literal arms, T links, and forcing path in order. Literal vertices already connect to B, so their fixed colors are T/F. Line crossings without a vertex circle are not junctions. The fixed palette edges still exist even when omitted here. The gadget’s result is extendability, not an output vertex color.</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9/16, 3:40–4:20 across four reveals. Show the vertices, literal arms, T links, and forcing path in order. Literal vertices already connect to B, so their fixed colors are T/F. Line crossings without a vertex circle are not junctions. The fixed palette edges still exist even when omitted here. The gadget’s result is extendability, not an output vertex color.</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10/16, 4:20–4:55. Trace the all-false conflict before the successful case. Choose only one true input to supply the B-colored b vertex. The other a vertices can all be B even if their literals are also true. The three witness rows cover every satisfying pattern. The image on the left is a forced failed coloring, not a legal coloring.</a:t>
            </a:r>
          </a:p>
        </p:txBody>
      </p:sp>
      <p:sp>
        <p:nvSpPr>
          <p:cNvPr id="4" name="Slide Number Placeholder 3"/>
          <p:cNvSpPr>
            <a:spLocks noGrp="1"/>
          </p:cNvSpPr>
          <p:nvPr>
            <p:ph type="sldNum" sz="quarter" idx="10"/>
          </p:nvPr>
        </p:nvSpPr>
        <p:spPr/>
        <p:txBody>
          <a:bodyPr/>
          <a:lstStyle/>
          <a:p>
            <a:fld id="{18BDFEC3-8487-43E8-A154-7C12CBC1FFF2}" type="slidenum">
              <a:rPr lang="en-US"/>
              <a:t>92</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10/16, 4:20–4:55. Trace the all-false conflict before the successful case. Choose only one true input to supply the B-colored b vertex. The other a vertices can all be B even if their literals are also true. The three witness rows cover every satisfying pattern. The image on the left is a forced failed coloring, not a legal coloring.</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10/16, 4:20–4:55. Trace the all-false conflict before the successful case. Choose only one true input to supply the B-colored b vertex. The other a vertices can all be B even if their literals are also true. The three witness rows cover every satisfying pattern. The image on the left is a forced failed coloring, not a legal coloring.</a:t>
            </a:r>
          </a:p>
        </p:txBody>
      </p:sp>
      <p:sp>
        <p:nvSpPr>
          <p:cNvPr id="4" name="Slide Number Placeholder 3"/>
          <p:cNvSpPr>
            <a:spLocks noGrp="1"/>
          </p:cNvSpPr>
          <p:nvPr>
            <p:ph type="sldNum" sz="quarter" idx="10"/>
          </p:nvPr>
        </p:nvSpPr>
        <p:spPr/>
        <p:txBody>
          <a:bodyPr/>
          <a:lstStyle/>
          <a:p>
            <a:fld id="{18BDFEC3-8487-43E8-A154-7C12CBC1FFF2}" type="slidenum">
              <a:rPr lang="en-US"/>
              <a:t>103</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11/16, 4:55–5:15. Evaluate both clauses. This assignment is a demonstration after graph construction; the reduction does not need to find it.</a:t>
            </a:r>
          </a:p>
        </p:txBody>
      </p:sp>
      <p:sp>
        <p:nvSpPr>
          <p:cNvPr id="4" name="Slide Number Placeholder 3"/>
          <p:cNvSpPr>
            <a:spLocks noGrp="1"/>
          </p:cNvSpPr>
          <p:nvPr>
            <p:ph type="sldNum" sz="quarter" idx="10"/>
          </p:nvPr>
        </p:nvSpPr>
        <p:spPr/>
        <p:txBody>
          <a:bodyPr/>
          <a:lstStyle/>
          <a:p>
            <a:fld id="{18BDFEC3-8487-43E8-A154-7C12CBC1FFF2}" type="slidenum">
              <a:rPr lang="en-US"/>
              <a:t>110</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11/16, 4:55–5:15. Evaluate both clauses. This assignment is a demonstration after graph construction; the reduction does not need to find it.</a:t>
            </a:r>
          </a:p>
        </p:txBody>
      </p:sp>
      <p:sp>
        <p:nvSpPr>
          <p:cNvPr id="4" name="Slide Number Placeholder 3"/>
          <p:cNvSpPr>
            <a:spLocks noGrp="1"/>
          </p:cNvSpPr>
          <p:nvPr>
            <p:ph type="sldNum" sz="quarter" idx="10"/>
          </p:nvPr>
        </p:nvSpPr>
        <p:spPr/>
        <p:txBody>
          <a:bodyPr/>
          <a:lstStyle/>
          <a:p>
            <a:fld id="{18BDFEC3-8487-43E8-A154-7C12CBC1FFF2}" type="slidenum">
              <a:rPr lang="en-US"/>
              <a:t>112</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11/16, 4:55–5:15. Evaluate both clauses. This assignment is a demonstration after graph construction; the reduction does not need to find it.</a:t>
            </a:r>
          </a:p>
        </p:txBody>
      </p:sp>
      <p:sp>
        <p:nvSpPr>
          <p:cNvPr id="4" name="Slide Number Placeholder 3"/>
          <p:cNvSpPr>
            <a:spLocks noGrp="1"/>
          </p:cNvSpPr>
          <p:nvPr>
            <p:ph type="sldNum" sz="quarter" idx="10"/>
          </p:nvPr>
        </p:nvSpPr>
        <p:spPr/>
        <p:txBody>
          <a:bodyPr/>
          <a:lstStyle/>
          <a:p>
            <a:fld id="{18BDFEC3-8487-43E8-A154-7C12CBC1FFF2}" type="slidenum">
              <a:rPr lang="en-US"/>
              <a:t>115</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12/16, 5:15–5:40. This is an assembly schematic: the boxes represent copies of the exact gadget already proved. Shared literals enforce a consistent assignment across clauses. Each copy also uses palette T and F. No edges between distinct clauses’ internal vertices are needed.</a:t>
            </a:r>
          </a:p>
        </p:txBody>
      </p:sp>
      <p:sp>
        <p:nvSpPr>
          <p:cNvPr id="4" name="Slide Number Placeholder 3"/>
          <p:cNvSpPr>
            <a:spLocks noGrp="1"/>
          </p:cNvSpPr>
          <p:nvPr>
            <p:ph type="sldNum" sz="quarter" idx="10"/>
          </p:nvPr>
        </p:nvSpPr>
        <p:spPr/>
        <p:txBody>
          <a:bodyPr/>
          <a:lstStyle/>
          <a:p>
            <a:fld id="{18BDFEC3-8487-43E8-A154-7C12CBC1FFF2}" type="slidenum">
              <a:rPr lang="en-US"/>
              <a:t>119</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12/16, 5:15–5:40. This is an assembly schematic: the boxes represent copies of the exact gadget already proved. Shared literals enforce a consistent assignment across clauses. Each copy also uses palette T and F. No edges between distinct clauses’ internal vertices are needed.</a:t>
            </a:r>
          </a:p>
        </p:txBody>
      </p:sp>
      <p:sp>
        <p:nvSpPr>
          <p:cNvPr id="4" name="Slide Number Placeholder 3"/>
          <p:cNvSpPr>
            <a:spLocks noGrp="1"/>
          </p:cNvSpPr>
          <p:nvPr>
            <p:ph type="sldNum" sz="quarter" idx="10"/>
          </p:nvPr>
        </p:nvSpPr>
        <p:spPr/>
        <p:txBody>
          <a:bodyPr/>
          <a:lstStyle/>
          <a:p>
            <a:fld id="{18BDFEC3-8487-43E8-A154-7C12CBC1FFF2}" type="slidenum">
              <a:rPr lang="en-US"/>
              <a:t>121</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12/16, 5:15–5:40. This is an assembly schematic: the boxes represent copies of the exact gadget already proved. Shared literals enforce a consistent assignment across clauses. Each copy also uses palette T and F. No edges between distinct clauses’ internal vertices are needed.</a:t>
            </a:r>
          </a:p>
        </p:txBody>
      </p:sp>
      <p:sp>
        <p:nvSpPr>
          <p:cNvPr id="4" name="Slide Number Placeholder 3"/>
          <p:cNvSpPr>
            <a:spLocks noGrp="1"/>
          </p:cNvSpPr>
          <p:nvPr>
            <p:ph type="sldNum" sz="quarter" idx="10"/>
          </p:nvPr>
        </p:nvSpPr>
        <p:spPr/>
        <p:txBody>
          <a:bodyPr/>
          <a:lstStyle/>
          <a:p>
            <a:fld id="{18BDFEC3-8487-43E8-A154-7C12CBC1FFF2}" type="slidenum">
              <a:rPr lang="en-US"/>
              <a:t>123</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13/16, 5:40–6:20. State both directions, then the counts. Palette: three vertices/edges. Each variable: two vertices and three edges. Each clause: six vertices and thirteen edges. Verification is O(V+E); with NP-hardness this proves 3-COLOR NP-complete. Linear many graph records can require logarithmic-size vertex indices in a bit encoding.</a:t>
            </a:r>
          </a:p>
        </p:txBody>
      </p:sp>
      <p:sp>
        <p:nvSpPr>
          <p:cNvPr id="4" name="Slide Number Placeholder 3"/>
          <p:cNvSpPr>
            <a:spLocks noGrp="1"/>
          </p:cNvSpPr>
          <p:nvPr>
            <p:ph type="sldNum" sz="quarter" idx="10"/>
          </p:nvPr>
        </p:nvSpPr>
        <p:spPr/>
        <p:txBody>
          <a:bodyPr/>
          <a:lstStyle/>
          <a:p>
            <a:fld id="{18BDFEC3-8487-43E8-A154-7C12CBC1FFF2}" type="slidenum">
              <a:rPr lang="en-US"/>
              <a:t>126</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13/16, 5:40–6:20. State both directions, then the counts. Palette: three vertices/edges. Each variable: two vertices and three edges. Each clause: six vertices and thirteen edges. Verification is O(V+E); with NP-hardness this proves 3-COLOR NP-complete. Linear many graph records can require logarithmic-size vertex indices in a bit encoding.</a:t>
            </a:r>
          </a:p>
        </p:txBody>
      </p:sp>
      <p:sp>
        <p:nvSpPr>
          <p:cNvPr id="4" name="Slide Number Placeholder 3"/>
          <p:cNvSpPr>
            <a:spLocks noGrp="1"/>
          </p:cNvSpPr>
          <p:nvPr>
            <p:ph type="sldNum" sz="quarter" idx="10"/>
          </p:nvPr>
        </p:nvSpPr>
        <p:spPr/>
        <p:txBody>
          <a:bodyPr/>
          <a:lstStyle/>
          <a:p>
            <a:fld id="{18BDFEC3-8487-43E8-A154-7C12CBC1FFF2}" type="slidenum">
              <a:rPr lang="en-US"/>
              <a:t>128</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13/16, 5:40–6:20. State both directions, then the counts. Palette: three vertices/edges. Each variable: two vertices and three edges. Each clause: six vertices and thirteen edges. Verification is O(V+E); with NP-hardness this proves 3-COLOR NP-complete. Linear many graph records can require logarithmic-size vertex indices in a bit encoding.</a:t>
            </a:r>
          </a:p>
        </p:txBody>
      </p:sp>
      <p:sp>
        <p:nvSpPr>
          <p:cNvPr id="4" name="Slide Number Placeholder 3"/>
          <p:cNvSpPr>
            <a:spLocks noGrp="1"/>
          </p:cNvSpPr>
          <p:nvPr>
            <p:ph type="sldNum" sz="quarter" idx="10"/>
          </p:nvPr>
        </p:nvSpPr>
        <p:spPr/>
        <p:txBody>
          <a:bodyPr/>
          <a:lstStyle/>
          <a:p>
            <a:fld id="{18BDFEC3-8487-43E8-A154-7C12CBC1FFF2}" type="slidenum">
              <a:rPr lang="en-US"/>
              <a:t>131</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14/16, 6:20–6:40. Give this only a brief explanation. No intraclause edges means an m-clique must contain exactly one vertex from each clause. The highlighted clique chooses x1 from C1, x2 from C2 and x1 from C3. The two x1 occurrences are distinct vertices and compatible. In the reverse direction choose one true literal per satisfied clause. CLIQUE membership in NP follows by checking the selected vertices’ pairwise edges.</a:t>
            </a:r>
          </a:p>
        </p:txBody>
      </p:sp>
      <p:sp>
        <p:nvSpPr>
          <p:cNvPr id="4" name="Slide Number Placeholder 3"/>
          <p:cNvSpPr>
            <a:spLocks noGrp="1"/>
          </p:cNvSpPr>
          <p:nvPr>
            <p:ph type="sldNum" sz="quarter" idx="10"/>
          </p:nvPr>
        </p:nvSpPr>
        <p:spPr/>
        <p:txBody>
          <a:bodyPr/>
          <a:lstStyle/>
          <a:p>
            <a:fld id="{18BDFEC3-8487-43E8-A154-7C12CBC1FFF2}" type="slidenum">
              <a:rPr lang="en-US"/>
              <a:t>136</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14/16, 6:20–6:40. Give this only a brief explanation. No intraclause edges means an m-clique must contain exactly one vertex from each clause. The highlighted clique chooses x1 from C1, x2 from C2 and x1 from C3. The two x1 occurrences are distinct vertices and compatible. In the reverse direction choose one true literal per satisfied clause. CLIQUE membership in NP follows by checking the selected vertices’ pairwise edges.</a:t>
            </a:r>
          </a:p>
        </p:txBody>
      </p:sp>
      <p:sp>
        <p:nvSpPr>
          <p:cNvPr id="4" name="Slide Number Placeholder 3"/>
          <p:cNvSpPr>
            <a:spLocks noGrp="1"/>
          </p:cNvSpPr>
          <p:nvPr>
            <p:ph type="sldNum" sz="quarter" idx="10"/>
          </p:nvPr>
        </p:nvSpPr>
        <p:spPr/>
        <p:txBody>
          <a:bodyPr/>
          <a:lstStyle/>
          <a:p>
            <a:fld id="{18BDFEC3-8487-43E8-A154-7C12CBC1FFF2}" type="slidenum">
              <a:rPr lang="en-US"/>
              <a:t>139</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14/16, 6:20–6:40. Give this only a brief explanation. No intraclause edges means an m-clique must contain exactly one vertex from each clause. The highlighted clique chooses x1 from C1, x2 from C2 and x1 from C3. The two x1 occurrences are distinct vertices and compatible. In the reverse direction choose one true literal per satisfied clause. CLIQUE membership in NP follows by checking the selected vertices’ pairwise edges.</a:t>
            </a:r>
          </a:p>
        </p:txBody>
      </p:sp>
      <p:sp>
        <p:nvSpPr>
          <p:cNvPr id="4" name="Slide Number Placeholder 3"/>
          <p:cNvSpPr>
            <a:spLocks noGrp="1"/>
          </p:cNvSpPr>
          <p:nvPr>
            <p:ph type="sldNum" sz="quarter" idx="10"/>
          </p:nvPr>
        </p:nvSpPr>
        <p:spPr/>
        <p:txBody>
          <a:bodyPr/>
          <a:lstStyle/>
          <a:p>
            <a:fld id="{18BDFEC3-8487-43E8-A154-7C12CBC1FFF2}" type="slidenum">
              <a:rPr lang="en-US"/>
              <a:t>143</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15/16, 6:40–6:55. End with the proof recipe. If time permits, ask students which reduction direction proves B hard: A to B or B to A? Answer: known-hard A to target B.</a:t>
            </a:r>
          </a:p>
        </p:txBody>
      </p:sp>
      <p:sp>
        <p:nvSpPr>
          <p:cNvPr id="4" name="Slide Number Placeholder 3"/>
          <p:cNvSpPr>
            <a:spLocks noGrp="1"/>
          </p:cNvSpPr>
          <p:nvPr>
            <p:ph type="sldNum" sz="quarter" idx="10"/>
          </p:nvPr>
        </p:nvSpPr>
        <p:spPr/>
        <p:txBody>
          <a:bodyPr/>
          <a:lstStyle/>
          <a:p>
            <a:fld id="{18BDFEC3-8487-43E8-A154-7C12CBC1FFF2}" type="slidenum">
              <a:rPr lang="en-US"/>
              <a:t>148</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15/16, 6:40–6:55. End with the proof recipe. If time permits, ask students which reduction direction proves B hard: A to B or B to A? Answer: known-hard A to target B.</a:t>
            </a:r>
          </a:p>
        </p:txBody>
      </p:sp>
      <p:sp>
        <p:nvSpPr>
          <p:cNvPr id="4" name="Slide Number Placeholder 3"/>
          <p:cNvSpPr>
            <a:spLocks noGrp="1"/>
          </p:cNvSpPr>
          <p:nvPr>
            <p:ph type="sldNum" sz="quarter" idx="10"/>
          </p:nvPr>
        </p:nvSpPr>
        <p:spPr/>
        <p:txBody>
          <a:bodyPr/>
          <a:lstStyle/>
          <a:p>
            <a:fld id="{18BDFEC3-8487-43E8-A154-7C12CBC1FFF2}" type="slidenum">
              <a:rPr lang="en-US"/>
              <a:t>150</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15/16, 6:40–6:55. End with the proof recipe. If time permits, ask students which reduction direction proves B hard: A to B or B to A? Answer: known-hard A to target B.</a:t>
            </a:r>
          </a:p>
        </p:txBody>
      </p:sp>
      <p:sp>
        <p:nvSpPr>
          <p:cNvPr id="4" name="Slide Number Placeholder 3"/>
          <p:cNvSpPr>
            <a:spLocks noGrp="1"/>
          </p:cNvSpPr>
          <p:nvPr>
            <p:ph type="sldNum" sz="quarter" idx="10"/>
          </p:nvPr>
        </p:nvSpPr>
        <p:spPr/>
        <p:txBody>
          <a:bodyPr/>
          <a:lstStyle/>
          <a:p>
            <a:fld id="{18BDFEC3-8487-43E8-A154-7C12CBC1FFF2}" type="slidenum">
              <a:rPr lang="en-US"/>
              <a:t>152</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15/16, 6:40–6:55. End with the proof recipe. If time permits, ask students which reduction direction proves B hard: A to B or B to A? Answer: known-hard A to target B.</a:t>
            </a:r>
          </a:p>
        </p:txBody>
      </p:sp>
      <p:sp>
        <p:nvSpPr>
          <p:cNvPr id="4" name="Slide Number Placeholder 3"/>
          <p:cNvSpPr>
            <a:spLocks noGrp="1"/>
          </p:cNvSpPr>
          <p:nvPr>
            <p:ph type="sldNum" sz="quarter" idx="10"/>
          </p:nvPr>
        </p:nvSpPr>
        <p:spPr/>
        <p:txBody>
          <a:bodyPr/>
          <a:lstStyle/>
          <a:p>
            <a:fld id="{18BDFEC3-8487-43E8-A154-7C12CBC1FFF2}" type="slidenum">
              <a:rPr lang="en-US"/>
              <a:t>154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Frame 16/16, 6:55–7:00. Acknowledge the sources; do not read the bibliography aloud. Timing is across all reveals within each frame and leaves no discussion time. Allow substantially longer for a full first lesson.</a:t>
            </a:r>
          </a:p>
        </p:txBody>
      </p:sp>
      <p:sp>
        <p:nvSpPr>
          <p:cNvPr id="4" name="Slide Number Placeholder 3"/>
          <p:cNvSpPr>
            <a:spLocks noGrp="1"/>
          </p:cNvSpPr>
          <p:nvPr>
            <p:ph type="sldNum" sz="quarter" idx="10"/>
          </p:nvPr>
        </p:nvSpPr>
        <p:spPr/>
        <p:txBody>
          <a:bodyPr/>
          <a:lstStyle/>
          <a:p>
            <a:fld id="{18BDFEC3-8487-43E8-A154-7C12CBC1FFF2}" type="slidenum">
              <a:rPr lang="en-US"/>
              <a:t>157</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ns2="http://schemas.microsoft.com/office/powerpoint/2010/main"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09728"/>
            <a:ext cx="8686800" cy="640080"/>
          </a:xfrm>
        </p:spPr>
        <p:txBody>
          <a:bodyPr anchor="t" lIns="0" rIns="0" tIns="0" bIns="0"/>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Subtitle 2"/>
          <p:cNvSpPr>
            <a:spLocks noGrp="1"/>
          </p:cNvSpPr>
          <p:nvPr>
            <p:ph type="subTitle" idx="1"/>
          </p:nvPr>
        </p:nvSpPr>
        <p:spPr>
          <a:xfrm>
            <a:off x="347472" y="950976"/>
            <a:ext cx="8449056" cy="54406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r>
              <a:rPr lang="en-US"/>
              <a:t>Click to edit Master subtitle style</a:t>
            </a:r>
          </a:p>
        </p:txBody>
      </p:sp>
      <p:sp>
        <p:nvSpPr>
          <p:cNvPr id="4" name="Date Placeholder 3"/>
          <p:cNvSpPr>
            <a:spLocks noGrp="1"/>
          </p:cNvSpPr>
          <p:nvPr>
            <p:ph type="dt" sz="half" idx="10"/>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6" name="Slide Number Placeholder 5"/>
          <p:cNvSpPr>
            <a:spLocks noGrp="1"/>
          </p:cNvSpPr>
          <p:nvPr>
            <p:ph type="sldNum" sz="quarter" idx="12"/>
          </p:nvPr>
        </p:nvSpPr>
        <p:spPr>
          <a:xfrm>
            <a:off x="8046720" y="6519672"/>
            <a:ext cx="9144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ns2:creationId val="1444357513"/>
      </p:ext>
    </p:extLst>
  </p:cSld>
  <p:clrMapOvr>
    <a:masterClrMapping/>
  </p:clrMapOvr>
</p:sldLayout>
</file>

<file path=ppt/slideLayouts/slideLayout2.xml><?xml version="1.0" encoding="utf-8"?>
<p:sldLayout xmlns:a="http://schemas.openxmlformats.org/drawingml/2006/main" xmlns:ns2="http://schemas.microsoft.com/office/powerpoint/2010/main"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nchor="t" lIns="0" rIns="0" tIns="0" bIns="0"/>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Content Placeholder 2"/>
          <p:cNvSpPr>
            <a:spLocks noGrp="1"/>
          </p:cNvSpPr>
          <p:nvPr>
            <p:ph idx="1"/>
          </p:nvPr>
        </p:nvSpPr>
        <p:spPr>
          <a:xfrm>
            <a:off x="347472" y="950976"/>
            <a:ext cx="8449056" cy="54406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6" name="Slide Number Placeholder 5"/>
          <p:cNvSpPr>
            <a:spLocks noGrp="1"/>
          </p:cNvSpPr>
          <p:nvPr>
            <p:ph type="sldNum" sz="quarter" idx="12"/>
          </p:nvPr>
        </p:nvSpPr>
        <p:spPr>
          <a:xfrm>
            <a:off x="8046720" y="6519672"/>
            <a:ext cx="9144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ns2:creationId val="338346009"/>
      </p:ext>
    </p:extLst>
  </p:cSld>
  <p:clrMapOvr>
    <a:masterClrMapping/>
  </p:clrMapOvr>
</p:sldLayout>
</file>

<file path=ppt/slideLayouts/slideLayout3.xml><?xml version="1.0" encoding="utf-8"?>
<p:sldLayout xmlns:a="http://schemas.openxmlformats.org/drawingml/2006/main" xmlns:ns2="http://schemas.microsoft.com/office/powerpoint/2010/main"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nchor="t" lIns="0" rIns="0" tIns="0" bIns="0"/>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Text Placeholder 2"/>
          <p:cNvSpPr>
            <a:spLocks noGrp="1"/>
          </p:cNvSpPr>
          <p:nvPr>
            <p:ph type="body" idx="1"/>
          </p:nvPr>
        </p:nvSpPr>
        <p:spPr>
          <a:xfrm>
            <a:off x="347472" y="950976"/>
            <a:ext cx="8449056" cy="54406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p:txBody>
      </p:sp>
      <p:sp>
        <p:nvSpPr>
          <p:cNvPr id="4" name="Date Placeholder 3"/>
          <p:cNvSpPr>
            <a:spLocks noGrp="1"/>
          </p:cNvSpPr>
          <p:nvPr>
            <p:ph type="dt" sz="half" idx="10"/>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6" name="Slide Number Placeholder 5"/>
          <p:cNvSpPr>
            <a:spLocks noGrp="1"/>
          </p:cNvSpPr>
          <p:nvPr>
            <p:ph type="sldNum" sz="quarter" idx="12"/>
          </p:nvPr>
        </p:nvSpPr>
        <p:spPr>
          <a:xfrm>
            <a:off x="8046720" y="6519672"/>
            <a:ext cx="9144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ns2:creationId val="1073069076"/>
      </p:ext>
    </p:extLst>
  </p:cSld>
  <p:clrMapOvr>
    <a:masterClrMapping/>
  </p:clrMapOvr>
</p:sldLayout>
</file>

<file path=ppt/slideLayouts/slideLayout4.xml><?xml version="1.0" encoding="utf-8"?>
<p:sldLayout xmlns:a="http://schemas.openxmlformats.org/drawingml/2006/main" xmlns:ns2="http://schemas.microsoft.com/office/powerpoint/2010/main"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nchor="t" lIns="0" rIns="0" tIns="0" bIns="0"/>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Content Placeholder 2"/>
          <p:cNvSpPr>
            <a:spLocks noGrp="1"/>
          </p:cNvSpPr>
          <p:nvPr>
            <p:ph sz="half" idx="1"/>
          </p:nvPr>
        </p:nvSpPr>
        <p:spPr>
          <a:xfrm>
            <a:off x="347472" y="950976"/>
            <a:ext cx="4105656" cy="54406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90872" y="950976"/>
            <a:ext cx="4105656" cy="54406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7" name="Slide Number Placeholder 6"/>
          <p:cNvSpPr>
            <a:spLocks noGrp="1"/>
          </p:cNvSpPr>
          <p:nvPr>
            <p:ph type="sldNum" sz="quarter" idx="12"/>
          </p:nvPr>
        </p:nvSpPr>
        <p:spPr>
          <a:xfrm>
            <a:off x="8046720" y="6519672"/>
            <a:ext cx="9144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ns2:creationId val="2619886245"/>
      </p:ext>
    </p:extLst>
  </p:cSld>
  <p:clrMapOvr>
    <a:masterClrMapping/>
  </p:clrMapOvr>
</p:sldLayout>
</file>

<file path=ppt/slideLayouts/slideLayout5.xml><?xml version="1.0" encoding="utf-8"?>
<p:sldLayout xmlns:a="http://schemas.openxmlformats.org/drawingml/2006/main" xmlns:ns2="http://schemas.microsoft.com/office/powerpoint/2010/main"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nchor="t" lIns="0" rIns="0" tIns="0" bIns="0"/>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Text Placeholder 2"/>
          <p:cNvSpPr>
            <a:spLocks noGrp="1"/>
          </p:cNvSpPr>
          <p:nvPr>
            <p:ph type="body" idx="1"/>
          </p:nvPr>
        </p:nvSpPr>
        <p:spPr>
          <a:xfrm>
            <a:off x="347472" y="950976"/>
            <a:ext cx="4105656" cy="54406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p:txBody>
      </p:sp>
      <p:sp>
        <p:nvSpPr>
          <p:cNvPr id="4" name="Content Placeholder 3"/>
          <p:cNvSpPr>
            <a:spLocks noGrp="1"/>
          </p:cNvSpPr>
          <p:nvPr>
            <p:ph sz="half" idx="2"/>
          </p:nvPr>
        </p:nvSpPr>
        <p:spPr>
          <a:xfrm>
            <a:off x="4690872" y="950976"/>
            <a:ext cx="4105656" cy="54406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7472" y="950976"/>
            <a:ext cx="4105656" cy="54406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p:txBody>
      </p:sp>
      <p:sp>
        <p:nvSpPr>
          <p:cNvPr id="6" name="Content Placeholder 5"/>
          <p:cNvSpPr>
            <a:spLocks noGrp="1"/>
          </p:cNvSpPr>
          <p:nvPr>
            <p:ph sz="quarter" idx="4"/>
          </p:nvPr>
        </p:nvSpPr>
        <p:spPr>
          <a:xfrm>
            <a:off x="4690872" y="950976"/>
            <a:ext cx="4105656" cy="54406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9" name="Slide Number Placeholder 8"/>
          <p:cNvSpPr>
            <a:spLocks noGrp="1"/>
          </p:cNvSpPr>
          <p:nvPr>
            <p:ph type="sldNum" sz="quarter" idx="12"/>
          </p:nvPr>
        </p:nvSpPr>
        <p:spPr>
          <a:xfrm>
            <a:off x="8046720" y="6519672"/>
            <a:ext cx="9144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ns2:creationId val="2535793967"/>
      </p:ext>
    </p:extLst>
  </p:cSld>
  <p:clrMapOvr>
    <a:masterClrMapping/>
  </p:clrMapOvr>
</p:sldLayout>
</file>

<file path=ppt/slideLayouts/slideLayout6.xml><?xml version="1.0" encoding="utf-8"?>
<p:sldLayout xmlns:a="http://schemas.openxmlformats.org/drawingml/2006/main" xmlns:ns2="http://schemas.microsoft.com/office/powerpoint/2010/main"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nchor="t" lIns="0" rIns="0" tIns="0" bIns="0"/>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Date Placeholder 2"/>
          <p:cNvSpPr>
            <a:spLocks noGrp="1"/>
          </p:cNvSpPr>
          <p:nvPr>
            <p:ph type="dt" sz="half" idx="10"/>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5" name="Slide Number Placeholder 4"/>
          <p:cNvSpPr>
            <a:spLocks noGrp="1"/>
          </p:cNvSpPr>
          <p:nvPr>
            <p:ph type="sldNum" sz="quarter" idx="12"/>
          </p:nvPr>
        </p:nvSpPr>
        <p:spPr>
          <a:xfrm>
            <a:off x="8046720" y="6519672"/>
            <a:ext cx="9144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ns2:creationId val="3472721253"/>
      </p:ext>
    </p:extLst>
  </p:cSld>
  <p:clrMapOvr>
    <a:masterClrMapping/>
  </p:clrMapOvr>
</p:sldLayout>
</file>

<file path=ppt/slideLayouts/slideLayout7.xml><?xml version="1.0" encoding="utf-8"?>
<p:sldLayout xmlns:a="http://schemas.openxmlformats.org/drawingml/2006/main" xmlns:ns2="http://schemas.microsoft.com/office/powerpoint/2010/main"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4" name="Slide Number Placeholder 3"/>
          <p:cNvSpPr>
            <a:spLocks noGrp="1"/>
          </p:cNvSpPr>
          <p:nvPr>
            <p:ph type="sldNum" sz="quarter" idx="12"/>
          </p:nvPr>
        </p:nvSpPr>
        <p:spPr>
          <a:xfrm>
            <a:off x="8046720" y="6519672"/>
            <a:ext cx="9144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ns2:creationId val="2130901097"/>
      </p:ext>
    </p:extLst>
  </p:cSld>
  <p:clrMapOvr>
    <a:masterClrMapping/>
  </p:clrMapOvr>
</p:sldLayout>
</file>

<file path=ppt/slideLayouts/slideLayout8.xml><?xml version="1.0" encoding="utf-8"?>
<p:sldLayout xmlns:a="http://schemas.openxmlformats.org/drawingml/2006/main" xmlns:ns2="http://schemas.microsoft.com/office/powerpoint/2010/main"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nchor="t" lIns="0" rIns="0" tIns="0" bIns="0"/>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Content Placeholder 2"/>
          <p:cNvSpPr>
            <a:spLocks noGrp="1"/>
          </p:cNvSpPr>
          <p:nvPr>
            <p:ph idx="1"/>
          </p:nvPr>
        </p:nvSpPr>
        <p:spPr>
          <a:xfrm>
            <a:off x="347472" y="950976"/>
            <a:ext cx="8449056" cy="54406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7472" y="950976"/>
            <a:ext cx="8449056" cy="54406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p:txBody>
      </p:sp>
      <p:sp>
        <p:nvSpPr>
          <p:cNvPr id="5" name="Date Placeholder 4"/>
          <p:cNvSpPr>
            <a:spLocks noGrp="1"/>
          </p:cNvSpPr>
          <p:nvPr>
            <p:ph type="dt" sz="half" idx="10"/>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7" name="Slide Number Placeholder 6"/>
          <p:cNvSpPr>
            <a:spLocks noGrp="1"/>
          </p:cNvSpPr>
          <p:nvPr>
            <p:ph type="sldNum" sz="quarter" idx="12"/>
          </p:nvPr>
        </p:nvSpPr>
        <p:spPr>
          <a:xfrm>
            <a:off x="8046720" y="6519672"/>
            <a:ext cx="9144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ns2:creationId val="3540895647"/>
      </p:ext>
    </p:extLst>
  </p:cSld>
  <p:clrMapOvr>
    <a:masterClrMapping/>
  </p:clrMapOvr>
</p:sldLayout>
</file>

<file path=ppt/slideLayouts/slideLayout9.xml><?xml version="1.0" encoding="utf-8"?>
<p:sldLayout xmlns:a="http://schemas.openxmlformats.org/drawingml/2006/main" xmlns:ns2="http://schemas.microsoft.com/office/powerpoint/2010/main"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nchor="t" lIns="0" rIns="0" tIns="0" bIns="0"/>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4" name="Text Placeholder 3"/>
          <p:cNvSpPr>
            <a:spLocks noGrp="1"/>
          </p:cNvSpPr>
          <p:nvPr>
            <p:ph type="body" sz="half" idx="2"/>
          </p:nvPr>
        </p:nvSpPr>
        <p:spPr>
          <a:xfrm>
            <a:off x="347472" y="950976"/>
            <a:ext cx="8449056" cy="54406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p:txBody>
      </p:sp>
      <p:sp>
        <p:nvSpPr>
          <p:cNvPr id="5" name="Date Placeholder 4"/>
          <p:cNvSpPr>
            <a:spLocks noGrp="1"/>
          </p:cNvSpPr>
          <p:nvPr>
            <p:ph type="dt" sz="half" idx="10"/>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7" name="Slide Number Placeholder 6"/>
          <p:cNvSpPr>
            <a:spLocks noGrp="1"/>
          </p:cNvSpPr>
          <p:nvPr>
            <p:ph type="sldNum" sz="quarter" idx="12"/>
          </p:nvPr>
        </p:nvSpPr>
        <p:spPr>
          <a:xfrm>
            <a:off x="8046720" y="6519672"/>
            <a:ext cx="9144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ns2:creationId val="3566899855"/>
      </p:ext>
    </p:extLst>
  </p:cSld>
  <p:clrMapOvr>
    <a:masterClrMapping/>
  </p:clrMapOvr>
</p:sldLayout>
</file>

<file path=ppt/slideLayouts/slideLayout10.xml><?xml version="1.0" encoding="utf-8"?>
<p:sldLayout xmlns:a="http://schemas.openxmlformats.org/drawingml/2006/main" xmlns:ns2="http://schemas.microsoft.com/office/powerpoint/2010/main"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nchor="t" lIns="0" rIns="0" tIns="0" bIns="0"/>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Vertical Text Placeholder 2"/>
          <p:cNvSpPr>
            <a:spLocks noGrp="1"/>
          </p:cNvSpPr>
          <p:nvPr>
            <p:ph type="body" orient="vert" idx="1"/>
          </p:nvPr>
        </p:nvSpPr>
        <p:spPr>
          <a:xfrm>
            <a:off x="347472" y="950976"/>
            <a:ext cx="8449056" cy="5440680"/>
          </a:xfrm>
        </p:spPr>
        <p:txBody>
          <a:bodyPr vert="eaVert"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6" name="Slide Number Placeholder 5"/>
          <p:cNvSpPr>
            <a:spLocks noGrp="1"/>
          </p:cNvSpPr>
          <p:nvPr>
            <p:ph type="sldNum" sz="quarter" idx="12"/>
          </p:nvPr>
        </p:nvSpPr>
        <p:spPr>
          <a:xfrm>
            <a:off x="8046720" y="6519672"/>
            <a:ext cx="9144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ns2:creationId val="313914798"/>
      </p:ext>
    </p:extLst>
  </p:cSld>
  <p:clrMapOvr>
    <a:masterClrMapping/>
  </p:clrMapOvr>
</p:sldLayout>
</file>

<file path=ppt/slideLayouts/slideLayout11.xml><?xml version="1.0" encoding="utf-8"?>
<p:sldLayout xmlns:a="http://schemas.openxmlformats.org/drawingml/2006/main" xmlns:ns2="http://schemas.microsoft.com/office/powerpoint/2010/main"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8600" y="109728"/>
            <a:ext cx="8686800" cy="640080"/>
          </a:xfrm>
        </p:spPr>
        <p:txBody>
          <a:bodyPr vert="eaVert" anchor="t" lIns="0" rIns="0" tIns="0" bIns="0"/>
          <a:lstStyle>
            <a:lvl1pPr algn="l">
              <a:defRPr sz="2350" b="1">
                <a:solidFill>
                  <a:srgbClr val="3333B2"/>
                </a:solidFill>
                <a:latin typeface="Times New Roman"/>
              </a:defRPr>
            </a:lvl1pPr>
            <a:lvl2pPr algn="l">
              <a:defRPr sz="2350" b="1">
                <a:solidFill>
                  <a:srgbClr val="3333B2"/>
                </a:solidFill>
                <a:latin typeface="Times New Roman"/>
              </a:defRPr>
            </a:lvl2pPr>
            <a:lvl3pPr algn="l">
              <a:defRPr sz="2350" b="1">
                <a:solidFill>
                  <a:srgbClr val="3333B2"/>
                </a:solidFill>
                <a:latin typeface="Times New Roman"/>
              </a:defRPr>
            </a:lvl3pPr>
            <a:lvl4pPr algn="l">
              <a:defRPr sz="2350" b="1">
                <a:solidFill>
                  <a:srgbClr val="3333B2"/>
                </a:solidFill>
                <a:latin typeface="Times New Roman"/>
              </a:defRPr>
            </a:lvl4pPr>
            <a:lvl5pPr algn="l">
              <a:defRPr sz="2350" b="1">
                <a:solidFill>
                  <a:srgbClr val="3333B2"/>
                </a:solidFill>
                <a:latin typeface="Times New Roman"/>
              </a:defRPr>
            </a:lvl5pPr>
            <a:lvl6pPr algn="l">
              <a:defRPr sz="2350" b="1">
                <a:solidFill>
                  <a:srgbClr val="3333B2"/>
                </a:solidFill>
                <a:latin typeface="Times New Roman"/>
              </a:defRPr>
            </a:lvl6pPr>
            <a:lvl7pPr algn="l">
              <a:defRPr sz="2350" b="1">
                <a:solidFill>
                  <a:srgbClr val="3333B2"/>
                </a:solidFill>
                <a:latin typeface="Times New Roman"/>
              </a:defRPr>
            </a:lvl7pPr>
            <a:lvl8pPr algn="l">
              <a:defRPr sz="2350" b="1">
                <a:solidFill>
                  <a:srgbClr val="3333B2"/>
                </a:solidFill>
                <a:latin typeface="Times New Roman"/>
              </a:defRPr>
            </a:lvl8pPr>
            <a:lvl9pPr algn="l">
              <a:defRPr sz="2350" b="1">
                <a:solidFill>
                  <a:srgbClr val="3333B2"/>
                </a:solidFill>
                <a:latin typeface="Times New Roman"/>
              </a:defRPr>
            </a:lvl9pPr>
          </a:lstStyle>
          <a:p>
            <a:r>
              <a:rPr lang="en-US"/>
              <a:t>Click to edit Master title style</a:t>
            </a:r>
          </a:p>
        </p:txBody>
      </p:sp>
      <p:sp>
        <p:nvSpPr>
          <p:cNvPr id="3" name="Vertical Text Placeholder 2"/>
          <p:cNvSpPr>
            <a:spLocks noGrp="1"/>
          </p:cNvSpPr>
          <p:nvPr>
            <p:ph type="body" orient="vert" idx="1"/>
          </p:nvPr>
        </p:nvSpPr>
        <p:spPr>
          <a:xfrm>
            <a:off x="347472" y="950976"/>
            <a:ext cx="8449056" cy="5440680"/>
          </a:xfrm>
        </p:spPr>
        <p:txBody>
          <a:bodyPr vert="eaVert"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a:xfrm>
            <a:off x="365760" y="6519672"/>
            <a:ext cx="68580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6" name="Slide Number Placeholder 5"/>
          <p:cNvSpPr>
            <a:spLocks noGrp="1"/>
          </p:cNvSpPr>
          <p:nvPr>
            <p:ph type="sldNum" sz="quarter" idx="12"/>
          </p:nvPr>
        </p:nvSpPr>
        <p:spPr>
          <a:xfrm>
            <a:off x="8046720" y="6519672"/>
            <a:ext cx="914400" cy="182880"/>
          </a:xfrm>
        </p:spPr>
        <p:txBody>
          <a:bodyPr anchor="t" lIns="0" rIns="0" tIns="0" bIns="0"/>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ns2:creationId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ns2="http://schemas.microsoft.com/office/powerpoint/2010/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09728"/>
            <a:ext cx="8686800" cy="640080"/>
          </a:xfrm>
          <a:prstGeom prst="rect">
            <a:avLst/>
          </a:prstGeom>
        </p:spPr>
        <p:txBody>
          <a:bodyPr anchor="t" bIns="0" lIns="0" rIns="0" rtlCol="0" tIns="0" vert="horz">
            <a:normAutofit/>
          </a:bodyPr>
          <a:lstStyle>
            <a:lvl1pPr algn="l">
              <a:defRPr b="1" sz="2350">
                <a:solidFill>
                  <a:srgbClr val="3333B2"/>
                </a:solidFill>
                <a:latin typeface="Times New Roman"/>
              </a:defRPr>
            </a:lvl1pPr>
            <a:lvl2pPr algn="l">
              <a:defRPr b="1" sz="2350">
                <a:solidFill>
                  <a:srgbClr val="3333B2"/>
                </a:solidFill>
                <a:latin typeface="Times New Roman"/>
              </a:defRPr>
            </a:lvl2pPr>
            <a:lvl3pPr algn="l">
              <a:defRPr b="1" sz="2350">
                <a:solidFill>
                  <a:srgbClr val="3333B2"/>
                </a:solidFill>
                <a:latin typeface="Times New Roman"/>
              </a:defRPr>
            </a:lvl3pPr>
            <a:lvl4pPr algn="l">
              <a:defRPr b="1" sz="2350">
                <a:solidFill>
                  <a:srgbClr val="3333B2"/>
                </a:solidFill>
                <a:latin typeface="Times New Roman"/>
              </a:defRPr>
            </a:lvl4pPr>
            <a:lvl5pPr algn="l">
              <a:defRPr b="1" sz="2350">
                <a:solidFill>
                  <a:srgbClr val="3333B2"/>
                </a:solidFill>
                <a:latin typeface="Times New Roman"/>
              </a:defRPr>
            </a:lvl5pPr>
            <a:lvl6pPr algn="l">
              <a:defRPr b="1" sz="2350">
                <a:solidFill>
                  <a:srgbClr val="3333B2"/>
                </a:solidFill>
                <a:latin typeface="Times New Roman"/>
              </a:defRPr>
            </a:lvl6pPr>
            <a:lvl7pPr algn="l">
              <a:defRPr b="1" sz="2350">
                <a:solidFill>
                  <a:srgbClr val="3333B2"/>
                </a:solidFill>
                <a:latin typeface="Times New Roman"/>
              </a:defRPr>
            </a:lvl7pPr>
            <a:lvl8pPr algn="l">
              <a:defRPr b="1" sz="2350">
                <a:solidFill>
                  <a:srgbClr val="3333B2"/>
                </a:solidFill>
                <a:latin typeface="Times New Roman"/>
              </a:defRPr>
            </a:lvl8pPr>
            <a:lvl9pPr algn="l">
              <a:defRPr b="1" sz="2350">
                <a:solidFill>
                  <a:srgbClr val="3333B2"/>
                </a:solidFill>
                <a:latin typeface="Times New Roman"/>
              </a:defRPr>
            </a:lvl9pPr>
          </a:lstStyle>
          <a:p>
            <a:r>
              <a:rPr lang="en-US"/>
              <a:t>Click to edit Master title style</a:t>
            </a:r>
          </a:p>
        </p:txBody>
      </p:sp>
      <p:sp>
        <p:nvSpPr>
          <p:cNvPr id="3" name="Text Placeholder 2"/>
          <p:cNvSpPr>
            <a:spLocks noGrp="1"/>
          </p:cNvSpPr>
          <p:nvPr>
            <p:ph idx="1" type="body"/>
          </p:nvPr>
        </p:nvSpPr>
        <p:spPr>
          <a:xfrm>
            <a:off x="347472" y="950976"/>
            <a:ext cx="8449056" cy="5440680"/>
          </a:xfrm>
          <a:prstGeom prst="rect">
            <a:avLst/>
          </a:prstGeom>
        </p:spPr>
        <p:txBody>
          <a:bodyPr anchor="t" bIns="0" lIns="0" rIns="0" rtlCol="0" tIns="0" vert="horz">
            <a:normAutofit/>
          </a:bodyPr>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365760" y="6519672"/>
            <a:ext cx="6858000" cy="182880"/>
          </a:xfrm>
          <a:prstGeom prst="rect">
            <a:avLst/>
          </a:prstGeom>
        </p:spPr>
        <p:txBody>
          <a:bodyPr anchor="t" bIns="0" lIns="0" rIns="0" rtlCol="0" tIns="0" vert="horz"/>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65760" y="6519672"/>
            <a:ext cx="6858000" cy="182880"/>
          </a:xfrm>
          <a:prstGeom prst="rect">
            <a:avLst/>
          </a:prstGeom>
        </p:spPr>
        <p:txBody>
          <a:bodyPr anchor="t" bIns="0" lIns="0" rIns="0" rtlCol="0" tIns="0" vert="horz"/>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endParaRPr lang="en-US"/>
          </a:p>
        </p:txBody>
      </p:sp>
      <p:sp>
        <p:nvSpPr>
          <p:cNvPr id="6" name="Slide Number Placeholder 5"/>
          <p:cNvSpPr>
            <a:spLocks noGrp="1"/>
          </p:cNvSpPr>
          <p:nvPr>
            <p:ph idx="4" sz="quarter" type="sldNum"/>
          </p:nvPr>
        </p:nvSpPr>
        <p:spPr>
          <a:xfrm>
            <a:off x="8046720" y="6519672"/>
            <a:ext cx="914400" cy="182880"/>
          </a:xfrm>
          <a:prstGeom prst="rect">
            <a:avLst/>
          </a:prstGeom>
        </p:spPr>
        <p:txBody>
          <a:bodyPr anchor="t" bIns="0" lIns="0" rIns="0" rtlCol="0" tIns="0" vert="horz"/>
          <a:lstStyle>
            <a:lvl1pPr algn="l">
              <a:defRPr sz="1800">
                <a:latin typeface="Times New Roman"/>
              </a:defRPr>
            </a:lvl1pPr>
            <a:lvl2pPr algn="l">
              <a:defRPr sz="1800">
                <a:latin typeface="Times New Roman"/>
              </a:defRPr>
            </a:lvl2pPr>
            <a:lvl3pPr algn="l">
              <a:defRPr sz="1800">
                <a:latin typeface="Times New Roman"/>
              </a:defRPr>
            </a:lvl3pPr>
            <a:lvl4pPr algn="l">
              <a:defRPr sz="1800">
                <a:latin typeface="Times New Roman"/>
              </a:defRPr>
            </a:lvl4pPr>
            <a:lvl5pPr algn="l">
              <a:defRPr sz="1800">
                <a:latin typeface="Times New Roman"/>
              </a:defRPr>
            </a:lvl5pPr>
            <a:lvl6pPr algn="l">
              <a:defRPr sz="1800">
                <a:latin typeface="Times New Roman"/>
              </a:defRPr>
            </a:lvl6pPr>
            <a:lvl7pPr algn="l">
              <a:defRPr sz="1800">
                <a:latin typeface="Times New Roman"/>
              </a:defRPr>
            </a:lvl7pPr>
            <a:lvl8pPr algn="l">
              <a:defRPr sz="1800">
                <a:latin typeface="Times New Roman"/>
              </a:defRPr>
            </a:lvl8pPr>
            <a:lvl9pPr algn="l">
              <a:defRPr sz="1800">
                <a:latin typeface="Times New Roman"/>
              </a:defRPr>
            </a:lvl9pPr>
          </a:lstStyle>
          <a:p>
            <a:fld id="{C5EF2332-01BF-834F-8236-50238282D533}" type="slidenum">
              <a:rPr lang="en-US" smtClean="0"/>
              <a:t>‹#›</a:t>
            </a:fld>
            <a:endParaRPr lang="en-US"/>
          </a:p>
        </p:txBody>
      </p:sp>
    </p:spTree>
    <p:extLst>
      <p:ext uri="{BB962C8B-B14F-4D97-AF65-F5344CB8AC3E}">
        <ns2:creationId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buNone/>
        <a:defRPr kern="1200" sz="2350">
          <a:solidFill>
            <a:schemeClr val="tx1"/>
          </a:solidFill>
          <a:latin typeface="+mj-lt"/>
          <a:ea typeface="+mj-ea"/>
          <a:cs typeface="+mj-cs"/>
        </a:defRPr>
        <a:spcBef>
          <a:spcPts val="500"/>
        </a:spcBef>
      </a:lvl1pPr>
    </p:titleStyle>
    <p:bodyStyle>
      <a:lvl1pPr algn="l" defTabSz="342900" eaLnBrk="1" hangingPunct="1" indent="-342900" latinLnBrk="0" marL="342900" rtl="0">
        <a:buFont typeface="Arial"/>
        <a:buChar char="•"/>
        <a:defRPr kern="1200" sz="1800">
          <a:solidFill>
            <a:schemeClr val="tx1"/>
          </a:solidFill>
          <a:latin typeface="+mn-lt"/>
          <a:ea typeface="+mn-ea"/>
          <a:cs typeface="+mn-cs"/>
        </a:defRPr>
        <a:spcBef>
          <a:spcPts val="500"/>
        </a:spcBef>
      </a:lvl1pPr>
      <a:lvl2pPr algn="l" defTabSz="342900" eaLnBrk="1" hangingPunct="1" indent="-342900" latinLnBrk="0" marL="685800" rtl="0">
        <a:buFont typeface="Arial"/>
        <a:buChar char="–"/>
        <a:defRPr kern="1200" sz="1800">
          <a:solidFill>
            <a:schemeClr val="tx1"/>
          </a:solidFill>
          <a:latin typeface="+mn-lt"/>
          <a:ea typeface="+mn-ea"/>
          <a:cs typeface="+mn-cs"/>
        </a:defRPr>
        <a:spcBef>
          <a:spcPts val="500"/>
        </a:spcBef>
      </a:lvl2pPr>
      <a:lvl3pPr algn="l" defTabSz="342900" eaLnBrk="1" hangingPunct="1" indent="-342900" latinLnBrk="0" marL="1028700" rtl="0">
        <a:buFont typeface="Arial"/>
        <a:buChar char="•"/>
        <a:defRPr kern="1200" sz="1800">
          <a:solidFill>
            <a:schemeClr val="tx1"/>
          </a:solidFill>
          <a:latin typeface="+mn-lt"/>
          <a:ea typeface="+mn-ea"/>
          <a:cs typeface="+mn-cs"/>
        </a:defRPr>
        <a:spcBef>
          <a:spcPts val="500"/>
        </a:spcBef>
      </a:lvl3pPr>
      <a:lvl4pPr algn="l" defTabSz="342900" eaLnBrk="1" hangingPunct="1" indent="-342900" latinLnBrk="0" marL="1371600" rtl="0">
        <a:buFont typeface="Arial"/>
        <a:buChar char="–"/>
        <a:defRPr kern="1200" sz="1800">
          <a:solidFill>
            <a:schemeClr val="tx1"/>
          </a:solidFill>
          <a:latin typeface="+mn-lt"/>
          <a:ea typeface="+mn-ea"/>
          <a:cs typeface="+mn-cs"/>
        </a:defRPr>
        <a:spcBef>
          <a:spcPts val="500"/>
        </a:spcBef>
      </a:lvl4pPr>
      <a:lvl5pPr algn="l" defTabSz="342900" eaLnBrk="1" hangingPunct="1" indent="-342900" latinLnBrk="0" marL="1714500" rtl="0">
        <a:buFont typeface="Arial"/>
        <a:buChar char="»"/>
        <a:defRPr kern="1200" sz="1800">
          <a:solidFill>
            <a:schemeClr val="tx1"/>
          </a:solidFill>
          <a:latin typeface="+mn-lt"/>
          <a:ea typeface="+mn-ea"/>
          <a:cs typeface="+mn-cs"/>
        </a:defRPr>
        <a:spcBef>
          <a:spcPts val="500"/>
        </a:spcBef>
      </a:lvl5pPr>
      <a:lvl6pPr algn="l" defTabSz="342900" eaLnBrk="1" hangingPunct="1" indent="-342900" latinLnBrk="0" marL="2057400" rtl="0">
        <a:buFont typeface="Arial"/>
        <a:buChar char="•"/>
        <a:defRPr kern="1200" sz="1800">
          <a:solidFill>
            <a:schemeClr val="tx1"/>
          </a:solidFill>
          <a:latin typeface="+mn-lt"/>
          <a:ea typeface="+mn-ea"/>
          <a:cs typeface="+mn-cs"/>
        </a:defRPr>
        <a:spcBef>
          <a:spcPts val="500"/>
        </a:spcBef>
      </a:lvl6pPr>
      <a:lvl7pPr algn="l" defTabSz="342900" eaLnBrk="1" hangingPunct="1" indent="-342900" latinLnBrk="0" marL="2400300" rtl="0">
        <a:buFont typeface="Arial"/>
        <a:buChar char="•"/>
        <a:defRPr kern="1200" sz="1800">
          <a:solidFill>
            <a:schemeClr val="tx1"/>
          </a:solidFill>
          <a:latin typeface="+mn-lt"/>
          <a:ea typeface="+mn-ea"/>
          <a:cs typeface="+mn-cs"/>
        </a:defRPr>
        <a:spcBef>
          <a:spcPts val="500"/>
        </a:spcBef>
      </a:lvl7pPr>
      <a:lvl8pPr algn="l" defTabSz="342900" eaLnBrk="1" hangingPunct="1" indent="-342900" latinLnBrk="0" marL="2743200" rtl="0">
        <a:buFont typeface="Arial"/>
        <a:buChar char="•"/>
        <a:defRPr kern="1200" sz="1800">
          <a:solidFill>
            <a:schemeClr val="tx1"/>
          </a:solidFill>
          <a:latin typeface="+mn-lt"/>
          <a:ea typeface="+mn-ea"/>
          <a:cs typeface="+mn-cs"/>
        </a:defRPr>
        <a:spcBef>
          <a:spcPts val="500"/>
        </a:spcBef>
      </a:lvl8pPr>
      <a:lvl9pPr algn="l" defTabSz="342900" eaLnBrk="1" hangingPunct="1" indent="-342900" latinLnBrk="0" marL="3086100" rtl="0">
        <a:buFont typeface="Arial"/>
        <a:buChar char="•"/>
        <a:defRPr kern="1200" sz="1800">
          <a:solidFill>
            <a:schemeClr val="tx1"/>
          </a:solidFill>
          <a:latin typeface="+mn-lt"/>
          <a:ea typeface="+mn-ea"/>
          <a:cs typeface="+mn-cs"/>
        </a:defRPr>
        <a:spcBef>
          <a:spcPts val="500"/>
        </a:spcBef>
      </a:lvl9pPr>
    </p:bodyStyle>
    <p:otherStyle>
      <a:defPPr>
        <a:defRPr lang="en-US" sz="1800"/>
        <a:spcBef>
          <a:spcPts val="500"/>
        </a:spcBef>
      </a:defPPr>
      <a:lvl1pPr algn="l" defTabSz="342900" eaLnBrk="1" hangingPunct="1" latinLnBrk="0" marL="0" rtl="0">
        <a:defRPr kern="1200" sz="1800">
          <a:solidFill>
            <a:schemeClr val="tx1"/>
          </a:solidFill>
          <a:latin typeface="+mn-lt"/>
          <a:ea typeface="+mn-ea"/>
          <a:cs typeface="+mn-cs"/>
        </a:defRPr>
        <a:spcBef>
          <a:spcPts val="500"/>
        </a:spcBef>
      </a:lvl1pPr>
      <a:lvl2pPr algn="l" defTabSz="342900" eaLnBrk="1" hangingPunct="1" latinLnBrk="0" marL="342900" rtl="0">
        <a:defRPr kern="1200" sz="1800">
          <a:solidFill>
            <a:schemeClr val="tx1"/>
          </a:solidFill>
          <a:latin typeface="+mn-lt"/>
          <a:ea typeface="+mn-ea"/>
          <a:cs typeface="+mn-cs"/>
        </a:defRPr>
        <a:spcBef>
          <a:spcPts val="500"/>
        </a:spcBef>
      </a:lvl2pPr>
      <a:lvl3pPr algn="l" defTabSz="342900" eaLnBrk="1" hangingPunct="1" latinLnBrk="0" marL="685800" rtl="0">
        <a:defRPr kern="1200" sz="1800">
          <a:solidFill>
            <a:schemeClr val="tx1"/>
          </a:solidFill>
          <a:latin typeface="+mn-lt"/>
          <a:ea typeface="+mn-ea"/>
          <a:cs typeface="+mn-cs"/>
        </a:defRPr>
        <a:spcBef>
          <a:spcPts val="500"/>
        </a:spcBef>
      </a:lvl3pPr>
      <a:lvl4pPr algn="l" defTabSz="342900" eaLnBrk="1" hangingPunct="1" latinLnBrk="0" marL="1028700" rtl="0">
        <a:defRPr kern="1200" sz="1800">
          <a:solidFill>
            <a:schemeClr val="tx1"/>
          </a:solidFill>
          <a:latin typeface="+mn-lt"/>
          <a:ea typeface="+mn-ea"/>
          <a:cs typeface="+mn-cs"/>
        </a:defRPr>
        <a:spcBef>
          <a:spcPts val="500"/>
        </a:spcBef>
      </a:lvl4pPr>
      <a:lvl5pPr algn="l" defTabSz="342900" eaLnBrk="1" hangingPunct="1" latinLnBrk="0" marL="1371600" rtl="0">
        <a:defRPr kern="1200" sz="1800">
          <a:solidFill>
            <a:schemeClr val="tx1"/>
          </a:solidFill>
          <a:latin typeface="+mn-lt"/>
          <a:ea typeface="+mn-ea"/>
          <a:cs typeface="+mn-cs"/>
        </a:defRPr>
        <a:spcBef>
          <a:spcPts val="500"/>
        </a:spcBef>
      </a:lvl5pPr>
      <a:lvl6pPr algn="l" defTabSz="342900" eaLnBrk="1" hangingPunct="1" latinLnBrk="0" marL="1714500" rtl="0">
        <a:defRPr kern="1200" sz="1800">
          <a:solidFill>
            <a:schemeClr val="tx1"/>
          </a:solidFill>
          <a:latin typeface="+mn-lt"/>
          <a:ea typeface="+mn-ea"/>
          <a:cs typeface="+mn-cs"/>
        </a:defRPr>
        <a:spcBef>
          <a:spcPts val="500"/>
        </a:spcBef>
      </a:lvl6pPr>
      <a:lvl7pPr algn="l" defTabSz="342900" eaLnBrk="1" hangingPunct="1" latinLnBrk="0" marL="2057400" rtl="0">
        <a:defRPr kern="1200" sz="1800">
          <a:solidFill>
            <a:schemeClr val="tx1"/>
          </a:solidFill>
          <a:latin typeface="+mn-lt"/>
          <a:ea typeface="+mn-ea"/>
          <a:cs typeface="+mn-cs"/>
        </a:defRPr>
        <a:spcBef>
          <a:spcPts val="500"/>
        </a:spcBef>
      </a:lvl7pPr>
      <a:lvl8pPr algn="l" defTabSz="342900" eaLnBrk="1" hangingPunct="1" latinLnBrk="0" marL="2400300" rtl="0">
        <a:defRPr kern="1200" sz="1800">
          <a:solidFill>
            <a:schemeClr val="tx1"/>
          </a:solidFill>
          <a:latin typeface="+mn-lt"/>
          <a:ea typeface="+mn-ea"/>
          <a:cs typeface="+mn-cs"/>
        </a:defRPr>
        <a:spcBef>
          <a:spcPts val="500"/>
        </a:spcBef>
      </a:lvl8pPr>
      <a:lvl9pPr algn="l" defTabSz="342900" eaLnBrk="1" hangingPunct="1" latinLnBrk="0" marL="2743200" rtl="0">
        <a:defRPr kern="1200" sz="1800">
          <a:solidFill>
            <a:schemeClr val="tx1"/>
          </a:solidFill>
          <a:latin typeface="+mn-lt"/>
          <a:ea typeface="+mn-ea"/>
          <a:cs typeface="+mn-cs"/>
        </a:defRPr>
        <a:spcBef>
          <a:spcPts val="500"/>
        </a:spcBef>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png"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5.png"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5.png"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6.png"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5.png"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6.png"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7.png"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8.png"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9.png"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1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1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0.png" /></Relationships>
</file>

<file path=ppt/slides/_rels/slide1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1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1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1.png" /></Relationships>
</file>

<file path=ppt/slides/_rels/slide1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1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2.png" /></Relationships>
</file>

<file path=ppt/slides/_rels/slide1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1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3.png" /></Relationships>
</file>

<file path=ppt/slides/_rels/slide1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15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4.png" /></Relationships>
</file>

<file path=ppt/slides/_rels/slide1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1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5.png" /></Relationships>
</file>

<file path=ppt/slides/_rels/slide1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1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5.png" /></Relationships>
</file>

<file path=ppt/slides/_rels/slide1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1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cs.princeton.edu/~wayne/cs423/lectures/reductions-poly-4up.pdf"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NP-Completeness and Reduction Techniques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2</a:t>
            </a:r>
          </a:p>
        </p:txBody>
      </p:sp>
      <p:sp>
        <p:nvSpPr>
          <p:cNvPr id="3" name="Content Placeholder 2"/>
          <p:cNvSpPr>
            <a:spLocks noGrp="1"/>
          </p:cNvSpPr>
          <p:nvPr>
            <p:ph idx="1"/>
          </p:nvPr>
        </p:nvSpPr>
        <p:spPr/>
        <p:txBody>
          <a:bodyPr/>
          <a:lstStyle/>
          <a:p>
            <a:pPr lvl="0" indent="0" marL="0">
              <a:buNone/>
            </a:pPr>
            <a:r>
              <a:rPr b="1"/>
              <a:t>How Efficient Transformations Prove Computational Hardness</a:t>
            </a:r>
          </a:p>
          <a:p>
            <a:pPr lvl="0" indent="0" marL="0">
              <a:buNone/>
            </a:pPr>
            <a:r>
              <a:rPr/>
              <a:t>Most. Sonia Khatun</a:t>
            </a:r>
          </a:p>
          <a:p>
            <a:pPr lvl="0" indent="0" marL="0">
              <a:buNone/>
            </a:pPr>
            <a:r>
              <a:rPr/>
              <a:t>BSc in Department of Computer Science and Engineering</a:t>
            </a:r>
            <a:br/>
            <a:r>
              <a:rPr/>
              <a:t>Bangladesh University of Engineering and Technology (BUET)</a:t>
            </a:r>
          </a:p>
          <a:p>
            <a:pPr lvl="0" indent="0" marL="0">
              <a:buNone/>
            </a:pPr>
            <a:r>
              <a:rPr b="1"/>
              <a:t>Demo Lecture for the Position of Lecturer</a:t>
            </a:r>
            <a:br/>
            <a:r>
              <a:rPr/>
              <a:t>Department of Computer Science and Engineering</a:t>
            </a:r>
            <a:br/>
            <a:r>
              <a:rPr/>
              <a:t>Green University of Bangladesh</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Why Do We Need NP-Completeness?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4</a:t>
            </a:r>
          </a:p>
        </p:txBody>
      </p:sp>
      <p:pic>
        <p:nvPicPr>
          <p:cNvPr descr="editable_assets/diagram-01-1.png" id="0" name="Picture 1"/>
          <p:cNvPicPr>
            <a:picLocks noGrp="1" noChangeAspect="1"/>
          </p:cNvPicPr>
          <p:nvPr/>
        </p:nvPicPr>
        <p:blipFill>
          <a:blip r:embed="rId2"/>
          <a:stretch>
            <a:fillRect/>
          </a:stretch>
        </p:blipFill>
        <p:spPr bwMode="auto">
          <a:xfrm>
            <a:off x="342900" y="2921000"/>
            <a:ext cx="8445500" cy="14605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Why Do We Need NP-Completeness?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6</a:t>
            </a:r>
          </a:p>
        </p:txBody>
      </p:sp>
      <p:pic>
        <p:nvPicPr>
          <p:cNvPr descr="editable_assets/diagram-01-1.png" id="0" name="Picture 1"/>
          <p:cNvPicPr>
            <a:picLocks noGrp="1" noChangeAspect="1"/>
          </p:cNvPicPr>
          <p:nvPr/>
        </p:nvPicPr>
        <p:blipFill>
          <a:blip r:embed="rId2"/>
          <a:stretch>
            <a:fillRect/>
          </a:stretch>
        </p:blipFill>
        <p:spPr bwMode="auto">
          <a:xfrm>
            <a:off x="342900" y="2921000"/>
            <a:ext cx="8445500" cy="14605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7</a:t>
            </a:r>
          </a:p>
        </p:txBody>
      </p:sp>
      <p:sp>
        <p:nvSpPr>
          <p:cNvPr id="3" name="Content Placeholder 2"/>
          <p:cNvSpPr>
            <a:spLocks noGrp="1"/>
          </p:cNvSpPr>
          <p:nvPr>
            <p:ph idx="1"/>
          </p:nvPr>
        </p:nvSpPr>
        <p:spPr/>
        <p:txBody>
          <a:bodyPr/>
          <a:lstStyle/>
          <a:p>
            <a:pPr lvl="0" indent="0" marL="0">
              <a:buNone/>
            </a:pPr>
            <a:r>
              <a:rPr b="1"/>
              <a:t>The central proof question</a:t>
            </a:r>
          </a:p>
          <a:p>
            <a:pPr lvl="0" indent="0" marL="0">
              <a:buNone/>
            </a:pPr>
            <a:r>
              <a:rPr/>
              <a:t>How can we transfer the known hardness of one problem to a new problem?</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Why Do We Need NP-Completeness?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9</a:t>
            </a:r>
          </a:p>
        </p:txBody>
      </p:sp>
      <p:pic>
        <p:nvPicPr>
          <p:cNvPr descr="editable_assets/diagram-01-1.png" id="0" name="Picture 1"/>
          <p:cNvPicPr>
            <a:picLocks noGrp="1" noChangeAspect="1"/>
          </p:cNvPicPr>
          <p:nvPr/>
        </p:nvPicPr>
        <p:blipFill>
          <a:blip r:embed="rId2"/>
          <a:stretch>
            <a:fillRect/>
          </a:stretch>
        </p:blipFill>
        <p:spPr bwMode="auto">
          <a:xfrm>
            <a:off x="342900" y="2921000"/>
            <a:ext cx="8445500" cy="14605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10</a:t>
            </a:r>
          </a:p>
        </p:txBody>
      </p:sp>
      <p:sp>
        <p:nvSpPr>
          <p:cNvPr id="3" name="Content Placeholder 2"/>
          <p:cNvSpPr>
            <a:spLocks noGrp="1"/>
          </p:cNvSpPr>
          <p:nvPr>
            <p:ph idx="1"/>
          </p:nvPr>
        </p:nvSpPr>
        <p:spPr/>
        <p:txBody>
          <a:bodyPr/>
          <a:lstStyle/>
          <a:p>
            <a:pPr lvl="0" indent="0" marL="0">
              <a:buNone/>
            </a:pPr>
            <a:r>
              <a:rPr b="1"/>
              <a:t>The central proof question</a:t>
            </a:r>
          </a:p>
          <a:p>
            <a:pPr lvl="0" indent="0" marL="0">
              <a:buNone/>
            </a:pPr>
            <a:r>
              <a:rPr/>
              <a:t>How can we transfer the known hardness of one problem to a new problem?</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11</a:t>
            </a:r>
          </a:p>
        </p:txBody>
      </p:sp>
      <p:pic>
        <p:nvPicPr>
          <p:cNvPr descr="editable_assets/diagram-02-1.png" id="0" name="Picture 1"/>
          <p:cNvPicPr>
            <a:picLocks noGrp="1" noChangeAspect="1"/>
          </p:cNvPicPr>
          <p:nvPr/>
        </p:nvPicPr>
        <p:blipFill>
          <a:blip r:embed="rId2"/>
          <a:stretch>
            <a:fillRect/>
          </a:stretch>
        </p:blipFill>
        <p:spPr bwMode="auto">
          <a:xfrm>
            <a:off x="342900" y="2882900"/>
            <a:ext cx="8445500" cy="15367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12</a:t>
            </a:r>
          </a:p>
        </p:txBody>
      </p:sp>
      <p:sp>
        <p:nvSpPr>
          <p:cNvPr id="3" name="Content Placeholder 2"/>
          <p:cNvSpPr>
            <a:spLocks noGrp="1"/>
          </p:cNvSpPr>
          <p:nvPr>
            <p:ph idx="1"/>
          </p:nvPr>
        </p:nvSpPr>
        <p:spPr/>
        <p:txBody>
          <a:bodyPr/>
          <a:lstStyle/>
          <a:p>
            <a:pPr lvl="0" indent="0" marL="0">
              <a:buNone/>
            </a:pPr>
            <a:r>
              <a:rPr/>
              <a:t>The dotted arrows show the learning sequence, not set containment.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Start with P and NP</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14</a:t>
            </a:r>
          </a:p>
        </p:txBody>
      </p:sp>
      <p:sp>
        <p:nvSpPr>
          <p:cNvPr id="3" name="Content Placeholder 2"/>
          <p:cNvSpPr>
            <a:spLocks noGrp="1"/>
          </p:cNvSpPr>
          <p:nvPr>
            <p:ph idx="1"/>
          </p:nvPr>
        </p:nvSpPr>
        <p:spPr/>
        <p:txBody>
          <a:bodyPr/>
          <a:lstStyle/>
          <a:p>
            <a:pPr lvl="0" indent="0" marL="0">
              <a:buNone/>
            </a:pPr>
            <a:r>
              <a:rPr b="1"/>
              <a:t>P: solve efficiently</a:t>
            </a:r>
          </a:p>
          <a:p>
            <a:pPr lvl="0" indent="0" marL="0">
              <a:buNone/>
            </a:pPr>
            <a:r>
              <a:rPr/>
              <a:t>Decision problems solvable by a deterministic algorithm in polynomial time.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15</a:t>
            </a:r>
          </a:p>
        </p:txBody>
      </p:sp>
      <p:pic>
        <p:nvPicPr>
          <p:cNvPr descr="editable_assets/diagram-03-1.png" id="0" name="Picture 1"/>
          <p:cNvPicPr>
            <a:picLocks noGrp="1" noChangeAspect="1"/>
          </p:cNvPicPr>
          <p:nvPr/>
        </p:nvPicPr>
        <p:blipFill>
          <a:blip r:embed="rId2"/>
          <a:stretch>
            <a:fillRect/>
          </a:stretch>
        </p:blipFill>
        <p:spPr bwMode="auto">
          <a:xfrm>
            <a:off x="2133600" y="939800"/>
            <a:ext cx="4851400" cy="54356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16</a:t>
            </a:r>
          </a:p>
        </p:txBody>
      </p:sp>
      <p:sp>
        <p:nvSpPr>
          <p:cNvPr id="3" name="Content Placeholder 2"/>
          <p:cNvSpPr>
            <a:spLocks noGrp="1"/>
          </p:cNvSpPr>
          <p:nvPr>
            <p:ph idx="1"/>
          </p:nvPr>
        </p:nvSpPr>
        <p:spPr/>
        <p:txBody>
          <a:bodyPr/>
          <a:lstStyle/>
          <a:p>
            <a:pPr lvl="0" indent="0" marL="0">
              <a:buNone/>
            </a:pPr>
            <a:r>
              <a:rPr/>
              <a:t>Example: reachability can be solved by BFS or DFS.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Start with P and NP</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18</a:t>
            </a:r>
          </a:p>
        </p:txBody>
      </p:sp>
      <p:sp>
        <p:nvSpPr>
          <p:cNvPr id="3" name="Content Placeholder 2"/>
          <p:cNvSpPr>
            <a:spLocks noGrp="1"/>
          </p:cNvSpPr>
          <p:nvPr>
            <p:ph idx="1"/>
          </p:nvPr>
        </p:nvSpPr>
        <p:spPr/>
        <p:txBody>
          <a:bodyPr/>
          <a:lstStyle/>
          <a:p>
            <a:pPr lvl="0" indent="0" marL="0">
              <a:buNone/>
            </a:pPr>
            <a:r>
              <a:rPr b="1"/>
              <a:t>P: solve efficiently</a:t>
            </a:r>
          </a:p>
          <a:p>
            <a:pPr lvl="0" indent="0" marL="0">
              <a:buNone/>
            </a:pPr>
            <a:r>
              <a:rPr/>
              <a:t>Decision problems solvable by a deterministic algorithm in polynomial time.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19</a:t>
            </a:r>
          </a:p>
        </p:txBody>
      </p:sp>
      <p:pic>
        <p:nvPicPr>
          <p:cNvPr descr="editable_assets/diagram-03-1.png" id="0" name="Picture 1"/>
          <p:cNvPicPr>
            <a:picLocks noGrp="1" noChangeAspect="1"/>
          </p:cNvPicPr>
          <p:nvPr/>
        </p:nvPicPr>
        <p:blipFill>
          <a:blip r:embed="rId2"/>
          <a:stretch>
            <a:fillRect/>
          </a:stretch>
        </p:blipFill>
        <p:spPr bwMode="auto">
          <a:xfrm>
            <a:off x="2133600" y="939800"/>
            <a:ext cx="4851400" cy="54356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20</a:t>
            </a:r>
          </a:p>
        </p:txBody>
      </p:sp>
      <p:sp>
        <p:nvSpPr>
          <p:cNvPr id="3" name="Content Placeholder 2"/>
          <p:cNvSpPr>
            <a:spLocks noGrp="1"/>
          </p:cNvSpPr>
          <p:nvPr>
            <p:ph idx="1"/>
          </p:nvPr>
        </p:nvSpPr>
        <p:spPr/>
        <p:txBody>
          <a:bodyPr/>
          <a:lstStyle/>
          <a:p>
            <a:pPr lvl="0" indent="0" marL="0">
              <a:buNone/>
            </a:pPr>
            <a:r>
              <a:rPr/>
              <a:t>Example: reachability can be solved by BFS or DFS.</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21</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NP: verify efficiently</a:t>
                </a:r>
              </a:p>
              <a:p>
                <a:pPr lvl="0" indent="0" marL="0">
                  <a:buNone/>
                </a:pPr>
                <a:r>
                  <a:rPr/>
                  <a:t>There are a polynomial-time verifier </a:t>
                </a:r>
                <a14:m>
                  <m:oMath xmlns:m="http://schemas.openxmlformats.org/officeDocument/2006/math">
                    <m:r>
                      <m:t>V</m:t>
                    </m:r>
                  </m:oMath>
                </a14:m>
                <a:r>
                  <a:rPr/>
                  <a:t> and polynomial </a:t>
                </a:r>
                <a14:m>
                  <m:oMath xmlns:m="http://schemas.openxmlformats.org/officeDocument/2006/math">
                    <m:r>
                      <m:t>p</m:t>
                    </m:r>
                  </m:oMath>
                </a14:m>
                <a:r>
                  <a:rPr/>
                  <a:t> such that</a:t>
                </a:r>
              </a:p>
              <a:p>
                <a:pPr lvl="0" indent="0" marL="0">
                  <a:buNone/>
                </a:pPr>
                <a14:m>
                  <m:oMathPara xmlns:m="http://schemas.openxmlformats.org/officeDocument/2006/math">
                    <m:oMathParaPr>
                      <m:jc m:val="center"/>
                    </m:oMathParaPr>
                    <m:oMath>
                      <m:r>
                        <m:t>x</m:t>
                      </m:r>
                      <m:r>
                        <m:rPr>
                          <m:sty m:val="p"/>
                        </m:rPr>
                        <m:t>∈</m:t>
                      </m:r>
                      <m:r>
                        <m:t>L</m:t>
                      </m:r>
                      <m:r>
                        <m:rPr>
                          <m:sty m:val="p"/>
                        </m:rPr>
                        <m:t>⇔</m:t>
                      </m:r>
                      <m:r>
                        <m:rPr>
                          <m:sty m:val="p"/>
                        </m:rPr>
                        <m:t>∃</m:t>
                      </m:r>
                      <m:r>
                        <m:t>c</m:t>
                      </m:r>
                      <m:r>
                        <m:rPr>
                          <m:sty m:val="p"/>
                        </m:rPr>
                        <m:t>:</m:t>
                      </m:r>
                      <m:r>
                        <m:t> </m:t>
                      </m:r>
                      <m:m>
                        <m:mPr>
                          <m:baseJc m:val="center"/>
                          <m:plcHide m:val="on"/>
                          <m:mcs>
                            <m:mc>
                              <m:mcPr>
                                <m:mcJc m:val="left"/>
                                <m:count m:val="1"/>
                              </m:mcPr>
                            </m:mc>
                          </m:mcs>
                        </m:mPr>
                        <m:mr>
                          <m:e>
                            <m:r>
                              <m:rPr>
                                <m:sty m:val="p"/>
                              </m:rPr>
                              <m:t>|</m:t>
                            </m:r>
                            <m:r>
                              <m:t>c</m:t>
                            </m:r>
                            <m:r>
                              <m:rPr>
                                <m:sty m:val="p"/>
                              </m:rPr>
                              <m:t>|</m:t>
                            </m:r>
                            <m:r>
                              <m:rPr>
                                <m:sty m:val="p"/>
                              </m:rPr>
                              <m:t>≤</m:t>
                            </m:r>
                            <m:r>
                              <m:t>p</m:t>
                            </m:r>
                            <m:r>
                              <m:rPr>
                                <m:sty m:val="p"/>
                              </m:rPr>
                              <m:t>(</m:t>
                            </m:r>
                            <m:r>
                              <m:rPr>
                                <m:sty m:val="p"/>
                              </m:rPr>
                              <m:t>|</m:t>
                            </m:r>
                            <m:r>
                              <m:t>x</m:t>
                            </m:r>
                            <m:r>
                              <m:rPr>
                                <m:sty m:val="p"/>
                              </m:rPr>
                              <m:t>|</m:t>
                            </m:r>
                            <m:r>
                              <m:rPr>
                                <m:sty m:val="p"/>
                              </m:rPr>
                              <m:t>)</m:t>
                            </m:r>
                            <m:r>
                              <m:rPr>
                                <m:sty m:val="p"/>
                              </m:rPr>
                              <m:t>,</m:t>
                            </m:r>
                          </m:e>
                        </m:mr>
                        <m:mr>
                          <m:e>
                            <m:r>
                              <m:t>V</m:t>
                            </m:r>
                            <m:r>
                              <m:rPr>
                                <m:sty m:val="p"/>
                              </m:rPr>
                              <m:t>(</m:t>
                            </m:r>
                            <m:r>
                              <m:t>x</m:t>
                            </m:r>
                            <m:r>
                              <m:rPr>
                                <m:sty m:val="p"/>
                              </m:rPr>
                              <m:t>,</m:t>
                            </m:r>
                            <m:r>
                              <m:t>c</m:t>
                            </m:r>
                            <m:r>
                              <m:rPr>
                                <m:sty m:val="p"/>
                              </m:rPr>
                              <m:t>)</m:t>
                            </m:r>
                            <m:r>
                              <m:rPr>
                                <m:sty m:val="p"/>
                              </m:rPr>
                              <m:t>=</m:t>
                            </m:r>
                            <m:r>
                              <m:t>1</m:t>
                            </m:r>
                            <m:r>
                              <m:rPr>
                                <m:sty m:val="p"/>
                              </m:rPr>
                              <m:t>.</m:t>
                            </m:r>
                          </m:e>
                        </m:mr>
                      </m:m>
                    </m:oMath>
                  </m:oMathPara>
                </a14:m>
              </a:p>
            </p:txBody>
          </p:sp>
        </mc:Choice>
      </mc:AlternateContent>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22</a:t>
            </a:r>
          </a:p>
        </p:txBody>
      </p:sp>
      <p:pic>
        <p:nvPicPr>
          <p:cNvPr descr="editable_assets/diagram-04-1.png" id="0" name="Picture 1"/>
          <p:cNvPicPr>
            <a:picLocks noGrp="1" noChangeAspect="1"/>
          </p:cNvPicPr>
          <p:nvPr/>
        </p:nvPicPr>
        <p:blipFill>
          <a:blip r:embed="rId2"/>
          <a:stretch>
            <a:fillRect/>
          </a:stretch>
        </p:blipFill>
        <p:spPr bwMode="auto">
          <a:xfrm>
            <a:off x="1828800" y="939800"/>
            <a:ext cx="5461000" cy="54356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23</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For 3-COLOR, </a:t>
                </a:r>
                <a14:m>
                  <m:oMath xmlns:m="http://schemas.openxmlformats.org/officeDocument/2006/math">
                    <m:r>
                      <m:t>c</m:t>
                    </m:r>
                  </m:oMath>
                </a14:m>
                <a:r>
                  <a:rPr/>
                  <a:t> assigns one of three colors to every vertex; check every edge.</a:t>
                </a:r>
              </a:p>
            </p:txBody>
          </p:sp>
        </mc:Choice>
      </mc:AlternateContent>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Start with P and NP</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25</a:t>
            </a:r>
          </a:p>
        </p:txBody>
      </p:sp>
      <p:sp>
        <p:nvSpPr>
          <p:cNvPr id="3" name="Content Placeholder 2"/>
          <p:cNvSpPr>
            <a:spLocks noGrp="1"/>
          </p:cNvSpPr>
          <p:nvPr>
            <p:ph idx="1"/>
          </p:nvPr>
        </p:nvSpPr>
        <p:spPr/>
        <p:txBody>
          <a:bodyPr/>
          <a:lstStyle/>
          <a:p>
            <a:pPr lvl="0" indent="0" marL="0">
              <a:buNone/>
            </a:pPr>
            <a:r>
              <a:rPr b="1"/>
              <a:t>P: solve efficiently</a:t>
            </a:r>
          </a:p>
          <a:p>
            <a:pPr lvl="0" indent="0" marL="0">
              <a:buNone/>
            </a:pPr>
            <a:r>
              <a:rPr/>
              <a:t>Decision problems solvable by a deterministic algorithm in polynomial time.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26</a:t>
            </a:r>
          </a:p>
        </p:txBody>
      </p:sp>
      <p:pic>
        <p:nvPicPr>
          <p:cNvPr descr="editable_assets/diagram-03-1.png" id="0" name="Picture 1"/>
          <p:cNvPicPr>
            <a:picLocks noGrp="1" noChangeAspect="1"/>
          </p:cNvPicPr>
          <p:nvPr/>
        </p:nvPicPr>
        <p:blipFill>
          <a:blip r:embed="rId2"/>
          <a:stretch>
            <a:fillRect/>
          </a:stretch>
        </p:blipFill>
        <p:spPr bwMode="auto">
          <a:xfrm>
            <a:off x="2133600" y="939800"/>
            <a:ext cx="4851400" cy="543560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27</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Example: reachability can be solved by BFS or DFS.</a:t>
                </a:r>
              </a:p>
              <a:p>
                <a:pPr lvl="0" indent="0" marL="0">
                  <a:buNone/>
                </a:pPr>
                <a14:m>
                  <m:oMath xmlns:m="http://schemas.openxmlformats.org/officeDocument/2006/math">
                    <m:r>
                      <m:t>P</m:t>
                    </m:r>
                    <m:r>
                      <m:rPr>
                        <m:sty m:val="p"/>
                      </m:rPr>
                      <m:t>⊆</m:t>
                    </m:r>
                    <m:r>
                      <m:t>N</m:t>
                    </m:r>
                    <m:r>
                      <m:t>P</m:t>
                    </m:r>
                  </m:oMath>
                </a14:m>
                <a:r>
                  <a:rPr/>
                  <a:t>: a polynomial-time solver can serve as a verifier and ignore the certificate.</a:t>
                </a:r>
              </a:p>
            </p:txBody>
          </p:sp>
        </mc:Choice>
      </mc:AlternateContent>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28</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NP: verify efficiently</a:t>
                </a:r>
              </a:p>
              <a:p>
                <a:pPr lvl="0" indent="0" marL="0">
                  <a:buNone/>
                </a:pPr>
                <a:r>
                  <a:rPr/>
                  <a:t>There are a polynomial-time verifier </a:t>
                </a:r>
                <a14:m>
                  <m:oMath xmlns:m="http://schemas.openxmlformats.org/officeDocument/2006/math">
                    <m:r>
                      <m:t>V</m:t>
                    </m:r>
                  </m:oMath>
                </a14:m>
                <a:r>
                  <a:rPr/>
                  <a:t> and polynomial </a:t>
                </a:r>
                <a14:m>
                  <m:oMath xmlns:m="http://schemas.openxmlformats.org/officeDocument/2006/math">
                    <m:r>
                      <m:t>p</m:t>
                    </m:r>
                  </m:oMath>
                </a14:m>
                <a:r>
                  <a:rPr/>
                  <a:t> such that</a:t>
                </a:r>
              </a:p>
              <a:p>
                <a:pPr lvl="0" indent="0" marL="0">
                  <a:buNone/>
                </a:pPr>
                <a14:m>
                  <m:oMathPara xmlns:m="http://schemas.openxmlformats.org/officeDocument/2006/math">
                    <m:oMathParaPr>
                      <m:jc m:val="center"/>
                    </m:oMathParaPr>
                    <m:oMath>
                      <m:r>
                        <m:t>x</m:t>
                      </m:r>
                      <m:r>
                        <m:rPr>
                          <m:sty m:val="p"/>
                        </m:rPr>
                        <m:t>∈</m:t>
                      </m:r>
                      <m:r>
                        <m:t>L</m:t>
                      </m:r>
                      <m:r>
                        <m:rPr>
                          <m:sty m:val="p"/>
                        </m:rPr>
                        <m:t>⇔</m:t>
                      </m:r>
                      <m:r>
                        <m:rPr>
                          <m:sty m:val="p"/>
                        </m:rPr>
                        <m:t>∃</m:t>
                      </m:r>
                      <m:r>
                        <m:t>c</m:t>
                      </m:r>
                      <m:r>
                        <m:rPr>
                          <m:sty m:val="p"/>
                        </m:rPr>
                        <m:t>:</m:t>
                      </m:r>
                      <m:r>
                        <m:t> </m:t>
                      </m:r>
                      <m:m>
                        <m:mPr>
                          <m:baseJc m:val="center"/>
                          <m:plcHide m:val="on"/>
                          <m:mcs>
                            <m:mc>
                              <m:mcPr>
                                <m:mcJc m:val="left"/>
                                <m:count m:val="1"/>
                              </m:mcPr>
                            </m:mc>
                          </m:mcs>
                        </m:mPr>
                        <m:mr>
                          <m:e>
                            <m:r>
                              <m:rPr>
                                <m:sty m:val="p"/>
                              </m:rPr>
                              <m:t>|</m:t>
                            </m:r>
                            <m:r>
                              <m:t>c</m:t>
                            </m:r>
                            <m:r>
                              <m:rPr>
                                <m:sty m:val="p"/>
                              </m:rPr>
                              <m:t>|</m:t>
                            </m:r>
                            <m:r>
                              <m:rPr>
                                <m:sty m:val="p"/>
                              </m:rPr>
                              <m:t>≤</m:t>
                            </m:r>
                            <m:r>
                              <m:t>p</m:t>
                            </m:r>
                            <m:r>
                              <m:rPr>
                                <m:sty m:val="p"/>
                              </m:rPr>
                              <m:t>(</m:t>
                            </m:r>
                            <m:r>
                              <m:rPr>
                                <m:sty m:val="p"/>
                              </m:rPr>
                              <m:t>|</m:t>
                            </m:r>
                            <m:r>
                              <m:t>x</m:t>
                            </m:r>
                            <m:r>
                              <m:rPr>
                                <m:sty m:val="p"/>
                              </m:rPr>
                              <m:t>|</m:t>
                            </m:r>
                            <m:r>
                              <m:rPr>
                                <m:sty m:val="p"/>
                              </m:rPr>
                              <m:t>)</m:t>
                            </m:r>
                            <m:r>
                              <m:rPr>
                                <m:sty m:val="p"/>
                              </m:rPr>
                              <m:t>,</m:t>
                            </m:r>
                          </m:e>
                        </m:mr>
                        <m:mr>
                          <m:e>
                            <m:r>
                              <m:t>V</m:t>
                            </m:r>
                            <m:r>
                              <m:rPr>
                                <m:sty m:val="p"/>
                              </m:rPr>
                              <m:t>(</m:t>
                            </m:r>
                            <m:r>
                              <m:t>x</m:t>
                            </m:r>
                            <m:r>
                              <m:rPr>
                                <m:sty m:val="p"/>
                              </m:rPr>
                              <m:t>,</m:t>
                            </m:r>
                            <m:r>
                              <m:t>c</m:t>
                            </m:r>
                            <m:r>
                              <m:rPr>
                                <m:sty m:val="p"/>
                              </m:rPr>
                              <m:t>)</m:t>
                            </m:r>
                            <m:r>
                              <m:rPr>
                                <m:sty m:val="p"/>
                              </m:rPr>
                              <m:t>=</m:t>
                            </m:r>
                            <m:r>
                              <m:t>1</m:t>
                            </m:r>
                            <m:r>
                              <m:rPr>
                                <m:sty m:val="p"/>
                              </m:rPr>
                              <m:t>.</m:t>
                            </m:r>
                          </m:e>
                        </m:mr>
                      </m:m>
                    </m:oMath>
                  </m:oMathPara>
                </a14:m>
              </a:p>
            </p:txBody>
          </p:sp>
        </mc:Choice>
      </mc:AlternateContent>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29</a:t>
            </a:r>
          </a:p>
        </p:txBody>
      </p:sp>
      <p:pic>
        <p:nvPicPr>
          <p:cNvPr descr="editable_assets/diagram-04-1.png" id="0" name="Picture 1"/>
          <p:cNvPicPr>
            <a:picLocks noGrp="1" noChangeAspect="1"/>
          </p:cNvPicPr>
          <p:nvPr/>
        </p:nvPicPr>
        <p:blipFill>
          <a:blip r:embed="rId2"/>
          <a:stretch>
            <a:fillRect/>
          </a:stretch>
        </p:blipFill>
        <p:spPr bwMode="auto">
          <a:xfrm>
            <a:off x="1828800" y="939800"/>
            <a:ext cx="5461000" cy="54356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30</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For 3-COLOR, </a:t>
                </a:r>
                <a14:m>
                  <m:oMath xmlns:m="http://schemas.openxmlformats.org/officeDocument/2006/math">
                    <m:r>
                      <m:t>c</m:t>
                    </m:r>
                  </m:oMath>
                </a14:m>
                <a:r>
                  <a:rPr/>
                  <a:t> assigns one of three colors to every vertex; check every edge.</a:t>
                </a:r>
              </a:p>
              <a:p>
                <a:pPr lvl="0" indent="0" marL="0">
                  <a:buNone/>
                </a:pPr>
                <a:r>
                  <a:rPr/>
                  <a:t>NP means </a:t>
                </a:r>
                <a:r>
                  <a:rPr b="1"/>
                  <a:t>nondeterministic polynomial time</a:t>
                </a:r>
                <a:r>
                  <a:rPr/>
                  <a:t>, not “non-polynomial.” Whether </a:t>
                </a:r>
                <a14:m>
                  <m:oMath xmlns:m="http://schemas.openxmlformats.org/officeDocument/2006/math">
                    <m:r>
                      <m:t>P</m:t>
                    </m:r>
                    <m:r>
                      <m:rPr>
                        <m:sty m:val="p"/>
                      </m:rPr>
                      <m:t>=</m:t>
                    </m:r>
                    <m:r>
                      <m:t>N</m:t>
                    </m:r>
                    <m:r>
                      <m:t>P</m:t>
                    </m:r>
                  </m:oMath>
                </a14:m>
                <a:r>
                  <a:rPr/>
                  <a:t> is open.</a:t>
                </a:r>
              </a:p>
            </p:txBody>
          </p:sp>
        </mc:Choice>
      </mc:AlternateContent>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From NP-Hard to NP-Complete</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32</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NP-hard: hard for all of NP</a:t>
                </a:r>
              </a:p>
              <a:p>
                <a:pPr lvl="0" indent="0" marL="0">
                  <a:buNone/>
                </a:pPr>
                <a:r>
                  <a:rPr/>
                  <a:t>A problem </a:t>
                </a:r>
                <a14:m>
                  <m:oMath xmlns:m="http://schemas.openxmlformats.org/officeDocument/2006/math">
                    <m:r>
                      <m:t>H</m:t>
                    </m:r>
                  </m:oMath>
                </a14:m>
                <a:r>
                  <a:rPr/>
                  <a:t> is NP-hard if</a:t>
                </a:r>
              </a:p>
              <a:p>
                <a:pPr lvl="0" indent="0" marL="0">
                  <a:buNone/>
                </a:pPr>
                <a14:m>
                  <m:oMathPara xmlns:m="http://schemas.openxmlformats.org/officeDocument/2006/math">
                    <m:oMathParaPr>
                      <m:jc m:val="center"/>
                    </m:oMathParaPr>
                    <m:oMath>
                      <m:r>
                        <m:rPr>
                          <m:sty m:val="p"/>
                        </m:rPr>
                        <m:t>∀</m:t>
                      </m:r>
                      <m:r>
                        <m:t>L</m:t>
                      </m:r>
                      <m:r>
                        <m:rPr>
                          <m:sty m:val="p"/>
                        </m:rPr>
                        <m:t>∈</m:t>
                      </m:r>
                      <m:r>
                        <m:t>N</m:t>
                      </m:r>
                      <m:r>
                        <m:t>P</m:t>
                      </m:r>
                      <m:r>
                        <m:rPr>
                          <m:sty m:val="p"/>
                        </m:rPr>
                        <m:t>,</m:t>
                      </m:r>
                      <m:r>
                        <m:t>  </m:t>
                      </m:r>
                      <m:r>
                        <m:t>L</m:t>
                      </m:r>
                      <m:sSub>
                        <m:e>
                          <m:r>
                            <m:rPr>
                              <m:sty m:val="p"/>
                            </m:rPr>
                            <m:t>≤</m:t>
                          </m:r>
                        </m:e>
                        <m:sub>
                          <m:r>
                            <m:t>p</m:t>
                          </m:r>
                        </m:sub>
                      </m:sSub>
                      <m:r>
                        <m:t>H</m:t>
                      </m:r>
                      <m:r>
                        <m:rPr>
                          <m:sty m:val="p"/>
                        </m:rPr>
                        <m:t>.</m:t>
                      </m:r>
                    </m:oMath>
                  </m:oMathPara>
                </a14:m>
              </a:p>
              <a:p>
                <a:pPr lvl="0" indent="0" marL="0">
                  <a:buNone/>
                </a:pPr>
                <a14:m>
                  <m:oMath xmlns:m="http://schemas.openxmlformats.org/officeDocument/2006/math">
                    <m:r>
                      <m:t>L</m:t>
                    </m:r>
                    <m:sSub>
                      <m:e>
                        <m:r>
                          <m:rPr>
                            <m:sty m:val="p"/>
                          </m:rPr>
                          <m:t>≤</m:t>
                        </m:r>
                      </m:e>
                      <m:sub>
                        <m:r>
                          <m:t>p</m:t>
                        </m:r>
                      </m:sub>
                    </m:sSub>
                    <m:r>
                      <m:t>H</m:t>
                    </m:r>
                  </m:oMath>
                </a14:m>
                <a:r>
                  <a:rPr/>
                  <a:t> means an efficient, answer-preserving translation from </a:t>
                </a:r>
                <a14:m>
                  <m:oMath xmlns:m="http://schemas.openxmlformats.org/officeDocument/2006/math">
                    <m:r>
                      <m:t>L</m:t>
                    </m:r>
                  </m:oMath>
                </a14:m>
                <a:r>
                  <a:rPr/>
                  <a:t> to </a:t>
                </a:r>
                <a14:m>
                  <m:oMath xmlns:m="http://schemas.openxmlformats.org/officeDocument/2006/math">
                    <m:r>
                      <m:t>H</m:t>
                    </m:r>
                  </m:oMath>
                </a14:m>
                <a:r>
                  <a:rPr/>
                  <a:t>. An NP-hard problem need not itself belong to NP.</a:t>
                </a:r>
              </a:p>
              <a:p>
                <a:pPr lvl="0" indent="0" marL="0">
                  <a:buNone/>
                </a:pPr>
                <a:r>
                  <a:rPr b="1"/>
                  <a:t>NP-complete: both properties</a:t>
                </a:r>
              </a:p>
              <a:p>
                <a:pPr lvl="0" indent="0" marL="0">
                  <a:buNone/>
                </a:pPr>
                <a14:m>
                  <m:oMathPara xmlns:m="http://schemas.openxmlformats.org/officeDocument/2006/math">
                    <m:oMathParaPr>
                      <m:jc m:val="center"/>
                    </m:oMathParaPr>
                    <m:oMath>
                      <m:r>
                        <m:t>H</m:t>
                      </m:r>
                      <m:r>
                        <m:rPr>
                          <m:sty m:val="p"/>
                        </m:rPr>
                        <m:t>∈</m:t>
                      </m:r>
                      <m:r>
                        <m:t>N</m:t>
                      </m:r>
                      <m:r>
                        <m:t>P</m:t>
                      </m:r>
                      <m:r>
                        <m:t> </m:t>
                      </m:r>
                      <m:r>
                        <m:rPr>
                          <m:nor/>
                          <m:sty m:val="p"/>
                        </m:rPr>
                        <m:t>and</m:t>
                      </m:r>
                      <m:r>
                        <m:t> </m:t>
                      </m:r>
                      <m:r>
                        <m:t>H</m:t>
                      </m:r>
                      <m:r>
                        <m:rPr>
                          <m:nor/>
                          <m:sty m:val="p"/>
                        </m:rPr>
                        <m:t> is NP-hard</m:t>
                      </m:r>
                      <m:r>
                        <m:rPr>
                          <m:sty m:val="p"/>
                        </m:rPr>
                        <m:t>.</m:t>
                      </m:r>
                    </m:oMath>
                  </m:oMathPara>
                </a14:m>
              </a:p>
              <a:p>
                <a:pPr lvl="0" indent="0" marL="0">
                  <a:buNone/>
                </a:pPr>
                <a:r>
                  <a:rPr/>
                  <a:t>These are the hardest efficiently verifiable decision problems.</a:t>
                </a:r>
              </a:p>
            </p:txBody>
          </p:sp>
        </mc:Choice>
      </mc:AlternateContent>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From NP-Hard to NP-Complete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34</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NP-hard: hard for all of NP</a:t>
                </a:r>
              </a:p>
              <a:p>
                <a:pPr lvl="0" indent="0" marL="0">
                  <a:buNone/>
                </a:pPr>
                <a:r>
                  <a:rPr/>
                  <a:t>A problem </a:t>
                </a:r>
                <a14:m>
                  <m:oMath xmlns:m="http://schemas.openxmlformats.org/officeDocument/2006/math">
                    <m:r>
                      <m:t>H</m:t>
                    </m:r>
                  </m:oMath>
                </a14:m>
                <a:r>
                  <a:rPr/>
                  <a:t> is NP-hard if</a:t>
                </a:r>
              </a:p>
              <a:p>
                <a:pPr lvl="0" indent="0" marL="0">
                  <a:buNone/>
                </a:pPr>
                <a14:m>
                  <m:oMathPara xmlns:m="http://schemas.openxmlformats.org/officeDocument/2006/math">
                    <m:oMathParaPr>
                      <m:jc m:val="center"/>
                    </m:oMathParaPr>
                    <m:oMath>
                      <m:r>
                        <m:rPr>
                          <m:sty m:val="p"/>
                        </m:rPr>
                        <m:t>∀</m:t>
                      </m:r>
                      <m:r>
                        <m:t>L</m:t>
                      </m:r>
                      <m:r>
                        <m:rPr>
                          <m:sty m:val="p"/>
                        </m:rPr>
                        <m:t>∈</m:t>
                      </m:r>
                      <m:r>
                        <m:t>N</m:t>
                      </m:r>
                      <m:r>
                        <m:t>P</m:t>
                      </m:r>
                      <m:r>
                        <m:rPr>
                          <m:sty m:val="p"/>
                        </m:rPr>
                        <m:t>,</m:t>
                      </m:r>
                      <m:r>
                        <m:t>  </m:t>
                      </m:r>
                      <m:r>
                        <m:t>L</m:t>
                      </m:r>
                      <m:sSub>
                        <m:e>
                          <m:r>
                            <m:rPr>
                              <m:sty m:val="p"/>
                            </m:rPr>
                            <m:t>≤</m:t>
                          </m:r>
                        </m:e>
                        <m:sub>
                          <m:r>
                            <m:t>p</m:t>
                          </m:r>
                        </m:sub>
                      </m:sSub>
                      <m:r>
                        <m:t>H</m:t>
                      </m:r>
                      <m:r>
                        <m:rPr>
                          <m:sty m:val="p"/>
                        </m:rPr>
                        <m:t>.</m:t>
                      </m:r>
                    </m:oMath>
                  </m:oMathPara>
                </a14:m>
              </a:p>
              <a:p>
                <a:pPr lvl="0" indent="0" marL="0">
                  <a:buNone/>
                </a:pPr>
                <a14:m>
                  <m:oMath xmlns:m="http://schemas.openxmlformats.org/officeDocument/2006/math">
                    <m:r>
                      <m:t>L</m:t>
                    </m:r>
                    <m:sSub>
                      <m:e>
                        <m:r>
                          <m:rPr>
                            <m:sty m:val="p"/>
                          </m:rPr>
                          <m:t>≤</m:t>
                        </m:r>
                      </m:e>
                      <m:sub>
                        <m:r>
                          <m:t>p</m:t>
                        </m:r>
                      </m:sub>
                    </m:sSub>
                    <m:r>
                      <m:t>H</m:t>
                    </m:r>
                  </m:oMath>
                </a14:m>
                <a:r>
                  <a:rPr/>
                  <a:t> means an efficient, answer-preserving translation from </a:t>
                </a:r>
                <a14:m>
                  <m:oMath xmlns:m="http://schemas.openxmlformats.org/officeDocument/2006/math">
                    <m:r>
                      <m:t>L</m:t>
                    </m:r>
                  </m:oMath>
                </a14:m>
                <a:r>
                  <a:rPr/>
                  <a:t> to </a:t>
                </a:r>
                <a14:m>
                  <m:oMath xmlns:m="http://schemas.openxmlformats.org/officeDocument/2006/math">
                    <m:r>
                      <m:t>H</m:t>
                    </m:r>
                  </m:oMath>
                </a14:m>
                <a:r>
                  <a:rPr/>
                  <a:t>. An NP-hard problem need not itself belong to NP.</a:t>
                </a:r>
              </a:p>
              <a:p>
                <a:pPr lvl="0" indent="0" marL="0">
                  <a:buNone/>
                </a:pPr>
                <a:r>
                  <a:rPr b="1"/>
                  <a:t>NP-complete: both properties</a:t>
                </a:r>
              </a:p>
              <a:p>
                <a:pPr lvl="0" indent="0" marL="0">
                  <a:buNone/>
                </a:pPr>
                <a14:m>
                  <m:oMathPara xmlns:m="http://schemas.openxmlformats.org/officeDocument/2006/math">
                    <m:oMathParaPr>
                      <m:jc m:val="center"/>
                    </m:oMathParaPr>
                    <m:oMath>
                      <m:r>
                        <m:t>H</m:t>
                      </m:r>
                      <m:r>
                        <m:rPr>
                          <m:sty m:val="p"/>
                        </m:rPr>
                        <m:t>∈</m:t>
                      </m:r>
                      <m:r>
                        <m:t>N</m:t>
                      </m:r>
                      <m:r>
                        <m:t>P</m:t>
                      </m:r>
                      <m:r>
                        <m:t> </m:t>
                      </m:r>
                      <m:r>
                        <m:rPr>
                          <m:nor/>
                          <m:sty m:val="p"/>
                        </m:rPr>
                        <m:t>and</m:t>
                      </m:r>
                      <m:r>
                        <m:t> </m:t>
                      </m:r>
                      <m:r>
                        <m:t>H</m:t>
                      </m:r>
                      <m:r>
                        <m:rPr>
                          <m:nor/>
                          <m:sty m:val="p"/>
                        </m:rPr>
                        <m:t> is NP-hard</m:t>
                      </m:r>
                      <m:r>
                        <m:rPr>
                          <m:sty m:val="p"/>
                        </m:rPr>
                        <m:t>.</m:t>
                      </m:r>
                    </m:oMath>
                  </m:oMathPara>
                </a14:m>
              </a:p>
              <a:p>
                <a:pPr lvl="0" indent="0" marL="0">
                  <a:buNone/>
                </a:pPr>
                <a:r>
                  <a:rPr/>
                  <a:t>These are the hardest efficiently verifiable decision problems.</a:t>
                </a:r>
              </a:p>
            </p:txBody>
          </p:sp>
        </mc:Choice>
      </mc:AlternateContent>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35</a:t>
            </a:r>
          </a:p>
        </p:txBody>
      </p:sp>
      <p:pic>
        <p:nvPicPr>
          <p:cNvPr descr="editable_assets/diagram-05-1.png" id="0" name="Picture 1"/>
          <p:cNvPicPr>
            <a:picLocks noGrp="1" noChangeAspect="1"/>
          </p:cNvPicPr>
          <p:nvPr/>
        </p:nvPicPr>
        <p:blipFill>
          <a:blip r:embed="rId2"/>
          <a:stretch>
            <a:fillRect/>
          </a:stretch>
        </p:blipFill>
        <p:spPr bwMode="auto">
          <a:xfrm>
            <a:off x="342900" y="1282700"/>
            <a:ext cx="8445500" cy="47371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36</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P</m:t>
                    </m:r>
                    <m:r>
                      <m:rPr>
                        <m:sty m:val="p"/>
                      </m:rPr>
                      <m:t>⊆</m:t>
                    </m:r>
                    <m:r>
                      <m:t>N</m:t>
                    </m:r>
                    <m:r>
                      <m:t>P</m:t>
                    </m:r>
                  </m:oMath>
                </a14:m>
                <a:r>
                  <a:rPr/>
                  <a:t> is known. The exact boundary of </a:t>
                </a:r>
                <a14:m>
                  <m:oMath xmlns:m="http://schemas.openxmlformats.org/officeDocument/2006/math">
                    <m:r>
                      <m:t>P</m:t>
                    </m:r>
                  </m:oMath>
                </a14:m>
                <a:r>
                  <a:rPr/>
                  <a:t> is not drawn because whether </a:t>
                </a:r>
                <a14:m>
                  <m:oMath xmlns:m="http://schemas.openxmlformats.org/officeDocument/2006/math">
                    <m:r>
                      <m:t>P</m:t>
                    </m:r>
                    <m:r>
                      <m:rPr>
                        <m:sty m:val="p"/>
                      </m:rPr>
                      <m:t>=</m:t>
                    </m:r>
                    <m:r>
                      <m:t>N</m:t>
                    </m:r>
                    <m:r>
                      <m:t>P</m:t>
                    </m:r>
                  </m:oMath>
                </a14:m>
                <a:r>
                  <a:rPr/>
                  <a:t> is open.</a:t>
                </a:r>
              </a:p>
              <a:p>
                <a:pPr lvl="0" indent="0" marL="0">
                  <a:buNone/>
                </a:pPr>
                <a:r>
                  <a:rPr b="1"/>
                  <a:t>If one NP-complete problem is in </a:t>
                </a:r>
                <a14:m>
                  <m:oMath xmlns:m="http://schemas.openxmlformats.org/officeDocument/2006/math">
                    <m:r>
                      <m:t>P</m:t>
                    </m:r>
                  </m:oMath>
                </a14:m>
                <a:r>
                  <a:rPr b="1"/>
                  <a:t>, then </a:t>
                </a:r>
                <a14:m>
                  <m:oMath xmlns:m="http://schemas.openxmlformats.org/officeDocument/2006/math">
                    <m:r>
                      <m:t>P</m:t>
                    </m:r>
                    <m:r>
                      <m:rPr>
                        <m:sty m:val="p"/>
                      </m:rPr>
                      <m:t>=</m:t>
                    </m:r>
                    <m:r>
                      <m:t>N</m:t>
                    </m:r>
                    <m:r>
                      <m:t>P</m:t>
                    </m:r>
                  </m:oMath>
                </a14:m>
                <a:r>
                  <a:rPr b="1"/>
                  <a:t>.</a:t>
                </a:r>
              </a:p>
            </p:txBody>
          </p:sp>
        </mc:Choice>
      </mc:AlternateContent>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Polynomial-Time Reduction: an Answer-Preserving Translator</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38</a:t>
            </a:r>
          </a:p>
        </p:txBody>
      </p:sp>
      <p:pic>
        <p:nvPicPr>
          <p:cNvPr descr="editable_assets/diagram-06-1.png" id="0" name="Picture 1"/>
          <p:cNvPicPr>
            <a:picLocks noGrp="1" noChangeAspect="1"/>
          </p:cNvPicPr>
          <p:nvPr/>
        </p:nvPicPr>
        <p:blipFill>
          <a:blip r:embed="rId2"/>
          <a:stretch>
            <a:fillRect/>
          </a:stretch>
        </p:blipFill>
        <p:spPr bwMode="auto">
          <a:xfrm>
            <a:off x="342900" y="3098800"/>
            <a:ext cx="8445500" cy="11303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Polynomial-Time Reduction: an Answer-Preserving Translator</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40</a:t>
            </a:r>
          </a:p>
        </p:txBody>
      </p:sp>
      <p:pic>
        <p:nvPicPr>
          <p:cNvPr descr="editable_assets/diagram-06-1.png" id="0" name="Picture 1"/>
          <p:cNvPicPr>
            <a:picLocks noGrp="1" noChangeAspect="1"/>
          </p:cNvPicPr>
          <p:nvPr/>
        </p:nvPicPr>
        <p:blipFill>
          <a:blip r:embed="rId2"/>
          <a:stretch>
            <a:fillRect/>
          </a:stretch>
        </p:blipFill>
        <p:spPr bwMode="auto">
          <a:xfrm>
            <a:off x="342900" y="3098800"/>
            <a:ext cx="8445500" cy="1130300"/>
          </a:xfrm>
          <a:prstGeom prst="rect">
            <a:avLst/>
          </a:prstGeom>
          <a:noFill/>
          <a:ln w="9525">
            <a:noFill/>
            <a:headEnd/>
            <a:tailEnd/>
          </a:ln>
        </p:spPr>
      </p:pic>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41</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Formal meaning</a:t>
                </a:r>
              </a:p>
              <a:p>
                <a:pPr lvl="0" indent="0" marL="0">
                  <a:buNone/>
                </a:pPr>
                <a14:m>
                  <m:oMath xmlns:m="http://schemas.openxmlformats.org/officeDocument/2006/math">
                    <m:r>
                      <m:t>A</m:t>
                    </m:r>
                    <m:sSub>
                      <m:e>
                        <m:r>
                          <m:rPr>
                            <m:sty m:val="p"/>
                          </m:rPr>
                          <m:t>≤</m:t>
                        </m:r>
                      </m:e>
                      <m:sub>
                        <m:r>
                          <m:t>p</m:t>
                        </m:r>
                      </m:sub>
                    </m:sSub>
                    <m:r>
                      <m:t>B</m:t>
                    </m:r>
                  </m:oMath>
                </a14:m>
                <a:r>
                  <a:rPr/>
                  <a:t>: there exists a polynomial-time computable function </a:t>
                </a:r>
                <a14:m>
                  <m:oMath xmlns:m="http://schemas.openxmlformats.org/officeDocument/2006/math">
                    <m:r>
                      <m:t>f</m:t>
                    </m:r>
                  </m:oMath>
                </a14:m>
                <a:r>
                  <a:rPr/>
                  <a:t> such that</a:t>
                </a:r>
              </a:p>
              <a:p>
                <a:pPr lvl="0" indent="0" marL="0">
                  <a:buNone/>
                </a:pPr>
                <a14:m>
                  <m:oMathPara xmlns:m="http://schemas.openxmlformats.org/officeDocument/2006/math">
                    <m:oMathParaPr>
                      <m:jc m:val="center"/>
                    </m:oMathParaPr>
                    <m:oMath>
                      <m:r>
                        <m:rPr>
                          <m:sty m:val="p"/>
                        </m:rPr>
                        <m:t>∀</m:t>
                      </m:r>
                      <m:r>
                        <m:t>x</m:t>
                      </m:r>
                      <m:r>
                        <m:rPr>
                          <m:sty m:val="p"/>
                        </m:rPr>
                        <m:t>,</m:t>
                      </m:r>
                      <m:r>
                        <m:t>  </m:t>
                      </m:r>
                      <m:r>
                        <m:t>x</m:t>
                      </m:r>
                      <m:r>
                        <m:rPr>
                          <m:sty m:val="p"/>
                        </m:rPr>
                        <m:t>∈</m:t>
                      </m:r>
                      <m:r>
                        <m:t>A</m:t>
                      </m:r>
                      <m:r>
                        <m:rPr>
                          <m:sty m:val="p"/>
                        </m:rPr>
                        <m:t>⇔</m:t>
                      </m:r>
                      <m:r>
                        <m:t>f</m:t>
                      </m:r>
                      <m:r>
                        <m:rPr>
                          <m:sty m:val="p"/>
                        </m:rPr>
                        <m:t>(</m:t>
                      </m:r>
                      <m:r>
                        <m:t>x</m:t>
                      </m:r>
                      <m:r>
                        <m:rPr>
                          <m:sty m:val="p"/>
                        </m:rPr>
                        <m:t>)</m:t>
                      </m:r>
                      <m:r>
                        <m:rPr>
                          <m:sty m:val="p"/>
                        </m:rPr>
                        <m:t>∈</m:t>
                      </m:r>
                      <m:r>
                        <m:t>B</m:t>
                      </m:r>
                      <m:r>
                        <m:rPr>
                          <m:sty m:val="p"/>
                        </m:rPr>
                        <m:t>.</m:t>
                      </m:r>
                    </m:oMath>
                  </m:oMathPara>
                </a14:m>
              </a:p>
              <a:p>
                <a:pPr lvl="0" indent="0" marL="0">
                  <a:buNone/>
                </a:pPr>
                <a:r>
                  <a:rPr/>
                  <a:t>A solver for </a:t>
                </a:r>
                <a14:m>
                  <m:oMath xmlns:m="http://schemas.openxmlformats.org/officeDocument/2006/math">
                    <m:r>
                      <m:t>B</m:t>
                    </m:r>
                  </m:oMath>
                </a14:m>
                <a:r>
                  <a:rPr/>
                  <a:t> would also solve </a:t>
                </a:r>
                <a14:m>
                  <m:oMath xmlns:m="http://schemas.openxmlformats.org/officeDocument/2006/math">
                    <m:r>
                      <m:t>A</m:t>
                    </m:r>
                  </m:oMath>
                </a14:m>
                <a:r>
                  <a:rPr/>
                  <a:t>: </a:t>
                </a:r>
                <a14:m>
                  <m:oMath xmlns:m="http://schemas.openxmlformats.org/officeDocument/2006/math">
                    <m:r>
                      <m:t>B</m:t>
                    </m:r>
                  </m:oMath>
                </a14:m>
                <a:r>
                  <a:rPr/>
                  <a:t> is at least as hard as </a:t>
                </a:r>
                <a14:m>
                  <m:oMath xmlns:m="http://schemas.openxmlformats.org/officeDocument/2006/math">
                    <m:r>
                      <m:t>A</m:t>
                    </m:r>
                  </m:oMath>
                </a14:m>
                <a:r>
                  <a:rPr/>
                  <a:t>.</a:t>
                </a:r>
              </a:p>
              <a:p>
                <a:pPr lvl="0" indent="0" marL="0">
                  <a:buNone/>
                </a:pPr>
                <a:r>
                  <a:rPr b="1"/>
                  <a:t>To prove </a:t>
                </a:r>
                <a14:m>
                  <m:oMath xmlns:m="http://schemas.openxmlformats.org/officeDocument/2006/math">
                    <m:r>
                      <m:t>B</m:t>
                    </m:r>
                  </m:oMath>
                </a14:m>
                <a:r>
                  <a:rPr b="1"/>
                  <a:t> hard:</a:t>
                </a:r>
                <a:r>
                  <a:rPr/>
                  <a:t> known hard </a:t>
                </a:r>
                <a14:m>
                  <m:oMath xmlns:m="http://schemas.openxmlformats.org/officeDocument/2006/math">
                    <m:r>
                      <m:t>A</m:t>
                    </m:r>
                    <m:r>
                      <m:rPr>
                        <m:sty m:val="p"/>
                      </m:rPr>
                      <m:t>→</m:t>
                    </m:r>
                  </m:oMath>
                </a14:m>
                <a:r>
                  <a:rPr/>
                  <a:t> target </a:t>
                </a:r>
                <a14:m>
                  <m:oMath xmlns:m="http://schemas.openxmlformats.org/officeDocument/2006/math">
                    <m:r>
                      <m:t>B</m:t>
                    </m:r>
                  </m:oMath>
                </a14:m>
                <a:r>
                  <a:rPr/>
                  <a:t>.</a:t>
                </a:r>
              </a:p>
            </p:txBody>
          </p:sp>
        </mc:Choice>
      </mc:AlternateContent>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Polynomial-Time Reduction: an Answer-Preserving Translator</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43</a:t>
            </a:r>
          </a:p>
        </p:txBody>
      </p:sp>
      <p:pic>
        <p:nvPicPr>
          <p:cNvPr descr="editable_assets/diagram-06-1.png" id="0" name="Picture 1"/>
          <p:cNvPicPr>
            <a:picLocks noGrp="1" noChangeAspect="1"/>
          </p:cNvPicPr>
          <p:nvPr/>
        </p:nvPicPr>
        <p:blipFill>
          <a:blip r:embed="rId2"/>
          <a:stretch>
            <a:fillRect/>
          </a:stretch>
        </p:blipFill>
        <p:spPr bwMode="auto">
          <a:xfrm>
            <a:off x="342900" y="3098800"/>
            <a:ext cx="8445500" cy="11303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44</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Formal meaning</a:t>
                </a:r>
              </a:p>
              <a:p>
                <a:pPr lvl="0" indent="0" marL="0">
                  <a:buNone/>
                </a:pPr>
                <a14:m>
                  <m:oMath xmlns:m="http://schemas.openxmlformats.org/officeDocument/2006/math">
                    <m:r>
                      <m:t>A</m:t>
                    </m:r>
                    <m:sSub>
                      <m:e>
                        <m:r>
                          <m:rPr>
                            <m:sty m:val="p"/>
                          </m:rPr>
                          <m:t>≤</m:t>
                        </m:r>
                      </m:e>
                      <m:sub>
                        <m:r>
                          <m:t>p</m:t>
                        </m:r>
                      </m:sub>
                    </m:sSub>
                    <m:r>
                      <m:t>B</m:t>
                    </m:r>
                  </m:oMath>
                </a14:m>
                <a:r>
                  <a:rPr/>
                  <a:t>: there exists a polynomial-time computable function </a:t>
                </a:r>
                <a14:m>
                  <m:oMath xmlns:m="http://schemas.openxmlformats.org/officeDocument/2006/math">
                    <m:r>
                      <m:t>f</m:t>
                    </m:r>
                  </m:oMath>
                </a14:m>
                <a:r>
                  <a:rPr/>
                  <a:t> such that</a:t>
                </a:r>
              </a:p>
              <a:p>
                <a:pPr lvl="0" indent="0" marL="0">
                  <a:buNone/>
                </a:pPr>
                <a14:m>
                  <m:oMathPara xmlns:m="http://schemas.openxmlformats.org/officeDocument/2006/math">
                    <m:oMathParaPr>
                      <m:jc m:val="center"/>
                    </m:oMathParaPr>
                    <m:oMath>
                      <m:r>
                        <m:rPr>
                          <m:sty m:val="p"/>
                        </m:rPr>
                        <m:t>∀</m:t>
                      </m:r>
                      <m:r>
                        <m:t>x</m:t>
                      </m:r>
                      <m:r>
                        <m:rPr>
                          <m:sty m:val="p"/>
                        </m:rPr>
                        <m:t>,</m:t>
                      </m:r>
                      <m:r>
                        <m:t>  </m:t>
                      </m:r>
                      <m:r>
                        <m:t>x</m:t>
                      </m:r>
                      <m:r>
                        <m:rPr>
                          <m:sty m:val="p"/>
                        </m:rPr>
                        <m:t>∈</m:t>
                      </m:r>
                      <m:r>
                        <m:t>A</m:t>
                      </m:r>
                      <m:r>
                        <m:rPr>
                          <m:sty m:val="p"/>
                        </m:rPr>
                        <m:t>⇔</m:t>
                      </m:r>
                      <m:r>
                        <m:t>f</m:t>
                      </m:r>
                      <m:r>
                        <m:rPr>
                          <m:sty m:val="p"/>
                        </m:rPr>
                        <m:t>(</m:t>
                      </m:r>
                      <m:r>
                        <m:t>x</m:t>
                      </m:r>
                      <m:r>
                        <m:rPr>
                          <m:sty m:val="p"/>
                        </m:rPr>
                        <m:t>)</m:t>
                      </m:r>
                      <m:r>
                        <m:rPr>
                          <m:sty m:val="p"/>
                        </m:rPr>
                        <m:t>∈</m:t>
                      </m:r>
                      <m:r>
                        <m:t>B</m:t>
                      </m:r>
                      <m:r>
                        <m:rPr>
                          <m:sty m:val="p"/>
                        </m:rPr>
                        <m:t>.</m:t>
                      </m:r>
                    </m:oMath>
                  </m:oMathPara>
                </a14:m>
              </a:p>
              <a:p>
                <a:pPr lvl="0" indent="0" marL="0">
                  <a:buNone/>
                </a:pPr>
                <a:r>
                  <a:rPr/>
                  <a:t>A solver for </a:t>
                </a:r>
                <a14:m>
                  <m:oMath xmlns:m="http://schemas.openxmlformats.org/officeDocument/2006/math">
                    <m:r>
                      <m:t>B</m:t>
                    </m:r>
                  </m:oMath>
                </a14:m>
                <a:r>
                  <a:rPr/>
                  <a:t> would also solve </a:t>
                </a:r>
                <a14:m>
                  <m:oMath xmlns:m="http://schemas.openxmlformats.org/officeDocument/2006/math">
                    <m:r>
                      <m:t>A</m:t>
                    </m:r>
                  </m:oMath>
                </a14:m>
                <a:r>
                  <a:rPr/>
                  <a:t>: </a:t>
                </a:r>
                <a14:m>
                  <m:oMath xmlns:m="http://schemas.openxmlformats.org/officeDocument/2006/math">
                    <m:r>
                      <m:t>B</m:t>
                    </m:r>
                  </m:oMath>
                </a14:m>
                <a:r>
                  <a:rPr/>
                  <a:t> is at least as hard as </a:t>
                </a:r>
                <a14:m>
                  <m:oMath xmlns:m="http://schemas.openxmlformats.org/officeDocument/2006/math">
                    <m:r>
                      <m:t>A</m:t>
                    </m:r>
                  </m:oMath>
                </a14:m>
                <a:r>
                  <a:rPr/>
                  <a:t>.</a:t>
                </a:r>
              </a:p>
              <a:p>
                <a:pPr lvl="0" indent="0" marL="0">
                  <a:buNone/>
                </a:pPr>
                <a:r>
                  <a:rPr b="1"/>
                  <a:t>To prove </a:t>
                </a:r>
                <a14:m>
                  <m:oMath xmlns:m="http://schemas.openxmlformats.org/officeDocument/2006/math">
                    <m:r>
                      <m:t>B</m:t>
                    </m:r>
                  </m:oMath>
                </a14:m>
                <a:r>
                  <a:rPr b="1"/>
                  <a:t> hard:</a:t>
                </a:r>
                <a:r>
                  <a:rPr/>
                  <a:t> known hard </a:t>
                </a:r>
                <a14:m>
                  <m:oMath xmlns:m="http://schemas.openxmlformats.org/officeDocument/2006/math">
                    <m:r>
                      <m:t>A</m:t>
                    </m:r>
                    <m:r>
                      <m:rPr>
                        <m:sty m:val="p"/>
                      </m:rPr>
                      <m:t>→</m:t>
                    </m:r>
                  </m:oMath>
                </a14:m>
                <a:r>
                  <a:rPr/>
                  <a:t> target </a:t>
                </a:r>
                <a14:m>
                  <m:oMath xmlns:m="http://schemas.openxmlformats.org/officeDocument/2006/math">
                    <m:r>
                      <m:t>B</m:t>
                    </m:r>
                  </m:oMath>
                </a14:m>
                <a:r>
                  <a:rPr/>
                  <a:t>.</a:t>
                </a:r>
              </a:p>
            </p:txBody>
          </p:sp>
        </mc:Choice>
      </mc:AlternateContent>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45</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Tiny example: EVEN reduces to MULTIPLE-OF-4</a:t>
                </a:r>
              </a:p>
              <a:p>
                <a:pPr lvl="0" indent="0" marL="0">
                  <a:buNone/>
                </a:pPr>
                <a:r>
                  <a:rPr/>
                  <a:t>Use </a:t>
                </a:r>
                <a14:m>
                  <m:oMath xmlns:m="http://schemas.openxmlformats.org/officeDocument/2006/math">
                    <m:r>
                      <m:t>f</m:t>
                    </m:r>
                    <m:r>
                      <m:rPr>
                        <m:sty m:val="p"/>
                      </m:rPr>
                      <m:t>(</m:t>
                    </m:r>
                    <m:r>
                      <m:t>n</m:t>
                    </m:r>
                    <m:r>
                      <m:rPr>
                        <m:sty m:val="p"/>
                      </m:rPr>
                      <m:t>)</m:t>
                    </m:r>
                    <m:r>
                      <m:rPr>
                        <m:sty m:val="p"/>
                      </m:rPr>
                      <m:t>=</m:t>
                    </m:r>
                    <m:r>
                      <m:t>2</m:t>
                    </m:r>
                    <m:r>
                      <m:t>n</m:t>
                    </m:r>
                  </m:oMath>
                </a14:m>
                <a:r>
                  <a:rPr/>
                  <a:t>. Then</a:t>
                </a:r>
              </a:p>
              <a:p>
                <a:pPr lvl="0" indent="0" marL="0">
                  <a:buNone/>
                </a:pPr>
                <a14:m>
                  <m:oMathPara xmlns:m="http://schemas.openxmlformats.org/officeDocument/2006/math">
                    <m:oMathParaPr>
                      <m:jc m:val="center"/>
                    </m:oMathParaPr>
                    <m:oMath>
                      <m:r>
                        <m:t>n</m:t>
                      </m:r>
                      <m:r>
                        <m:rPr>
                          <m:nor/>
                          <m:sty m:val="p"/>
                        </m:rPr>
                        <m:t> is even</m:t>
                      </m:r>
                      <m:r>
                        <m:rPr>
                          <m:sty m:val="p"/>
                        </m:rPr>
                        <m:t>⇔</m:t>
                      </m:r>
                      <m:r>
                        <m:t>4</m:t>
                      </m:r>
                      <m:r>
                        <m:rPr>
                          <m:sty m:val="p"/>
                        </m:rPr>
                        <m:t>∣</m:t>
                      </m:r>
                      <m:r>
                        <m:t>2</m:t>
                      </m:r>
                      <m:r>
                        <m:t>n</m:t>
                      </m:r>
                      <m:r>
                        <m:rPr>
                          <m:sty m:val="p"/>
                        </m:rPr>
                        <m:t>.</m:t>
                      </m:r>
                    </m:oMath>
                  </m:oMathPara>
                </a14:m>
              </a:p>
            </p:txBody>
          </p:sp>
        </mc:Choice>
      </mc:AlternateContent>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46</a:t>
            </a:r>
          </a:p>
        </p:txBody>
      </p:sp>
      <p:graphicFrame>
        <p:nvGraphicFramePr>
          <p:cNvPr id="6" name="Content Placeholder 5"/>
          <p:cNvGraphicFramePr>
            <a:graphicFrameLocks noGrp="1"/>
          </p:cNvGraphicFramePr>
          <p:nvPr>
            <p:ph idx="1"/>
          </p:nvPr>
        </p:nvGraphicFramePr>
        <p:xfrm>
          <a:off x="342900" y="939800"/>
          <a:ext cx="8445500" cy="5435600"/>
        </p:xfrm>
        <a:graphic>
          <a:graphicData uri="http://schemas.openxmlformats.org/drawingml/2006/table">
            <a:tbl>
              <a:tblPr firstRow="1" bandRow="1">
                <a:tableStyleId>{5C22544A-7EE6-4342-B048-85BDC9FD1C3A}</a:tableStyleId>
              </a:tblPr>
              <a:tblGrid>
                <a:gridCol w="2806700"/>
                <a:gridCol w="2806700"/>
                <a:gridCol w="2806700"/>
              </a:tblGrid>
              <a:tr h="0">
                <a:tc>
                  <a:txBody>
                    <a:bodyPr/>
                    <a:lstStyle/>
                    <a:p>
                      <a:pPr lvl="0" indent="0" marL="0" algn="l">
                        <a:buNone/>
                      </a:pPr>
                      <a:r>
                        <a:rPr/>
                        <a:t>n</a:t>
                      </a:r>
                    </a:p>
                  </a:txBody>
                  <a:tcPr/>
                </a:tc>
                <a:tc>
                  <a:txBody>
                    <a:bodyPr/>
                    <a:lstStyle/>
                    <a:p>
                      <a:pPr lvl="0" indent="0" marL="0" algn="l">
                        <a:buNone/>
                      </a:pPr>
                      <a:r>
                        <a:rPr/>
                        <a:t>f(n)</a:t>
                      </a:r>
                    </a:p>
                  </a:txBody>
                  <a:tcPr/>
                </a:tc>
                <a:tc>
                  <a:txBody>
                    <a:bodyPr/>
                    <a:lstStyle/>
                    <a:p>
                      <a:pPr lvl="0" indent="0" marL="0" algn="l">
                        <a:buNone/>
                      </a:pPr>
                      <a:r>
                        <a:rPr/>
                        <a:t>Preserved?</a:t>
                      </a:r>
                    </a:p>
                  </a:txBody>
                  <a:tcPr/>
                </a:tc>
              </a:tr>
              <a:tr h="0">
                <a:tc>
                  <a:txBody>
                    <a:bodyPr/>
                    <a:lstStyle/>
                    <a:p>
                      <a:pPr lvl="0" indent="0" marL="0" algn="l">
                        <a:buNone/>
                      </a:pPr>
                      <a:r>
                        <a:rPr/>
                        <a:t>6: YES</a:t>
                      </a:r>
                    </a:p>
                  </a:txBody>
                </a:tc>
                <a:tc>
                  <a:txBody>
                    <a:bodyPr/>
                    <a:lstStyle/>
                    <a:p>
                      <a:pPr lvl="0" indent="0" marL="0" algn="l">
                        <a:buNone/>
                      </a:pPr>
                      <a:r>
                        <a:rPr/>
                        <a:t>12: YES</a:t>
                      </a:r>
                    </a:p>
                  </a:txBody>
                </a:tc>
                <a:tc>
                  <a:txBody>
                    <a:bodyPr/>
                    <a:lstStyle/>
                    <a:p>
                      <a:pPr lvl="0" indent="0" marL="0" algn="l">
                        <a:buNone/>
                      </a:pPr>
                      <a:r>
                        <a:rPr/>
                        <a:t>YES</a:t>
                      </a:r>
                    </a:p>
                  </a:txBody>
                </a:tc>
              </a:tr>
              <a:tr h="0">
                <a:tc>
                  <a:txBody>
                    <a:bodyPr/>
                    <a:lstStyle/>
                    <a:p>
                      <a:pPr lvl="0" indent="0" marL="0" algn="l">
                        <a:buNone/>
                      </a:pPr>
                      <a:r>
                        <a:rPr/>
                        <a:t>7: NO</a:t>
                      </a:r>
                    </a:p>
                  </a:txBody>
                </a:tc>
                <a:tc>
                  <a:txBody>
                    <a:bodyPr/>
                    <a:lstStyle/>
                    <a:p>
                      <a:pPr lvl="0" indent="0" marL="0" algn="l">
                        <a:buNone/>
                      </a:pPr>
                      <a:r>
                        <a:rPr/>
                        <a:t>14: NO</a:t>
                      </a:r>
                    </a:p>
                  </a:txBody>
                </a:tc>
                <a:tc>
                  <a:txBody>
                    <a:bodyPr/>
                    <a:lstStyle/>
                    <a:p>
                      <a:pPr lvl="0" indent="0" marL="0" algn="l">
                        <a:buNone/>
                      </a:pPr>
                      <a:r>
                        <a:rPr/>
                        <a:t>YES</a:t>
                      </a:r>
                    </a:p>
                  </a:txBody>
                </a:tc>
              </a:tr>
            </a:tbl>
          </a:graphicData>
        </a:graphic>
      </p:graphicFrame>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47</a:t>
            </a:r>
          </a:p>
        </p:txBody>
      </p:sp>
      <p:sp>
        <p:nvSpPr>
          <p:cNvPr id="3" name="Content Placeholder 2"/>
          <p:cNvSpPr>
            <a:spLocks noGrp="1"/>
          </p:cNvSpPr>
          <p:nvPr>
            <p:ph idx="1"/>
          </p:nvPr>
        </p:nvSpPr>
        <p:spPr/>
        <p:txBody>
          <a:bodyPr/>
          <a:lstStyle/>
          <a:p>
            <a:pPr lvl="0" indent="0" marL="0">
              <a:buNone/>
            </a:pPr>
            <a:r>
              <a:rPr/>
              <a:t>This illustrates the mechanics; a hardness proof starts from a known hard problem.</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Reusable Recipe: Proving a Problem NP-Complete</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49</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1. Membership in NP</a:t>
                </a:r>
              </a:p>
              <a:p>
                <a:pPr lvl="0"/>
                <a:r>
                  <a:rPr/>
                  <a:t>State a polynomial-size certificate.</a:t>
                </a:r>
              </a:p>
              <a:p>
                <a:pPr lvl="0"/>
                <a:r>
                  <a:rPr/>
                  <a:t>Give a polynomial-time verifier.</a:t>
                </a:r>
              </a:p>
              <a:p>
                <a:pPr lvl="0" indent="0" marL="0">
                  <a:buNone/>
                </a:pPr>
                <a14:m>
                  <m:oMathPara xmlns:m="http://schemas.openxmlformats.org/officeDocument/2006/math">
                    <m:oMathParaPr>
                      <m:jc m:val="center"/>
                    </m:oMathParaPr>
                    <m:oMath>
                      <m:r>
                        <m:t>B</m:t>
                      </m:r>
                      <m:r>
                        <m:rPr>
                          <m:sty m:val="p"/>
                        </m:rPr>
                        <m:t>∈</m:t>
                      </m:r>
                      <m:r>
                        <m:t>N</m:t>
                      </m:r>
                      <m:r>
                        <m:t>P</m:t>
                      </m:r>
                      <m:r>
                        <m:rPr>
                          <m:sty m:val="p"/>
                        </m:rPr>
                        <m:t>.</m:t>
                      </m:r>
                    </m:oMath>
                  </m:oMathPara>
                </a14:m>
              </a:p>
            </p:txBody>
          </p:sp>
        </mc:Choice>
      </mc:AlternateContent>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Reusable Recipe: Proving a Problem NP-Complete</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51</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1. Membership in NP</a:t>
                </a:r>
              </a:p>
              <a:p>
                <a:pPr lvl="0"/>
                <a:r>
                  <a:rPr/>
                  <a:t>State a polynomial-size certificate.</a:t>
                </a:r>
              </a:p>
              <a:p>
                <a:pPr lvl="0"/>
                <a:r>
                  <a:rPr/>
                  <a:t>Give a polynomial-time verifier.</a:t>
                </a:r>
              </a:p>
              <a:p>
                <a:pPr lvl="0" indent="0" marL="0">
                  <a:buNone/>
                </a:pPr>
                <a14:m>
                  <m:oMathPara xmlns:m="http://schemas.openxmlformats.org/officeDocument/2006/math">
                    <m:oMathParaPr>
                      <m:jc m:val="center"/>
                    </m:oMathParaPr>
                    <m:oMath>
                      <m:r>
                        <m:t>B</m:t>
                      </m:r>
                      <m:r>
                        <m:rPr>
                          <m:sty m:val="p"/>
                        </m:rPr>
                        <m:t>∈</m:t>
                      </m:r>
                      <m:r>
                        <m:t>N</m:t>
                      </m:r>
                      <m:r>
                        <m:t>P</m:t>
                      </m:r>
                      <m:r>
                        <m:rPr>
                          <m:sty m:val="p"/>
                        </m:rPr>
                        <m:t>.</m:t>
                      </m:r>
                    </m:oMath>
                  </m:oMathPara>
                </a14:m>
              </a:p>
            </p:txBody>
          </p:sp>
        </mc:Choice>
      </mc:AlternateContent>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52</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2. NP-hardness</a:t>
                </a:r>
              </a:p>
              <a:p>
                <a:pPr lvl="0" indent="-342900" marL="342900">
                  <a:buAutoNum type="arabicPeriod"/>
                </a:pPr>
                <a:r>
                  <a:rPr/>
                  <a:t>Choose a known NP-complete problem </a:t>
                </a:r>
                <a14:m>
                  <m:oMath xmlns:m="http://schemas.openxmlformats.org/officeDocument/2006/math">
                    <m:r>
                      <m:t>A</m:t>
                    </m:r>
                  </m:oMath>
                </a14:m>
                <a:r>
                  <a:rPr/>
                  <a:t>.</a:t>
                </a:r>
              </a:p>
              <a:p>
                <a:pPr lvl="0" indent="-342900" marL="342900">
                  <a:buAutoNum type="arabicPeriod"/>
                </a:pPr>
                <a:r>
                  <a:rPr/>
                  <a:t>Construct </a:t>
                </a:r>
                <a14:m>
                  <m:oMath xmlns:m="http://schemas.openxmlformats.org/officeDocument/2006/math">
                    <m:r>
                      <m:t>f</m:t>
                    </m:r>
                  </m:oMath>
                </a14:m>
                <a:r>
                  <a:rPr/>
                  <a:t> in polynomial time.</a:t>
                </a:r>
              </a:p>
              <a:p>
                <a:pPr lvl="0" indent="-342900" marL="342900">
                  <a:buAutoNum type="arabicPeriod"/>
                </a:pPr>
                <a:r>
                  <a:rPr/>
                  <a:t>Prove </a:t>
                </a:r>
                <a14:m>
                  <m:oMath xmlns:m="http://schemas.openxmlformats.org/officeDocument/2006/math">
                    <m:r>
                      <m:t>x</m:t>
                    </m:r>
                    <m:r>
                      <m:rPr>
                        <m:sty m:val="p"/>
                      </m:rPr>
                      <m:t>∈</m:t>
                    </m:r>
                    <m:r>
                      <m:t>A</m:t>
                    </m:r>
                    <m:r>
                      <m:rPr>
                        <m:sty m:val="p"/>
                      </m:rPr>
                      <m:t>⇔</m:t>
                    </m:r>
                    <m:r>
                      <m:t>f</m:t>
                    </m:r>
                    <m:r>
                      <m:rPr>
                        <m:sty m:val="p"/>
                      </m:rPr>
                      <m:t>(</m:t>
                    </m:r>
                    <m:r>
                      <m:t>x</m:t>
                    </m:r>
                    <m:r>
                      <m:rPr>
                        <m:sty m:val="p"/>
                      </m:rPr>
                      <m:t>)</m:t>
                    </m:r>
                    <m:r>
                      <m:rPr>
                        <m:sty m:val="p"/>
                      </m:rPr>
                      <m:t>∈</m:t>
                    </m:r>
                    <m:r>
                      <m:t>B</m:t>
                    </m:r>
                  </m:oMath>
                </a14:m>
                <a:r>
                  <a:rPr/>
                  <a:t>.</a:t>
                </a:r>
              </a:p>
              <a:p>
                <a:pPr lvl="0" indent="0" marL="0">
                  <a:buNone/>
                </a:pPr>
                <a:r>
                  <a:rPr/>
                  <a:t>If </a:t>
                </a:r>
                <a14:m>
                  <m:oMath xmlns:m="http://schemas.openxmlformats.org/officeDocument/2006/math">
                    <m:r>
                      <m:t>A</m:t>
                    </m:r>
                  </m:oMath>
                </a14:m>
                <a:r>
                  <a:rPr/>
                  <a:t> is NP-hard and </a:t>
                </a:r>
                <a14:m>
                  <m:oMath xmlns:m="http://schemas.openxmlformats.org/officeDocument/2006/math">
                    <m:r>
                      <m:t>A</m:t>
                    </m:r>
                    <m:sSub>
                      <m:e>
                        <m:r>
                          <m:rPr>
                            <m:sty m:val="p"/>
                          </m:rPr>
                          <m:t>≤</m:t>
                        </m:r>
                      </m:e>
                      <m:sub>
                        <m:r>
                          <m:t>p</m:t>
                        </m:r>
                      </m:sub>
                    </m:sSub>
                    <m:r>
                      <m:t>B</m:t>
                    </m:r>
                  </m:oMath>
                </a14:m>
                <a:r>
                  <a:rPr/>
                  <a:t>, then </a:t>
                </a:r>
                <a14:m>
                  <m:oMath xmlns:m="http://schemas.openxmlformats.org/officeDocument/2006/math">
                    <m:r>
                      <m:t>B</m:t>
                    </m:r>
                  </m:oMath>
                </a14:m>
                <a:r>
                  <a:rPr/>
                  <a:t> is NP-hard.</a:t>
                </a:r>
              </a:p>
            </p:txBody>
          </p:sp>
        </mc:Choice>
      </mc:AlternateContent>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Reusable Recipe: Proving a Problem NP-Complete</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54</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1. Membership in NP</a:t>
                </a:r>
              </a:p>
              <a:p>
                <a:pPr lvl="0"/>
                <a:r>
                  <a:rPr/>
                  <a:t>State a polynomial-size certificate.</a:t>
                </a:r>
              </a:p>
              <a:p>
                <a:pPr lvl="0"/>
                <a:r>
                  <a:rPr/>
                  <a:t>Give a polynomial-time verifier.</a:t>
                </a:r>
              </a:p>
              <a:p>
                <a:pPr lvl="0" indent="0" marL="0">
                  <a:buNone/>
                </a:pPr>
                <a14:m>
                  <m:oMathPara xmlns:m="http://schemas.openxmlformats.org/officeDocument/2006/math">
                    <m:oMathParaPr>
                      <m:jc m:val="center"/>
                    </m:oMathParaPr>
                    <m:oMath>
                      <m:r>
                        <m:t>B</m:t>
                      </m:r>
                      <m:r>
                        <m:rPr>
                          <m:sty m:val="p"/>
                        </m:rPr>
                        <m:t>∈</m:t>
                      </m:r>
                      <m:r>
                        <m:t>N</m:t>
                      </m:r>
                      <m:r>
                        <m:t>P</m:t>
                      </m:r>
                      <m:r>
                        <m:rPr>
                          <m:sty m:val="p"/>
                        </m:rPr>
                        <m:t>.</m:t>
                      </m:r>
                    </m:oMath>
                  </m:oMathPara>
                </a14:m>
              </a:p>
            </p:txBody>
          </p:sp>
        </mc:Choice>
      </mc:AlternateContent>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55</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2. NP-hardness</a:t>
                </a:r>
              </a:p>
              <a:p>
                <a:pPr lvl="0" indent="-342900" marL="342900">
                  <a:buAutoNum type="arabicPeriod"/>
                </a:pPr>
                <a:r>
                  <a:rPr/>
                  <a:t>Choose a known NP-complete problem </a:t>
                </a:r>
                <a14:m>
                  <m:oMath xmlns:m="http://schemas.openxmlformats.org/officeDocument/2006/math">
                    <m:r>
                      <m:t>A</m:t>
                    </m:r>
                  </m:oMath>
                </a14:m>
                <a:r>
                  <a:rPr/>
                  <a:t>.</a:t>
                </a:r>
              </a:p>
              <a:p>
                <a:pPr lvl="0" indent="-342900" marL="342900">
                  <a:buAutoNum type="arabicPeriod"/>
                </a:pPr>
                <a:r>
                  <a:rPr/>
                  <a:t>Construct </a:t>
                </a:r>
                <a14:m>
                  <m:oMath xmlns:m="http://schemas.openxmlformats.org/officeDocument/2006/math">
                    <m:r>
                      <m:t>f</m:t>
                    </m:r>
                  </m:oMath>
                </a14:m>
                <a:r>
                  <a:rPr/>
                  <a:t> in polynomial time.</a:t>
                </a:r>
              </a:p>
              <a:p>
                <a:pPr lvl="0" indent="-342900" marL="342900">
                  <a:buAutoNum type="arabicPeriod"/>
                </a:pPr>
                <a:r>
                  <a:rPr/>
                  <a:t>Prove </a:t>
                </a:r>
                <a14:m>
                  <m:oMath xmlns:m="http://schemas.openxmlformats.org/officeDocument/2006/math">
                    <m:r>
                      <m:t>x</m:t>
                    </m:r>
                    <m:r>
                      <m:rPr>
                        <m:sty m:val="p"/>
                      </m:rPr>
                      <m:t>∈</m:t>
                    </m:r>
                    <m:r>
                      <m:t>A</m:t>
                    </m:r>
                    <m:r>
                      <m:rPr>
                        <m:sty m:val="p"/>
                      </m:rPr>
                      <m:t>⇔</m:t>
                    </m:r>
                    <m:r>
                      <m:t>f</m:t>
                    </m:r>
                    <m:r>
                      <m:rPr>
                        <m:sty m:val="p"/>
                      </m:rPr>
                      <m:t>(</m:t>
                    </m:r>
                    <m:r>
                      <m:t>x</m:t>
                    </m:r>
                    <m:r>
                      <m:rPr>
                        <m:sty m:val="p"/>
                      </m:rPr>
                      <m:t>)</m:t>
                    </m:r>
                    <m:r>
                      <m:rPr>
                        <m:sty m:val="p"/>
                      </m:rPr>
                      <m:t>∈</m:t>
                    </m:r>
                    <m:r>
                      <m:t>B</m:t>
                    </m:r>
                  </m:oMath>
                </a14:m>
                <a:r>
                  <a:rPr/>
                  <a:t>.</a:t>
                </a:r>
              </a:p>
              <a:p>
                <a:pPr lvl="0" indent="0" marL="0">
                  <a:buNone/>
                </a:pPr>
                <a:r>
                  <a:rPr/>
                  <a:t>If </a:t>
                </a:r>
                <a14:m>
                  <m:oMath xmlns:m="http://schemas.openxmlformats.org/officeDocument/2006/math">
                    <m:r>
                      <m:t>A</m:t>
                    </m:r>
                  </m:oMath>
                </a14:m>
                <a:r>
                  <a:rPr/>
                  <a:t> is NP-hard and </a:t>
                </a:r>
                <a14:m>
                  <m:oMath xmlns:m="http://schemas.openxmlformats.org/officeDocument/2006/math">
                    <m:r>
                      <m:t>A</m:t>
                    </m:r>
                    <m:sSub>
                      <m:e>
                        <m:r>
                          <m:rPr>
                            <m:sty m:val="p"/>
                          </m:rPr>
                          <m:t>≤</m:t>
                        </m:r>
                      </m:e>
                      <m:sub>
                        <m:r>
                          <m:t>p</m:t>
                        </m:r>
                      </m:sub>
                    </m:sSub>
                    <m:r>
                      <m:t>B</m:t>
                    </m:r>
                  </m:oMath>
                </a14:m>
                <a:r>
                  <a:rPr/>
                  <a:t>, then </a:t>
                </a:r>
                <a14:m>
                  <m:oMath xmlns:m="http://schemas.openxmlformats.org/officeDocument/2006/math">
                    <m:r>
                      <m:t>B</m:t>
                    </m:r>
                  </m:oMath>
                </a14:m>
                <a:r>
                  <a:rPr/>
                  <a:t> is NP-hard.</a:t>
                </a:r>
              </a:p>
            </p:txBody>
          </p:sp>
        </mc:Choice>
      </mc:AlternateContent>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56</a:t>
            </a:r>
          </a:p>
        </p:txBody>
      </p:sp>
      <p:pic>
        <p:nvPicPr>
          <p:cNvPr descr="editable_assets/diagram-07-1.png" id="0" name="Picture 1"/>
          <p:cNvPicPr>
            <a:picLocks noGrp="1" noChangeAspect="1"/>
          </p:cNvPicPr>
          <p:nvPr/>
        </p:nvPicPr>
        <p:blipFill>
          <a:blip r:embed="rId2"/>
          <a:stretch>
            <a:fillRect/>
          </a:stretch>
        </p:blipFill>
        <p:spPr bwMode="auto">
          <a:xfrm>
            <a:off x="342900" y="2400300"/>
            <a:ext cx="8445500" cy="2514600"/>
          </a:xfrm>
          <a:prstGeom prst="rect">
            <a:avLst/>
          </a:prstGeom>
          <a:noFill/>
          <a:ln w="9525">
            <a:noFill/>
            <a:headEnd/>
            <a:tailEnd/>
          </a:ln>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57</a:t>
            </a:r>
          </a:p>
        </p:txBody>
      </p:sp>
      <p:sp>
        <p:nvSpPr>
          <p:cNvPr id="3" name="Content Placeholder 2"/>
          <p:cNvSpPr>
            <a:spLocks noGrp="1"/>
          </p:cNvSpPr>
          <p:nvPr>
            <p:ph idx="1"/>
          </p:nvPr>
        </p:nvSpPr>
        <p:spPr/>
        <p:txBody>
          <a:bodyPr/>
          <a:lstStyle/>
          <a:p>
            <a:pPr lvl="0" indent="0" marL="0">
              <a:buNone/>
            </a:pPr>
            <a:r>
              <a:rPr b="1"/>
              <a:t>Direction mnemonic:</a:t>
            </a:r>
            <a:r>
              <a:rPr/>
              <a:t> the known hard problem goes </a:t>
            </a:r>
            <a:r>
              <a:rPr i="1"/>
              <a:t>into</a:t>
            </a:r>
            <a:r>
              <a:rPr/>
              <a:t> the target problem.</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Worked Reduction: 3-SAT reduces to 3-COLOR</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59</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Source: 3-SAT</a:t>
                </a:r>
              </a:p>
              <a:p>
                <a:pPr lvl="0" indent="0" marL="0">
                  <a:buNone/>
                </a:pPr>
                <a:r>
                  <a:rPr/>
                  <a:t>A 3-CNF formula is an AND of clauses, each an OR of three literals:</a:t>
                </a:r>
              </a:p>
              <a:p>
                <a:pPr lvl="0" indent="0" marL="0">
                  <a:buNone/>
                </a:pPr>
                <a14:m>
                  <m:oMathPara xmlns:m="http://schemas.openxmlformats.org/officeDocument/2006/math">
                    <m:oMathParaPr>
                      <m:jc m:val="center"/>
                    </m:oMathParaPr>
                    <m:oMath>
                      <m:r>
                        <m:t>ϕ</m:t>
                      </m:r>
                      <m:r>
                        <m:rPr>
                          <m:sty m:val="p"/>
                        </m:rPr>
                        <m:t>=</m:t>
                      </m:r>
                      <m:sSub>
                        <m:e>
                          <m:r>
                            <m:t>C</m:t>
                          </m:r>
                        </m:e>
                        <m:sub>
                          <m:r>
                            <m:t>1</m:t>
                          </m:r>
                        </m:sub>
                      </m:sSub>
                      <m:r>
                        <m:rPr>
                          <m:sty m:val="p"/>
                        </m:rPr>
                        <m:t>∧</m:t>
                      </m:r>
                      <m:r>
                        <m:rPr>
                          <m:sty m:val="p"/>
                        </m:rPr>
                        <m:t>⋯</m:t>
                      </m:r>
                      <m:r>
                        <m:rPr>
                          <m:sty m:val="p"/>
                        </m:rPr>
                        <m:t>∧</m:t>
                      </m:r>
                      <m:sSub>
                        <m:e>
                          <m:r>
                            <m:t>C</m:t>
                          </m:r>
                        </m:e>
                        <m:sub>
                          <m:r>
                            <m:t>m</m:t>
                          </m:r>
                        </m:sub>
                      </m:sSub>
                      <m:r>
                        <m:rPr>
                          <m:sty m:val="p"/>
                        </m:rPr>
                        <m:t>.</m:t>
                      </m:r>
                    </m:oMath>
                  </m:oMathPara>
                </a14:m>
              </a:p>
              <a:p>
                <a:pPr lvl="0" indent="0" marL="0">
                  <a:buNone/>
                </a:pPr>
                <a:r>
                  <a:rPr/>
                  <a:t>Can a truth assignment satisfy every clause? A literal is a variable or its negation.</a:t>
                </a:r>
              </a:p>
            </p:txBody>
          </p:sp>
        </mc:Choice>
      </mc:AlternateContent>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60</a:t>
            </a:r>
          </a:p>
        </p:txBody>
      </p:sp>
      <p:sp>
        <p:nvSpPr>
          <p:cNvPr id="3" name="Content Placeholder 2"/>
          <p:cNvSpPr>
            <a:spLocks noGrp="1"/>
          </p:cNvSpPr>
          <p:nvPr>
            <p:ph idx="1"/>
          </p:nvPr>
        </p:nvSpPr>
        <p:spPr/>
        <p:txBody>
          <a:bodyPr/>
          <a:lstStyle/>
          <a:p>
            <a:pPr lvl="0" indent="0" marL="0">
              <a:buNone/>
            </a:pPr>
            <a:r>
              <a:rPr b="1"/>
              <a:t>Target: 3-COLOR</a:t>
            </a:r>
          </a:p>
          <a:p>
            <a:pPr lvl="0" indent="0" marL="0">
              <a:buNone/>
            </a:pPr>
            <a:r>
              <a:rPr/>
              <a:t>Can the graph’s vertices be colored with three colors so that adjacent vertices have different colors?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Worked Reduction: 3-SAT reduces to 3-COLOR</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62</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Source: 3-SAT</a:t>
                </a:r>
              </a:p>
              <a:p>
                <a:pPr lvl="0" indent="0" marL="0">
                  <a:buNone/>
                </a:pPr>
                <a:r>
                  <a:rPr/>
                  <a:t>A 3-CNF formula is an AND of clauses, each an OR of three literals:</a:t>
                </a:r>
              </a:p>
              <a:p>
                <a:pPr lvl="0" indent="0" marL="0">
                  <a:buNone/>
                </a:pPr>
                <a14:m>
                  <m:oMathPara xmlns:m="http://schemas.openxmlformats.org/officeDocument/2006/math">
                    <m:oMathParaPr>
                      <m:jc m:val="center"/>
                    </m:oMathParaPr>
                    <m:oMath>
                      <m:r>
                        <m:t>ϕ</m:t>
                      </m:r>
                      <m:r>
                        <m:rPr>
                          <m:sty m:val="p"/>
                        </m:rPr>
                        <m:t>=</m:t>
                      </m:r>
                      <m:sSub>
                        <m:e>
                          <m:r>
                            <m:t>C</m:t>
                          </m:r>
                        </m:e>
                        <m:sub>
                          <m:r>
                            <m:t>1</m:t>
                          </m:r>
                        </m:sub>
                      </m:sSub>
                      <m:r>
                        <m:rPr>
                          <m:sty m:val="p"/>
                        </m:rPr>
                        <m:t>∧</m:t>
                      </m:r>
                      <m:r>
                        <m:rPr>
                          <m:sty m:val="p"/>
                        </m:rPr>
                        <m:t>⋯</m:t>
                      </m:r>
                      <m:r>
                        <m:rPr>
                          <m:sty m:val="p"/>
                        </m:rPr>
                        <m:t>∧</m:t>
                      </m:r>
                      <m:sSub>
                        <m:e>
                          <m:r>
                            <m:t>C</m:t>
                          </m:r>
                        </m:e>
                        <m:sub>
                          <m:r>
                            <m:t>m</m:t>
                          </m:r>
                        </m:sub>
                      </m:sSub>
                      <m:r>
                        <m:rPr>
                          <m:sty m:val="p"/>
                        </m:rPr>
                        <m:t>.</m:t>
                      </m:r>
                    </m:oMath>
                  </m:oMathPara>
                </a14:m>
              </a:p>
              <a:p>
                <a:pPr lvl="0" indent="0" marL="0">
                  <a:buNone/>
                </a:pPr>
                <a:r>
                  <a:rPr/>
                  <a:t>Can a truth assignment satisfy every clause? A literal is a variable or its negation.</a:t>
                </a:r>
              </a:p>
            </p:txBody>
          </p:sp>
        </mc:Choice>
      </mc:AlternateContent>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63</a:t>
            </a:r>
          </a:p>
        </p:txBody>
      </p:sp>
      <p:sp>
        <p:nvSpPr>
          <p:cNvPr id="3" name="Content Placeholder 2"/>
          <p:cNvSpPr>
            <a:spLocks noGrp="1"/>
          </p:cNvSpPr>
          <p:nvPr>
            <p:ph idx="1"/>
          </p:nvPr>
        </p:nvSpPr>
        <p:spPr/>
        <p:txBody>
          <a:bodyPr/>
          <a:lstStyle/>
          <a:p>
            <a:pPr lvl="0" indent="0" marL="0">
              <a:buNone/>
            </a:pPr>
            <a:r>
              <a:rPr b="1"/>
              <a:t>Target: 3-COLOR</a:t>
            </a:r>
          </a:p>
          <a:p>
            <a:pPr lvl="0" indent="0" marL="0">
              <a:buNone/>
            </a:pPr>
            <a:r>
              <a:rPr/>
              <a:t>Can the graph’s vertices be colored with three colors so that adjacent vertices have different colors?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64</a:t>
            </a:r>
          </a:p>
        </p:txBody>
      </p:sp>
      <p:pic>
        <p:nvPicPr>
          <p:cNvPr descr="editable_assets/diagram-08-1.png" id="0" name="Picture 1"/>
          <p:cNvPicPr>
            <a:picLocks noGrp="1" noChangeAspect="1"/>
          </p:cNvPicPr>
          <p:nvPr/>
        </p:nvPicPr>
        <p:blipFill>
          <a:blip r:embed="rId2"/>
          <a:stretch>
            <a:fillRect/>
          </a:stretch>
        </p:blipFill>
        <p:spPr bwMode="auto">
          <a:xfrm>
            <a:off x="342900" y="2476500"/>
            <a:ext cx="8445500" cy="2349500"/>
          </a:xfrm>
          <a:prstGeom prst="rect">
            <a:avLst/>
          </a:prstGeom>
          <a:noFill/>
          <a:ln w="9525">
            <a:noFill/>
            <a:headEnd/>
            <a:tailEnd/>
          </a:ln>
        </p:spPr>
      </p:pic>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Worked Reduction: 3-SAT reduces to 3-COLOR</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66</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Source: 3-SAT</a:t>
                </a:r>
              </a:p>
              <a:p>
                <a:pPr lvl="0" indent="0" marL="0">
                  <a:buNone/>
                </a:pPr>
                <a:r>
                  <a:rPr/>
                  <a:t>A 3-CNF formula is an AND of clauses, each an OR of three literals:</a:t>
                </a:r>
              </a:p>
              <a:p>
                <a:pPr lvl="0" indent="0" marL="0">
                  <a:buNone/>
                </a:pPr>
                <a14:m>
                  <m:oMathPara xmlns:m="http://schemas.openxmlformats.org/officeDocument/2006/math">
                    <m:oMathParaPr>
                      <m:jc m:val="center"/>
                    </m:oMathParaPr>
                    <m:oMath>
                      <m:r>
                        <m:t>ϕ</m:t>
                      </m:r>
                      <m:r>
                        <m:rPr>
                          <m:sty m:val="p"/>
                        </m:rPr>
                        <m:t>=</m:t>
                      </m:r>
                      <m:sSub>
                        <m:e>
                          <m:r>
                            <m:t>C</m:t>
                          </m:r>
                        </m:e>
                        <m:sub>
                          <m:r>
                            <m:t>1</m:t>
                          </m:r>
                        </m:sub>
                      </m:sSub>
                      <m:r>
                        <m:rPr>
                          <m:sty m:val="p"/>
                        </m:rPr>
                        <m:t>∧</m:t>
                      </m:r>
                      <m:r>
                        <m:rPr>
                          <m:sty m:val="p"/>
                        </m:rPr>
                        <m:t>⋯</m:t>
                      </m:r>
                      <m:r>
                        <m:rPr>
                          <m:sty m:val="p"/>
                        </m:rPr>
                        <m:t>∧</m:t>
                      </m:r>
                      <m:sSub>
                        <m:e>
                          <m:r>
                            <m:t>C</m:t>
                          </m:r>
                        </m:e>
                        <m:sub>
                          <m:r>
                            <m:t>m</m:t>
                          </m:r>
                        </m:sub>
                      </m:sSub>
                      <m:r>
                        <m:rPr>
                          <m:sty m:val="p"/>
                        </m:rPr>
                        <m:t>.</m:t>
                      </m:r>
                    </m:oMath>
                  </m:oMathPara>
                </a14:m>
              </a:p>
              <a:p>
                <a:pPr lvl="0" indent="0" marL="0">
                  <a:buNone/>
                </a:pPr>
                <a:r>
                  <a:rPr/>
                  <a:t>Can a truth assignment satisfy every clause? A literal is a variable or its negation.</a:t>
                </a:r>
              </a:p>
            </p:txBody>
          </p:sp>
        </mc:Choice>
      </mc:AlternateContent>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67</a:t>
            </a:r>
          </a:p>
        </p:txBody>
      </p:sp>
      <p:sp>
        <p:nvSpPr>
          <p:cNvPr id="3" name="Content Placeholder 2"/>
          <p:cNvSpPr>
            <a:spLocks noGrp="1"/>
          </p:cNvSpPr>
          <p:nvPr>
            <p:ph idx="1"/>
          </p:nvPr>
        </p:nvSpPr>
        <p:spPr/>
        <p:txBody>
          <a:bodyPr/>
          <a:lstStyle/>
          <a:p>
            <a:pPr lvl="0" indent="0" marL="0">
              <a:buNone/>
            </a:pPr>
            <a:r>
              <a:rPr b="1"/>
              <a:t>Target: 3-COLOR</a:t>
            </a:r>
          </a:p>
          <a:p>
            <a:pPr lvl="0" indent="0" marL="0">
              <a:buNone/>
            </a:pPr>
            <a:r>
              <a:rPr/>
              <a:t>Can the graph’s vertices be colored with three colors so that adjacent vertices have different colors?</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68</a:t>
            </a:r>
          </a:p>
        </p:txBody>
      </p:sp>
      <p:pic>
        <p:nvPicPr>
          <p:cNvPr descr="editable_assets/diagram-08-1.png" id="0" name="Picture 1"/>
          <p:cNvPicPr>
            <a:picLocks noGrp="1" noChangeAspect="1"/>
          </p:cNvPicPr>
          <p:nvPr/>
        </p:nvPicPr>
        <p:blipFill>
          <a:blip r:embed="rId2"/>
          <a:stretch>
            <a:fillRect/>
          </a:stretch>
        </p:blipFill>
        <p:spPr bwMode="auto">
          <a:xfrm>
            <a:off x="342900" y="2476500"/>
            <a:ext cx="8445500" cy="2349500"/>
          </a:xfrm>
          <a:prstGeom prst="rect">
            <a:avLst/>
          </a:prstGeom>
          <a:noFill/>
          <a:ln w="9525">
            <a:noFill/>
            <a:headEnd/>
            <a:tailEnd/>
          </a:ln>
        </p:spPr>
      </p:pic>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69</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Design invariant:</a:t>
                </a:r>
                <a:r>
                  <a:rPr/>
                  <a:t> </a:t>
                </a:r>
                <a14:m>
                  <m:oMath xmlns:m="http://schemas.openxmlformats.org/officeDocument/2006/math">
                    <m:r>
                      <m:t>ϕ</m:t>
                    </m:r>
                  </m:oMath>
                </a14:m>
                <a:r>
                  <a:rPr/>
                  <a:t> is satisfiable if and only if </a:t>
                </a:r>
                <a14:m>
                  <m:oMath xmlns:m="http://schemas.openxmlformats.org/officeDocument/2006/math">
                    <m:sSub>
                      <m:e>
                        <m:r>
                          <m:t>G</m:t>
                        </m:r>
                      </m:e>
                      <m:sub>
                        <m:r>
                          <m:t>ϕ</m:t>
                        </m:r>
                      </m:sub>
                    </m:sSub>
                  </m:oMath>
                </a14:m>
                <a:r>
                  <a:rPr/>
                  <a:t> is 3-colorable.</a:t>
                </a:r>
              </a:p>
              <a:p>
                <a:pPr lvl="0" indent="0" marL="0">
                  <a:buNone/>
                </a:pPr>
                <a:r>
                  <a:rPr/>
                  <a:t>This illustrates the general proof recipe; it is not the definition of reduction.</a:t>
                </a:r>
              </a:p>
            </p:txBody>
          </p:sp>
        </mc:Choice>
      </mc:AlternateContent>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Encoding Truth with Colors</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71</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Palette gadget</a:t>
                </a:r>
              </a:p>
              <a:p>
                <a:pPr lvl="0" indent="0" marL="0">
                  <a:buNone/>
                </a:pPr>
                <a:r>
                  <a:rPr/>
                  <a:t>A triangle forces three distinct colors. Name them </a:t>
                </a:r>
                <a14:m>
                  <m:oMath xmlns:m="http://schemas.openxmlformats.org/officeDocument/2006/math">
                    <m:r>
                      <m:t>T</m:t>
                    </m:r>
                  </m:oMath>
                </a14:m>
                <a:r>
                  <a:rPr/>
                  <a:t>, </a:t>
                </a:r>
                <a14:m>
                  <m:oMath xmlns:m="http://schemas.openxmlformats.org/officeDocument/2006/math">
                    <m:r>
                      <m:t>F</m:t>
                    </m:r>
                  </m:oMath>
                </a14:m>
                <a:r>
                  <a:rPr/>
                  <a:t> and </a:t>
                </a:r>
                <a14:m>
                  <m:oMath xmlns:m="http://schemas.openxmlformats.org/officeDocument/2006/math">
                    <m:r>
                      <m:t>B</m:t>
                    </m:r>
                  </m:oMath>
                </a14:m>
                <a:r>
                  <a:rPr/>
                  <a:t> (base/helper).</a:t>
                </a:r>
              </a:p>
            </p:txBody>
          </p:sp>
        </mc:Choice>
      </mc:AlternateContent>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72</a:t>
            </a:r>
          </a:p>
        </p:txBody>
      </p:sp>
      <p:pic>
        <p:nvPicPr>
          <p:cNvPr descr="editable_assets/diagram-09-1.png" id="0" name="Picture 1"/>
          <p:cNvPicPr>
            <a:picLocks noGrp="1" noChangeAspect="1"/>
          </p:cNvPicPr>
          <p:nvPr/>
        </p:nvPicPr>
        <p:blipFill>
          <a:blip r:embed="rId2"/>
          <a:stretch>
            <a:fillRect/>
          </a:stretch>
        </p:blipFill>
        <p:spPr bwMode="auto">
          <a:xfrm>
            <a:off x="1219200" y="939800"/>
            <a:ext cx="6705600" cy="5435600"/>
          </a:xfrm>
          <a:prstGeom prst="rect">
            <a:avLst/>
          </a:prstGeom>
          <a:noFill/>
          <a:ln w="9525">
            <a:noFill/>
            <a:headEnd/>
            <a:tailEnd/>
          </a:ln>
        </p:spPr>
      </p:pic>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Encoding Truth with Colors</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74</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Palette gadget</a:t>
                </a:r>
              </a:p>
              <a:p>
                <a:pPr lvl="0" indent="0" marL="0">
                  <a:buNone/>
                </a:pPr>
                <a:r>
                  <a:rPr/>
                  <a:t>A triangle forces three distinct colors. Name them </a:t>
                </a:r>
                <a14:m>
                  <m:oMath xmlns:m="http://schemas.openxmlformats.org/officeDocument/2006/math">
                    <m:r>
                      <m:t>T</m:t>
                    </m:r>
                  </m:oMath>
                </a14:m>
                <a:r>
                  <a:rPr/>
                  <a:t>, </a:t>
                </a:r>
                <a14:m>
                  <m:oMath xmlns:m="http://schemas.openxmlformats.org/officeDocument/2006/math">
                    <m:r>
                      <m:t>F</m:t>
                    </m:r>
                  </m:oMath>
                </a14:m>
                <a:r>
                  <a:rPr/>
                  <a:t> and </a:t>
                </a:r>
                <a14:m>
                  <m:oMath xmlns:m="http://schemas.openxmlformats.org/officeDocument/2006/math">
                    <m:r>
                      <m:t>B</m:t>
                    </m:r>
                  </m:oMath>
                </a14:m>
                <a:r>
                  <a:rPr/>
                  <a:t> (base/helper).</a:t>
                </a:r>
              </a:p>
            </p:txBody>
          </p:sp>
        </mc:Choice>
      </mc:AlternateContent>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75</a:t>
            </a:r>
          </a:p>
        </p:txBody>
      </p:sp>
      <p:pic>
        <p:nvPicPr>
          <p:cNvPr descr="editable_assets/diagram-09-1.png" id="0" name="Picture 1"/>
          <p:cNvPicPr>
            <a:picLocks noGrp="1" noChangeAspect="1"/>
          </p:cNvPicPr>
          <p:nvPr/>
        </p:nvPicPr>
        <p:blipFill>
          <a:blip r:embed="rId2"/>
          <a:stretch>
            <a:fillRect/>
          </a:stretch>
        </p:blipFill>
        <p:spPr bwMode="auto">
          <a:xfrm>
            <a:off x="1219200" y="939800"/>
            <a:ext cx="6705600" cy="5435600"/>
          </a:xfrm>
          <a:prstGeom prst="rect">
            <a:avLst/>
          </a:prstGeom>
          <a:noFill/>
          <a:ln w="9525">
            <a:noFill/>
            <a:headEnd/>
            <a:tailEnd/>
          </a:ln>
        </p:spPr>
      </p:pic>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76</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Variable gadget</a:t>
                </a:r>
              </a:p>
              <a:p>
                <a:pPr lvl="0" indent="0" marL="0">
                  <a:buNone/>
                </a:pPr>
                <a:r>
                  <a:rPr/>
                  <a:t>Connect </a:t>
                </a:r>
                <a14:m>
                  <m:oMath xmlns:m="http://schemas.openxmlformats.org/officeDocument/2006/math">
                    <m:sSub>
                      <m:e>
                        <m:r>
                          <m:t>x</m:t>
                        </m:r>
                      </m:e>
                      <m:sub>
                        <m:r>
                          <m:t>i</m:t>
                        </m:r>
                      </m:sub>
                    </m:sSub>
                  </m:oMath>
                </a14:m>
                <a:r>
                  <a:rPr/>
                  <a:t> and </a:t>
                </a:r>
                <a14:m>
                  <m:oMath xmlns:m="http://schemas.openxmlformats.org/officeDocument/2006/math">
                    <m:r>
                      <m:rPr>
                        <m:sty m:val="p"/>
                      </m:rPr>
                      <m:t>¬</m:t>
                    </m:r>
                    <m:sSub>
                      <m:e>
                        <m:r>
                          <m:t>x</m:t>
                        </m:r>
                      </m:e>
                      <m:sub>
                        <m:r>
                          <m:t>i</m:t>
                        </m:r>
                      </m:sub>
                    </m:sSub>
                  </m:oMath>
                </a14:m>
                <a:r>
                  <a:rPr/>
                  <a:t> to each other and to </a:t>
                </a:r>
                <a14:m>
                  <m:oMath xmlns:m="http://schemas.openxmlformats.org/officeDocument/2006/math">
                    <m:r>
                      <m:t>B</m:t>
                    </m:r>
                  </m:oMath>
                </a14:m>
                <a:r>
                  <a:rPr/>
                  <a:t>.</a:t>
                </a:r>
              </a:p>
            </p:txBody>
          </p:sp>
        </mc:Choice>
      </mc:AlternateContent>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77</a:t>
            </a:r>
          </a:p>
        </p:txBody>
      </p:sp>
      <p:pic>
        <p:nvPicPr>
          <p:cNvPr descr="editable_assets/diagram-10-1.png" id="0" name="Picture 1"/>
          <p:cNvPicPr>
            <a:picLocks noGrp="1" noChangeAspect="1"/>
          </p:cNvPicPr>
          <p:nvPr/>
        </p:nvPicPr>
        <p:blipFill>
          <a:blip r:embed="rId2"/>
          <a:stretch>
            <a:fillRect/>
          </a:stretch>
        </p:blipFill>
        <p:spPr bwMode="auto">
          <a:xfrm>
            <a:off x="342900" y="1689100"/>
            <a:ext cx="8445500" cy="3949700"/>
          </a:xfrm>
          <a:prstGeom prst="rect">
            <a:avLst/>
          </a:prstGeom>
          <a:noFill/>
          <a:ln w="9525">
            <a:noFill/>
            <a:headEnd/>
            <a:tailEnd/>
          </a:ln>
        </p:spPr>
      </p:pic>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78</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Exactly one of </a:t>
                </a:r>
                <a14:m>
                  <m:oMath xmlns:m="http://schemas.openxmlformats.org/officeDocument/2006/math">
                    <m:sSub>
                      <m:e>
                        <m:r>
                          <m:t>x</m:t>
                        </m:r>
                      </m:e>
                      <m:sub>
                        <m:r>
                          <m:t>i</m:t>
                        </m:r>
                      </m:sub>
                    </m:sSub>
                  </m:oMath>
                </a14:m>
                <a:r>
                  <a:rPr b="1"/>
                  <a:t> and </a:t>
                </a:r>
                <a14:m>
                  <m:oMath xmlns:m="http://schemas.openxmlformats.org/officeDocument/2006/math">
                    <m:r>
                      <m:rPr>
                        <m:sty m:val="p"/>
                      </m:rPr>
                      <m:t>¬</m:t>
                    </m:r>
                    <m:sSub>
                      <m:e>
                        <m:r>
                          <m:t>x</m:t>
                        </m:r>
                      </m:e>
                      <m:sub>
                        <m:r>
                          <m:t>i</m:t>
                        </m:r>
                      </m:sub>
                    </m:sSub>
                  </m:oMath>
                </a14:m>
                <a:r>
                  <a:rPr b="1"/>
                  <a:t> receives color </a:t>
                </a:r>
                <a14:m>
                  <m:oMath xmlns:m="http://schemas.openxmlformats.org/officeDocument/2006/math">
                    <m:r>
                      <m:t>T</m:t>
                    </m:r>
                  </m:oMath>
                </a14:m>
                <a:r>
                  <a:rPr b="1"/>
                  <a:t>.</a:t>
                </a:r>
              </a:p>
            </p:txBody>
          </p:sp>
        </mc:Choice>
      </mc:AlternateContent>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Constructing the Exact Clause Gadget</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80</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For </a:t>
                </a:r>
                <a14:m>
                  <m:oMath xmlns:m="http://schemas.openxmlformats.org/officeDocument/2006/math">
                    <m:r>
                      <m:t>C</m:t>
                    </m:r>
                    <m:r>
                      <m:rPr>
                        <m:sty m:val="p"/>
                      </m:rPr>
                      <m:t>=</m:t>
                    </m:r>
                    <m:r>
                      <m:rPr>
                        <m:sty m:val="p"/>
                      </m:rPr>
                      <m:t>(</m:t>
                    </m:r>
                    <m:sSub>
                      <m:e>
                        <m:r>
                          <m:t>ℓ</m:t>
                        </m:r>
                      </m:e>
                      <m:sub>
                        <m:r>
                          <m:t>1</m:t>
                        </m:r>
                      </m:sub>
                    </m:sSub>
                    <m:r>
                      <m:rPr>
                        <m:sty m:val="p"/>
                      </m:rPr>
                      <m:t>∨</m:t>
                    </m:r>
                    <m:sSub>
                      <m:e>
                        <m:r>
                          <m:t>ℓ</m:t>
                        </m:r>
                      </m:e>
                      <m:sub>
                        <m:r>
                          <m:t>2</m:t>
                        </m:r>
                      </m:sub>
                    </m:sSub>
                    <m:r>
                      <m:rPr>
                        <m:sty m:val="p"/>
                      </m:rPr>
                      <m:t>∨</m:t>
                    </m:r>
                    <m:sSub>
                      <m:e>
                        <m:r>
                          <m:t>ℓ</m:t>
                        </m:r>
                      </m:e>
                      <m:sub>
                        <m:r>
                          <m:t>3</m:t>
                        </m:r>
                      </m:sub>
                    </m:sSub>
                    <m:r>
                      <m:rPr>
                        <m:sty m:val="p"/>
                      </m:rPr>
                      <m:t>)</m:t>
                    </m:r>
                  </m:oMath>
                </a14:m>
                <a:r>
                  <a:rPr/>
                  <a:t>, add six fresh vertices </a:t>
                </a:r>
                <a14:m>
                  <m:oMath xmlns:m="http://schemas.openxmlformats.org/officeDocument/2006/math">
                    <m:sSub>
                      <m:e>
                        <m:r>
                          <m:t>a</m:t>
                        </m:r>
                      </m:e>
                      <m:sub>
                        <m:r>
                          <m:t>i</m:t>
                        </m:r>
                      </m:sub>
                    </m:sSub>
                    <m:r>
                      <m:rPr>
                        <m:sty m:val="p"/>
                      </m:rPr>
                      <m:t>,</m:t>
                    </m:r>
                    <m:sSub>
                      <m:e>
                        <m:r>
                          <m:t>b</m:t>
                        </m:r>
                      </m:e>
                      <m:sub>
                        <m:r>
                          <m:t>i</m:t>
                        </m:r>
                      </m:sub>
                    </m:sSub>
                  </m:oMath>
                </a14:m>
                <a:r>
                  <a:rPr/>
                  <a:t> and 13 edges:</a:t>
                </a:r>
              </a:p>
              <a:p>
                <a:pPr lvl="0" indent="0" marL="0">
                  <a:buNone/>
                </a:pPr>
                <a14:m>
                  <m:oMathPara xmlns:m="http://schemas.openxmlformats.org/officeDocument/2006/math">
                    <m:oMathParaPr>
                      <m:jc m:val="center"/>
                    </m:oMathParaPr>
                    <m:oMath>
                      <m:eqArr>
                        <m:e>
                          <m:r>
                            <m:t>&amp;</m:t>
                          </m:r>
                          <m:r>
                            <m:rPr>
                              <m:sty m:val="p"/>
                            </m:rPr>
                            <m:t>(</m:t>
                          </m:r>
                          <m:sSub>
                            <m:e>
                              <m:r>
                                <m:t>ℓ</m:t>
                              </m:r>
                            </m:e>
                            <m:sub>
                              <m:r>
                                <m:t>i</m:t>
                              </m:r>
                            </m:sub>
                          </m:sSub>
                          <m:r>
                            <m:rPr>
                              <m:sty m:val="p"/>
                            </m:rPr>
                            <m:t>,</m:t>
                          </m:r>
                          <m:sSub>
                            <m:e>
                              <m:r>
                                <m:t>a</m:t>
                              </m:r>
                            </m:e>
                            <m:sub>
                              <m:r>
                                <m:t>i</m:t>
                              </m:r>
                            </m:sub>
                          </m:sSub>
                          <m:r>
                            <m:rPr>
                              <m:sty m:val="p"/>
                            </m:rPr>
                            <m:t>)</m:t>
                          </m:r>
                          <m:r>
                            <m:rPr>
                              <m:sty m:val="p"/>
                            </m:rPr>
                            <m:t>,</m:t>
                          </m:r>
                          <m:r>
                            <m:rPr>
                              <m:sty m:val="p"/>
                            </m:rPr>
                            <m:t>(</m:t>
                          </m:r>
                          <m:sSub>
                            <m:e>
                              <m:r>
                                <m:t>a</m:t>
                              </m:r>
                            </m:e>
                            <m:sub>
                              <m:r>
                                <m:t>i</m:t>
                              </m:r>
                            </m:sub>
                          </m:sSub>
                          <m:r>
                            <m:rPr>
                              <m:sty m:val="p"/>
                            </m:rPr>
                            <m:t>,</m:t>
                          </m:r>
                          <m:sSub>
                            <m:e>
                              <m:r>
                                <m:t>b</m:t>
                              </m:r>
                            </m:e>
                            <m:sub>
                              <m:r>
                                <m:t>i</m:t>
                              </m:r>
                            </m:sub>
                          </m:sSub>
                          <m:r>
                            <m:rPr>
                              <m:sty m:val="p"/>
                            </m:rPr>
                            <m:t>)</m:t>
                          </m:r>
                          <m:r>
                            <m:rPr>
                              <m:sty m:val="p"/>
                            </m:rPr>
                            <m:t>,</m:t>
                          </m:r>
                          <m:r>
                            <m:rPr>
                              <m:sty m:val="p"/>
                            </m:rPr>
                            <m:t>(</m:t>
                          </m:r>
                          <m:r>
                            <m:t>T</m:t>
                          </m:r>
                          <m:r>
                            <m:rPr>
                              <m:sty m:val="p"/>
                            </m:rPr>
                            <m:t>,</m:t>
                          </m:r>
                          <m:sSub>
                            <m:e>
                              <m:r>
                                <m:t>a</m:t>
                              </m:r>
                            </m:e>
                            <m:sub>
                              <m:r>
                                <m:t>i</m:t>
                              </m:r>
                            </m:sub>
                          </m:sSub>
                          <m:r>
                            <m:rPr>
                              <m:sty m:val="p"/>
                            </m:rPr>
                            <m:t>)</m:t>
                          </m:r>
                        </m:e>
                        <m:e>
                          <m:r>
                            <m:t>&amp;</m:t>
                          </m:r>
                          <m:r>
                            <m:t>  </m:t>
                          </m:r>
                          <m:r>
                            <m:rPr>
                              <m:nor/>
                              <m:sty m:val="p"/>
                            </m:rPr>
                            <m:t>for </m:t>
                          </m:r>
                          <m:r>
                            <m:t>i</m:t>
                          </m:r>
                          <m:r>
                            <m:rPr>
                              <m:sty m:val="p"/>
                            </m:rPr>
                            <m:t>=</m:t>
                          </m:r>
                          <m:r>
                            <m:t>1</m:t>
                          </m:r>
                          <m:r>
                            <m:rPr>
                              <m:sty m:val="p"/>
                            </m:rPr>
                            <m:t>,</m:t>
                          </m:r>
                          <m:r>
                            <m:t>2</m:t>
                          </m:r>
                          <m:r>
                            <m:rPr>
                              <m:sty m:val="p"/>
                            </m:rPr>
                            <m:t>,</m:t>
                          </m:r>
                          <m:r>
                            <m:t>3</m:t>
                          </m:r>
                          <m:r>
                            <m:rPr>
                              <m:sty m:val="p"/>
                            </m:rPr>
                            <m:t>,</m:t>
                          </m:r>
                        </m:e>
                        <m:e>
                          <m:r>
                            <m:t>&amp;</m:t>
                          </m:r>
                          <m:r>
                            <m:rPr>
                              <m:sty m:val="p"/>
                            </m:rPr>
                            <m:t>(</m:t>
                          </m:r>
                          <m:r>
                            <m:t>T</m:t>
                          </m:r>
                          <m:r>
                            <m:rPr>
                              <m:sty m:val="p"/>
                            </m:rPr>
                            <m:t>,</m:t>
                          </m:r>
                          <m:sSub>
                            <m:e>
                              <m:r>
                                <m:t>b</m:t>
                              </m:r>
                            </m:e>
                            <m:sub>
                              <m:r>
                                <m:t>1</m:t>
                              </m:r>
                            </m:sub>
                          </m:sSub>
                          <m:r>
                            <m:rPr>
                              <m:sty m:val="p"/>
                            </m:rPr>
                            <m:t>)</m:t>
                          </m:r>
                          <m:r>
                            <m:rPr>
                              <m:sty m:val="p"/>
                            </m:rPr>
                            <m:t>,</m:t>
                          </m:r>
                          <m:r>
                            <m:rPr>
                              <m:sty m:val="p"/>
                            </m:rPr>
                            <m:t>(</m:t>
                          </m:r>
                          <m:sSub>
                            <m:e>
                              <m:r>
                                <m:t>b</m:t>
                              </m:r>
                            </m:e>
                            <m:sub>
                              <m:r>
                                <m:t>1</m:t>
                              </m:r>
                            </m:sub>
                          </m:sSub>
                          <m:r>
                            <m:rPr>
                              <m:sty m:val="p"/>
                            </m:rPr>
                            <m:t>,</m:t>
                          </m:r>
                          <m:sSub>
                            <m:e>
                              <m:r>
                                <m:t>b</m:t>
                              </m:r>
                            </m:e>
                            <m:sub>
                              <m:r>
                                <m:t>2</m:t>
                              </m:r>
                            </m:sub>
                          </m:sSub>
                          <m:r>
                            <m:rPr>
                              <m:sty m:val="p"/>
                            </m:rPr>
                            <m:t>)</m:t>
                          </m:r>
                          <m:r>
                            <m:rPr>
                              <m:sty m:val="p"/>
                            </m:rPr>
                            <m:t>,</m:t>
                          </m:r>
                        </m:e>
                        <m:e>
                          <m:r>
                            <m:t>&amp;</m:t>
                          </m:r>
                          <m:r>
                            <m:rPr>
                              <m:sty m:val="p"/>
                            </m:rPr>
                            <m:t>(</m:t>
                          </m:r>
                          <m:sSub>
                            <m:e>
                              <m:r>
                                <m:t>b</m:t>
                              </m:r>
                            </m:e>
                            <m:sub>
                              <m:r>
                                <m:t>2</m:t>
                              </m:r>
                            </m:sub>
                          </m:sSub>
                          <m:r>
                            <m:rPr>
                              <m:sty m:val="p"/>
                            </m:rPr>
                            <m:t>,</m:t>
                          </m:r>
                          <m:sSub>
                            <m:e>
                              <m:r>
                                <m:t>b</m:t>
                              </m:r>
                            </m:e>
                            <m:sub>
                              <m:r>
                                <m:t>3</m:t>
                              </m:r>
                            </m:sub>
                          </m:sSub>
                          <m:r>
                            <m:rPr>
                              <m:sty m:val="p"/>
                            </m:rPr>
                            <m:t>)</m:t>
                          </m:r>
                          <m:r>
                            <m:rPr>
                              <m:sty m:val="p"/>
                            </m:rPr>
                            <m:t>,</m:t>
                          </m:r>
                          <m:r>
                            <m:rPr>
                              <m:sty m:val="p"/>
                            </m:rPr>
                            <m:t>(</m:t>
                          </m:r>
                          <m:sSub>
                            <m:e>
                              <m:r>
                                <m:t>b</m:t>
                              </m:r>
                            </m:e>
                            <m:sub>
                              <m:r>
                                <m:t>3</m:t>
                              </m:r>
                            </m:sub>
                          </m:sSub>
                          <m:r>
                            <m:rPr>
                              <m:sty m:val="p"/>
                            </m:rPr>
                            <m:t>,</m:t>
                          </m:r>
                          <m:r>
                            <m:t>F</m:t>
                          </m:r>
                          <m:r>
                            <m:rPr>
                              <m:sty m:val="p"/>
                            </m:rPr>
                            <m:t>)</m:t>
                          </m:r>
                          <m:r>
                            <m:rPr>
                              <m:sty m:val="p"/>
                            </m:rPr>
                            <m:t>.</m:t>
                          </m:r>
                        </m:e>
                      </m:eqArr>
                    </m:oMath>
                  </m:oMathPara>
                </a14:m>
              </a:p>
            </p:txBody>
          </p:sp>
        </mc:Choice>
      </mc:AlternateContent>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81</a:t>
            </a:r>
          </a:p>
        </p:txBody>
      </p:sp>
      <p:pic>
        <p:nvPicPr>
          <p:cNvPr descr="editable_assets/diagram-11-1.png" id="0" name="Picture 1"/>
          <p:cNvPicPr>
            <a:picLocks noGrp="1" noChangeAspect="1"/>
          </p:cNvPicPr>
          <p:nvPr/>
        </p:nvPicPr>
        <p:blipFill>
          <a:blip r:embed="rId2"/>
          <a:stretch>
            <a:fillRect/>
          </a:stretch>
        </p:blipFill>
        <p:spPr bwMode="auto">
          <a:xfrm>
            <a:off x="787400" y="939800"/>
            <a:ext cx="7556500" cy="5435600"/>
          </a:xfrm>
          <a:prstGeom prst="rect">
            <a:avLst/>
          </a:prstGeom>
          <a:noFill/>
          <a:ln w="9525">
            <a:noFill/>
            <a:headEnd/>
            <a:tailEnd/>
          </a:ln>
        </p:spPr>
      </p:pic>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Constructing the Exact Clause Gadget</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83</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For </a:t>
                </a:r>
                <a14:m>
                  <m:oMath xmlns:m="http://schemas.openxmlformats.org/officeDocument/2006/math">
                    <m:r>
                      <m:t>C</m:t>
                    </m:r>
                    <m:r>
                      <m:rPr>
                        <m:sty m:val="p"/>
                      </m:rPr>
                      <m:t>=</m:t>
                    </m:r>
                    <m:r>
                      <m:rPr>
                        <m:sty m:val="p"/>
                      </m:rPr>
                      <m:t>(</m:t>
                    </m:r>
                    <m:sSub>
                      <m:e>
                        <m:r>
                          <m:t>ℓ</m:t>
                        </m:r>
                      </m:e>
                      <m:sub>
                        <m:r>
                          <m:t>1</m:t>
                        </m:r>
                      </m:sub>
                    </m:sSub>
                    <m:r>
                      <m:rPr>
                        <m:sty m:val="p"/>
                      </m:rPr>
                      <m:t>∨</m:t>
                    </m:r>
                    <m:sSub>
                      <m:e>
                        <m:r>
                          <m:t>ℓ</m:t>
                        </m:r>
                      </m:e>
                      <m:sub>
                        <m:r>
                          <m:t>2</m:t>
                        </m:r>
                      </m:sub>
                    </m:sSub>
                    <m:r>
                      <m:rPr>
                        <m:sty m:val="p"/>
                      </m:rPr>
                      <m:t>∨</m:t>
                    </m:r>
                    <m:sSub>
                      <m:e>
                        <m:r>
                          <m:t>ℓ</m:t>
                        </m:r>
                      </m:e>
                      <m:sub>
                        <m:r>
                          <m:t>3</m:t>
                        </m:r>
                      </m:sub>
                    </m:sSub>
                    <m:r>
                      <m:rPr>
                        <m:sty m:val="p"/>
                      </m:rPr>
                      <m:t>)</m:t>
                    </m:r>
                  </m:oMath>
                </a14:m>
                <a:r>
                  <a:rPr/>
                  <a:t>, add six fresh vertices </a:t>
                </a:r>
                <a14:m>
                  <m:oMath xmlns:m="http://schemas.openxmlformats.org/officeDocument/2006/math">
                    <m:sSub>
                      <m:e>
                        <m:r>
                          <m:t>a</m:t>
                        </m:r>
                      </m:e>
                      <m:sub>
                        <m:r>
                          <m:t>i</m:t>
                        </m:r>
                      </m:sub>
                    </m:sSub>
                    <m:r>
                      <m:rPr>
                        <m:sty m:val="p"/>
                      </m:rPr>
                      <m:t>,</m:t>
                    </m:r>
                    <m:sSub>
                      <m:e>
                        <m:r>
                          <m:t>b</m:t>
                        </m:r>
                      </m:e>
                      <m:sub>
                        <m:r>
                          <m:t>i</m:t>
                        </m:r>
                      </m:sub>
                    </m:sSub>
                  </m:oMath>
                </a14:m>
                <a:r>
                  <a:rPr/>
                  <a:t> and 13 edges:</a:t>
                </a:r>
              </a:p>
              <a:p>
                <a:pPr lvl="0" indent="0" marL="0">
                  <a:buNone/>
                </a:pPr>
                <a14:m>
                  <m:oMathPara xmlns:m="http://schemas.openxmlformats.org/officeDocument/2006/math">
                    <m:oMathParaPr>
                      <m:jc m:val="center"/>
                    </m:oMathParaPr>
                    <m:oMath>
                      <m:eqArr>
                        <m:e>
                          <m:r>
                            <m:t>&amp;</m:t>
                          </m:r>
                          <m:r>
                            <m:rPr>
                              <m:sty m:val="p"/>
                            </m:rPr>
                            <m:t>(</m:t>
                          </m:r>
                          <m:sSub>
                            <m:e>
                              <m:r>
                                <m:t>ℓ</m:t>
                              </m:r>
                            </m:e>
                            <m:sub>
                              <m:r>
                                <m:t>i</m:t>
                              </m:r>
                            </m:sub>
                          </m:sSub>
                          <m:r>
                            <m:rPr>
                              <m:sty m:val="p"/>
                            </m:rPr>
                            <m:t>,</m:t>
                          </m:r>
                          <m:sSub>
                            <m:e>
                              <m:r>
                                <m:t>a</m:t>
                              </m:r>
                            </m:e>
                            <m:sub>
                              <m:r>
                                <m:t>i</m:t>
                              </m:r>
                            </m:sub>
                          </m:sSub>
                          <m:r>
                            <m:rPr>
                              <m:sty m:val="p"/>
                            </m:rPr>
                            <m:t>)</m:t>
                          </m:r>
                          <m:r>
                            <m:rPr>
                              <m:sty m:val="p"/>
                            </m:rPr>
                            <m:t>,</m:t>
                          </m:r>
                          <m:r>
                            <m:rPr>
                              <m:sty m:val="p"/>
                            </m:rPr>
                            <m:t>(</m:t>
                          </m:r>
                          <m:sSub>
                            <m:e>
                              <m:r>
                                <m:t>a</m:t>
                              </m:r>
                            </m:e>
                            <m:sub>
                              <m:r>
                                <m:t>i</m:t>
                              </m:r>
                            </m:sub>
                          </m:sSub>
                          <m:r>
                            <m:rPr>
                              <m:sty m:val="p"/>
                            </m:rPr>
                            <m:t>,</m:t>
                          </m:r>
                          <m:sSub>
                            <m:e>
                              <m:r>
                                <m:t>b</m:t>
                              </m:r>
                            </m:e>
                            <m:sub>
                              <m:r>
                                <m:t>i</m:t>
                              </m:r>
                            </m:sub>
                          </m:sSub>
                          <m:r>
                            <m:rPr>
                              <m:sty m:val="p"/>
                            </m:rPr>
                            <m:t>)</m:t>
                          </m:r>
                          <m:r>
                            <m:rPr>
                              <m:sty m:val="p"/>
                            </m:rPr>
                            <m:t>,</m:t>
                          </m:r>
                          <m:r>
                            <m:rPr>
                              <m:sty m:val="p"/>
                            </m:rPr>
                            <m:t>(</m:t>
                          </m:r>
                          <m:r>
                            <m:t>T</m:t>
                          </m:r>
                          <m:r>
                            <m:rPr>
                              <m:sty m:val="p"/>
                            </m:rPr>
                            <m:t>,</m:t>
                          </m:r>
                          <m:sSub>
                            <m:e>
                              <m:r>
                                <m:t>a</m:t>
                              </m:r>
                            </m:e>
                            <m:sub>
                              <m:r>
                                <m:t>i</m:t>
                              </m:r>
                            </m:sub>
                          </m:sSub>
                          <m:r>
                            <m:rPr>
                              <m:sty m:val="p"/>
                            </m:rPr>
                            <m:t>)</m:t>
                          </m:r>
                        </m:e>
                        <m:e>
                          <m:r>
                            <m:t>&amp;</m:t>
                          </m:r>
                          <m:r>
                            <m:t>  </m:t>
                          </m:r>
                          <m:r>
                            <m:rPr>
                              <m:nor/>
                              <m:sty m:val="p"/>
                            </m:rPr>
                            <m:t>for </m:t>
                          </m:r>
                          <m:r>
                            <m:t>i</m:t>
                          </m:r>
                          <m:r>
                            <m:rPr>
                              <m:sty m:val="p"/>
                            </m:rPr>
                            <m:t>=</m:t>
                          </m:r>
                          <m:r>
                            <m:t>1</m:t>
                          </m:r>
                          <m:r>
                            <m:rPr>
                              <m:sty m:val="p"/>
                            </m:rPr>
                            <m:t>,</m:t>
                          </m:r>
                          <m:r>
                            <m:t>2</m:t>
                          </m:r>
                          <m:r>
                            <m:rPr>
                              <m:sty m:val="p"/>
                            </m:rPr>
                            <m:t>,</m:t>
                          </m:r>
                          <m:r>
                            <m:t>3</m:t>
                          </m:r>
                          <m:r>
                            <m:rPr>
                              <m:sty m:val="p"/>
                            </m:rPr>
                            <m:t>,</m:t>
                          </m:r>
                        </m:e>
                        <m:e>
                          <m:r>
                            <m:t>&amp;</m:t>
                          </m:r>
                          <m:r>
                            <m:rPr>
                              <m:sty m:val="p"/>
                            </m:rPr>
                            <m:t>(</m:t>
                          </m:r>
                          <m:r>
                            <m:t>T</m:t>
                          </m:r>
                          <m:r>
                            <m:rPr>
                              <m:sty m:val="p"/>
                            </m:rPr>
                            <m:t>,</m:t>
                          </m:r>
                          <m:sSub>
                            <m:e>
                              <m:r>
                                <m:t>b</m:t>
                              </m:r>
                            </m:e>
                            <m:sub>
                              <m:r>
                                <m:t>1</m:t>
                              </m:r>
                            </m:sub>
                          </m:sSub>
                          <m:r>
                            <m:rPr>
                              <m:sty m:val="p"/>
                            </m:rPr>
                            <m:t>)</m:t>
                          </m:r>
                          <m:r>
                            <m:rPr>
                              <m:sty m:val="p"/>
                            </m:rPr>
                            <m:t>,</m:t>
                          </m:r>
                          <m:r>
                            <m:rPr>
                              <m:sty m:val="p"/>
                            </m:rPr>
                            <m:t>(</m:t>
                          </m:r>
                          <m:sSub>
                            <m:e>
                              <m:r>
                                <m:t>b</m:t>
                              </m:r>
                            </m:e>
                            <m:sub>
                              <m:r>
                                <m:t>1</m:t>
                              </m:r>
                            </m:sub>
                          </m:sSub>
                          <m:r>
                            <m:rPr>
                              <m:sty m:val="p"/>
                            </m:rPr>
                            <m:t>,</m:t>
                          </m:r>
                          <m:sSub>
                            <m:e>
                              <m:r>
                                <m:t>b</m:t>
                              </m:r>
                            </m:e>
                            <m:sub>
                              <m:r>
                                <m:t>2</m:t>
                              </m:r>
                            </m:sub>
                          </m:sSub>
                          <m:r>
                            <m:rPr>
                              <m:sty m:val="p"/>
                            </m:rPr>
                            <m:t>)</m:t>
                          </m:r>
                          <m:r>
                            <m:rPr>
                              <m:sty m:val="p"/>
                            </m:rPr>
                            <m:t>,</m:t>
                          </m:r>
                        </m:e>
                        <m:e>
                          <m:r>
                            <m:t>&amp;</m:t>
                          </m:r>
                          <m:r>
                            <m:rPr>
                              <m:sty m:val="p"/>
                            </m:rPr>
                            <m:t>(</m:t>
                          </m:r>
                          <m:sSub>
                            <m:e>
                              <m:r>
                                <m:t>b</m:t>
                              </m:r>
                            </m:e>
                            <m:sub>
                              <m:r>
                                <m:t>2</m:t>
                              </m:r>
                            </m:sub>
                          </m:sSub>
                          <m:r>
                            <m:rPr>
                              <m:sty m:val="p"/>
                            </m:rPr>
                            <m:t>,</m:t>
                          </m:r>
                          <m:sSub>
                            <m:e>
                              <m:r>
                                <m:t>b</m:t>
                              </m:r>
                            </m:e>
                            <m:sub>
                              <m:r>
                                <m:t>3</m:t>
                              </m:r>
                            </m:sub>
                          </m:sSub>
                          <m:r>
                            <m:rPr>
                              <m:sty m:val="p"/>
                            </m:rPr>
                            <m:t>)</m:t>
                          </m:r>
                          <m:r>
                            <m:rPr>
                              <m:sty m:val="p"/>
                            </m:rPr>
                            <m:t>,</m:t>
                          </m:r>
                          <m:r>
                            <m:rPr>
                              <m:sty m:val="p"/>
                            </m:rPr>
                            <m:t>(</m:t>
                          </m:r>
                          <m:sSub>
                            <m:e>
                              <m:r>
                                <m:t>b</m:t>
                              </m:r>
                            </m:e>
                            <m:sub>
                              <m:r>
                                <m:t>3</m:t>
                              </m:r>
                            </m:sub>
                          </m:sSub>
                          <m:r>
                            <m:rPr>
                              <m:sty m:val="p"/>
                            </m:rPr>
                            <m:t>,</m:t>
                          </m:r>
                          <m:r>
                            <m:t>F</m:t>
                          </m:r>
                          <m:r>
                            <m:rPr>
                              <m:sty m:val="p"/>
                            </m:rPr>
                            <m:t>)</m:t>
                          </m:r>
                          <m:r>
                            <m:rPr>
                              <m:sty m:val="p"/>
                            </m:rPr>
                            <m:t>.</m:t>
                          </m:r>
                        </m:e>
                      </m:eqArr>
                    </m:oMath>
                  </m:oMathPara>
                </a14:m>
              </a:p>
            </p:txBody>
          </p:sp>
        </mc:Choice>
      </mc:AlternateContent>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84</a:t>
            </a:r>
          </a:p>
        </p:txBody>
      </p:sp>
      <p:pic>
        <p:nvPicPr>
          <p:cNvPr descr="editable_assets/diagram-11-2.png" id="0" name="Picture 1"/>
          <p:cNvPicPr>
            <a:picLocks noGrp="1" noChangeAspect="1"/>
          </p:cNvPicPr>
          <p:nvPr/>
        </p:nvPicPr>
        <p:blipFill>
          <a:blip r:embed="rId2"/>
          <a:stretch>
            <a:fillRect/>
          </a:stretch>
        </p:blipFill>
        <p:spPr bwMode="auto">
          <a:xfrm>
            <a:off x="787400" y="939800"/>
            <a:ext cx="7556500" cy="5435600"/>
          </a:xfrm>
          <a:prstGeom prst="rect">
            <a:avLst/>
          </a:prstGeom>
          <a:noFill/>
          <a:ln w="9525">
            <a:noFill/>
            <a:headEnd/>
            <a:tailEnd/>
          </a:ln>
        </p:spPr>
      </p:pic>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Constructing the Exact Clause Gadget</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86</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For </a:t>
                </a:r>
                <a14:m>
                  <m:oMath xmlns:m="http://schemas.openxmlformats.org/officeDocument/2006/math">
                    <m:r>
                      <m:t>C</m:t>
                    </m:r>
                    <m:r>
                      <m:rPr>
                        <m:sty m:val="p"/>
                      </m:rPr>
                      <m:t>=</m:t>
                    </m:r>
                    <m:r>
                      <m:rPr>
                        <m:sty m:val="p"/>
                      </m:rPr>
                      <m:t>(</m:t>
                    </m:r>
                    <m:sSub>
                      <m:e>
                        <m:r>
                          <m:t>ℓ</m:t>
                        </m:r>
                      </m:e>
                      <m:sub>
                        <m:r>
                          <m:t>1</m:t>
                        </m:r>
                      </m:sub>
                    </m:sSub>
                    <m:r>
                      <m:rPr>
                        <m:sty m:val="p"/>
                      </m:rPr>
                      <m:t>∨</m:t>
                    </m:r>
                    <m:sSub>
                      <m:e>
                        <m:r>
                          <m:t>ℓ</m:t>
                        </m:r>
                      </m:e>
                      <m:sub>
                        <m:r>
                          <m:t>2</m:t>
                        </m:r>
                      </m:sub>
                    </m:sSub>
                    <m:r>
                      <m:rPr>
                        <m:sty m:val="p"/>
                      </m:rPr>
                      <m:t>∨</m:t>
                    </m:r>
                    <m:sSub>
                      <m:e>
                        <m:r>
                          <m:t>ℓ</m:t>
                        </m:r>
                      </m:e>
                      <m:sub>
                        <m:r>
                          <m:t>3</m:t>
                        </m:r>
                      </m:sub>
                    </m:sSub>
                    <m:r>
                      <m:rPr>
                        <m:sty m:val="p"/>
                      </m:rPr>
                      <m:t>)</m:t>
                    </m:r>
                  </m:oMath>
                </a14:m>
                <a:r>
                  <a:rPr/>
                  <a:t>, add six fresh vertices </a:t>
                </a:r>
                <a14:m>
                  <m:oMath xmlns:m="http://schemas.openxmlformats.org/officeDocument/2006/math">
                    <m:sSub>
                      <m:e>
                        <m:r>
                          <m:t>a</m:t>
                        </m:r>
                      </m:e>
                      <m:sub>
                        <m:r>
                          <m:t>i</m:t>
                        </m:r>
                      </m:sub>
                    </m:sSub>
                    <m:r>
                      <m:rPr>
                        <m:sty m:val="p"/>
                      </m:rPr>
                      <m:t>,</m:t>
                    </m:r>
                    <m:sSub>
                      <m:e>
                        <m:r>
                          <m:t>b</m:t>
                        </m:r>
                      </m:e>
                      <m:sub>
                        <m:r>
                          <m:t>i</m:t>
                        </m:r>
                      </m:sub>
                    </m:sSub>
                  </m:oMath>
                </a14:m>
                <a:r>
                  <a:rPr/>
                  <a:t> and 13 edges:</a:t>
                </a:r>
              </a:p>
              <a:p>
                <a:pPr lvl="0" indent="0" marL="0">
                  <a:buNone/>
                </a:pPr>
                <a14:m>
                  <m:oMathPara xmlns:m="http://schemas.openxmlformats.org/officeDocument/2006/math">
                    <m:oMathParaPr>
                      <m:jc m:val="center"/>
                    </m:oMathParaPr>
                    <m:oMath>
                      <m:eqArr>
                        <m:e>
                          <m:r>
                            <m:t>&amp;</m:t>
                          </m:r>
                          <m:r>
                            <m:rPr>
                              <m:sty m:val="p"/>
                            </m:rPr>
                            <m:t>(</m:t>
                          </m:r>
                          <m:sSub>
                            <m:e>
                              <m:r>
                                <m:t>ℓ</m:t>
                              </m:r>
                            </m:e>
                            <m:sub>
                              <m:r>
                                <m:t>i</m:t>
                              </m:r>
                            </m:sub>
                          </m:sSub>
                          <m:r>
                            <m:rPr>
                              <m:sty m:val="p"/>
                            </m:rPr>
                            <m:t>,</m:t>
                          </m:r>
                          <m:sSub>
                            <m:e>
                              <m:r>
                                <m:t>a</m:t>
                              </m:r>
                            </m:e>
                            <m:sub>
                              <m:r>
                                <m:t>i</m:t>
                              </m:r>
                            </m:sub>
                          </m:sSub>
                          <m:r>
                            <m:rPr>
                              <m:sty m:val="p"/>
                            </m:rPr>
                            <m:t>)</m:t>
                          </m:r>
                          <m:r>
                            <m:rPr>
                              <m:sty m:val="p"/>
                            </m:rPr>
                            <m:t>,</m:t>
                          </m:r>
                          <m:r>
                            <m:rPr>
                              <m:sty m:val="p"/>
                            </m:rPr>
                            <m:t>(</m:t>
                          </m:r>
                          <m:sSub>
                            <m:e>
                              <m:r>
                                <m:t>a</m:t>
                              </m:r>
                            </m:e>
                            <m:sub>
                              <m:r>
                                <m:t>i</m:t>
                              </m:r>
                            </m:sub>
                          </m:sSub>
                          <m:r>
                            <m:rPr>
                              <m:sty m:val="p"/>
                            </m:rPr>
                            <m:t>,</m:t>
                          </m:r>
                          <m:sSub>
                            <m:e>
                              <m:r>
                                <m:t>b</m:t>
                              </m:r>
                            </m:e>
                            <m:sub>
                              <m:r>
                                <m:t>i</m:t>
                              </m:r>
                            </m:sub>
                          </m:sSub>
                          <m:r>
                            <m:rPr>
                              <m:sty m:val="p"/>
                            </m:rPr>
                            <m:t>)</m:t>
                          </m:r>
                          <m:r>
                            <m:rPr>
                              <m:sty m:val="p"/>
                            </m:rPr>
                            <m:t>,</m:t>
                          </m:r>
                          <m:r>
                            <m:rPr>
                              <m:sty m:val="p"/>
                            </m:rPr>
                            <m:t>(</m:t>
                          </m:r>
                          <m:r>
                            <m:t>T</m:t>
                          </m:r>
                          <m:r>
                            <m:rPr>
                              <m:sty m:val="p"/>
                            </m:rPr>
                            <m:t>,</m:t>
                          </m:r>
                          <m:sSub>
                            <m:e>
                              <m:r>
                                <m:t>a</m:t>
                              </m:r>
                            </m:e>
                            <m:sub>
                              <m:r>
                                <m:t>i</m:t>
                              </m:r>
                            </m:sub>
                          </m:sSub>
                          <m:r>
                            <m:rPr>
                              <m:sty m:val="p"/>
                            </m:rPr>
                            <m:t>)</m:t>
                          </m:r>
                        </m:e>
                        <m:e>
                          <m:r>
                            <m:t>&amp;</m:t>
                          </m:r>
                          <m:r>
                            <m:t>  </m:t>
                          </m:r>
                          <m:r>
                            <m:rPr>
                              <m:nor/>
                              <m:sty m:val="p"/>
                            </m:rPr>
                            <m:t>for </m:t>
                          </m:r>
                          <m:r>
                            <m:t>i</m:t>
                          </m:r>
                          <m:r>
                            <m:rPr>
                              <m:sty m:val="p"/>
                            </m:rPr>
                            <m:t>=</m:t>
                          </m:r>
                          <m:r>
                            <m:t>1</m:t>
                          </m:r>
                          <m:r>
                            <m:rPr>
                              <m:sty m:val="p"/>
                            </m:rPr>
                            <m:t>,</m:t>
                          </m:r>
                          <m:r>
                            <m:t>2</m:t>
                          </m:r>
                          <m:r>
                            <m:rPr>
                              <m:sty m:val="p"/>
                            </m:rPr>
                            <m:t>,</m:t>
                          </m:r>
                          <m:r>
                            <m:t>3</m:t>
                          </m:r>
                          <m:r>
                            <m:rPr>
                              <m:sty m:val="p"/>
                            </m:rPr>
                            <m:t>,</m:t>
                          </m:r>
                        </m:e>
                        <m:e>
                          <m:r>
                            <m:t>&amp;</m:t>
                          </m:r>
                          <m:r>
                            <m:rPr>
                              <m:sty m:val="p"/>
                            </m:rPr>
                            <m:t>(</m:t>
                          </m:r>
                          <m:r>
                            <m:t>T</m:t>
                          </m:r>
                          <m:r>
                            <m:rPr>
                              <m:sty m:val="p"/>
                            </m:rPr>
                            <m:t>,</m:t>
                          </m:r>
                          <m:sSub>
                            <m:e>
                              <m:r>
                                <m:t>b</m:t>
                              </m:r>
                            </m:e>
                            <m:sub>
                              <m:r>
                                <m:t>1</m:t>
                              </m:r>
                            </m:sub>
                          </m:sSub>
                          <m:r>
                            <m:rPr>
                              <m:sty m:val="p"/>
                            </m:rPr>
                            <m:t>)</m:t>
                          </m:r>
                          <m:r>
                            <m:rPr>
                              <m:sty m:val="p"/>
                            </m:rPr>
                            <m:t>,</m:t>
                          </m:r>
                          <m:r>
                            <m:rPr>
                              <m:sty m:val="p"/>
                            </m:rPr>
                            <m:t>(</m:t>
                          </m:r>
                          <m:sSub>
                            <m:e>
                              <m:r>
                                <m:t>b</m:t>
                              </m:r>
                            </m:e>
                            <m:sub>
                              <m:r>
                                <m:t>1</m:t>
                              </m:r>
                            </m:sub>
                          </m:sSub>
                          <m:r>
                            <m:rPr>
                              <m:sty m:val="p"/>
                            </m:rPr>
                            <m:t>,</m:t>
                          </m:r>
                          <m:sSub>
                            <m:e>
                              <m:r>
                                <m:t>b</m:t>
                              </m:r>
                            </m:e>
                            <m:sub>
                              <m:r>
                                <m:t>2</m:t>
                              </m:r>
                            </m:sub>
                          </m:sSub>
                          <m:r>
                            <m:rPr>
                              <m:sty m:val="p"/>
                            </m:rPr>
                            <m:t>)</m:t>
                          </m:r>
                          <m:r>
                            <m:rPr>
                              <m:sty m:val="p"/>
                            </m:rPr>
                            <m:t>,</m:t>
                          </m:r>
                        </m:e>
                        <m:e>
                          <m:r>
                            <m:t>&amp;</m:t>
                          </m:r>
                          <m:r>
                            <m:rPr>
                              <m:sty m:val="p"/>
                            </m:rPr>
                            <m:t>(</m:t>
                          </m:r>
                          <m:sSub>
                            <m:e>
                              <m:r>
                                <m:t>b</m:t>
                              </m:r>
                            </m:e>
                            <m:sub>
                              <m:r>
                                <m:t>2</m:t>
                              </m:r>
                            </m:sub>
                          </m:sSub>
                          <m:r>
                            <m:rPr>
                              <m:sty m:val="p"/>
                            </m:rPr>
                            <m:t>,</m:t>
                          </m:r>
                          <m:sSub>
                            <m:e>
                              <m:r>
                                <m:t>b</m:t>
                              </m:r>
                            </m:e>
                            <m:sub>
                              <m:r>
                                <m:t>3</m:t>
                              </m:r>
                            </m:sub>
                          </m:sSub>
                          <m:r>
                            <m:rPr>
                              <m:sty m:val="p"/>
                            </m:rPr>
                            <m:t>)</m:t>
                          </m:r>
                          <m:r>
                            <m:rPr>
                              <m:sty m:val="p"/>
                            </m:rPr>
                            <m:t>,</m:t>
                          </m:r>
                          <m:r>
                            <m:rPr>
                              <m:sty m:val="p"/>
                            </m:rPr>
                            <m:t>(</m:t>
                          </m:r>
                          <m:sSub>
                            <m:e>
                              <m:r>
                                <m:t>b</m:t>
                              </m:r>
                            </m:e>
                            <m:sub>
                              <m:r>
                                <m:t>3</m:t>
                              </m:r>
                            </m:sub>
                          </m:sSub>
                          <m:r>
                            <m:rPr>
                              <m:sty m:val="p"/>
                            </m:rPr>
                            <m:t>,</m:t>
                          </m:r>
                          <m:r>
                            <m:t>F</m:t>
                          </m:r>
                          <m:r>
                            <m:rPr>
                              <m:sty m:val="p"/>
                            </m:rPr>
                            <m:t>)</m:t>
                          </m:r>
                          <m:r>
                            <m:rPr>
                              <m:sty m:val="p"/>
                            </m:rPr>
                            <m:t>.</m:t>
                          </m:r>
                        </m:e>
                      </m:eqArr>
                    </m:oMath>
                  </m:oMathPara>
                </a14:m>
              </a:p>
            </p:txBody>
          </p:sp>
        </mc:Choice>
      </mc:AlternateContent>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87</a:t>
            </a:r>
          </a:p>
        </p:txBody>
      </p:sp>
      <p:pic>
        <p:nvPicPr>
          <p:cNvPr descr="editable_assets/diagram-11-3.png" id="0" name="Picture 1"/>
          <p:cNvPicPr>
            <a:picLocks noGrp="1" noChangeAspect="1"/>
          </p:cNvPicPr>
          <p:nvPr/>
        </p:nvPicPr>
        <p:blipFill>
          <a:blip r:embed="rId2"/>
          <a:stretch>
            <a:fillRect/>
          </a:stretch>
        </p:blipFill>
        <p:spPr bwMode="auto">
          <a:xfrm>
            <a:off x="787400" y="939800"/>
            <a:ext cx="7556500" cy="5435600"/>
          </a:xfrm>
          <a:prstGeom prst="rect">
            <a:avLst/>
          </a:prstGeom>
          <a:noFill/>
          <a:ln w="9525">
            <a:noFill/>
            <a:headEnd/>
            <a:tailEnd/>
          </a:ln>
        </p:spPr>
      </p:pic>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Constructing the Exact Clause Gadget</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89</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For </a:t>
                </a:r>
                <a14:m>
                  <m:oMath xmlns:m="http://schemas.openxmlformats.org/officeDocument/2006/math">
                    <m:r>
                      <m:t>C</m:t>
                    </m:r>
                    <m:r>
                      <m:rPr>
                        <m:sty m:val="p"/>
                      </m:rPr>
                      <m:t>=</m:t>
                    </m:r>
                    <m:r>
                      <m:rPr>
                        <m:sty m:val="p"/>
                      </m:rPr>
                      <m:t>(</m:t>
                    </m:r>
                    <m:sSub>
                      <m:e>
                        <m:r>
                          <m:t>ℓ</m:t>
                        </m:r>
                      </m:e>
                      <m:sub>
                        <m:r>
                          <m:t>1</m:t>
                        </m:r>
                      </m:sub>
                    </m:sSub>
                    <m:r>
                      <m:rPr>
                        <m:sty m:val="p"/>
                      </m:rPr>
                      <m:t>∨</m:t>
                    </m:r>
                    <m:sSub>
                      <m:e>
                        <m:r>
                          <m:t>ℓ</m:t>
                        </m:r>
                      </m:e>
                      <m:sub>
                        <m:r>
                          <m:t>2</m:t>
                        </m:r>
                      </m:sub>
                    </m:sSub>
                    <m:r>
                      <m:rPr>
                        <m:sty m:val="p"/>
                      </m:rPr>
                      <m:t>∨</m:t>
                    </m:r>
                    <m:sSub>
                      <m:e>
                        <m:r>
                          <m:t>ℓ</m:t>
                        </m:r>
                      </m:e>
                      <m:sub>
                        <m:r>
                          <m:t>3</m:t>
                        </m:r>
                      </m:sub>
                    </m:sSub>
                    <m:r>
                      <m:rPr>
                        <m:sty m:val="p"/>
                      </m:rPr>
                      <m:t>)</m:t>
                    </m:r>
                  </m:oMath>
                </a14:m>
                <a:r>
                  <a:rPr/>
                  <a:t>, add six fresh vertices </a:t>
                </a:r>
                <a14:m>
                  <m:oMath xmlns:m="http://schemas.openxmlformats.org/officeDocument/2006/math">
                    <m:sSub>
                      <m:e>
                        <m:r>
                          <m:t>a</m:t>
                        </m:r>
                      </m:e>
                      <m:sub>
                        <m:r>
                          <m:t>i</m:t>
                        </m:r>
                      </m:sub>
                    </m:sSub>
                    <m:r>
                      <m:rPr>
                        <m:sty m:val="p"/>
                      </m:rPr>
                      <m:t>,</m:t>
                    </m:r>
                    <m:sSub>
                      <m:e>
                        <m:r>
                          <m:t>b</m:t>
                        </m:r>
                      </m:e>
                      <m:sub>
                        <m:r>
                          <m:t>i</m:t>
                        </m:r>
                      </m:sub>
                    </m:sSub>
                  </m:oMath>
                </a14:m>
                <a:r>
                  <a:rPr/>
                  <a:t> and 13 edges:</a:t>
                </a:r>
              </a:p>
              <a:p>
                <a:pPr lvl="0" indent="0" marL="0">
                  <a:buNone/>
                </a:pPr>
                <a14:m>
                  <m:oMathPara xmlns:m="http://schemas.openxmlformats.org/officeDocument/2006/math">
                    <m:oMathParaPr>
                      <m:jc m:val="center"/>
                    </m:oMathParaPr>
                    <m:oMath>
                      <m:eqArr>
                        <m:e>
                          <m:r>
                            <m:t>&amp;</m:t>
                          </m:r>
                          <m:r>
                            <m:rPr>
                              <m:sty m:val="p"/>
                            </m:rPr>
                            <m:t>(</m:t>
                          </m:r>
                          <m:sSub>
                            <m:e>
                              <m:r>
                                <m:t>ℓ</m:t>
                              </m:r>
                            </m:e>
                            <m:sub>
                              <m:r>
                                <m:t>i</m:t>
                              </m:r>
                            </m:sub>
                          </m:sSub>
                          <m:r>
                            <m:rPr>
                              <m:sty m:val="p"/>
                            </m:rPr>
                            <m:t>,</m:t>
                          </m:r>
                          <m:sSub>
                            <m:e>
                              <m:r>
                                <m:t>a</m:t>
                              </m:r>
                            </m:e>
                            <m:sub>
                              <m:r>
                                <m:t>i</m:t>
                              </m:r>
                            </m:sub>
                          </m:sSub>
                          <m:r>
                            <m:rPr>
                              <m:sty m:val="p"/>
                            </m:rPr>
                            <m:t>)</m:t>
                          </m:r>
                          <m:r>
                            <m:rPr>
                              <m:sty m:val="p"/>
                            </m:rPr>
                            <m:t>,</m:t>
                          </m:r>
                          <m:r>
                            <m:rPr>
                              <m:sty m:val="p"/>
                            </m:rPr>
                            <m:t>(</m:t>
                          </m:r>
                          <m:sSub>
                            <m:e>
                              <m:r>
                                <m:t>a</m:t>
                              </m:r>
                            </m:e>
                            <m:sub>
                              <m:r>
                                <m:t>i</m:t>
                              </m:r>
                            </m:sub>
                          </m:sSub>
                          <m:r>
                            <m:rPr>
                              <m:sty m:val="p"/>
                            </m:rPr>
                            <m:t>,</m:t>
                          </m:r>
                          <m:sSub>
                            <m:e>
                              <m:r>
                                <m:t>b</m:t>
                              </m:r>
                            </m:e>
                            <m:sub>
                              <m:r>
                                <m:t>i</m:t>
                              </m:r>
                            </m:sub>
                          </m:sSub>
                          <m:r>
                            <m:rPr>
                              <m:sty m:val="p"/>
                            </m:rPr>
                            <m:t>)</m:t>
                          </m:r>
                          <m:r>
                            <m:rPr>
                              <m:sty m:val="p"/>
                            </m:rPr>
                            <m:t>,</m:t>
                          </m:r>
                          <m:r>
                            <m:rPr>
                              <m:sty m:val="p"/>
                            </m:rPr>
                            <m:t>(</m:t>
                          </m:r>
                          <m:r>
                            <m:t>T</m:t>
                          </m:r>
                          <m:r>
                            <m:rPr>
                              <m:sty m:val="p"/>
                            </m:rPr>
                            <m:t>,</m:t>
                          </m:r>
                          <m:sSub>
                            <m:e>
                              <m:r>
                                <m:t>a</m:t>
                              </m:r>
                            </m:e>
                            <m:sub>
                              <m:r>
                                <m:t>i</m:t>
                              </m:r>
                            </m:sub>
                          </m:sSub>
                          <m:r>
                            <m:rPr>
                              <m:sty m:val="p"/>
                            </m:rPr>
                            <m:t>)</m:t>
                          </m:r>
                        </m:e>
                        <m:e>
                          <m:r>
                            <m:t>&amp;</m:t>
                          </m:r>
                          <m:r>
                            <m:t>  </m:t>
                          </m:r>
                          <m:r>
                            <m:rPr>
                              <m:nor/>
                              <m:sty m:val="p"/>
                            </m:rPr>
                            <m:t>for </m:t>
                          </m:r>
                          <m:r>
                            <m:t>i</m:t>
                          </m:r>
                          <m:r>
                            <m:rPr>
                              <m:sty m:val="p"/>
                            </m:rPr>
                            <m:t>=</m:t>
                          </m:r>
                          <m:r>
                            <m:t>1</m:t>
                          </m:r>
                          <m:r>
                            <m:rPr>
                              <m:sty m:val="p"/>
                            </m:rPr>
                            <m:t>,</m:t>
                          </m:r>
                          <m:r>
                            <m:t>2</m:t>
                          </m:r>
                          <m:r>
                            <m:rPr>
                              <m:sty m:val="p"/>
                            </m:rPr>
                            <m:t>,</m:t>
                          </m:r>
                          <m:r>
                            <m:t>3</m:t>
                          </m:r>
                          <m:r>
                            <m:rPr>
                              <m:sty m:val="p"/>
                            </m:rPr>
                            <m:t>,</m:t>
                          </m:r>
                        </m:e>
                        <m:e>
                          <m:r>
                            <m:t>&amp;</m:t>
                          </m:r>
                          <m:r>
                            <m:rPr>
                              <m:sty m:val="p"/>
                            </m:rPr>
                            <m:t>(</m:t>
                          </m:r>
                          <m:r>
                            <m:t>T</m:t>
                          </m:r>
                          <m:r>
                            <m:rPr>
                              <m:sty m:val="p"/>
                            </m:rPr>
                            <m:t>,</m:t>
                          </m:r>
                          <m:sSub>
                            <m:e>
                              <m:r>
                                <m:t>b</m:t>
                              </m:r>
                            </m:e>
                            <m:sub>
                              <m:r>
                                <m:t>1</m:t>
                              </m:r>
                            </m:sub>
                          </m:sSub>
                          <m:r>
                            <m:rPr>
                              <m:sty m:val="p"/>
                            </m:rPr>
                            <m:t>)</m:t>
                          </m:r>
                          <m:r>
                            <m:rPr>
                              <m:sty m:val="p"/>
                            </m:rPr>
                            <m:t>,</m:t>
                          </m:r>
                          <m:r>
                            <m:rPr>
                              <m:sty m:val="p"/>
                            </m:rPr>
                            <m:t>(</m:t>
                          </m:r>
                          <m:sSub>
                            <m:e>
                              <m:r>
                                <m:t>b</m:t>
                              </m:r>
                            </m:e>
                            <m:sub>
                              <m:r>
                                <m:t>1</m:t>
                              </m:r>
                            </m:sub>
                          </m:sSub>
                          <m:r>
                            <m:rPr>
                              <m:sty m:val="p"/>
                            </m:rPr>
                            <m:t>,</m:t>
                          </m:r>
                          <m:sSub>
                            <m:e>
                              <m:r>
                                <m:t>b</m:t>
                              </m:r>
                            </m:e>
                            <m:sub>
                              <m:r>
                                <m:t>2</m:t>
                              </m:r>
                            </m:sub>
                          </m:sSub>
                          <m:r>
                            <m:rPr>
                              <m:sty m:val="p"/>
                            </m:rPr>
                            <m:t>)</m:t>
                          </m:r>
                          <m:r>
                            <m:rPr>
                              <m:sty m:val="p"/>
                            </m:rPr>
                            <m:t>,</m:t>
                          </m:r>
                        </m:e>
                        <m:e>
                          <m:r>
                            <m:t>&amp;</m:t>
                          </m:r>
                          <m:r>
                            <m:rPr>
                              <m:sty m:val="p"/>
                            </m:rPr>
                            <m:t>(</m:t>
                          </m:r>
                          <m:sSub>
                            <m:e>
                              <m:r>
                                <m:t>b</m:t>
                              </m:r>
                            </m:e>
                            <m:sub>
                              <m:r>
                                <m:t>2</m:t>
                              </m:r>
                            </m:sub>
                          </m:sSub>
                          <m:r>
                            <m:rPr>
                              <m:sty m:val="p"/>
                            </m:rPr>
                            <m:t>,</m:t>
                          </m:r>
                          <m:sSub>
                            <m:e>
                              <m:r>
                                <m:t>b</m:t>
                              </m:r>
                            </m:e>
                            <m:sub>
                              <m:r>
                                <m:t>3</m:t>
                              </m:r>
                            </m:sub>
                          </m:sSub>
                          <m:r>
                            <m:rPr>
                              <m:sty m:val="p"/>
                            </m:rPr>
                            <m:t>)</m:t>
                          </m:r>
                          <m:r>
                            <m:rPr>
                              <m:sty m:val="p"/>
                            </m:rPr>
                            <m:t>,</m:t>
                          </m:r>
                          <m:r>
                            <m:rPr>
                              <m:sty m:val="p"/>
                            </m:rPr>
                            <m:t>(</m:t>
                          </m:r>
                          <m:sSub>
                            <m:e>
                              <m:r>
                                <m:t>b</m:t>
                              </m:r>
                            </m:e>
                            <m:sub>
                              <m:r>
                                <m:t>3</m:t>
                              </m:r>
                            </m:sub>
                          </m:sSub>
                          <m:r>
                            <m:rPr>
                              <m:sty m:val="p"/>
                            </m:rPr>
                            <m:t>,</m:t>
                          </m:r>
                          <m:r>
                            <m:t>F</m:t>
                          </m:r>
                          <m:r>
                            <m:rPr>
                              <m:sty m:val="p"/>
                            </m:rPr>
                            <m:t>)</m:t>
                          </m:r>
                          <m:r>
                            <m:rPr>
                              <m:sty m:val="p"/>
                            </m:rPr>
                            <m:t>.</m:t>
                          </m:r>
                        </m:e>
                      </m:eqArr>
                    </m:oMath>
                  </m:oMathPara>
                </a14:m>
              </a:p>
              <a:p>
                <a:pPr lvl="0" indent="0" marL="0">
                  <a:buNone/>
                </a:pPr>
                <a:r>
                  <a:rPr b="1"/>
                  <a:t>Result: can we complete the coloring?</a:t>
                </a:r>
              </a:p>
              <a:p>
                <a:pPr lvl="0" indent="0" marL="0">
                  <a:buNone/>
                </a:pPr>
                <a:r>
                  <a:rPr/>
                  <a:t>With inputs fixed in </a:t>
                </a:r>
                <a14:m>
                  <m:oMath xmlns:m="http://schemas.openxmlformats.org/officeDocument/2006/math">
                    <m:r>
                      <m:rPr>
                        <m:sty m:val="p"/>
                      </m:rPr>
                      <m:t>{</m:t>
                    </m:r>
                    <m:r>
                      <m:t>T</m:t>
                    </m:r>
                    <m:r>
                      <m:rPr>
                        <m:sty m:val="p"/>
                      </m:rPr>
                      <m:t>,</m:t>
                    </m:r>
                    <m:r>
                      <m:t>F</m:t>
                    </m:r>
                    <m:r>
                      <m:rPr>
                        <m:sty m:val="p"/>
                      </m:rPr>
                      <m:t>}</m:t>
                    </m:r>
                  </m:oMath>
                </a14:m>
                <a:r>
                  <a:rPr/>
                  <a:t>, the internal coloring extends exactly when at least one input is </a:t>
                </a:r>
                <a14:m>
                  <m:oMath xmlns:m="http://schemas.openxmlformats.org/officeDocument/2006/math">
                    <m:r>
                      <m:t>T</m:t>
                    </m:r>
                  </m:oMath>
                </a14:m>
                <a:r>
                  <a:rPr/>
                  <a:t>.</a:t>
                </a:r>
              </a:p>
              <a:p>
                <a:pPr lvl="0" indent="0" marL="0">
                  <a:buNone/>
                </a:pPr>
                <a:r>
                  <a:rPr b="1"/>
                  <a:t>There is no output vertex.</a:t>
                </a:r>
              </a:p>
            </p:txBody>
          </p:sp>
        </mc:Choice>
      </mc:AlternateContent>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90</a:t>
            </a:r>
          </a:p>
        </p:txBody>
      </p:sp>
      <p:pic>
        <p:nvPicPr>
          <p:cNvPr descr="editable_assets/diagram-11-4.png" id="0" name="Picture 1"/>
          <p:cNvPicPr>
            <a:picLocks noGrp="1" noChangeAspect="1"/>
          </p:cNvPicPr>
          <p:nvPr/>
        </p:nvPicPr>
        <p:blipFill>
          <a:blip r:embed="rId2"/>
          <a:stretch>
            <a:fillRect/>
          </a:stretch>
        </p:blipFill>
        <p:spPr bwMode="auto">
          <a:xfrm>
            <a:off x="787400" y="939800"/>
            <a:ext cx="7556500" cy="5435600"/>
          </a:xfrm>
          <a:prstGeom prst="rect">
            <a:avLst/>
          </a:prstGeom>
          <a:noFill/>
          <a:ln w="9525">
            <a:noFill/>
            <a:headEnd/>
            <a:tailEnd/>
          </a:ln>
        </p:spPr>
      </p:pic>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91</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Black: literal arms. Blue: </a:t>
                </a:r>
                <a14:m>
                  <m:oMath xmlns:m="http://schemas.openxmlformats.org/officeDocument/2006/math">
                    <m:r>
                      <m:t>T</m:t>
                    </m:r>
                  </m:oMath>
                </a14:m>
                <a:r>
                  <a:rPr/>
                  <a:t> links. Red: forcing path. Dotted gray: existing edges.</a:t>
                </a:r>
              </a:p>
              <a:p>
                <a:pPr lvl="0" indent="0" marL="0">
                  <a:buNone/>
                </a:pPr>
                <a:r>
                  <a:rPr/>
                  <a:t>All lines are ordinary edges. White/gray vertices are unassigned, not extra colors.</a:t>
                </a:r>
              </a:p>
            </p:txBody>
          </p:sp>
        </mc:Choice>
      </mc:AlternateContent>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Why the Clause Gadget Encodes OR</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93</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All inputs are </a:t>
                </a:r>
                <a14:m>
                  <m:oMath xmlns:m="http://schemas.openxmlformats.org/officeDocument/2006/math">
                    <m:r>
                      <m:t>F</m:t>
                    </m:r>
                  </m:oMath>
                </a14:m>
                <a:r>
                  <a:rPr b="1"/>
                  <a:t>: impossible</a:t>
                </a:r>
              </a:p>
              <a:p>
                <a:pPr lvl="0" indent="0" marL="0">
                  <a:buNone/>
                </a:pPr>
                <a:r>
                  <a:rPr/>
                  <a:t>Each </a:t>
                </a:r>
                <a14:m>
                  <m:oMath xmlns:m="http://schemas.openxmlformats.org/officeDocument/2006/math">
                    <m:sSub>
                      <m:e>
                        <m:r>
                          <m:t>a</m:t>
                        </m:r>
                      </m:e>
                      <m:sub>
                        <m:r>
                          <m:t>i</m:t>
                        </m:r>
                      </m:sub>
                    </m:sSub>
                  </m:oMath>
                </a14:m>
                <a:r>
                  <a:rPr/>
                  <a:t> is forced to </a:t>
                </a:r>
                <a14:m>
                  <m:oMath xmlns:m="http://schemas.openxmlformats.org/officeDocument/2006/math">
                    <m:r>
                      <m:t>B</m:t>
                    </m:r>
                  </m:oMath>
                </a14:m>
                <a:r>
                  <a:rPr/>
                  <a:t>. Each </a:t>
                </a:r>
                <a14:m>
                  <m:oMath xmlns:m="http://schemas.openxmlformats.org/officeDocument/2006/math">
                    <m:sSub>
                      <m:e>
                        <m:r>
                          <m:t>b</m:t>
                        </m:r>
                      </m:e>
                      <m:sub>
                        <m:r>
                          <m:t>i</m:t>
                        </m:r>
                      </m:sub>
                    </m:sSub>
                  </m:oMath>
                </a14:m>
                <a:r>
                  <a:rPr/>
                  <a:t> can therefore use only </a:t>
                </a:r>
                <a14:m>
                  <m:oMath xmlns:m="http://schemas.openxmlformats.org/officeDocument/2006/math">
                    <m:r>
                      <m:t>T</m:t>
                    </m:r>
                  </m:oMath>
                </a14:m>
                <a:r>
                  <a:rPr/>
                  <a:t> or </a:t>
                </a:r>
                <a14:m>
                  <m:oMath xmlns:m="http://schemas.openxmlformats.org/officeDocument/2006/math">
                    <m:r>
                      <m:t>F</m:t>
                    </m:r>
                  </m:oMath>
                </a14:m>
                <a:r>
                  <a:rPr/>
                  <a:t>.</a:t>
                </a:r>
              </a:p>
            </p:txBody>
          </p:sp>
        </mc:Choice>
      </mc:AlternateContent>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94</a:t>
            </a:r>
          </a:p>
        </p:txBody>
      </p:sp>
      <p:pic>
        <p:nvPicPr>
          <p:cNvPr descr="editable_assets/diagram-12-1.png" id="0" name="Picture 1"/>
          <p:cNvPicPr>
            <a:picLocks noGrp="1" noChangeAspect="1"/>
          </p:cNvPicPr>
          <p:nvPr/>
        </p:nvPicPr>
        <p:blipFill>
          <a:blip r:embed="rId2"/>
          <a:stretch>
            <a:fillRect/>
          </a:stretch>
        </p:blipFill>
        <p:spPr bwMode="auto">
          <a:xfrm>
            <a:off x="342900" y="2476500"/>
            <a:ext cx="8445500" cy="2349500"/>
          </a:xfrm>
          <a:prstGeom prst="rect">
            <a:avLst/>
          </a:prstGeom>
          <a:noFill/>
          <a:ln w="9525">
            <a:noFill/>
            <a:headEnd/>
            <a:tailEnd/>
          </a:ln>
        </p:spPr>
      </p:pic>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95</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From </a:t>
                </a:r>
                <a14:m>
                  <m:oMath xmlns:m="http://schemas.openxmlformats.org/officeDocument/2006/math">
                    <m:r>
                      <m:t>T</m:t>
                    </m:r>
                  </m:oMath>
                </a14:m>
                <a:r>
                  <a:rPr/>
                  <a:t>, the first three edges force </a:t>
                </a:r>
                <a14:m>
                  <m:oMath xmlns:m="http://schemas.openxmlformats.org/officeDocument/2006/math">
                    <m:r>
                      <m:t>F</m:t>
                    </m:r>
                    <m:r>
                      <m:rPr>
                        <m:sty m:val="p"/>
                      </m:rPr>
                      <m:t>,</m:t>
                    </m:r>
                    <m:r>
                      <m:t>T</m:t>
                    </m:r>
                    <m:r>
                      <m:rPr>
                        <m:sty m:val="p"/>
                      </m:rPr>
                      <m:t>,</m:t>
                    </m:r>
                    <m:r>
                      <m:t>F</m:t>
                    </m:r>
                  </m:oMath>
                </a14:m>
                <a:r>
                  <a:rPr/>
                  <a:t>. The last edge then joins two </a:t>
                </a:r>
                <a14:m>
                  <m:oMath xmlns:m="http://schemas.openxmlformats.org/officeDocument/2006/math">
                    <m:r>
                      <m:t>F</m:t>
                    </m:r>
                  </m:oMath>
                </a14:m>
                <a:r>
                  <a:rPr/>
                  <a:t> vertices.</a:t>
                </a:r>
              </a:p>
            </p:txBody>
          </p:sp>
        </mc:Choice>
      </mc:AlternateContent>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Why the Clause Gadget Encodes OR</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97</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All inputs are </a:t>
                </a:r>
                <a14:m>
                  <m:oMath xmlns:m="http://schemas.openxmlformats.org/officeDocument/2006/math">
                    <m:r>
                      <m:t>F</m:t>
                    </m:r>
                  </m:oMath>
                </a14:m>
                <a:r>
                  <a:rPr b="1"/>
                  <a:t>: impossible</a:t>
                </a:r>
              </a:p>
              <a:p>
                <a:pPr lvl="0" indent="0" marL="0">
                  <a:buNone/>
                </a:pPr>
                <a:r>
                  <a:rPr/>
                  <a:t>Each </a:t>
                </a:r>
                <a14:m>
                  <m:oMath xmlns:m="http://schemas.openxmlformats.org/officeDocument/2006/math">
                    <m:sSub>
                      <m:e>
                        <m:r>
                          <m:t>a</m:t>
                        </m:r>
                      </m:e>
                      <m:sub>
                        <m:r>
                          <m:t>i</m:t>
                        </m:r>
                      </m:sub>
                    </m:sSub>
                  </m:oMath>
                </a14:m>
                <a:r>
                  <a:rPr/>
                  <a:t> is forced to </a:t>
                </a:r>
                <a14:m>
                  <m:oMath xmlns:m="http://schemas.openxmlformats.org/officeDocument/2006/math">
                    <m:r>
                      <m:t>B</m:t>
                    </m:r>
                  </m:oMath>
                </a14:m>
                <a:r>
                  <a:rPr/>
                  <a:t>. Each </a:t>
                </a:r>
                <a14:m>
                  <m:oMath xmlns:m="http://schemas.openxmlformats.org/officeDocument/2006/math">
                    <m:sSub>
                      <m:e>
                        <m:r>
                          <m:t>b</m:t>
                        </m:r>
                      </m:e>
                      <m:sub>
                        <m:r>
                          <m:t>i</m:t>
                        </m:r>
                      </m:sub>
                    </m:sSub>
                  </m:oMath>
                </a14:m>
                <a:r>
                  <a:rPr/>
                  <a:t> can therefore use only </a:t>
                </a:r>
                <a14:m>
                  <m:oMath xmlns:m="http://schemas.openxmlformats.org/officeDocument/2006/math">
                    <m:r>
                      <m:t>T</m:t>
                    </m:r>
                  </m:oMath>
                </a14:m>
                <a:r>
                  <a:rPr/>
                  <a:t> or </a:t>
                </a:r>
                <a14:m>
                  <m:oMath xmlns:m="http://schemas.openxmlformats.org/officeDocument/2006/math">
                    <m:r>
                      <m:t>F</m:t>
                    </m:r>
                  </m:oMath>
                </a14:m>
                <a:r>
                  <a:rPr/>
                  <a:t>.</a:t>
                </a:r>
              </a:p>
            </p:txBody>
          </p:sp>
        </mc:Choice>
      </mc:AlternateContent>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98</a:t>
            </a:r>
          </a:p>
        </p:txBody>
      </p:sp>
      <p:pic>
        <p:nvPicPr>
          <p:cNvPr descr="editable_assets/diagram-12-1.png" id="0" name="Picture 1"/>
          <p:cNvPicPr>
            <a:picLocks noGrp="1" noChangeAspect="1"/>
          </p:cNvPicPr>
          <p:nvPr/>
        </p:nvPicPr>
        <p:blipFill>
          <a:blip r:embed="rId2"/>
          <a:stretch>
            <a:fillRect/>
          </a:stretch>
        </p:blipFill>
        <p:spPr bwMode="auto">
          <a:xfrm>
            <a:off x="342900" y="2476500"/>
            <a:ext cx="8445500" cy="2349500"/>
          </a:xfrm>
          <a:prstGeom prst="rect">
            <a:avLst/>
          </a:prstGeom>
          <a:noFill/>
          <a:ln w="9525">
            <a:noFill/>
            <a:headEnd/>
            <a:tailEnd/>
          </a:ln>
        </p:spPr>
      </p:pic>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99</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From </a:t>
                </a:r>
                <a14:m>
                  <m:oMath xmlns:m="http://schemas.openxmlformats.org/officeDocument/2006/math">
                    <m:r>
                      <m:t>T</m:t>
                    </m:r>
                  </m:oMath>
                </a14:m>
                <a:r>
                  <a:rPr/>
                  <a:t>, the first three edges force </a:t>
                </a:r>
                <a14:m>
                  <m:oMath xmlns:m="http://schemas.openxmlformats.org/officeDocument/2006/math">
                    <m:r>
                      <m:t>F</m:t>
                    </m:r>
                    <m:r>
                      <m:rPr>
                        <m:sty m:val="p"/>
                      </m:rPr>
                      <m:t>,</m:t>
                    </m:r>
                    <m:r>
                      <m:t>T</m:t>
                    </m:r>
                    <m:r>
                      <m:rPr>
                        <m:sty m:val="p"/>
                      </m:rPr>
                      <m:t>,</m:t>
                    </m:r>
                    <m:r>
                      <m:t>F</m:t>
                    </m:r>
                  </m:oMath>
                </a14:m>
                <a:r>
                  <a:rPr/>
                  <a:t>. The last edge then joins two </a:t>
                </a:r>
                <a14:m>
                  <m:oMath xmlns:m="http://schemas.openxmlformats.org/officeDocument/2006/math">
                    <m:r>
                      <m:t>F</m:t>
                    </m:r>
                  </m:oMath>
                </a14:m>
                <a:r>
                  <a:rPr/>
                  <a:t> vertices.</a:t>
                </a:r>
              </a:p>
            </p:txBody>
          </p:sp>
        </mc:Choice>
      </mc:AlternateContent>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100</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At least one input is </a:t>
                </a:r>
                <a14:m>
                  <m:oMath xmlns:m="http://schemas.openxmlformats.org/officeDocument/2006/math">
                    <m:r>
                      <m:t>T</m:t>
                    </m:r>
                  </m:oMath>
                </a14:m>
                <a:r>
                  <a:rPr b="1"/>
                  <a:t>: possible</a:t>
                </a:r>
              </a:p>
              <a:p>
                <a:pPr lvl="0" indent="0" marL="0">
                  <a:buNone/>
                </a:pPr>
                <a:r>
                  <a:rPr/>
                  <a:t>Choose one true input </a:t>
                </a:r>
                <a14:m>
                  <m:oMath xmlns:m="http://schemas.openxmlformats.org/officeDocument/2006/math">
                    <m:sSub>
                      <m:e>
                        <m:r>
                          <m:t>ℓ</m:t>
                        </m:r>
                      </m:e>
                      <m:sub>
                        <m:r>
                          <m:t>i</m:t>
                        </m:r>
                      </m:sub>
                    </m:sSub>
                  </m:oMath>
                </a14:m>
                <a:r>
                  <a:rPr/>
                  <a:t>. Set </a:t>
                </a:r>
                <a14:m>
                  <m:oMath xmlns:m="http://schemas.openxmlformats.org/officeDocument/2006/math">
                    <m:sSub>
                      <m:e>
                        <m:r>
                          <m:t>a</m:t>
                        </m:r>
                      </m:e>
                      <m:sub>
                        <m:r>
                          <m:t>i</m:t>
                        </m:r>
                      </m:sub>
                    </m:sSub>
                    <m:r>
                      <m:rPr>
                        <m:sty m:val="p"/>
                      </m:rPr>
                      <m:t>=</m:t>
                    </m:r>
                    <m:r>
                      <m:t>F</m:t>
                    </m:r>
                  </m:oMath>
                </a14:m>
                <a:r>
                  <a:rPr/>
                  <a:t>, </a:t>
                </a:r>
                <a14:m>
                  <m:oMath xmlns:m="http://schemas.openxmlformats.org/officeDocument/2006/math">
                    <m:sSub>
                      <m:e>
                        <m:r>
                          <m:t>b</m:t>
                        </m:r>
                      </m:e>
                      <m:sub>
                        <m:r>
                          <m:t>i</m:t>
                        </m:r>
                      </m:sub>
                    </m:sSub>
                    <m:r>
                      <m:rPr>
                        <m:sty m:val="p"/>
                      </m:rPr>
                      <m:t>=</m:t>
                    </m:r>
                    <m:r>
                      <m:t>B</m:t>
                    </m:r>
                  </m:oMath>
                </a14:m>
                <a:r>
                  <a:rPr/>
                  <a:t> and every other </a:t>
                </a:r>
                <a14:m>
                  <m:oMath xmlns:m="http://schemas.openxmlformats.org/officeDocument/2006/math">
                    <m:sSub>
                      <m:e>
                        <m:r>
                          <m:t>a</m:t>
                        </m:r>
                      </m:e>
                      <m:sub>
                        <m:r>
                          <m:t>j</m:t>
                        </m:r>
                      </m:sub>
                    </m:sSub>
                    <m:r>
                      <m:rPr>
                        <m:sty m:val="p"/>
                      </m:rPr>
                      <m:t>=</m:t>
                    </m:r>
                    <m:r>
                      <m:t>B</m:t>
                    </m:r>
                  </m:oMath>
                </a14:m>
                <a:r>
                  <a:rPr/>
                  <a:t>.</a:t>
                </a:r>
              </a:p>
            </p:txBody>
          </p:sp>
        </mc:Choice>
      </mc:AlternateContent>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101</a:t>
            </a:r>
          </a:p>
        </p:txBody>
      </p:sp>
      <p:pic>
        <p:nvPicPr>
          <p:cNvPr descr="editable_assets/diagram-13-1.png" id="0" name="Picture 1"/>
          <p:cNvPicPr>
            <a:picLocks noGrp="1" noChangeAspect="1"/>
          </p:cNvPicPr>
          <p:nvPr/>
        </p:nvPicPr>
        <p:blipFill>
          <a:blip r:embed="rId2"/>
          <a:stretch>
            <a:fillRect/>
          </a:stretch>
        </p:blipFill>
        <p:spPr bwMode="auto">
          <a:xfrm>
            <a:off x="342900" y="965200"/>
            <a:ext cx="8445500" cy="5397500"/>
          </a:xfrm>
          <a:prstGeom prst="rect">
            <a:avLst/>
          </a:prstGeom>
          <a:noFill/>
          <a:ln w="9525">
            <a:noFill/>
            <a:headEnd/>
            <a:tailEnd/>
          </a:ln>
        </p:spPr>
      </p:pic>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102</a:t>
            </a:r>
          </a:p>
        </p:txBody>
      </p:sp>
      <p:graphicFrame>
        <p:nvGraphicFramePr>
          <p:cNvPr id="6" name="Content Placeholder 5"/>
          <p:cNvGraphicFramePr>
            <a:graphicFrameLocks noGrp="1"/>
          </p:cNvGraphicFramePr>
          <p:nvPr>
            <p:ph idx="1"/>
          </p:nvPr>
        </p:nvGraphicFramePr>
        <p:xfrm>
          <a:off x="342900" y="939800"/>
          <a:ext cx="8445500" cy="5435600"/>
        </p:xfrm>
        <a:graphic>
          <a:graphicData uri="http://schemas.openxmlformats.org/drawingml/2006/table">
            <a:tbl>
              <a:tblPr firstRow="1" bandRow="1">
                <a:tableStyleId>{5C22544A-7EE6-4342-B048-85BDC9FD1C3A}</a:tableStyleId>
              </a:tblPr>
              <a:tblGrid>
                <a:gridCol w="4216400"/>
                <a:gridCol w="4216400"/>
              </a:tblGrid>
              <a:tr h="0">
                <a:tc>
                  <a:txBody>
                    <a:bodyPr/>
                    <a:lstStyle/>
                    <a:p>
                      <a:pPr lvl="0" indent="0" marL="0" algn="l">
                        <a:buNone/>
                      </a:pPr>
                      <a:r>
                        <a:rPr/>
                        <a:t>Chosen true position</a:t>
                      </a:r>
                    </a:p>
                  </a:txBody>
                  <a:tcPr/>
                </a:tc>
                <a:tc>
                  <a:txBody>
                    <a:bodyPr/>
                    <a:lstStyle/>
                    <a:p>
                      <a:pPr lvl="0" indent="0" marL="0" algn="l">
                        <a:buNone/>
                      </a:pPr>
                      <a:r>
                        <a:rPr/>
                        <a:t>(b₁, b₂, b₃)</a:t>
                      </a:r>
                    </a:p>
                  </a:txBody>
                  <a:tcPr/>
                </a:tc>
              </a:tr>
              <a:tr h="0">
                <a:tc>
                  <a:txBody>
                    <a:bodyPr/>
                    <a:lstStyle/>
                    <a:p>
                      <a:pPr lvl="0" indent="0" marL="0" algn="l">
                        <a:buNone/>
                      </a:pPr>
                      <a:r>
                        <a:rPr/>
                        <a:t>i = 1</a:t>
                      </a:r>
                    </a:p>
                  </a:txBody>
                </a:tc>
                <a:tc>
                  <a:txBody>
                    <a:bodyPr/>
                    <a:lstStyle/>
                    <a:p>
                      <a:pPr lvl="0" indent="0" marL="0" algn="l">
                        <a:buNone/>
                      </a:pPr>
                      <a:r>
                        <a:rPr/>
                        <a:t>(B, F, T)</a:t>
                      </a:r>
                    </a:p>
                  </a:txBody>
                </a:tc>
              </a:tr>
              <a:tr h="0">
                <a:tc>
                  <a:txBody>
                    <a:bodyPr/>
                    <a:lstStyle/>
                    <a:p>
                      <a:pPr lvl="0" indent="0" marL="0" algn="l">
                        <a:buNone/>
                      </a:pPr>
                      <a:r>
                        <a:rPr/>
                        <a:t>i = 2</a:t>
                      </a:r>
                    </a:p>
                  </a:txBody>
                </a:tc>
                <a:tc>
                  <a:txBody>
                    <a:bodyPr/>
                    <a:lstStyle/>
                    <a:p>
                      <a:pPr lvl="0" indent="0" marL="0" algn="l">
                        <a:buNone/>
                      </a:pPr>
                      <a:r>
                        <a:rPr/>
                        <a:t>(F, B, T)</a:t>
                      </a:r>
                    </a:p>
                  </a:txBody>
                </a:tc>
              </a:tr>
              <a:tr h="0">
                <a:tc>
                  <a:txBody>
                    <a:bodyPr/>
                    <a:lstStyle/>
                    <a:p>
                      <a:pPr lvl="0" indent="0" marL="0" algn="l">
                        <a:buNone/>
                      </a:pPr>
                      <a:r>
                        <a:rPr/>
                        <a:t>i = 3 (shown)</a:t>
                      </a:r>
                    </a:p>
                  </a:txBody>
                </a:tc>
                <a:tc>
                  <a:txBody>
                    <a:bodyPr/>
                    <a:lstStyle/>
                    <a:p>
                      <a:pPr lvl="0" indent="0" marL="0" algn="l">
                        <a:buNone/>
                      </a:pPr>
                      <a:r>
                        <a:rPr/>
                        <a:t>(F, T, B)</a:t>
                      </a:r>
                    </a:p>
                  </a:txBody>
                </a:tc>
              </a:tr>
            </a:tbl>
          </a:graphicData>
        </a:graphic>
      </p:graphicFrame>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Why the Clause Gadget Encodes OR</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104</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All inputs are </a:t>
                </a:r>
                <a14:m>
                  <m:oMath xmlns:m="http://schemas.openxmlformats.org/officeDocument/2006/math">
                    <m:r>
                      <m:t>F</m:t>
                    </m:r>
                  </m:oMath>
                </a14:m>
                <a:r>
                  <a:rPr b="1"/>
                  <a:t>: impossible</a:t>
                </a:r>
              </a:p>
              <a:p>
                <a:pPr lvl="0" indent="0" marL="0">
                  <a:buNone/>
                </a:pPr>
                <a:r>
                  <a:rPr/>
                  <a:t>Each </a:t>
                </a:r>
                <a14:m>
                  <m:oMath xmlns:m="http://schemas.openxmlformats.org/officeDocument/2006/math">
                    <m:sSub>
                      <m:e>
                        <m:r>
                          <m:t>a</m:t>
                        </m:r>
                      </m:e>
                      <m:sub>
                        <m:r>
                          <m:t>i</m:t>
                        </m:r>
                      </m:sub>
                    </m:sSub>
                  </m:oMath>
                </a14:m>
                <a:r>
                  <a:rPr/>
                  <a:t> is forced to </a:t>
                </a:r>
                <a14:m>
                  <m:oMath xmlns:m="http://schemas.openxmlformats.org/officeDocument/2006/math">
                    <m:r>
                      <m:t>B</m:t>
                    </m:r>
                  </m:oMath>
                </a14:m>
                <a:r>
                  <a:rPr/>
                  <a:t>. Each </a:t>
                </a:r>
                <a14:m>
                  <m:oMath xmlns:m="http://schemas.openxmlformats.org/officeDocument/2006/math">
                    <m:sSub>
                      <m:e>
                        <m:r>
                          <m:t>b</m:t>
                        </m:r>
                      </m:e>
                      <m:sub>
                        <m:r>
                          <m:t>i</m:t>
                        </m:r>
                      </m:sub>
                    </m:sSub>
                  </m:oMath>
                </a14:m>
                <a:r>
                  <a:rPr/>
                  <a:t> can therefore use only </a:t>
                </a:r>
                <a14:m>
                  <m:oMath xmlns:m="http://schemas.openxmlformats.org/officeDocument/2006/math">
                    <m:r>
                      <m:t>T</m:t>
                    </m:r>
                  </m:oMath>
                </a14:m>
                <a:r>
                  <a:rPr/>
                  <a:t> or </a:t>
                </a:r>
                <a14:m>
                  <m:oMath xmlns:m="http://schemas.openxmlformats.org/officeDocument/2006/math">
                    <m:r>
                      <m:t>F</m:t>
                    </m:r>
                  </m:oMath>
                </a14:m>
                <a:r>
                  <a:rPr/>
                  <a:t>.</a:t>
                </a:r>
              </a:p>
            </p:txBody>
          </p:sp>
        </mc:Choice>
      </mc:AlternateContent>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105</a:t>
            </a:r>
          </a:p>
        </p:txBody>
      </p:sp>
      <p:pic>
        <p:nvPicPr>
          <p:cNvPr descr="editable_assets/diagram-12-1.png" id="0" name="Picture 1"/>
          <p:cNvPicPr>
            <a:picLocks noGrp="1" noChangeAspect="1"/>
          </p:cNvPicPr>
          <p:nvPr/>
        </p:nvPicPr>
        <p:blipFill>
          <a:blip r:embed="rId2"/>
          <a:stretch>
            <a:fillRect/>
          </a:stretch>
        </p:blipFill>
        <p:spPr bwMode="auto">
          <a:xfrm>
            <a:off x="342900" y="2476500"/>
            <a:ext cx="8445500" cy="2349500"/>
          </a:xfrm>
          <a:prstGeom prst="rect">
            <a:avLst/>
          </a:prstGeom>
          <a:noFill/>
          <a:ln w="9525">
            <a:noFill/>
            <a:headEnd/>
            <a:tailEnd/>
          </a:ln>
        </p:spPr>
      </p:pic>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106</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From </a:t>
                </a:r>
                <a14:m>
                  <m:oMath xmlns:m="http://schemas.openxmlformats.org/officeDocument/2006/math">
                    <m:r>
                      <m:t>T</m:t>
                    </m:r>
                  </m:oMath>
                </a14:m>
                <a:r>
                  <a:rPr/>
                  <a:t>, the first three edges force </a:t>
                </a:r>
                <a14:m>
                  <m:oMath xmlns:m="http://schemas.openxmlformats.org/officeDocument/2006/math">
                    <m:r>
                      <m:t>F</m:t>
                    </m:r>
                    <m:r>
                      <m:rPr>
                        <m:sty m:val="p"/>
                      </m:rPr>
                      <m:t>,</m:t>
                    </m:r>
                    <m:r>
                      <m:t>T</m:t>
                    </m:r>
                    <m:r>
                      <m:rPr>
                        <m:sty m:val="p"/>
                      </m:rPr>
                      <m:t>,</m:t>
                    </m:r>
                    <m:r>
                      <m:t>F</m:t>
                    </m:r>
                  </m:oMath>
                </a14:m>
                <a:r>
                  <a:rPr/>
                  <a:t>. The last edge then joins two </a:t>
                </a:r>
                <a14:m>
                  <m:oMath xmlns:m="http://schemas.openxmlformats.org/officeDocument/2006/math">
                    <m:r>
                      <m:t>F</m:t>
                    </m:r>
                  </m:oMath>
                </a14:m>
                <a:r>
                  <a:rPr/>
                  <a:t> vertices.</a:t>
                </a:r>
              </a:p>
              <a:p>
                <a:pPr lvl="0" indent="0" marL="0">
                  <a:buNone/>
                </a:pPr>
                <a14:m>
                  <m:oMath xmlns:m="http://schemas.openxmlformats.org/officeDocument/2006/math">
                    <m:r>
                      <m:t>F</m:t>
                    </m:r>
                    <m:r>
                      <m:rPr>
                        <m:sty m:val="p"/>
                      </m:rPr>
                      <m:t>,</m:t>
                    </m:r>
                    <m:r>
                      <m:t>F</m:t>
                    </m:r>
                    <m:r>
                      <m:rPr>
                        <m:sty m:val="p"/>
                      </m:rPr>
                      <m:t>,</m:t>
                    </m:r>
                    <m:r>
                      <m:t>F</m:t>
                    </m:r>
                  </m:oMath>
                </a14:m>
                <a:r>
                  <a:rPr b="1"/>
                  <a:t>: no extension.</a:t>
                </a:r>
                <a:br/>
                <a:r>
                  <a:rPr/>
                  <a:t>All seven other input patterns have an extension.</a:t>
                </a:r>
              </a:p>
            </p:txBody>
          </p:sp>
        </mc:Choice>
      </mc:AlternateContent>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107</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At least one input is </a:t>
                </a:r>
                <a14:m>
                  <m:oMath xmlns:m="http://schemas.openxmlformats.org/officeDocument/2006/math">
                    <m:r>
                      <m:t>T</m:t>
                    </m:r>
                  </m:oMath>
                </a14:m>
                <a:r>
                  <a:rPr b="1"/>
                  <a:t>: possible</a:t>
                </a:r>
              </a:p>
              <a:p>
                <a:pPr lvl="0" indent="0" marL="0">
                  <a:buNone/>
                </a:pPr>
                <a:r>
                  <a:rPr/>
                  <a:t>Choose one true input </a:t>
                </a:r>
                <a14:m>
                  <m:oMath xmlns:m="http://schemas.openxmlformats.org/officeDocument/2006/math">
                    <m:sSub>
                      <m:e>
                        <m:r>
                          <m:t>ℓ</m:t>
                        </m:r>
                      </m:e>
                      <m:sub>
                        <m:r>
                          <m:t>i</m:t>
                        </m:r>
                      </m:sub>
                    </m:sSub>
                  </m:oMath>
                </a14:m>
                <a:r>
                  <a:rPr/>
                  <a:t>. Set </a:t>
                </a:r>
                <a14:m>
                  <m:oMath xmlns:m="http://schemas.openxmlformats.org/officeDocument/2006/math">
                    <m:sSub>
                      <m:e>
                        <m:r>
                          <m:t>a</m:t>
                        </m:r>
                      </m:e>
                      <m:sub>
                        <m:r>
                          <m:t>i</m:t>
                        </m:r>
                      </m:sub>
                    </m:sSub>
                    <m:r>
                      <m:rPr>
                        <m:sty m:val="p"/>
                      </m:rPr>
                      <m:t>=</m:t>
                    </m:r>
                    <m:r>
                      <m:t>F</m:t>
                    </m:r>
                  </m:oMath>
                </a14:m>
                <a:r>
                  <a:rPr/>
                  <a:t>, </a:t>
                </a:r>
                <a14:m>
                  <m:oMath xmlns:m="http://schemas.openxmlformats.org/officeDocument/2006/math">
                    <m:sSub>
                      <m:e>
                        <m:r>
                          <m:t>b</m:t>
                        </m:r>
                      </m:e>
                      <m:sub>
                        <m:r>
                          <m:t>i</m:t>
                        </m:r>
                      </m:sub>
                    </m:sSub>
                    <m:r>
                      <m:rPr>
                        <m:sty m:val="p"/>
                      </m:rPr>
                      <m:t>=</m:t>
                    </m:r>
                    <m:r>
                      <m:t>B</m:t>
                    </m:r>
                  </m:oMath>
                </a14:m>
                <a:r>
                  <a:rPr/>
                  <a:t> and every other </a:t>
                </a:r>
                <a14:m>
                  <m:oMath xmlns:m="http://schemas.openxmlformats.org/officeDocument/2006/math">
                    <m:sSub>
                      <m:e>
                        <m:r>
                          <m:t>a</m:t>
                        </m:r>
                      </m:e>
                      <m:sub>
                        <m:r>
                          <m:t>j</m:t>
                        </m:r>
                      </m:sub>
                    </m:sSub>
                    <m:r>
                      <m:rPr>
                        <m:sty m:val="p"/>
                      </m:rPr>
                      <m:t>=</m:t>
                    </m:r>
                    <m:r>
                      <m:t>B</m:t>
                    </m:r>
                  </m:oMath>
                </a14:m>
                <a:r>
                  <a:rPr/>
                  <a:t>.</a:t>
                </a:r>
              </a:p>
            </p:txBody>
          </p:sp>
        </mc:Choice>
      </mc:AlternateContent>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108</a:t>
            </a:r>
          </a:p>
        </p:txBody>
      </p:sp>
      <p:pic>
        <p:nvPicPr>
          <p:cNvPr descr="editable_assets/diagram-13-1.png" id="0" name="Picture 1"/>
          <p:cNvPicPr>
            <a:picLocks noGrp="1" noChangeAspect="1"/>
          </p:cNvPicPr>
          <p:nvPr/>
        </p:nvPicPr>
        <p:blipFill>
          <a:blip r:embed="rId2"/>
          <a:stretch>
            <a:fillRect/>
          </a:stretch>
        </p:blipFill>
        <p:spPr bwMode="auto">
          <a:xfrm>
            <a:off x="342900" y="965200"/>
            <a:ext cx="8445500" cy="5397500"/>
          </a:xfrm>
          <a:prstGeom prst="rect">
            <a:avLst/>
          </a:prstGeom>
          <a:noFill/>
          <a:ln w="9525">
            <a:noFill/>
            <a:headEnd/>
            <a:tailEnd/>
          </a:ln>
        </p:spPr>
      </p:pic>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109</a:t>
            </a:r>
          </a:p>
        </p:txBody>
      </p:sp>
      <p:graphicFrame>
        <p:nvGraphicFramePr>
          <p:cNvPr id="6" name="Content Placeholder 5"/>
          <p:cNvGraphicFramePr>
            <a:graphicFrameLocks noGrp="1"/>
          </p:cNvGraphicFramePr>
          <p:nvPr>
            <p:ph idx="1"/>
          </p:nvPr>
        </p:nvGraphicFramePr>
        <p:xfrm>
          <a:off x="342900" y="939800"/>
          <a:ext cx="8445500" cy="5435600"/>
        </p:xfrm>
        <a:graphic>
          <a:graphicData uri="http://schemas.openxmlformats.org/drawingml/2006/table">
            <a:tbl>
              <a:tblPr firstRow="1" bandRow="1">
                <a:tableStyleId>{5C22544A-7EE6-4342-B048-85BDC9FD1C3A}</a:tableStyleId>
              </a:tblPr>
              <a:tblGrid>
                <a:gridCol w="4216400"/>
                <a:gridCol w="4216400"/>
              </a:tblGrid>
              <a:tr h="0">
                <a:tc>
                  <a:txBody>
                    <a:bodyPr/>
                    <a:lstStyle/>
                    <a:p>
                      <a:pPr lvl="0" indent="0" marL="0" algn="l">
                        <a:buNone/>
                      </a:pPr>
                      <a:r>
                        <a:rPr/>
                        <a:t>Chosen true position</a:t>
                      </a:r>
                    </a:p>
                  </a:txBody>
                  <a:tcPr/>
                </a:tc>
                <a:tc>
                  <a:txBody>
                    <a:bodyPr/>
                    <a:lstStyle/>
                    <a:p>
                      <a:pPr lvl="0" indent="0" marL="0" algn="l">
                        <a:buNone/>
                      </a:pPr>
                      <a:r>
                        <a:rPr/>
                        <a:t>(b₁, b₂, b₃)</a:t>
                      </a:r>
                    </a:p>
                  </a:txBody>
                  <a:tcPr/>
                </a:tc>
              </a:tr>
              <a:tr h="0">
                <a:tc>
                  <a:txBody>
                    <a:bodyPr/>
                    <a:lstStyle/>
                    <a:p>
                      <a:pPr lvl="0" indent="0" marL="0" algn="l">
                        <a:buNone/>
                      </a:pPr>
                      <a:r>
                        <a:rPr/>
                        <a:t>i = 1</a:t>
                      </a:r>
                    </a:p>
                  </a:txBody>
                </a:tc>
                <a:tc>
                  <a:txBody>
                    <a:bodyPr/>
                    <a:lstStyle/>
                    <a:p>
                      <a:pPr lvl="0" indent="0" marL="0" algn="l">
                        <a:buNone/>
                      </a:pPr>
                      <a:r>
                        <a:rPr/>
                        <a:t>(B, F, T)</a:t>
                      </a:r>
                    </a:p>
                  </a:txBody>
                </a:tc>
              </a:tr>
              <a:tr h="0">
                <a:tc>
                  <a:txBody>
                    <a:bodyPr/>
                    <a:lstStyle/>
                    <a:p>
                      <a:pPr lvl="0" indent="0" marL="0" algn="l">
                        <a:buNone/>
                      </a:pPr>
                      <a:r>
                        <a:rPr/>
                        <a:t>i = 2</a:t>
                      </a:r>
                    </a:p>
                  </a:txBody>
                </a:tc>
                <a:tc>
                  <a:txBody>
                    <a:bodyPr/>
                    <a:lstStyle/>
                    <a:p>
                      <a:pPr lvl="0" indent="0" marL="0" algn="l">
                        <a:buNone/>
                      </a:pPr>
                      <a:r>
                        <a:rPr/>
                        <a:t>(F, B, T)</a:t>
                      </a:r>
                    </a:p>
                  </a:txBody>
                </a:tc>
              </a:tr>
              <a:tr h="0">
                <a:tc>
                  <a:txBody>
                    <a:bodyPr/>
                    <a:lstStyle/>
                    <a:p>
                      <a:pPr lvl="0" indent="0" marL="0" algn="l">
                        <a:buNone/>
                      </a:pPr>
                      <a:r>
                        <a:rPr/>
                        <a:t>i = 3 (shown)</a:t>
                      </a:r>
                    </a:p>
                  </a:txBody>
                </a:tc>
                <a:tc>
                  <a:txBody>
                    <a:bodyPr/>
                    <a:lstStyle/>
                    <a:p>
                      <a:pPr lvl="0" indent="0" marL="0" algn="l">
                        <a:buNone/>
                      </a:pPr>
                      <a:r>
                        <a:rPr/>
                        <a:t>(F, T, B)</a:t>
                      </a:r>
                    </a:p>
                  </a:txBody>
                </a:tc>
              </a:tr>
            </a:tbl>
          </a:graphicData>
        </a:graphic>
      </p:graphicFrame>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Evaluating One Complete Formula</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111</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t>ϕ</m:t>
                      </m:r>
                      <m:r>
                        <m:rPr>
                          <m:sty m:val="p"/>
                        </m:rPr>
                        <m:t>=</m:t>
                      </m:r>
                      <m:r>
                        <m:rPr>
                          <m:sty m:val="p"/>
                        </m:rPr>
                        <m:t>(</m:t>
                      </m:r>
                      <m:sSub>
                        <m:e>
                          <m:r>
                            <m:t>x</m:t>
                          </m:r>
                        </m:e>
                        <m:sub>
                          <m:r>
                            <m:t>1</m:t>
                          </m:r>
                        </m:sub>
                      </m:sSub>
                      <m:r>
                        <m:rPr>
                          <m:sty m:val="p"/>
                        </m:rPr>
                        <m:t>∨</m:t>
                      </m:r>
                      <m:r>
                        <m:rPr>
                          <m:sty m:val="p"/>
                        </m:rPr>
                        <m:t>¬</m:t>
                      </m:r>
                      <m:sSub>
                        <m:e>
                          <m:r>
                            <m:t>x</m:t>
                          </m:r>
                        </m:e>
                        <m:sub>
                          <m:r>
                            <m:t>2</m:t>
                          </m:r>
                        </m:sub>
                      </m:sSub>
                      <m:r>
                        <m:rPr>
                          <m:sty m:val="p"/>
                        </m:rPr>
                        <m:t>∨</m:t>
                      </m:r>
                      <m:sSub>
                        <m:e>
                          <m:r>
                            <m:t>x</m:t>
                          </m:r>
                        </m:e>
                        <m:sub>
                          <m:r>
                            <m:t>3</m:t>
                          </m:r>
                        </m:sub>
                      </m:sSub>
                      <m:r>
                        <m:rPr>
                          <m:sty m:val="p"/>
                        </m:rPr>
                        <m:t>)</m:t>
                      </m:r>
                      <m:r>
                        <m:rPr>
                          <m:sty m:val="p"/>
                        </m:rPr>
                        <m:t>∧</m:t>
                      </m:r>
                      <m:r>
                        <m:rPr>
                          <m:sty m:val="p"/>
                        </m:rPr>
                        <m:t>(</m:t>
                      </m:r>
                      <m:r>
                        <m:rPr>
                          <m:sty m:val="p"/>
                        </m:rPr>
                        <m:t>¬</m:t>
                      </m:r>
                      <m:sSub>
                        <m:e>
                          <m:r>
                            <m:t>x</m:t>
                          </m:r>
                        </m:e>
                        <m:sub>
                          <m:r>
                            <m:t>1</m:t>
                          </m:r>
                        </m:sub>
                      </m:sSub>
                      <m:r>
                        <m:rPr>
                          <m:sty m:val="p"/>
                        </m:rPr>
                        <m:t>∨</m:t>
                      </m:r>
                      <m:sSub>
                        <m:e>
                          <m:r>
                            <m:t>x</m:t>
                          </m:r>
                        </m:e>
                        <m:sub>
                          <m:r>
                            <m:t>2</m:t>
                          </m:r>
                        </m:sub>
                      </m:sSub>
                      <m:r>
                        <m:rPr>
                          <m:sty m:val="p"/>
                        </m:rPr>
                        <m:t>∨</m:t>
                      </m:r>
                      <m:r>
                        <m:rPr>
                          <m:sty m:val="p"/>
                        </m:rPr>
                        <m:t>¬</m:t>
                      </m:r>
                      <m:sSub>
                        <m:e>
                          <m:r>
                            <m:t>x</m:t>
                          </m:r>
                        </m:e>
                        <m:sub>
                          <m:r>
                            <m:t>3</m:t>
                          </m:r>
                        </m:sub>
                      </m:sSub>
                      <m:r>
                        <m:rPr>
                          <m:sty m:val="p"/>
                        </m:rPr>
                        <m:t>)</m:t>
                      </m:r>
                      <m:r>
                        <m:rPr>
                          <m:sty m:val="p"/>
                        </m:rPr>
                        <m:t>.</m:t>
                      </m:r>
                    </m:oMath>
                  </m:oMathPara>
                </a14:m>
              </a:p>
            </p:txBody>
          </p:sp>
        </mc:Choice>
      </mc:AlternateContent>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Evaluating One Complete Formula</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113</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t>ϕ</m:t>
                      </m:r>
                      <m:r>
                        <m:rPr>
                          <m:sty m:val="p"/>
                        </m:rPr>
                        <m:t>=</m:t>
                      </m:r>
                      <m:r>
                        <m:rPr>
                          <m:sty m:val="p"/>
                        </m:rPr>
                        <m:t>(</m:t>
                      </m:r>
                      <m:sSub>
                        <m:e>
                          <m:r>
                            <m:t>x</m:t>
                          </m:r>
                        </m:e>
                        <m:sub>
                          <m:r>
                            <m:t>1</m:t>
                          </m:r>
                        </m:sub>
                      </m:sSub>
                      <m:r>
                        <m:rPr>
                          <m:sty m:val="p"/>
                        </m:rPr>
                        <m:t>∨</m:t>
                      </m:r>
                      <m:r>
                        <m:rPr>
                          <m:sty m:val="p"/>
                        </m:rPr>
                        <m:t>¬</m:t>
                      </m:r>
                      <m:sSub>
                        <m:e>
                          <m:r>
                            <m:t>x</m:t>
                          </m:r>
                        </m:e>
                        <m:sub>
                          <m:r>
                            <m:t>2</m:t>
                          </m:r>
                        </m:sub>
                      </m:sSub>
                      <m:r>
                        <m:rPr>
                          <m:sty m:val="p"/>
                        </m:rPr>
                        <m:t>∨</m:t>
                      </m:r>
                      <m:sSub>
                        <m:e>
                          <m:r>
                            <m:t>x</m:t>
                          </m:r>
                        </m:e>
                        <m:sub>
                          <m:r>
                            <m:t>3</m:t>
                          </m:r>
                        </m:sub>
                      </m:sSub>
                      <m:r>
                        <m:rPr>
                          <m:sty m:val="p"/>
                        </m:rPr>
                        <m:t>)</m:t>
                      </m:r>
                      <m:r>
                        <m:rPr>
                          <m:sty m:val="p"/>
                        </m:rPr>
                        <m:t>∧</m:t>
                      </m:r>
                      <m:r>
                        <m:rPr>
                          <m:sty m:val="p"/>
                        </m:rPr>
                        <m:t>(</m:t>
                      </m:r>
                      <m:r>
                        <m:rPr>
                          <m:sty m:val="p"/>
                        </m:rPr>
                        <m:t>¬</m:t>
                      </m:r>
                      <m:sSub>
                        <m:e>
                          <m:r>
                            <m:t>x</m:t>
                          </m:r>
                        </m:e>
                        <m:sub>
                          <m:r>
                            <m:t>1</m:t>
                          </m:r>
                        </m:sub>
                      </m:sSub>
                      <m:r>
                        <m:rPr>
                          <m:sty m:val="p"/>
                        </m:rPr>
                        <m:t>∨</m:t>
                      </m:r>
                      <m:sSub>
                        <m:e>
                          <m:r>
                            <m:t>x</m:t>
                          </m:r>
                        </m:e>
                        <m:sub>
                          <m:r>
                            <m:t>2</m:t>
                          </m:r>
                        </m:sub>
                      </m:sSub>
                      <m:r>
                        <m:rPr>
                          <m:sty m:val="p"/>
                        </m:rPr>
                        <m:t>∨</m:t>
                      </m:r>
                      <m:r>
                        <m:rPr>
                          <m:sty m:val="p"/>
                        </m:rPr>
                        <m:t>¬</m:t>
                      </m:r>
                      <m:sSub>
                        <m:e>
                          <m:r>
                            <m:t>x</m:t>
                          </m:r>
                        </m:e>
                        <m:sub>
                          <m:r>
                            <m:t>3</m:t>
                          </m:r>
                        </m:sub>
                      </m:sSub>
                      <m:r>
                        <m:rPr>
                          <m:sty m:val="p"/>
                        </m:rPr>
                        <m:t>)</m:t>
                      </m:r>
                      <m:r>
                        <m:rPr>
                          <m:sty m:val="p"/>
                        </m:rPr>
                        <m:t>.</m:t>
                      </m:r>
                    </m:oMath>
                  </m:oMathPara>
                </a14:m>
              </a:p>
            </p:txBody>
          </p:sp>
        </mc:Choice>
      </mc:AlternateContent>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114</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Clause input ports</a:t>
                </a:r>
              </a:p>
              <a:p>
                <a:pPr lvl="0" indent="0" marL="0">
                  <a:buNone/>
                </a:pPr>
                <a14:m>
                  <m:oMathPara xmlns:m="http://schemas.openxmlformats.org/officeDocument/2006/math">
                    <m:oMathParaPr>
                      <m:jc m:val="center"/>
                    </m:oMathParaPr>
                    <m:oMath>
                      <m:sSub>
                        <m:e>
                          <m:r>
                            <m:t>C</m:t>
                          </m:r>
                        </m:e>
                        <m:sub>
                          <m:r>
                            <m:t>1</m:t>
                          </m:r>
                        </m:sub>
                      </m:sSub>
                      <m:r>
                        <m:rPr>
                          <m:sty m:val="p"/>
                        </m:rPr>
                        <m:t>:</m:t>
                      </m:r>
                      <m:r>
                        <m:rPr>
                          <m:sty m:val="p"/>
                        </m:rPr>
                        <m:t>(</m:t>
                      </m:r>
                      <m:sSub>
                        <m:e>
                          <m:r>
                            <m:t>x</m:t>
                          </m:r>
                        </m:e>
                        <m:sub>
                          <m:r>
                            <m:t>1</m:t>
                          </m:r>
                        </m:sub>
                      </m:sSub>
                      <m:r>
                        <m:rPr>
                          <m:sty m:val="p"/>
                        </m:rPr>
                        <m:t>,</m:t>
                      </m:r>
                      <m:r>
                        <m:rPr>
                          <m:sty m:val="p"/>
                        </m:rPr>
                        <m:t>¬</m:t>
                      </m:r>
                      <m:sSub>
                        <m:e>
                          <m:r>
                            <m:t>x</m:t>
                          </m:r>
                        </m:e>
                        <m:sub>
                          <m:r>
                            <m:t>2</m:t>
                          </m:r>
                        </m:sub>
                      </m:sSub>
                      <m:r>
                        <m:rPr>
                          <m:sty m:val="p"/>
                        </m:rPr>
                        <m:t>,</m:t>
                      </m:r>
                      <m:sSub>
                        <m:e>
                          <m:r>
                            <m:t>x</m:t>
                          </m:r>
                        </m:e>
                        <m:sub>
                          <m:r>
                            <m:t>3</m:t>
                          </m:r>
                        </m:sub>
                      </m:sSub>
                      <m:r>
                        <m:rPr>
                          <m:sty m:val="p"/>
                        </m:rPr>
                        <m:t>)</m:t>
                      </m:r>
                      <m:r>
                        <m:rPr>
                          <m:sty m:val="p"/>
                        </m:rPr>
                        <m:t>,</m:t>
                      </m:r>
                    </m:oMath>
                  </m:oMathPara>
                </a14:m>
              </a:p>
              <a:p>
                <a:pPr lvl="0" indent="0" marL="0">
                  <a:buNone/>
                </a:pPr>
                <a14:m>
                  <m:oMathPara xmlns:m="http://schemas.openxmlformats.org/officeDocument/2006/math">
                    <m:oMathParaPr>
                      <m:jc m:val="center"/>
                    </m:oMathParaPr>
                    <m:oMath>
                      <m:sSub>
                        <m:e>
                          <m:r>
                            <m:t>C</m:t>
                          </m:r>
                        </m:e>
                        <m:sub>
                          <m:r>
                            <m:t>2</m:t>
                          </m:r>
                        </m:sub>
                      </m:sSub>
                      <m:r>
                        <m:rPr>
                          <m:sty m:val="p"/>
                        </m:rPr>
                        <m:t>:</m:t>
                      </m:r>
                      <m:r>
                        <m:rPr>
                          <m:sty m:val="p"/>
                        </m:rPr>
                        <m:t>(</m:t>
                      </m:r>
                      <m:r>
                        <m:rPr>
                          <m:sty m:val="p"/>
                        </m:rPr>
                        <m:t>¬</m:t>
                      </m:r>
                      <m:sSub>
                        <m:e>
                          <m:r>
                            <m:t>x</m:t>
                          </m:r>
                        </m:e>
                        <m:sub>
                          <m:r>
                            <m:t>1</m:t>
                          </m:r>
                        </m:sub>
                      </m:sSub>
                      <m:r>
                        <m:rPr>
                          <m:sty m:val="p"/>
                        </m:rPr>
                        <m:t>,</m:t>
                      </m:r>
                      <m:sSub>
                        <m:e>
                          <m:r>
                            <m:t>x</m:t>
                          </m:r>
                        </m:e>
                        <m:sub>
                          <m:r>
                            <m:t>2</m:t>
                          </m:r>
                        </m:sub>
                      </m:sSub>
                      <m:r>
                        <m:rPr>
                          <m:sty m:val="p"/>
                        </m:rPr>
                        <m:t>,</m:t>
                      </m:r>
                      <m:r>
                        <m:rPr>
                          <m:sty m:val="p"/>
                        </m:rPr>
                        <m:t>¬</m:t>
                      </m:r>
                      <m:sSub>
                        <m:e>
                          <m:r>
                            <m:t>x</m:t>
                          </m:r>
                        </m:e>
                        <m:sub>
                          <m:r>
                            <m:t>3</m:t>
                          </m:r>
                        </m:sub>
                      </m:sSub>
                      <m:r>
                        <m:rPr>
                          <m:sty m:val="p"/>
                        </m:rPr>
                        <m:t>)</m:t>
                      </m:r>
                      <m:r>
                        <m:rPr>
                          <m:sty m:val="p"/>
                        </m:rPr>
                        <m:t>.</m:t>
                      </m:r>
                    </m:oMath>
                  </m:oMathPara>
                </a14:m>
              </a:p>
              <a:p>
                <a:pPr lvl="0" indent="0" marL="0">
                  <a:buNone/>
                </a:pPr>
                <a:r>
                  <a:rPr/>
                  <a:t>Each clause receives its own six fresh internal vertices.</a:t>
                </a:r>
              </a:p>
            </p:txBody>
          </p:sp>
        </mc:Choice>
      </mc:AlternateContent>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Evaluating One Complete Formula</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116</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r>
                        <m:t>ϕ</m:t>
                      </m:r>
                      <m:r>
                        <m:rPr>
                          <m:sty m:val="p"/>
                        </m:rPr>
                        <m:t>=</m:t>
                      </m:r>
                      <m:r>
                        <m:rPr>
                          <m:sty m:val="p"/>
                        </m:rPr>
                        <m:t>(</m:t>
                      </m:r>
                      <m:sSub>
                        <m:e>
                          <m:r>
                            <m:t>x</m:t>
                          </m:r>
                        </m:e>
                        <m:sub>
                          <m:r>
                            <m:t>1</m:t>
                          </m:r>
                        </m:sub>
                      </m:sSub>
                      <m:r>
                        <m:rPr>
                          <m:sty m:val="p"/>
                        </m:rPr>
                        <m:t>∨</m:t>
                      </m:r>
                      <m:r>
                        <m:rPr>
                          <m:sty m:val="p"/>
                        </m:rPr>
                        <m:t>¬</m:t>
                      </m:r>
                      <m:sSub>
                        <m:e>
                          <m:r>
                            <m:t>x</m:t>
                          </m:r>
                        </m:e>
                        <m:sub>
                          <m:r>
                            <m:t>2</m:t>
                          </m:r>
                        </m:sub>
                      </m:sSub>
                      <m:r>
                        <m:rPr>
                          <m:sty m:val="p"/>
                        </m:rPr>
                        <m:t>∨</m:t>
                      </m:r>
                      <m:sSub>
                        <m:e>
                          <m:r>
                            <m:t>x</m:t>
                          </m:r>
                        </m:e>
                        <m:sub>
                          <m:r>
                            <m:t>3</m:t>
                          </m:r>
                        </m:sub>
                      </m:sSub>
                      <m:r>
                        <m:rPr>
                          <m:sty m:val="p"/>
                        </m:rPr>
                        <m:t>)</m:t>
                      </m:r>
                      <m:r>
                        <m:rPr>
                          <m:sty m:val="p"/>
                        </m:rPr>
                        <m:t>∧</m:t>
                      </m:r>
                      <m:r>
                        <m:rPr>
                          <m:sty m:val="p"/>
                        </m:rPr>
                        <m:t>(</m:t>
                      </m:r>
                      <m:r>
                        <m:rPr>
                          <m:sty m:val="p"/>
                        </m:rPr>
                        <m:t>¬</m:t>
                      </m:r>
                      <m:sSub>
                        <m:e>
                          <m:r>
                            <m:t>x</m:t>
                          </m:r>
                        </m:e>
                        <m:sub>
                          <m:r>
                            <m:t>1</m:t>
                          </m:r>
                        </m:sub>
                      </m:sSub>
                      <m:r>
                        <m:rPr>
                          <m:sty m:val="p"/>
                        </m:rPr>
                        <m:t>∨</m:t>
                      </m:r>
                      <m:sSub>
                        <m:e>
                          <m:r>
                            <m:t>x</m:t>
                          </m:r>
                        </m:e>
                        <m:sub>
                          <m:r>
                            <m:t>2</m:t>
                          </m:r>
                        </m:sub>
                      </m:sSub>
                      <m:r>
                        <m:rPr>
                          <m:sty m:val="p"/>
                        </m:rPr>
                        <m:t>∨</m:t>
                      </m:r>
                      <m:r>
                        <m:rPr>
                          <m:sty m:val="p"/>
                        </m:rPr>
                        <m:t>¬</m:t>
                      </m:r>
                      <m:sSub>
                        <m:e>
                          <m:r>
                            <m:t>x</m:t>
                          </m:r>
                        </m:e>
                        <m:sub>
                          <m:r>
                            <m:t>3</m:t>
                          </m:r>
                        </m:sub>
                      </m:sSub>
                      <m:r>
                        <m:rPr>
                          <m:sty m:val="p"/>
                        </m:rPr>
                        <m:t>)</m:t>
                      </m:r>
                      <m:r>
                        <m:rPr>
                          <m:sty m:val="p"/>
                        </m:rPr>
                        <m:t>.</m:t>
                      </m:r>
                    </m:oMath>
                  </m:oMathPara>
                </a14:m>
              </a:p>
            </p:txBody>
          </p:sp>
        </mc:Choice>
      </mc:AlternateContent>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117</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Clause input ports</a:t>
                </a:r>
              </a:p>
              <a:p>
                <a:pPr lvl="0" indent="0" marL="0">
                  <a:buNone/>
                </a:pPr>
                <a14:m>
                  <m:oMathPara xmlns:m="http://schemas.openxmlformats.org/officeDocument/2006/math">
                    <m:oMathParaPr>
                      <m:jc m:val="center"/>
                    </m:oMathParaPr>
                    <m:oMath>
                      <m:sSub>
                        <m:e>
                          <m:r>
                            <m:t>C</m:t>
                          </m:r>
                        </m:e>
                        <m:sub>
                          <m:r>
                            <m:t>1</m:t>
                          </m:r>
                        </m:sub>
                      </m:sSub>
                      <m:r>
                        <m:rPr>
                          <m:sty m:val="p"/>
                        </m:rPr>
                        <m:t>:</m:t>
                      </m:r>
                      <m:r>
                        <m:rPr>
                          <m:sty m:val="p"/>
                        </m:rPr>
                        <m:t>(</m:t>
                      </m:r>
                      <m:sSub>
                        <m:e>
                          <m:r>
                            <m:t>x</m:t>
                          </m:r>
                        </m:e>
                        <m:sub>
                          <m:r>
                            <m:t>1</m:t>
                          </m:r>
                        </m:sub>
                      </m:sSub>
                      <m:r>
                        <m:rPr>
                          <m:sty m:val="p"/>
                        </m:rPr>
                        <m:t>,</m:t>
                      </m:r>
                      <m:r>
                        <m:rPr>
                          <m:sty m:val="p"/>
                        </m:rPr>
                        <m:t>¬</m:t>
                      </m:r>
                      <m:sSub>
                        <m:e>
                          <m:r>
                            <m:t>x</m:t>
                          </m:r>
                        </m:e>
                        <m:sub>
                          <m:r>
                            <m:t>2</m:t>
                          </m:r>
                        </m:sub>
                      </m:sSub>
                      <m:r>
                        <m:rPr>
                          <m:sty m:val="p"/>
                        </m:rPr>
                        <m:t>,</m:t>
                      </m:r>
                      <m:sSub>
                        <m:e>
                          <m:r>
                            <m:t>x</m:t>
                          </m:r>
                        </m:e>
                        <m:sub>
                          <m:r>
                            <m:t>3</m:t>
                          </m:r>
                        </m:sub>
                      </m:sSub>
                      <m:r>
                        <m:rPr>
                          <m:sty m:val="p"/>
                        </m:rPr>
                        <m:t>)</m:t>
                      </m:r>
                      <m:r>
                        <m:rPr>
                          <m:sty m:val="p"/>
                        </m:rPr>
                        <m:t>,</m:t>
                      </m:r>
                    </m:oMath>
                  </m:oMathPara>
                </a14:m>
              </a:p>
              <a:p>
                <a:pPr lvl="0" indent="0" marL="0">
                  <a:buNone/>
                </a:pPr>
                <a14:m>
                  <m:oMathPara xmlns:m="http://schemas.openxmlformats.org/officeDocument/2006/math">
                    <m:oMathParaPr>
                      <m:jc m:val="center"/>
                    </m:oMathParaPr>
                    <m:oMath>
                      <m:sSub>
                        <m:e>
                          <m:r>
                            <m:t>C</m:t>
                          </m:r>
                        </m:e>
                        <m:sub>
                          <m:r>
                            <m:t>2</m:t>
                          </m:r>
                        </m:sub>
                      </m:sSub>
                      <m:r>
                        <m:rPr>
                          <m:sty m:val="p"/>
                        </m:rPr>
                        <m:t>:</m:t>
                      </m:r>
                      <m:r>
                        <m:rPr>
                          <m:sty m:val="p"/>
                        </m:rPr>
                        <m:t>(</m:t>
                      </m:r>
                      <m:r>
                        <m:rPr>
                          <m:sty m:val="p"/>
                        </m:rPr>
                        <m:t>¬</m:t>
                      </m:r>
                      <m:sSub>
                        <m:e>
                          <m:r>
                            <m:t>x</m:t>
                          </m:r>
                        </m:e>
                        <m:sub>
                          <m:r>
                            <m:t>1</m:t>
                          </m:r>
                        </m:sub>
                      </m:sSub>
                      <m:r>
                        <m:rPr>
                          <m:sty m:val="p"/>
                        </m:rPr>
                        <m:t>,</m:t>
                      </m:r>
                      <m:sSub>
                        <m:e>
                          <m:r>
                            <m:t>x</m:t>
                          </m:r>
                        </m:e>
                        <m:sub>
                          <m:r>
                            <m:t>2</m:t>
                          </m:r>
                        </m:sub>
                      </m:sSub>
                      <m:r>
                        <m:rPr>
                          <m:sty m:val="p"/>
                        </m:rPr>
                        <m:t>,</m:t>
                      </m:r>
                      <m:r>
                        <m:rPr>
                          <m:sty m:val="p"/>
                        </m:rPr>
                        <m:t>¬</m:t>
                      </m:r>
                      <m:sSub>
                        <m:e>
                          <m:r>
                            <m:t>x</m:t>
                          </m:r>
                        </m:e>
                        <m:sub>
                          <m:r>
                            <m:t>3</m:t>
                          </m:r>
                        </m:sub>
                      </m:sSub>
                      <m:r>
                        <m:rPr>
                          <m:sty m:val="p"/>
                        </m:rPr>
                        <m:t>)</m:t>
                      </m:r>
                      <m:r>
                        <m:rPr>
                          <m:sty m:val="p"/>
                        </m:rPr>
                        <m:t>.</m:t>
                      </m:r>
                    </m:oMath>
                  </m:oMathPara>
                </a14:m>
              </a:p>
              <a:p>
                <a:pPr lvl="0" indent="0" marL="0">
                  <a:buNone/>
                </a:pPr>
                <a:r>
                  <a:rPr/>
                  <a:t>Each clause receives its own six fresh internal vertices.</a:t>
                </a:r>
              </a:p>
            </p:txBody>
          </p:sp>
        </mc:Choice>
      </mc:AlternateContent>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118</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One satisfying assignment</a:t>
                </a:r>
              </a:p>
              <a:p>
                <a:pPr lvl="0" indent="0" marL="0">
                  <a:buNone/>
                </a:pPr>
                <a14:m>
                  <m:oMathPara xmlns:m="http://schemas.openxmlformats.org/officeDocument/2006/math">
                    <m:oMathParaPr>
                      <m:jc m:val="center"/>
                    </m:oMathParaPr>
                    <m:oMath>
                      <m:sSub>
                        <m:e>
                          <m:r>
                            <m:t>x</m:t>
                          </m:r>
                        </m:e>
                        <m:sub>
                          <m:r>
                            <m:t>1</m:t>
                          </m:r>
                        </m:sub>
                      </m:sSub>
                      <m:r>
                        <m:rPr>
                          <m:sty m:val="p"/>
                        </m:rPr>
                        <m:t>=</m:t>
                      </m:r>
                      <m:r>
                        <m:t>T</m:t>
                      </m:r>
                      <m:r>
                        <m:rPr>
                          <m:sty m:val="p"/>
                        </m:rPr>
                        <m:t>,</m:t>
                      </m:r>
                      <m:r>
                        <m:t> </m:t>
                      </m:r>
                      <m:sSub>
                        <m:e>
                          <m:r>
                            <m:t>x</m:t>
                          </m:r>
                        </m:e>
                        <m:sub>
                          <m:r>
                            <m:t>2</m:t>
                          </m:r>
                        </m:sub>
                      </m:sSub>
                      <m:r>
                        <m:rPr>
                          <m:sty m:val="p"/>
                        </m:rPr>
                        <m:t>=</m:t>
                      </m:r>
                      <m:r>
                        <m:t>T</m:t>
                      </m:r>
                      <m:r>
                        <m:rPr>
                          <m:sty m:val="p"/>
                        </m:rPr>
                        <m:t>,</m:t>
                      </m:r>
                      <m:r>
                        <m:t> </m:t>
                      </m:r>
                      <m:sSub>
                        <m:e>
                          <m:r>
                            <m:t>x</m:t>
                          </m:r>
                        </m:e>
                        <m:sub>
                          <m:r>
                            <m:t>3</m:t>
                          </m:r>
                        </m:sub>
                      </m:sSub>
                      <m:r>
                        <m:rPr>
                          <m:sty m:val="p"/>
                        </m:rPr>
                        <m:t>=</m:t>
                      </m:r>
                      <m:r>
                        <m:t>F</m:t>
                      </m:r>
                      <m:r>
                        <m:rPr>
                          <m:sty m:val="p"/>
                        </m:rPr>
                        <m:t>.</m:t>
                      </m:r>
                    </m:oMath>
                  </m:oMathPara>
                </a14:m>
              </a:p>
              <a:p>
                <a:pPr lvl="0" indent="0" marL="0">
                  <a:buNone/>
                </a:pPr>
                <a:r>
                  <a:rPr/>
                  <a:t>Thus</a:t>
                </a:r>
              </a:p>
              <a:p>
                <a:pPr lvl="0" indent="0" marL="0">
                  <a:buNone/>
                </a:pPr>
                <a14:m>
                  <m:oMathPara xmlns:m="http://schemas.openxmlformats.org/officeDocument/2006/math">
                    <m:oMathParaPr>
                      <m:jc m:val="center"/>
                    </m:oMathParaPr>
                    <m:oMath>
                      <m:sSub>
                        <m:e>
                          <m:r>
                            <m:t>C</m:t>
                          </m:r>
                        </m:e>
                        <m:sub>
                          <m:r>
                            <m:t>1</m:t>
                          </m:r>
                        </m:sub>
                      </m:sSub>
                      <m:r>
                        <m:rPr>
                          <m:sty m:val="p"/>
                        </m:rPr>
                        <m:t>=</m:t>
                      </m:r>
                      <m:r>
                        <m:rPr>
                          <m:sty m:val="p"/>
                        </m:rPr>
                        <m:t>(</m:t>
                      </m:r>
                      <m:r>
                        <m:t>T</m:t>
                      </m:r>
                      <m:r>
                        <m:rPr>
                          <m:sty m:val="p"/>
                        </m:rPr>
                        <m:t>,</m:t>
                      </m:r>
                      <m:r>
                        <m:t>F</m:t>
                      </m:r>
                      <m:r>
                        <m:rPr>
                          <m:sty m:val="p"/>
                        </m:rPr>
                        <m:t>,</m:t>
                      </m:r>
                      <m:r>
                        <m:t>F</m:t>
                      </m:r>
                      <m:r>
                        <m:rPr>
                          <m:sty m:val="p"/>
                        </m:rPr>
                        <m:t>)</m:t>
                      </m:r>
                      <m:r>
                        <m:rPr>
                          <m:sty m:val="p"/>
                        </m:rPr>
                        <m:t>,</m:t>
                      </m:r>
                      <m:r>
                        <m:t> </m:t>
                      </m:r>
                      <m:sSub>
                        <m:e>
                          <m:r>
                            <m:t>C</m:t>
                          </m:r>
                        </m:e>
                        <m:sub>
                          <m:r>
                            <m:t>2</m:t>
                          </m:r>
                        </m:sub>
                      </m:sSub>
                      <m:r>
                        <m:rPr>
                          <m:sty m:val="p"/>
                        </m:rPr>
                        <m:t>=</m:t>
                      </m:r>
                      <m:r>
                        <m:rPr>
                          <m:sty m:val="p"/>
                        </m:rPr>
                        <m:t>(</m:t>
                      </m:r>
                      <m:r>
                        <m:t>F</m:t>
                      </m:r>
                      <m:r>
                        <m:rPr>
                          <m:sty m:val="p"/>
                        </m:rPr>
                        <m:t>,</m:t>
                      </m:r>
                      <m:r>
                        <m:t>T</m:t>
                      </m:r>
                      <m:r>
                        <m:rPr>
                          <m:sty m:val="p"/>
                        </m:rPr>
                        <m:t>,</m:t>
                      </m:r>
                      <m:r>
                        <m:t>T</m:t>
                      </m:r>
                      <m:r>
                        <m:rPr>
                          <m:sty m:val="p"/>
                        </m:rPr>
                        <m:t>)</m:t>
                      </m:r>
                      <m:r>
                        <m:rPr>
                          <m:sty m:val="p"/>
                        </m:rPr>
                        <m:t>.</m:t>
                      </m:r>
                    </m:oMath>
                  </m:oMathPara>
                </a14:m>
              </a:p>
              <a:p>
                <a:pPr lvl="0" indent="0" marL="0">
                  <a:buNone/>
                </a:pPr>
                <a:r>
                  <a:rPr/>
                  <a:t>Both clause gadgets can be extended.</a:t>
                </a:r>
              </a:p>
            </p:txBody>
          </p:sp>
        </mc:Choice>
      </mc:AlternateContent>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Assembling the Formula Graph</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120</a:t>
            </a:r>
          </a:p>
        </p:txBody>
      </p:sp>
      <p:pic>
        <p:nvPicPr>
          <p:cNvPr descr="editable_assets/diagram-14-1.png" id="0" name="Picture 1"/>
          <p:cNvPicPr>
            <a:picLocks noGrp="1" noChangeAspect="1"/>
          </p:cNvPicPr>
          <p:nvPr/>
        </p:nvPicPr>
        <p:blipFill>
          <a:blip r:embed="rId2"/>
          <a:stretch>
            <a:fillRect/>
          </a:stretch>
        </p:blipFill>
        <p:spPr bwMode="auto">
          <a:xfrm>
            <a:off x="342900" y="952500"/>
            <a:ext cx="8445500" cy="5422900"/>
          </a:xfrm>
          <a:prstGeom prst="rect">
            <a:avLst/>
          </a:prstGeom>
          <a:noFill/>
          <a:ln w="9525">
            <a:noFill/>
            <a:headEnd/>
            <a:tailEnd/>
          </a:ln>
        </p:spPr>
      </p:pic>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Assembling the Formula Graph</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122</a:t>
            </a:r>
          </a:p>
        </p:txBody>
      </p:sp>
      <p:pic>
        <p:nvPicPr>
          <p:cNvPr descr="editable_assets/diagram-14-2.png" id="0" name="Picture 1"/>
          <p:cNvPicPr>
            <a:picLocks noGrp="1" noChangeAspect="1"/>
          </p:cNvPicPr>
          <p:nvPr/>
        </p:nvPicPr>
        <p:blipFill>
          <a:blip r:embed="rId2"/>
          <a:stretch>
            <a:fillRect/>
          </a:stretch>
        </p:blipFill>
        <p:spPr bwMode="auto">
          <a:xfrm>
            <a:off x="342900" y="952500"/>
            <a:ext cx="8445500" cy="5422900"/>
          </a:xfrm>
          <a:prstGeom prst="rect">
            <a:avLst/>
          </a:prstGeom>
          <a:noFill/>
          <a:ln w="9525">
            <a:noFill/>
            <a:headEnd/>
            <a:tailEnd/>
          </a:ln>
        </p:spPr>
      </p:pic>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Assembling the Formula Graph</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124</a:t>
            </a:r>
          </a:p>
        </p:txBody>
      </p:sp>
      <p:pic>
        <p:nvPicPr>
          <p:cNvPr descr="editable_assets/diagram-14-3.png" id="0" name="Picture 1"/>
          <p:cNvPicPr>
            <a:picLocks noGrp="1" noChangeAspect="1"/>
          </p:cNvPicPr>
          <p:nvPr/>
        </p:nvPicPr>
        <p:blipFill>
          <a:blip r:embed="rId2"/>
          <a:stretch>
            <a:fillRect/>
          </a:stretch>
        </p:blipFill>
        <p:spPr bwMode="auto">
          <a:xfrm>
            <a:off x="342900" y="952500"/>
            <a:ext cx="8445500" cy="5422900"/>
          </a:xfrm>
          <a:prstGeom prst="rect">
            <a:avLst/>
          </a:prstGeom>
          <a:noFill/>
          <a:ln w="9525">
            <a:noFill/>
            <a:headEnd/>
            <a:tailEnd/>
          </a:ln>
        </p:spPr>
      </p:pic>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125</a:t>
            </a:r>
          </a:p>
        </p:txBody>
      </p:sp>
      <p:sp>
        <p:nvSpPr>
          <p:cNvPr id="3" name="Content Placeholder 2"/>
          <p:cNvSpPr>
            <a:spLocks noGrp="1"/>
          </p:cNvSpPr>
          <p:nvPr>
            <p:ph idx="1"/>
          </p:nvPr>
        </p:nvSpPr>
        <p:spPr/>
        <p:txBody>
          <a:bodyPr/>
          <a:lstStyle/>
          <a:p>
            <a:pPr lvl="0" indent="0" marL="0">
              <a:buNone/>
            </a:pPr>
            <a:r>
              <a:rPr/>
              <a:t>The palette and literal vertices are shared; each clause has fresh internal vertices.</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Correctness and Complexity of the Reduction</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127</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ϕ</m:t>
                    </m:r>
                  </m:oMath>
                </a14:m>
                <a:r>
                  <a:rPr b="1"/>
                  <a:t> satisfiable </a:t>
                </a:r>
                <a14:m>
                  <m:oMath xmlns:m="http://schemas.openxmlformats.org/officeDocument/2006/math">
                    <m:r>
                      <m:rPr>
                        <m:sty m:val="p"/>
                      </m:rPr>
                      <m:t>⇒</m:t>
                    </m:r>
                    <m:sSub>
                      <m:e>
                        <m:r>
                          <m:t>G</m:t>
                        </m:r>
                      </m:e>
                      <m:sub>
                        <m:r>
                          <m:t>ϕ</m:t>
                        </m:r>
                      </m:sub>
                    </m:sSub>
                  </m:oMath>
                </a14:m>
                <a:r>
                  <a:rPr b="1"/>
                  <a:t> 3-colorable</a:t>
                </a:r>
              </a:p>
              <a:p>
                <a:pPr lvl="0"/>
                <a:r>
                  <a:rPr/>
                  <a:t>Give each literal its truth color.</a:t>
                </a:r>
              </a:p>
              <a:p>
                <a:pPr lvl="0"/>
                <a:r>
                  <a:rPr/>
                  <a:t>Every clause has a true literal.</a:t>
                </a:r>
              </a:p>
              <a:p>
                <a:pPr lvl="0"/>
                <a:r>
                  <a:rPr/>
                  <a:t>Every clause gadget therefore extends to a legal coloring.</a:t>
                </a:r>
              </a:p>
            </p:txBody>
          </p:sp>
        </mc:Choice>
      </mc:AlternateContent>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Correctness and Complexity of the Reduction</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129</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ϕ</m:t>
                    </m:r>
                  </m:oMath>
                </a14:m>
                <a:r>
                  <a:rPr b="1"/>
                  <a:t> satisfiable </a:t>
                </a:r>
                <a14:m>
                  <m:oMath xmlns:m="http://schemas.openxmlformats.org/officeDocument/2006/math">
                    <m:r>
                      <m:rPr>
                        <m:sty m:val="p"/>
                      </m:rPr>
                      <m:t>⇒</m:t>
                    </m:r>
                    <m:sSub>
                      <m:e>
                        <m:r>
                          <m:t>G</m:t>
                        </m:r>
                      </m:e>
                      <m:sub>
                        <m:r>
                          <m:t>ϕ</m:t>
                        </m:r>
                      </m:sub>
                    </m:sSub>
                  </m:oMath>
                </a14:m>
                <a:r>
                  <a:rPr b="1"/>
                  <a:t> 3-colorable</a:t>
                </a:r>
              </a:p>
              <a:p>
                <a:pPr lvl="0"/>
                <a:r>
                  <a:rPr/>
                  <a:t>Give each literal its truth color.</a:t>
                </a:r>
              </a:p>
              <a:p>
                <a:pPr lvl="0"/>
                <a:r>
                  <a:rPr/>
                  <a:t>Every clause has a true literal.</a:t>
                </a:r>
              </a:p>
              <a:p>
                <a:pPr lvl="0"/>
                <a:r>
                  <a:rPr/>
                  <a:t>Every clause gadget therefore extends to a legal coloring.</a:t>
                </a:r>
              </a:p>
            </p:txBody>
          </p:sp>
        </mc:Choice>
      </mc:AlternateContent>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130</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sSub>
                      <m:e>
                        <m:r>
                          <m:t>G</m:t>
                        </m:r>
                      </m:e>
                      <m:sub>
                        <m:r>
                          <m:t>ϕ</m:t>
                        </m:r>
                      </m:sub>
                    </m:sSub>
                  </m:oMath>
                </a14:m>
                <a:r>
                  <a:rPr b="1"/>
                  <a:t> 3-colorable </a:t>
                </a:r>
                <a14:m>
                  <m:oMath xmlns:m="http://schemas.openxmlformats.org/officeDocument/2006/math">
                    <m:r>
                      <m:rPr>
                        <m:sty m:val="p"/>
                      </m:rPr>
                      <m:t>⇒</m:t>
                    </m:r>
                    <m:r>
                      <m:t>ϕ</m:t>
                    </m:r>
                  </m:oMath>
                </a14:m>
                <a:r>
                  <a:rPr b="1"/>
                  <a:t> satisfiable</a:t>
                </a:r>
              </a:p>
              <a:p>
                <a:pPr lvl="0"/>
                <a:r>
                  <a:rPr/>
                  <a:t>Read </a:t>
                </a:r>
                <a14:m>
                  <m:oMath xmlns:m="http://schemas.openxmlformats.org/officeDocument/2006/math">
                    <m:sSub>
                      <m:e>
                        <m:r>
                          <m:t>x</m:t>
                        </m:r>
                      </m:e>
                      <m:sub>
                        <m:r>
                          <m:t>i</m:t>
                        </m:r>
                      </m:sub>
                    </m:sSub>
                    <m:r>
                      <m:rPr>
                        <m:sty m:val="p"/>
                      </m:rPr>
                      <m:t>=</m:t>
                    </m:r>
                    <m:r>
                      <m:t>t</m:t>
                    </m:r>
                    <m:r>
                      <m:t>r</m:t>
                    </m:r>
                    <m:r>
                      <m:t>u</m:t>
                    </m:r>
                    <m:r>
                      <m:t>e</m:t>
                    </m:r>
                  </m:oMath>
                </a14:m>
                <a:r>
                  <a:rPr/>
                  <a:t> exactly when vertex </a:t>
                </a:r>
                <a14:m>
                  <m:oMath xmlns:m="http://schemas.openxmlformats.org/officeDocument/2006/math">
                    <m:sSub>
                      <m:e>
                        <m:r>
                          <m:t>x</m:t>
                        </m:r>
                      </m:e>
                      <m:sub>
                        <m:r>
                          <m:t>i</m:t>
                        </m:r>
                      </m:sub>
                    </m:sSub>
                  </m:oMath>
                </a14:m>
                <a:r>
                  <a:rPr/>
                  <a:t> has color </a:t>
                </a:r>
                <a14:m>
                  <m:oMath xmlns:m="http://schemas.openxmlformats.org/officeDocument/2006/math">
                    <m:r>
                      <m:t>T</m:t>
                    </m:r>
                  </m:oMath>
                </a14:m>
                <a:r>
                  <a:rPr/>
                  <a:t>.</a:t>
                </a:r>
              </a:p>
              <a:p>
                <a:pPr lvl="0"/>
                <a:r>
                  <a:rPr/>
                  <a:t>Every colorable clause has a </a:t>
                </a:r>
                <a14:m>
                  <m:oMath xmlns:m="http://schemas.openxmlformats.org/officeDocument/2006/math">
                    <m:r>
                      <m:t>T</m:t>
                    </m:r>
                  </m:oMath>
                </a14:m>
                <a:r>
                  <a:rPr/>
                  <a:t> input.</a:t>
                </a:r>
              </a:p>
              <a:p>
                <a:pPr lvl="0"/>
                <a:r>
                  <a:rPr/>
                  <a:t>Every clause is therefore satisfied.</a:t>
                </a:r>
              </a:p>
            </p:txBody>
          </p:sp>
        </mc:Choice>
      </mc:AlternateContent>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Correctness and Complexity of the Reduction</a:t>
            </a:r>
          </a:p>
        </p:txBody>
      </p:sp>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132</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ϕ</m:t>
                    </m:r>
                  </m:oMath>
                </a14:m>
                <a:r>
                  <a:rPr b="1"/>
                  <a:t> satisfiable </a:t>
                </a:r>
                <a14:m>
                  <m:oMath xmlns:m="http://schemas.openxmlformats.org/officeDocument/2006/math">
                    <m:r>
                      <m:rPr>
                        <m:sty m:val="p"/>
                      </m:rPr>
                      <m:t>⇒</m:t>
                    </m:r>
                    <m:sSub>
                      <m:e>
                        <m:r>
                          <m:t>G</m:t>
                        </m:r>
                      </m:e>
                      <m:sub>
                        <m:r>
                          <m:t>ϕ</m:t>
                        </m:r>
                      </m:sub>
                    </m:sSub>
                  </m:oMath>
                </a14:m>
                <a:r>
                  <a:rPr b="1"/>
                  <a:t> 3-colorable</a:t>
                </a:r>
              </a:p>
              <a:p>
                <a:pPr lvl="0"/>
                <a:r>
                  <a:rPr/>
                  <a:t>Give each literal its truth color.</a:t>
                </a:r>
              </a:p>
              <a:p>
                <a:pPr lvl="0"/>
                <a:r>
                  <a:rPr/>
                  <a:t>Every clause has a true literal.</a:t>
                </a:r>
              </a:p>
              <a:p>
                <a:pPr lvl="0"/>
                <a:r>
                  <a:rPr/>
                  <a:t>Every clause gadget therefore extends to a legal coloring.</a:t>
                </a:r>
              </a:p>
            </p:txBody>
          </p:sp>
        </mc:Choice>
      </mc:AlternateContent>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133</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sSub>
                      <m:e>
                        <m:r>
                          <m:t>G</m:t>
                        </m:r>
                      </m:e>
                      <m:sub>
                        <m:r>
                          <m:t>ϕ</m:t>
                        </m:r>
                      </m:sub>
                    </m:sSub>
                  </m:oMath>
                </a14:m>
                <a:r>
                  <a:rPr b="1"/>
                  <a:t> 3-colorable </a:t>
                </a:r>
                <a14:m>
                  <m:oMath xmlns:m="http://schemas.openxmlformats.org/officeDocument/2006/math">
                    <m:r>
                      <m:rPr>
                        <m:sty m:val="p"/>
                      </m:rPr>
                      <m:t>⇒</m:t>
                    </m:r>
                    <m:r>
                      <m:t>ϕ</m:t>
                    </m:r>
                  </m:oMath>
                </a14:m>
                <a:r>
                  <a:rPr b="1"/>
                  <a:t> satisfiable</a:t>
                </a:r>
              </a:p>
              <a:p>
                <a:pPr lvl="0"/>
                <a:r>
                  <a:rPr/>
                  <a:t>Read </a:t>
                </a:r>
                <a14:m>
                  <m:oMath xmlns:m="http://schemas.openxmlformats.org/officeDocument/2006/math">
                    <m:sSub>
                      <m:e>
                        <m:r>
                          <m:t>x</m:t>
                        </m:r>
                      </m:e>
                      <m:sub>
                        <m:r>
                          <m:t>i</m:t>
                        </m:r>
                      </m:sub>
                    </m:sSub>
                    <m:r>
                      <m:rPr>
                        <m:sty m:val="p"/>
                      </m:rPr>
                      <m:t>=</m:t>
                    </m:r>
                    <m:r>
                      <m:t>t</m:t>
                    </m:r>
                    <m:r>
                      <m:t>r</m:t>
                    </m:r>
                    <m:r>
                      <m:t>u</m:t>
                    </m:r>
                    <m:r>
                      <m:t>e</m:t>
                    </m:r>
                  </m:oMath>
                </a14:m>
                <a:r>
                  <a:rPr/>
                  <a:t> exactly when vertex </a:t>
                </a:r>
                <a14:m>
                  <m:oMath xmlns:m="http://schemas.openxmlformats.org/officeDocument/2006/math">
                    <m:sSub>
                      <m:e>
                        <m:r>
                          <m:t>x</m:t>
                        </m:r>
                      </m:e>
                      <m:sub>
                        <m:r>
                          <m:t>i</m:t>
                        </m:r>
                      </m:sub>
                    </m:sSub>
                  </m:oMath>
                </a14:m>
                <a:r>
                  <a:rPr/>
                  <a:t> has color </a:t>
                </a:r>
                <a14:m>
                  <m:oMath xmlns:m="http://schemas.openxmlformats.org/officeDocument/2006/math">
                    <m:r>
                      <m:t>T</m:t>
                    </m:r>
                  </m:oMath>
                </a14:m>
                <a:r>
                  <a:rPr/>
                  <a:t>.</a:t>
                </a:r>
              </a:p>
              <a:p>
                <a:pPr lvl="0"/>
                <a:r>
                  <a:rPr/>
                  <a:t>Every colorable clause has a </a:t>
                </a:r>
                <a14:m>
                  <m:oMath xmlns:m="http://schemas.openxmlformats.org/officeDocument/2006/math">
                    <m:r>
                      <m:t>T</m:t>
                    </m:r>
                  </m:oMath>
                </a14:m>
                <a:r>
                  <a:rPr/>
                  <a:t> input.</a:t>
                </a:r>
              </a:p>
              <a:p>
                <a:pPr lvl="0"/>
                <a:r>
                  <a:rPr/>
                  <a:t>Every clause is therefore satisfied.</a:t>
                </a:r>
              </a:p>
            </p:txBody>
          </p:sp>
        </mc:Choice>
      </mc:AlternateContent>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134</a:t>
            </a:r>
          </a:p>
        </p:txBody>
      </p:sp>
      <p:pic>
        <p:nvPicPr>
          <p:cNvPr descr="editable_assets/diagram-15-1.png" id="0" name="Picture 1"/>
          <p:cNvPicPr>
            <a:picLocks noGrp="1" noChangeAspect="1"/>
          </p:cNvPicPr>
          <p:nvPr/>
        </p:nvPicPr>
        <p:blipFill>
          <a:blip r:embed="rId2"/>
          <a:stretch>
            <a:fillRect/>
          </a:stretch>
        </p:blipFill>
        <p:spPr bwMode="auto">
          <a:xfrm>
            <a:off x="342900" y="2578100"/>
            <a:ext cx="8445500" cy="2146300"/>
          </a:xfrm>
          <a:prstGeom prst="rect">
            <a:avLst/>
          </a:prstGeom>
          <a:noFill/>
          <a:ln w="9525">
            <a:noFill/>
            <a:headEnd/>
            <a:tailEnd/>
          </a:ln>
        </p:spPr>
      </p:pic>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135</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For </a:t>
                </a:r>
                <a14:m>
                  <m:oMath xmlns:m="http://schemas.openxmlformats.org/officeDocument/2006/math">
                    <m:r>
                      <m:t>n</m:t>
                    </m:r>
                  </m:oMath>
                </a14:m>
                <a:r>
                  <a:rPr/>
                  <a:t> variables and </a:t>
                </a:r>
                <a14:m>
                  <m:oMath xmlns:m="http://schemas.openxmlformats.org/officeDocument/2006/math">
                    <m:r>
                      <m:t>m</m:t>
                    </m:r>
                  </m:oMath>
                </a14:m>
                <a:r>
                  <a:rPr/>
                  <a:t> clauses:</a:t>
                </a:r>
              </a:p>
              <a:p>
                <a:pPr lvl="0" indent="0" marL="0">
                  <a:buNone/>
                </a:pPr>
                <a14:m>
                  <m:oMathPara xmlns:m="http://schemas.openxmlformats.org/officeDocument/2006/math">
                    <m:oMathParaPr>
                      <m:jc m:val="center"/>
                    </m:oMathParaPr>
                    <m:oMath>
                      <m:r>
                        <m:rPr>
                          <m:sty m:val="p"/>
                        </m:rPr>
                        <m:t>|</m:t>
                      </m:r>
                      <m:r>
                        <m:t>V</m:t>
                      </m:r>
                      <m:r>
                        <m:rPr>
                          <m:sty m:val="p"/>
                        </m:rPr>
                        <m:t>|</m:t>
                      </m:r>
                      <m:r>
                        <m:rPr>
                          <m:sty m:val="p"/>
                        </m:rPr>
                        <m:t>=</m:t>
                      </m:r>
                      <m:r>
                        <m:t>3</m:t>
                      </m:r>
                      <m:r>
                        <m:rPr>
                          <m:sty m:val="p"/>
                        </m:rPr>
                        <m:t>+</m:t>
                      </m:r>
                      <m:r>
                        <m:t>2</m:t>
                      </m:r>
                      <m:r>
                        <m:t>n</m:t>
                      </m:r>
                      <m:r>
                        <m:rPr>
                          <m:sty m:val="p"/>
                        </m:rPr>
                        <m:t>+</m:t>
                      </m:r>
                      <m:r>
                        <m:t>6</m:t>
                      </m:r>
                      <m:r>
                        <m:t>m</m:t>
                      </m:r>
                      <m:r>
                        <m:rPr>
                          <m:sty m:val="p"/>
                        </m:rPr>
                        <m:t>,</m:t>
                      </m:r>
                      <m:r>
                        <m:t>  </m:t>
                      </m:r>
                      <m:r>
                        <m:rPr>
                          <m:sty m:val="p"/>
                        </m:rPr>
                        <m:t>|</m:t>
                      </m:r>
                      <m:r>
                        <m:t>E</m:t>
                      </m:r>
                      <m:r>
                        <m:rPr>
                          <m:sty m:val="p"/>
                        </m:rPr>
                        <m:t>|</m:t>
                      </m:r>
                      <m:r>
                        <m:rPr>
                          <m:sty m:val="p"/>
                        </m:rPr>
                        <m:t>=</m:t>
                      </m:r>
                      <m:r>
                        <m:t>3</m:t>
                      </m:r>
                      <m:r>
                        <m:rPr>
                          <m:sty m:val="p"/>
                        </m:rPr>
                        <m:t>+</m:t>
                      </m:r>
                      <m:r>
                        <m:t>3</m:t>
                      </m:r>
                      <m:r>
                        <m:t>n</m:t>
                      </m:r>
                      <m:r>
                        <m:rPr>
                          <m:sty m:val="p"/>
                        </m:rPr>
                        <m:t>+</m:t>
                      </m:r>
                      <m:r>
                        <m:t>13</m:t>
                      </m:r>
                      <m:r>
                        <m:t>m</m:t>
                      </m:r>
                      <m:r>
                        <m:rPr>
                          <m:sty m:val="p"/>
                        </m:rPr>
                        <m:t>.</m:t>
                      </m:r>
                    </m:oMath>
                  </m:oMathPara>
                </a14:m>
              </a:p>
              <a:p>
                <a:pPr lvl="0" indent="0" marL="0">
                  <a:buNone/>
                </a:pPr>
                <a:r>
                  <a:rPr/>
                  <a:t>Enumerating the vertices and edges takes polynomial time.</a:t>
                </a:r>
              </a:p>
            </p:txBody>
          </p:sp>
        </mc:Choice>
      </mc:AlternateContent>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A Second Reduction Pattern: 3-SAT reduces to CLIQUE</a:t>
            </a:r>
          </a:p>
        </p:txBody>
      </p:sp>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137</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eqArr>
                        <m:e>
                          <m:sSup>
                            <m:e>
                              <m:r>
                                <m:t>ϕ</m:t>
                              </m:r>
                            </m:e>
                            <m:sup>
                              <m:r>
                                <m:rPr>
                                  <m:sty m:val="p"/>
                                </m:rPr>
                                <m:t>′</m:t>
                              </m:r>
                            </m:sup>
                          </m:sSup>
                          <m:r>
                            <m:rPr>
                              <m:sty m:val="p"/>
                            </m:rPr>
                            <m:t>=</m:t>
                          </m:r>
                          <m:r>
                            <m:t>​</m:t>
                          </m:r>
                          <m:r>
                            <m:t>&amp;</m:t>
                          </m:r>
                          <m:r>
                            <m:rPr>
                              <m:sty m:val="p"/>
                            </m:rPr>
                            <m:t>(</m:t>
                          </m:r>
                          <m:sSub>
                            <m:e>
                              <m:r>
                                <m:t>x</m:t>
                              </m:r>
                            </m:e>
                            <m:sub>
                              <m:r>
                                <m:t>1</m:t>
                              </m:r>
                            </m:sub>
                          </m:sSub>
                          <m:r>
                            <m:rPr>
                              <m:sty m:val="p"/>
                            </m:rPr>
                            <m:t>∨</m:t>
                          </m:r>
                          <m:r>
                            <m:rPr>
                              <m:sty m:val="p"/>
                            </m:rPr>
                            <m:t>¬</m:t>
                          </m:r>
                          <m:sSub>
                            <m:e>
                              <m:r>
                                <m:t>x</m:t>
                              </m:r>
                            </m:e>
                            <m:sub>
                              <m:r>
                                <m:t>2</m:t>
                              </m:r>
                            </m:sub>
                          </m:sSub>
                          <m:r>
                            <m:rPr>
                              <m:sty m:val="p"/>
                            </m:rPr>
                            <m:t>∨</m:t>
                          </m:r>
                          <m:sSub>
                            <m:e>
                              <m:r>
                                <m:t>x</m:t>
                              </m:r>
                            </m:e>
                            <m:sub>
                              <m:r>
                                <m:t>3</m:t>
                              </m:r>
                            </m:sub>
                          </m:sSub>
                          <m:r>
                            <m:rPr>
                              <m:sty m:val="p"/>
                            </m:rPr>
                            <m:t>)</m:t>
                          </m:r>
                          <m:r>
                            <m:rPr>
                              <m:sty m:val="p"/>
                            </m:rPr>
                            <m:t>∧</m:t>
                          </m:r>
                          <m:r>
                            <m:rPr>
                              <m:sty m:val="p"/>
                            </m:rPr>
                            <m:t>(</m:t>
                          </m:r>
                          <m:r>
                            <m:rPr>
                              <m:sty m:val="p"/>
                            </m:rPr>
                            <m:t>¬</m:t>
                          </m:r>
                          <m:sSub>
                            <m:e>
                              <m:r>
                                <m:t>x</m:t>
                              </m:r>
                            </m:e>
                            <m:sub>
                              <m:r>
                                <m:t>1</m:t>
                              </m:r>
                            </m:sub>
                          </m:sSub>
                          <m:r>
                            <m:rPr>
                              <m:sty m:val="p"/>
                            </m:rPr>
                            <m:t>∨</m:t>
                          </m:r>
                          <m:sSub>
                            <m:e>
                              <m:r>
                                <m:t>x</m:t>
                              </m:r>
                            </m:e>
                            <m:sub>
                              <m:r>
                                <m:t>2</m:t>
                              </m:r>
                            </m:sub>
                          </m:sSub>
                          <m:r>
                            <m:rPr>
                              <m:sty m:val="p"/>
                            </m:rPr>
                            <m:t>∨</m:t>
                          </m:r>
                          <m:sSub>
                            <m:e>
                              <m:r>
                                <m:t>x</m:t>
                              </m:r>
                            </m:e>
                            <m:sub>
                              <m:r>
                                <m:t>3</m:t>
                              </m:r>
                            </m:sub>
                          </m:sSub>
                          <m:r>
                            <m:rPr>
                              <m:sty m:val="p"/>
                            </m:rPr>
                            <m:t>)</m:t>
                          </m:r>
                        </m:e>
                        <m:e>
                          <m:r>
                            <m:t>&amp;</m:t>
                          </m:r>
                          <m:r>
                            <m:rPr>
                              <m:sty m:val="p"/>
                            </m:rPr>
                            <m:t>∧</m:t>
                          </m:r>
                          <m:r>
                            <m:rPr>
                              <m:sty m:val="p"/>
                            </m:rPr>
                            <m:t>(</m:t>
                          </m:r>
                          <m:sSub>
                            <m:e>
                              <m:r>
                                <m:t>x</m:t>
                              </m:r>
                            </m:e>
                            <m:sub>
                              <m:r>
                                <m:t>1</m:t>
                              </m:r>
                            </m:sub>
                          </m:sSub>
                          <m:r>
                            <m:rPr>
                              <m:sty m:val="p"/>
                            </m:rPr>
                            <m:t>∨</m:t>
                          </m:r>
                          <m:sSub>
                            <m:e>
                              <m:r>
                                <m:t>x</m:t>
                              </m:r>
                            </m:e>
                            <m:sub>
                              <m:r>
                                <m:t>2</m:t>
                              </m:r>
                            </m:sub>
                          </m:sSub>
                          <m:r>
                            <m:rPr>
                              <m:sty m:val="p"/>
                            </m:rPr>
                            <m:t>∨</m:t>
                          </m:r>
                          <m:r>
                            <m:rPr>
                              <m:sty m:val="p"/>
                            </m:rPr>
                            <m:t>¬</m:t>
                          </m:r>
                          <m:sSub>
                            <m:e>
                              <m:r>
                                <m:t>x</m:t>
                              </m:r>
                            </m:e>
                            <m:sub>
                              <m:r>
                                <m:t>3</m:t>
                              </m:r>
                            </m:sub>
                          </m:sSub>
                          <m:r>
                            <m:rPr>
                              <m:sty m:val="p"/>
                            </m:rPr>
                            <m:t>)</m:t>
                          </m:r>
                          <m:r>
                            <m:rPr>
                              <m:sty m:val="p"/>
                            </m:rPr>
                            <m:t>.</m:t>
                          </m:r>
                        </m:e>
                      </m:eqArr>
                    </m:oMath>
                  </m:oMathPara>
                </a14:m>
              </a:p>
            </p:txBody>
          </p:sp>
        </mc:Choice>
      </mc:AlternateContent>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138</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Create one vertex per literal occurrence.</a:t>
                </a:r>
              </a:p>
              <a:p>
                <a:pPr lvl="0"/>
                <a:r>
                  <a:rPr/>
                  <a:t>Put vertices in clause groups.</a:t>
                </a:r>
              </a:p>
              <a:p>
                <a:pPr lvl="0"/>
                <a:r>
                  <a:rPr/>
                  <a:t>Connect different-clause vertices when their literals are not contradictory.</a:t>
                </a:r>
              </a:p>
              <a:p>
                <a:pPr lvl="0"/>
                <a:r>
                  <a:rPr/>
                  <a:t>Ask for </a:t>
                </a:r>
                <a14:m>
                  <m:oMath xmlns:m="http://schemas.openxmlformats.org/officeDocument/2006/math">
                    <m:r>
                      <m:t>m</m:t>
                    </m:r>
                  </m:oMath>
                </a14:m>
                <a:r>
                  <a:rPr/>
                  <a:t> pairwise adjacent vertices: an </a:t>
                </a:r>
                <a14:m>
                  <m:oMath xmlns:m="http://schemas.openxmlformats.org/officeDocument/2006/math">
                    <m:r>
                      <m:t>m</m:t>
                    </m:r>
                  </m:oMath>
                </a14:m>
                <a:r>
                  <a:rPr/>
                  <a:t>-clique.</a:t>
                </a:r>
              </a:p>
            </p:txBody>
          </p:sp>
        </mc:Choice>
      </mc:AlternateContent>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A Second Reduction Pattern: 3-SAT reduces to CLIQUE</a:t>
            </a:r>
          </a:p>
        </p:txBody>
      </p:sp>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140</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eqArr>
                        <m:e>
                          <m:sSup>
                            <m:e>
                              <m:r>
                                <m:t>ϕ</m:t>
                              </m:r>
                            </m:e>
                            <m:sup>
                              <m:r>
                                <m:rPr>
                                  <m:sty m:val="p"/>
                                </m:rPr>
                                <m:t>′</m:t>
                              </m:r>
                            </m:sup>
                          </m:sSup>
                          <m:r>
                            <m:rPr>
                              <m:sty m:val="p"/>
                            </m:rPr>
                            <m:t>=</m:t>
                          </m:r>
                          <m:r>
                            <m:t>​</m:t>
                          </m:r>
                          <m:r>
                            <m:t>&amp;</m:t>
                          </m:r>
                          <m:r>
                            <m:rPr>
                              <m:sty m:val="p"/>
                            </m:rPr>
                            <m:t>(</m:t>
                          </m:r>
                          <m:sSub>
                            <m:e>
                              <m:r>
                                <m:t>x</m:t>
                              </m:r>
                            </m:e>
                            <m:sub>
                              <m:r>
                                <m:t>1</m:t>
                              </m:r>
                            </m:sub>
                          </m:sSub>
                          <m:r>
                            <m:rPr>
                              <m:sty m:val="p"/>
                            </m:rPr>
                            <m:t>∨</m:t>
                          </m:r>
                          <m:r>
                            <m:rPr>
                              <m:sty m:val="p"/>
                            </m:rPr>
                            <m:t>¬</m:t>
                          </m:r>
                          <m:sSub>
                            <m:e>
                              <m:r>
                                <m:t>x</m:t>
                              </m:r>
                            </m:e>
                            <m:sub>
                              <m:r>
                                <m:t>2</m:t>
                              </m:r>
                            </m:sub>
                          </m:sSub>
                          <m:r>
                            <m:rPr>
                              <m:sty m:val="p"/>
                            </m:rPr>
                            <m:t>∨</m:t>
                          </m:r>
                          <m:sSub>
                            <m:e>
                              <m:r>
                                <m:t>x</m:t>
                              </m:r>
                            </m:e>
                            <m:sub>
                              <m:r>
                                <m:t>3</m:t>
                              </m:r>
                            </m:sub>
                          </m:sSub>
                          <m:r>
                            <m:rPr>
                              <m:sty m:val="p"/>
                            </m:rPr>
                            <m:t>)</m:t>
                          </m:r>
                          <m:r>
                            <m:rPr>
                              <m:sty m:val="p"/>
                            </m:rPr>
                            <m:t>∧</m:t>
                          </m:r>
                          <m:r>
                            <m:rPr>
                              <m:sty m:val="p"/>
                            </m:rPr>
                            <m:t>(</m:t>
                          </m:r>
                          <m:r>
                            <m:rPr>
                              <m:sty m:val="p"/>
                            </m:rPr>
                            <m:t>¬</m:t>
                          </m:r>
                          <m:sSub>
                            <m:e>
                              <m:r>
                                <m:t>x</m:t>
                              </m:r>
                            </m:e>
                            <m:sub>
                              <m:r>
                                <m:t>1</m:t>
                              </m:r>
                            </m:sub>
                          </m:sSub>
                          <m:r>
                            <m:rPr>
                              <m:sty m:val="p"/>
                            </m:rPr>
                            <m:t>∨</m:t>
                          </m:r>
                          <m:sSub>
                            <m:e>
                              <m:r>
                                <m:t>x</m:t>
                              </m:r>
                            </m:e>
                            <m:sub>
                              <m:r>
                                <m:t>2</m:t>
                              </m:r>
                            </m:sub>
                          </m:sSub>
                          <m:r>
                            <m:rPr>
                              <m:sty m:val="p"/>
                            </m:rPr>
                            <m:t>∨</m:t>
                          </m:r>
                          <m:sSub>
                            <m:e>
                              <m:r>
                                <m:t>x</m:t>
                              </m:r>
                            </m:e>
                            <m:sub>
                              <m:r>
                                <m:t>3</m:t>
                              </m:r>
                            </m:sub>
                          </m:sSub>
                          <m:r>
                            <m:rPr>
                              <m:sty m:val="p"/>
                            </m:rPr>
                            <m:t>)</m:t>
                          </m:r>
                        </m:e>
                        <m:e>
                          <m:r>
                            <m:t>&amp;</m:t>
                          </m:r>
                          <m:r>
                            <m:rPr>
                              <m:sty m:val="p"/>
                            </m:rPr>
                            <m:t>∧</m:t>
                          </m:r>
                          <m:r>
                            <m:rPr>
                              <m:sty m:val="p"/>
                            </m:rPr>
                            <m:t>(</m:t>
                          </m:r>
                          <m:sSub>
                            <m:e>
                              <m:r>
                                <m:t>x</m:t>
                              </m:r>
                            </m:e>
                            <m:sub>
                              <m:r>
                                <m:t>1</m:t>
                              </m:r>
                            </m:sub>
                          </m:sSub>
                          <m:r>
                            <m:rPr>
                              <m:sty m:val="p"/>
                            </m:rPr>
                            <m:t>∨</m:t>
                          </m:r>
                          <m:sSub>
                            <m:e>
                              <m:r>
                                <m:t>x</m:t>
                              </m:r>
                            </m:e>
                            <m:sub>
                              <m:r>
                                <m:t>2</m:t>
                              </m:r>
                            </m:sub>
                          </m:sSub>
                          <m:r>
                            <m:rPr>
                              <m:sty m:val="p"/>
                            </m:rPr>
                            <m:t>∨</m:t>
                          </m:r>
                          <m:r>
                            <m:rPr>
                              <m:sty m:val="p"/>
                            </m:rPr>
                            <m:t>¬</m:t>
                          </m:r>
                          <m:sSub>
                            <m:e>
                              <m:r>
                                <m:t>x</m:t>
                              </m:r>
                            </m:e>
                            <m:sub>
                              <m:r>
                                <m:t>3</m:t>
                              </m:r>
                            </m:sub>
                          </m:sSub>
                          <m:r>
                            <m:rPr>
                              <m:sty m:val="p"/>
                            </m:rPr>
                            <m:t>)</m:t>
                          </m:r>
                          <m:r>
                            <m:rPr>
                              <m:sty m:val="p"/>
                            </m:rPr>
                            <m:t>.</m:t>
                          </m:r>
                        </m:e>
                      </m:eqArr>
                    </m:oMath>
                  </m:oMathPara>
                </a14:m>
              </a:p>
            </p:txBody>
          </p:sp>
        </mc:Choice>
      </mc:AlternateContent>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141</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Create one vertex per literal occurrence.</a:t>
                </a:r>
              </a:p>
              <a:p>
                <a:pPr lvl="0"/>
                <a:r>
                  <a:rPr/>
                  <a:t>Put vertices in clause groups.</a:t>
                </a:r>
              </a:p>
              <a:p>
                <a:pPr lvl="0"/>
                <a:r>
                  <a:rPr/>
                  <a:t>Connect different-clause vertices when their literals are not contradictory.</a:t>
                </a:r>
              </a:p>
              <a:p>
                <a:pPr lvl="0"/>
                <a:r>
                  <a:rPr/>
                  <a:t>Ask for </a:t>
                </a:r>
                <a14:m>
                  <m:oMath xmlns:m="http://schemas.openxmlformats.org/officeDocument/2006/math">
                    <m:r>
                      <m:t>m</m:t>
                    </m:r>
                  </m:oMath>
                </a14:m>
                <a:r>
                  <a:rPr/>
                  <a:t> pairwise adjacent vertices: an </a:t>
                </a:r>
                <a14:m>
                  <m:oMath xmlns:m="http://schemas.openxmlformats.org/officeDocument/2006/math">
                    <m:r>
                      <m:t>m</m:t>
                    </m:r>
                  </m:oMath>
                </a14:m>
                <a:r>
                  <a:rPr/>
                  <a:t>-clique.</a:t>
                </a:r>
              </a:p>
            </p:txBody>
          </p:sp>
        </mc:Choice>
      </mc:AlternateContent>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142</a:t>
            </a:r>
          </a:p>
        </p:txBody>
      </p:sp>
      <p:pic>
        <p:nvPicPr>
          <p:cNvPr descr="editable_assets/diagram-16-2.png" id="0" name="Picture 1"/>
          <p:cNvPicPr>
            <a:picLocks noGrp="1" noChangeAspect="1"/>
          </p:cNvPicPr>
          <p:nvPr/>
        </p:nvPicPr>
        <p:blipFill>
          <a:blip r:embed="rId2"/>
          <a:stretch>
            <a:fillRect/>
          </a:stretch>
        </p:blipFill>
        <p:spPr bwMode="auto">
          <a:xfrm>
            <a:off x="787400" y="939800"/>
            <a:ext cx="7556500" cy="5435600"/>
          </a:xfrm>
          <a:prstGeom prst="rect">
            <a:avLst/>
          </a:prstGeom>
          <a:noFill/>
          <a:ln w="9525">
            <a:noFill/>
            <a:headEnd/>
            <a:tailEnd/>
          </a:ln>
        </p:spPr>
      </p:pic>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A Second Reduction Pattern: 3-SAT reduces to CLIQUE</a:t>
            </a:r>
          </a:p>
        </p:txBody>
      </p:sp>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144</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Para xmlns:m="http://schemas.openxmlformats.org/officeDocument/2006/math">
                    <m:oMathParaPr>
                      <m:jc m:val="center"/>
                    </m:oMathParaPr>
                    <m:oMath>
                      <m:eqArr>
                        <m:e>
                          <m:sSup>
                            <m:e>
                              <m:r>
                                <m:t>ϕ</m:t>
                              </m:r>
                            </m:e>
                            <m:sup>
                              <m:r>
                                <m:rPr>
                                  <m:sty m:val="p"/>
                                </m:rPr>
                                <m:t>′</m:t>
                              </m:r>
                            </m:sup>
                          </m:sSup>
                          <m:r>
                            <m:rPr>
                              <m:sty m:val="p"/>
                            </m:rPr>
                            <m:t>=</m:t>
                          </m:r>
                          <m:r>
                            <m:t>​</m:t>
                          </m:r>
                          <m:r>
                            <m:t>&amp;</m:t>
                          </m:r>
                          <m:r>
                            <m:rPr>
                              <m:sty m:val="p"/>
                            </m:rPr>
                            <m:t>(</m:t>
                          </m:r>
                          <m:sSub>
                            <m:e>
                              <m:r>
                                <m:t>x</m:t>
                              </m:r>
                            </m:e>
                            <m:sub>
                              <m:r>
                                <m:t>1</m:t>
                              </m:r>
                            </m:sub>
                          </m:sSub>
                          <m:r>
                            <m:rPr>
                              <m:sty m:val="p"/>
                            </m:rPr>
                            <m:t>∨</m:t>
                          </m:r>
                          <m:r>
                            <m:rPr>
                              <m:sty m:val="p"/>
                            </m:rPr>
                            <m:t>¬</m:t>
                          </m:r>
                          <m:sSub>
                            <m:e>
                              <m:r>
                                <m:t>x</m:t>
                              </m:r>
                            </m:e>
                            <m:sub>
                              <m:r>
                                <m:t>2</m:t>
                              </m:r>
                            </m:sub>
                          </m:sSub>
                          <m:r>
                            <m:rPr>
                              <m:sty m:val="p"/>
                            </m:rPr>
                            <m:t>∨</m:t>
                          </m:r>
                          <m:sSub>
                            <m:e>
                              <m:r>
                                <m:t>x</m:t>
                              </m:r>
                            </m:e>
                            <m:sub>
                              <m:r>
                                <m:t>3</m:t>
                              </m:r>
                            </m:sub>
                          </m:sSub>
                          <m:r>
                            <m:rPr>
                              <m:sty m:val="p"/>
                            </m:rPr>
                            <m:t>)</m:t>
                          </m:r>
                          <m:r>
                            <m:rPr>
                              <m:sty m:val="p"/>
                            </m:rPr>
                            <m:t>∧</m:t>
                          </m:r>
                          <m:r>
                            <m:rPr>
                              <m:sty m:val="p"/>
                            </m:rPr>
                            <m:t>(</m:t>
                          </m:r>
                          <m:r>
                            <m:rPr>
                              <m:sty m:val="p"/>
                            </m:rPr>
                            <m:t>¬</m:t>
                          </m:r>
                          <m:sSub>
                            <m:e>
                              <m:r>
                                <m:t>x</m:t>
                              </m:r>
                            </m:e>
                            <m:sub>
                              <m:r>
                                <m:t>1</m:t>
                              </m:r>
                            </m:sub>
                          </m:sSub>
                          <m:r>
                            <m:rPr>
                              <m:sty m:val="p"/>
                            </m:rPr>
                            <m:t>∨</m:t>
                          </m:r>
                          <m:sSub>
                            <m:e>
                              <m:r>
                                <m:t>x</m:t>
                              </m:r>
                            </m:e>
                            <m:sub>
                              <m:r>
                                <m:t>2</m:t>
                              </m:r>
                            </m:sub>
                          </m:sSub>
                          <m:r>
                            <m:rPr>
                              <m:sty m:val="p"/>
                            </m:rPr>
                            <m:t>∨</m:t>
                          </m:r>
                          <m:sSub>
                            <m:e>
                              <m:r>
                                <m:t>x</m:t>
                              </m:r>
                            </m:e>
                            <m:sub>
                              <m:r>
                                <m:t>3</m:t>
                              </m:r>
                            </m:sub>
                          </m:sSub>
                          <m:r>
                            <m:rPr>
                              <m:sty m:val="p"/>
                            </m:rPr>
                            <m:t>)</m:t>
                          </m:r>
                        </m:e>
                        <m:e>
                          <m:r>
                            <m:t>&amp;</m:t>
                          </m:r>
                          <m:r>
                            <m:rPr>
                              <m:sty m:val="p"/>
                            </m:rPr>
                            <m:t>∧</m:t>
                          </m:r>
                          <m:r>
                            <m:rPr>
                              <m:sty m:val="p"/>
                            </m:rPr>
                            <m:t>(</m:t>
                          </m:r>
                          <m:sSub>
                            <m:e>
                              <m:r>
                                <m:t>x</m:t>
                              </m:r>
                            </m:e>
                            <m:sub>
                              <m:r>
                                <m:t>1</m:t>
                              </m:r>
                            </m:sub>
                          </m:sSub>
                          <m:r>
                            <m:rPr>
                              <m:sty m:val="p"/>
                            </m:rPr>
                            <m:t>∨</m:t>
                          </m:r>
                          <m:sSub>
                            <m:e>
                              <m:r>
                                <m:t>x</m:t>
                              </m:r>
                            </m:e>
                            <m:sub>
                              <m:r>
                                <m:t>2</m:t>
                              </m:r>
                            </m:sub>
                          </m:sSub>
                          <m:r>
                            <m:rPr>
                              <m:sty m:val="p"/>
                            </m:rPr>
                            <m:t>∨</m:t>
                          </m:r>
                          <m:r>
                            <m:rPr>
                              <m:sty m:val="p"/>
                            </m:rPr>
                            <m:t>¬</m:t>
                          </m:r>
                          <m:sSub>
                            <m:e>
                              <m:r>
                                <m:t>x</m:t>
                              </m:r>
                            </m:e>
                            <m:sub>
                              <m:r>
                                <m:t>3</m:t>
                              </m:r>
                            </m:sub>
                          </m:sSub>
                          <m:r>
                            <m:rPr>
                              <m:sty m:val="p"/>
                            </m:rPr>
                            <m:t>)</m:t>
                          </m:r>
                          <m:r>
                            <m:rPr>
                              <m:sty m:val="p"/>
                            </m:rPr>
                            <m:t>.</m:t>
                          </m:r>
                        </m:e>
                      </m:eqArr>
                    </m:oMath>
                  </m:oMathPara>
                </a14:m>
              </a:p>
            </p:txBody>
          </p:sp>
        </mc:Choice>
      </mc:AlternateContent>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145</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Create one vertex per literal occurrence.</a:t>
                </a:r>
              </a:p>
              <a:p>
                <a:pPr lvl="0"/>
                <a:r>
                  <a:rPr/>
                  <a:t>Put vertices in clause groups.</a:t>
                </a:r>
              </a:p>
              <a:p>
                <a:pPr lvl="0"/>
                <a:r>
                  <a:rPr/>
                  <a:t>Connect different-clause vertices when their literals are not contradictory.</a:t>
                </a:r>
              </a:p>
              <a:p>
                <a:pPr lvl="0"/>
                <a:r>
                  <a:rPr/>
                  <a:t>Ask for </a:t>
                </a:r>
                <a14:m>
                  <m:oMath xmlns:m="http://schemas.openxmlformats.org/officeDocument/2006/math">
                    <m:r>
                      <m:t>m</m:t>
                    </m:r>
                  </m:oMath>
                </a14:m>
                <a:r>
                  <a:rPr/>
                  <a:t> pairwise adjacent vertices: an </a:t>
                </a:r>
                <a14:m>
                  <m:oMath xmlns:m="http://schemas.openxmlformats.org/officeDocument/2006/math">
                    <m:r>
                      <m:t>m</m:t>
                    </m:r>
                  </m:oMath>
                </a14:m>
                <a:r>
                  <a:rPr/>
                  <a:t>-clique.</a:t>
                </a:r>
              </a:p>
              <a:p>
                <a:pPr lvl="0" indent="0" marL="0">
                  <a:buNone/>
                </a:pPr>
                <a:r>
                  <a:rPr/>
                  <a:t>One pairwise noncontradictory literal occurrence from each clause forms a clique.</a:t>
                </a:r>
              </a:p>
            </p:txBody>
          </p:sp>
        </mc:Choice>
      </mc:AlternateContent>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146</a:t>
            </a:r>
          </a:p>
        </p:txBody>
      </p:sp>
      <p:pic>
        <p:nvPicPr>
          <p:cNvPr descr="editable_assets/diagram-16-3.png" id="0" name="Picture 1"/>
          <p:cNvPicPr>
            <a:picLocks noGrp="1" noChangeAspect="1"/>
          </p:cNvPicPr>
          <p:nvPr/>
        </p:nvPicPr>
        <p:blipFill>
          <a:blip r:embed="rId2"/>
          <a:stretch>
            <a:fillRect/>
          </a:stretch>
        </p:blipFill>
        <p:spPr bwMode="auto">
          <a:xfrm>
            <a:off x="787400" y="939800"/>
            <a:ext cx="7556500" cy="5435600"/>
          </a:xfrm>
          <a:prstGeom prst="rect">
            <a:avLst/>
          </a:prstGeom>
          <a:noFill/>
          <a:ln w="9525">
            <a:noFill/>
            <a:headEnd/>
            <a:tailEnd/>
          </a:ln>
        </p:spPr>
      </p:pic>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147</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Conversely, an </a:t>
                </a:r>
                <a14:m>
                  <m:oMath xmlns:m="http://schemas.openxmlformats.org/officeDocument/2006/math">
                    <m:r>
                      <m:t>m</m:t>
                    </m:r>
                  </m:oMath>
                </a14:m>
                <a:r>
                  <a:rPr/>
                  <a:t>-clique chooses one occurrence per clause with no complementary pair. Set them true.</a:t>
                </a:r>
              </a:p>
              <a:p>
                <a:pPr lvl="0" indent="0" marL="0">
                  <a:buNone/>
                </a:pPr>
                <a:r>
                  <a:rPr/>
                  <a:t>Construction: </a:t>
                </a:r>
                <a14:m>
                  <m:oMath xmlns:m="http://schemas.openxmlformats.org/officeDocument/2006/math">
                    <m:r>
                      <m:t>3</m:t>
                    </m:r>
                    <m:r>
                      <m:t>m</m:t>
                    </m:r>
                  </m:oMath>
                </a14:m>
                <a:r>
                  <a:rPr/>
                  <a:t> vertices and </a:t>
                </a:r>
                <a14:m>
                  <m:oMath xmlns:m="http://schemas.openxmlformats.org/officeDocument/2006/math">
                    <m:r>
                      <m:t>O</m:t>
                    </m:r>
                    <m:r>
                      <m:rPr>
                        <m:sty m:val="p"/>
                      </m:rPr>
                      <m:t>(</m:t>
                    </m:r>
                    <m:sSup>
                      <m:e>
                        <m:r>
                          <m:t>m</m:t>
                        </m:r>
                      </m:e>
                      <m:sup>
                        <m:r>
                          <m:t>2</m:t>
                        </m:r>
                      </m:sup>
                    </m:sSup>
                    <m:r>
                      <m:rPr>
                        <m:sty m:val="p"/>
                      </m:rPr>
                      <m:t>)</m:t>
                    </m:r>
                  </m:oMath>
                </a14:m>
                <a:r>
                  <a:rPr/>
                  <a:t> edges.</a:t>
                </a:r>
              </a:p>
            </p:txBody>
          </p:sp>
        </mc:Choice>
      </mc:AlternateContent>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Takeaway</a:t>
            </a:r>
          </a:p>
        </p:txBody>
      </p:sp>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149</a:t>
            </a:r>
          </a:p>
        </p:txBody>
      </p:sp>
      <p:pic>
        <p:nvPicPr>
          <p:cNvPr descr="editable_assets/diagram-17-1.png" id="0" name="Picture 1"/>
          <p:cNvPicPr>
            <a:picLocks noGrp="1" noChangeAspect="1"/>
          </p:cNvPicPr>
          <p:nvPr/>
        </p:nvPicPr>
        <p:blipFill>
          <a:blip r:embed="rId2"/>
          <a:stretch>
            <a:fillRect/>
          </a:stretch>
        </p:blipFill>
        <p:spPr bwMode="auto">
          <a:xfrm>
            <a:off x="342900" y="1879600"/>
            <a:ext cx="8445500" cy="3543300"/>
          </a:xfrm>
          <a:prstGeom prst="rect">
            <a:avLst/>
          </a:prstGeom>
          <a:noFill/>
          <a:ln w="9525">
            <a:noFill/>
            <a:headEnd/>
            <a:tailEnd/>
          </a:ln>
        </p:spPr>
      </p:pic>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Takeaway</a:t>
            </a:r>
          </a:p>
        </p:txBody>
      </p:sp>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151</a:t>
            </a:r>
          </a:p>
        </p:txBody>
      </p:sp>
      <p:pic>
        <p:nvPicPr>
          <p:cNvPr descr="editable_assets/diagram-17-2.png" id="0" name="Picture 1"/>
          <p:cNvPicPr>
            <a:picLocks noGrp="1" noChangeAspect="1"/>
          </p:cNvPicPr>
          <p:nvPr/>
        </p:nvPicPr>
        <p:blipFill>
          <a:blip r:embed="rId2"/>
          <a:stretch>
            <a:fillRect/>
          </a:stretch>
        </p:blipFill>
        <p:spPr bwMode="auto">
          <a:xfrm>
            <a:off x="342900" y="1879600"/>
            <a:ext cx="8445500" cy="3543300"/>
          </a:xfrm>
          <a:prstGeom prst="rect">
            <a:avLst/>
          </a:prstGeom>
          <a:noFill/>
          <a:ln w="9525">
            <a:noFill/>
            <a:headEnd/>
            <a:tailEnd/>
          </a:ln>
        </p:spPr>
      </p:pic>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Takeaway</a:t>
            </a:r>
          </a:p>
        </p:txBody>
      </p:sp>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153</a:t>
            </a:r>
          </a:p>
        </p:txBody>
      </p:sp>
      <p:pic>
        <p:nvPicPr>
          <p:cNvPr descr="editable_assets/diagram-17-3.png" id="0" name="Picture 1"/>
          <p:cNvPicPr>
            <a:picLocks noGrp="1" noChangeAspect="1"/>
          </p:cNvPicPr>
          <p:nvPr/>
        </p:nvPicPr>
        <p:blipFill>
          <a:blip r:embed="rId2"/>
          <a:stretch>
            <a:fillRect/>
          </a:stretch>
        </p:blipFill>
        <p:spPr bwMode="auto">
          <a:xfrm>
            <a:off x="342900" y="1879600"/>
            <a:ext cx="8445500" cy="3543300"/>
          </a:xfrm>
          <a:prstGeom prst="rect">
            <a:avLst/>
          </a:prstGeom>
          <a:noFill/>
          <a:ln w="9525">
            <a:noFill/>
            <a:headEnd/>
            <a:tailEnd/>
          </a:ln>
        </p:spPr>
      </p:pic>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Takeaway</a:t>
            </a:r>
          </a:p>
        </p:txBody>
      </p:sp>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155</a:t>
            </a:r>
          </a:p>
        </p:txBody>
      </p:sp>
      <p:pic>
        <p:nvPicPr>
          <p:cNvPr descr="editable_assets/diagram-17-3.png" id="0" name="Picture 1"/>
          <p:cNvPicPr>
            <a:picLocks noGrp="1" noChangeAspect="1"/>
          </p:cNvPicPr>
          <p:nvPr/>
        </p:nvPicPr>
        <p:blipFill>
          <a:blip r:embed="rId2"/>
          <a:stretch>
            <a:fillRect/>
          </a:stretch>
        </p:blipFill>
        <p:spPr bwMode="auto">
          <a:xfrm>
            <a:off x="342900" y="1879600"/>
            <a:ext cx="8445500" cy="3543300"/>
          </a:xfrm>
          <a:prstGeom prst="rect">
            <a:avLst/>
          </a:prstGeom>
          <a:noFill/>
          <a:ln w="9525">
            <a:noFill/>
            <a:headEnd/>
            <a:tailEnd/>
          </a:ln>
        </p:spPr>
      </p:pic>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156</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b="1"/>
                  <a:t>One reusable sentence</a:t>
                </a:r>
              </a:p>
              <a:p>
                <a:pPr lvl="0" indent="0" marL="0">
                  <a:buNone/>
                </a:pPr>
                <a:r>
                  <a:rPr/>
                  <a:t>To prove a target </a:t>
                </a:r>
                <a14:m>
                  <m:oMath xmlns:m="http://schemas.openxmlformats.org/officeDocument/2006/math">
                    <m:r>
                      <m:t>B</m:t>
                    </m:r>
                  </m:oMath>
                </a14:m>
                <a:r>
                  <a:rPr/>
                  <a:t> NP-complete, show </a:t>
                </a:r>
                <a14:m>
                  <m:oMath xmlns:m="http://schemas.openxmlformats.org/officeDocument/2006/math">
                    <m:r>
                      <m:t>B</m:t>
                    </m:r>
                    <m:r>
                      <m:rPr>
                        <m:sty m:val="p"/>
                      </m:rPr>
                      <m:t>∈</m:t>
                    </m:r>
                    <m:r>
                      <m:t>N</m:t>
                    </m:r>
                    <m:r>
                      <m:t>P</m:t>
                    </m:r>
                  </m:oMath>
                </a14:m>
                <a:r>
                  <a:rPr/>
                  <a:t> and reduce a known NP-complete problem </a:t>
                </a:r>
                <a14:m>
                  <m:oMath xmlns:m="http://schemas.openxmlformats.org/officeDocument/2006/math">
                    <m:r>
                      <m:t>A</m:t>
                    </m:r>
                  </m:oMath>
                </a14:m>
                <a:r>
                  <a:rPr/>
                  <a:t> to </a:t>
                </a:r>
                <a14:m>
                  <m:oMath xmlns:m="http://schemas.openxmlformats.org/officeDocument/2006/math">
                    <m:r>
                      <m:t>B</m:t>
                    </m:r>
                  </m:oMath>
                </a14:m>
                <a:r>
                  <a:rPr/>
                  <a:t> in polynomial time while preserving YES/NO answers.</a:t>
                </a:r>
              </a:p>
              <a:p>
                <a:pPr lvl="0" indent="0" marL="0">
                  <a:buNone/>
                </a:pPr>
                <a:r>
                  <a:rPr b="1"/>
                  <a:t>Questions?</a:t>
                </a:r>
              </a:p>
              <a:p>
                <a:pPr lvl="0" indent="0" marL="0">
                  <a:buNone/>
                </a:pPr>
                <a:r>
                  <a:rPr/>
                  <a:t>Core references: Sipser; Cormen–Leiserson–Rivest–Stein; Princeton COS 423 reduction notes.</a:t>
                </a:r>
              </a:p>
            </p:txBody>
          </p:sp>
        </mc:Choice>
      </mc:AlternateContent>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References</a:t>
            </a:r>
          </a:p>
        </p:txBody>
      </p:sp>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09728"/>
            <a:ext cx="8686800" cy="640080"/>
          </a:xfrm>
        </p:spPr>
        <p:txBody>
          <a:bodyPr/>
          <a:lstStyle/>
          <a:p>
            <a:pPr lvl="0" indent="0" marL="0">
              <a:buNone/>
            </a:pPr>
            <a:r>
              <a:rPr/>
              <a:t>Element 158</a:t>
            </a:r>
          </a:p>
        </p:txBody>
      </p:sp>
      <p:sp>
        <p:nvSpPr>
          <p:cNvPr id="3" name="Content Placeholder 2"/>
          <p:cNvSpPr>
            <a:spLocks noGrp="1"/>
          </p:cNvSpPr>
          <p:nvPr>
            <p:ph idx="1"/>
          </p:nvPr>
        </p:nvSpPr>
        <p:spPr/>
        <p:txBody>
          <a:bodyPr/>
          <a:lstStyle/>
          <a:p>
            <a:pPr lvl="0" indent="0" marL="0">
              <a:buNone/>
            </a:pPr>
            <a:r>
              <a:rPr b="1"/>
              <a:t>Primary references</a:t>
            </a:r>
          </a:p>
          <a:p>
            <a:pPr lvl="0"/>
            <a:r>
              <a:rPr/>
              <a:t>Michael Sipser, </a:t>
            </a:r>
            <a:r>
              <a:rPr i="1"/>
              <a:t>Introduction to the Theory of Computation</a:t>
            </a:r>
            <a:r>
              <a:rPr/>
              <a:t>.</a:t>
            </a:r>
          </a:p>
          <a:p>
            <a:pPr lvl="0"/>
            <a:r>
              <a:rPr/>
              <a:t>Cormen, Leiserson, Rivest and Stein, </a:t>
            </a:r>
            <a:r>
              <a:rPr i="1"/>
              <a:t>Introduction to Algorithms</a:t>
            </a:r>
            <a:r>
              <a:rPr/>
              <a:t>.</a:t>
            </a:r>
          </a:p>
          <a:p>
            <a:pPr lvl="0"/>
            <a:r>
              <a:rPr/>
              <a:t>CMU 15-451/651 lecture notes on NP-completeness.</a:t>
            </a:r>
          </a:p>
          <a:p>
            <a:pPr lvl="0"/>
            <a:r>
              <a:rPr/>
              <a:t>Princeton COS 423 lecture notes, </a:t>
            </a:r>
            <a:r>
              <a:rPr i="1"/>
              <a:t>Polynomial-Time Reductions</a:t>
            </a:r>
            <a:r>
              <a:rPr/>
              <a:t>.</a:t>
            </a:r>
          </a:p>
          <a:p>
            <a:pPr lvl="0" indent="0" marL="0">
              <a:buNone/>
            </a:pPr>
            <a:r>
              <a:rPr/>
              <a:t>The exact six-vertex clause gadget and its 13-edge construction follow the </a:t>
            </a:r>
            <a:r>
              <a:rPr>
                <a:hlinkClick r:id="rId2"/>
              </a:rPr>
              <a:t>Princeton reduction notes</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xmlns:ns1="http://schemas.microsoft.com/office/thememl/2012/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Times New Roman"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ns1:themeFamily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2026-09-07T10:05:55Z</dcterms:created>
  <dcterms:modified xsi:type="dcterms:W3CDTF">2026-09-07T10:05:55Z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header-includes">
    <vt:lpwstr/>
  </property>
  <property fmtid="{D5CDD505-2E9C-101B-9397-08002B2CF9AE}" pid="4" name="include-after">
    <vt:lpwstr/>
  </property>
  <property fmtid="{D5CDD505-2E9C-101B-9397-08002B2CF9AE}" pid="5" name="include-before">
    <vt:lpwstr/>
  </property>
  <property fmtid="{D5CDD505-2E9C-101B-9397-08002B2CF9AE}" pid="6" name="labels">
    <vt:lpwstr/>
  </property>
  <property fmtid="{D5CDD505-2E9C-101B-9397-08002B2CF9AE}" pid="7" name="toc-title">
    <vt:lpwstr>Table of contents</vt:lpwstr>
  </property>
</Properties>
</file>